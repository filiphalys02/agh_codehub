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notesMasterIdLst>
    <p:notesMasterId r:id="rId3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71634" autoAdjust="0"/>
  </p:normalViewPr>
  <p:slideViewPr>
    <p:cSldViewPr snapToGrid="0">
      <p:cViewPr varScale="1">
        <p:scale>
          <a:sx n="59" d="100"/>
          <a:sy n="59" d="100"/>
        </p:scale>
        <p:origin x="7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D106D0-D7C7-4B8E-8A63-8314646451C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3430295-F959-4890-9FEF-F12C2942724C}">
      <dgm:prSet/>
      <dgm:spPr/>
      <dgm:t>
        <a:bodyPr/>
        <a:lstStyle/>
        <a:p>
          <a:r>
            <a:rPr lang="en-US"/>
            <a:t>Czasami mówi się o metodzie SMARTER</a:t>
          </a:r>
        </a:p>
      </dgm:t>
    </dgm:pt>
    <dgm:pt modelId="{B82733D6-3CA5-49E2-A2C5-F529A8993829}" type="parTrans" cxnId="{6B31B887-4093-4251-BC40-482B09DE3DD4}">
      <dgm:prSet/>
      <dgm:spPr/>
      <dgm:t>
        <a:bodyPr/>
        <a:lstStyle/>
        <a:p>
          <a:endParaRPr lang="en-US"/>
        </a:p>
      </dgm:t>
    </dgm:pt>
    <dgm:pt modelId="{896D72DE-E5F5-4275-B49B-EE9E4FB629A8}" type="sibTrans" cxnId="{6B31B887-4093-4251-BC40-482B09DE3DD4}">
      <dgm:prSet/>
      <dgm:spPr/>
      <dgm:t>
        <a:bodyPr/>
        <a:lstStyle/>
        <a:p>
          <a:endParaRPr lang="en-US"/>
        </a:p>
      </dgm:t>
    </dgm:pt>
    <dgm:pt modelId="{8D7C9E38-C61E-4A67-9AE7-C09E5D7AF244}">
      <dgm:prSet/>
      <dgm:spPr/>
      <dgm:t>
        <a:bodyPr/>
        <a:lstStyle/>
        <a:p>
          <a:r>
            <a:rPr lang="en-US"/>
            <a:t>E – Evaluated (oceniony)</a:t>
          </a:r>
        </a:p>
      </dgm:t>
    </dgm:pt>
    <dgm:pt modelId="{5429460D-2F26-4DA3-8476-009503BCCFE9}" type="parTrans" cxnId="{0FFC42A8-5BEE-418B-B3CB-59C460FD326F}">
      <dgm:prSet/>
      <dgm:spPr/>
      <dgm:t>
        <a:bodyPr/>
        <a:lstStyle/>
        <a:p>
          <a:endParaRPr lang="en-US"/>
        </a:p>
      </dgm:t>
    </dgm:pt>
    <dgm:pt modelId="{CD95CB72-BE4B-41D0-8515-E448E8C4B0C2}" type="sibTrans" cxnId="{0FFC42A8-5BEE-418B-B3CB-59C460FD326F}">
      <dgm:prSet/>
      <dgm:spPr/>
      <dgm:t>
        <a:bodyPr/>
        <a:lstStyle/>
        <a:p>
          <a:endParaRPr lang="en-US"/>
        </a:p>
      </dgm:t>
    </dgm:pt>
    <dgm:pt modelId="{2975B8A8-D69D-452E-83E5-FD22375D6613}">
      <dgm:prSet/>
      <dgm:spPr/>
      <dgm:t>
        <a:bodyPr/>
        <a:lstStyle/>
        <a:p>
          <a:r>
            <a:rPr lang="en-US"/>
            <a:t>R – Reviewed (nagrodzony, wznowiony)</a:t>
          </a:r>
        </a:p>
      </dgm:t>
    </dgm:pt>
    <dgm:pt modelId="{A53FD0A3-1FDD-4831-8465-655B59FF29C9}" type="parTrans" cxnId="{E811FD84-1023-46BE-A3F7-14F309C33D76}">
      <dgm:prSet/>
      <dgm:spPr/>
      <dgm:t>
        <a:bodyPr/>
        <a:lstStyle/>
        <a:p>
          <a:endParaRPr lang="en-US"/>
        </a:p>
      </dgm:t>
    </dgm:pt>
    <dgm:pt modelId="{62219721-CA90-467C-82F8-492EC84DE7B5}" type="sibTrans" cxnId="{E811FD84-1023-46BE-A3F7-14F309C33D76}">
      <dgm:prSet/>
      <dgm:spPr/>
      <dgm:t>
        <a:bodyPr/>
        <a:lstStyle/>
        <a:p>
          <a:endParaRPr lang="en-US"/>
        </a:p>
      </dgm:t>
    </dgm:pt>
    <dgm:pt modelId="{DACE89C1-D32F-4EAC-9B9B-0E1BF95030E8}" type="pres">
      <dgm:prSet presAssocID="{9CD106D0-D7C7-4B8E-8A63-8314646451CD}" presName="linear" presStyleCnt="0">
        <dgm:presLayoutVars>
          <dgm:animLvl val="lvl"/>
          <dgm:resizeHandles val="exact"/>
        </dgm:presLayoutVars>
      </dgm:prSet>
      <dgm:spPr/>
    </dgm:pt>
    <dgm:pt modelId="{94A41E1D-07BD-423F-9100-D2729F69B4E4}" type="pres">
      <dgm:prSet presAssocID="{13430295-F959-4890-9FEF-F12C2942724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3DB4DFC-81DD-4B90-9639-5C3CB9919373}" type="pres">
      <dgm:prSet presAssocID="{896D72DE-E5F5-4275-B49B-EE9E4FB629A8}" presName="spacer" presStyleCnt="0"/>
      <dgm:spPr/>
    </dgm:pt>
    <dgm:pt modelId="{04D74F78-D716-4B57-9809-2EAE617B5152}" type="pres">
      <dgm:prSet presAssocID="{8D7C9E38-C61E-4A67-9AE7-C09E5D7AF24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78E6E5-A84A-43DC-82B2-275075B52FA4}" type="pres">
      <dgm:prSet presAssocID="{CD95CB72-BE4B-41D0-8515-E448E8C4B0C2}" presName="spacer" presStyleCnt="0"/>
      <dgm:spPr/>
    </dgm:pt>
    <dgm:pt modelId="{3B944C52-907C-41DF-A47B-EF209C19B42C}" type="pres">
      <dgm:prSet presAssocID="{2975B8A8-D69D-452E-83E5-FD22375D661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2EF3C3E-6CCE-443C-A44E-27A9C71B67C9}" type="presOf" srcId="{9CD106D0-D7C7-4B8E-8A63-8314646451CD}" destId="{DACE89C1-D32F-4EAC-9B9B-0E1BF95030E8}" srcOrd="0" destOrd="0" presId="urn:microsoft.com/office/officeart/2005/8/layout/vList2"/>
    <dgm:cxn modelId="{E811FD84-1023-46BE-A3F7-14F309C33D76}" srcId="{9CD106D0-D7C7-4B8E-8A63-8314646451CD}" destId="{2975B8A8-D69D-452E-83E5-FD22375D6613}" srcOrd="2" destOrd="0" parTransId="{A53FD0A3-1FDD-4831-8465-655B59FF29C9}" sibTransId="{62219721-CA90-467C-82F8-492EC84DE7B5}"/>
    <dgm:cxn modelId="{6B31B887-4093-4251-BC40-482B09DE3DD4}" srcId="{9CD106D0-D7C7-4B8E-8A63-8314646451CD}" destId="{13430295-F959-4890-9FEF-F12C2942724C}" srcOrd="0" destOrd="0" parTransId="{B82733D6-3CA5-49E2-A2C5-F529A8993829}" sibTransId="{896D72DE-E5F5-4275-B49B-EE9E4FB629A8}"/>
    <dgm:cxn modelId="{0FFC42A8-5BEE-418B-B3CB-59C460FD326F}" srcId="{9CD106D0-D7C7-4B8E-8A63-8314646451CD}" destId="{8D7C9E38-C61E-4A67-9AE7-C09E5D7AF244}" srcOrd="1" destOrd="0" parTransId="{5429460D-2F26-4DA3-8476-009503BCCFE9}" sibTransId="{CD95CB72-BE4B-41D0-8515-E448E8C4B0C2}"/>
    <dgm:cxn modelId="{CC841BAF-6C71-4829-9980-6F3436390E6B}" type="presOf" srcId="{8D7C9E38-C61E-4A67-9AE7-C09E5D7AF244}" destId="{04D74F78-D716-4B57-9809-2EAE617B5152}" srcOrd="0" destOrd="0" presId="urn:microsoft.com/office/officeart/2005/8/layout/vList2"/>
    <dgm:cxn modelId="{30224CF4-BCAB-41AB-9FF1-23431B6B8FED}" type="presOf" srcId="{2975B8A8-D69D-452E-83E5-FD22375D6613}" destId="{3B944C52-907C-41DF-A47B-EF209C19B42C}" srcOrd="0" destOrd="0" presId="urn:microsoft.com/office/officeart/2005/8/layout/vList2"/>
    <dgm:cxn modelId="{C95C46FD-DC0B-48E0-8F65-9E3045748D6F}" type="presOf" srcId="{13430295-F959-4890-9FEF-F12C2942724C}" destId="{94A41E1D-07BD-423F-9100-D2729F69B4E4}" srcOrd="0" destOrd="0" presId="urn:microsoft.com/office/officeart/2005/8/layout/vList2"/>
    <dgm:cxn modelId="{83A6C69D-B5DA-4E5A-8EFF-5D97B7B090FD}" type="presParOf" srcId="{DACE89C1-D32F-4EAC-9B9B-0E1BF95030E8}" destId="{94A41E1D-07BD-423F-9100-D2729F69B4E4}" srcOrd="0" destOrd="0" presId="urn:microsoft.com/office/officeart/2005/8/layout/vList2"/>
    <dgm:cxn modelId="{56FA66E2-224F-427A-8615-64C07F18750E}" type="presParOf" srcId="{DACE89C1-D32F-4EAC-9B9B-0E1BF95030E8}" destId="{A3DB4DFC-81DD-4B90-9639-5C3CB9919373}" srcOrd="1" destOrd="0" presId="urn:microsoft.com/office/officeart/2005/8/layout/vList2"/>
    <dgm:cxn modelId="{2D364A50-EE7F-4147-A399-DF78C4BA74E3}" type="presParOf" srcId="{DACE89C1-D32F-4EAC-9B9B-0E1BF95030E8}" destId="{04D74F78-D716-4B57-9809-2EAE617B5152}" srcOrd="2" destOrd="0" presId="urn:microsoft.com/office/officeart/2005/8/layout/vList2"/>
    <dgm:cxn modelId="{630D99E3-B40B-49A4-9162-A911D9792330}" type="presParOf" srcId="{DACE89C1-D32F-4EAC-9B9B-0E1BF95030E8}" destId="{B578E6E5-A84A-43DC-82B2-275075B52FA4}" srcOrd="3" destOrd="0" presId="urn:microsoft.com/office/officeart/2005/8/layout/vList2"/>
    <dgm:cxn modelId="{BD04E6D3-B327-4885-A56F-E70D4050BDD1}" type="presParOf" srcId="{DACE89C1-D32F-4EAC-9B9B-0E1BF95030E8}" destId="{3B944C52-907C-41DF-A47B-EF209C19B42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AD208F-3F9D-445E-A7D2-FE14F9408215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F0B0061-4787-42EF-B091-CB259B104A45}">
      <dgm:prSet/>
      <dgm:spPr/>
      <dgm:t>
        <a:bodyPr/>
        <a:lstStyle/>
        <a:p>
          <a:r>
            <a:rPr lang="pl-PL"/>
            <a:t>podział projektu na etapy</a:t>
          </a:r>
          <a:endParaRPr lang="en-US"/>
        </a:p>
      </dgm:t>
    </dgm:pt>
    <dgm:pt modelId="{05216449-0785-40BC-9AB4-39D40AA5681F}" type="parTrans" cxnId="{AA20040D-6D88-48B4-B54D-0F7EC6FE3CAE}">
      <dgm:prSet/>
      <dgm:spPr/>
      <dgm:t>
        <a:bodyPr/>
        <a:lstStyle/>
        <a:p>
          <a:endParaRPr lang="en-US"/>
        </a:p>
      </dgm:t>
    </dgm:pt>
    <dgm:pt modelId="{3C8DA83B-F019-4E98-BE0F-9F3FE660562F}" type="sibTrans" cxnId="{AA20040D-6D88-48B4-B54D-0F7EC6FE3CAE}">
      <dgm:prSet/>
      <dgm:spPr/>
      <dgm:t>
        <a:bodyPr/>
        <a:lstStyle/>
        <a:p>
          <a:endParaRPr lang="en-US"/>
        </a:p>
      </dgm:t>
    </dgm:pt>
    <dgm:pt modelId="{07E4046C-D1F8-4B83-93E0-A38E905DD54D}">
      <dgm:prSet/>
      <dgm:spPr/>
      <dgm:t>
        <a:bodyPr/>
        <a:lstStyle/>
        <a:p>
          <a:r>
            <a:rPr lang="pl-PL"/>
            <a:t>podział etapów na zadania</a:t>
          </a:r>
          <a:endParaRPr lang="en-US"/>
        </a:p>
      </dgm:t>
    </dgm:pt>
    <dgm:pt modelId="{F191E306-9F1E-48DE-ABC5-9C97425B309F}" type="parTrans" cxnId="{3FFE15F3-6089-4179-9DF4-223F2FAFEF84}">
      <dgm:prSet/>
      <dgm:spPr/>
      <dgm:t>
        <a:bodyPr/>
        <a:lstStyle/>
        <a:p>
          <a:endParaRPr lang="en-US"/>
        </a:p>
      </dgm:t>
    </dgm:pt>
    <dgm:pt modelId="{5719C0C4-3617-42A3-9B0A-24A6E1A330F0}" type="sibTrans" cxnId="{3FFE15F3-6089-4179-9DF4-223F2FAFEF84}">
      <dgm:prSet/>
      <dgm:spPr/>
      <dgm:t>
        <a:bodyPr/>
        <a:lstStyle/>
        <a:p>
          <a:endParaRPr lang="en-US"/>
        </a:p>
      </dgm:t>
    </dgm:pt>
    <dgm:pt modelId="{AB73B06F-D849-4645-9DC0-B29DF0A1DEB5}">
      <dgm:prSet/>
      <dgm:spPr/>
      <dgm:t>
        <a:bodyPr/>
        <a:lstStyle/>
        <a:p>
          <a:r>
            <a:rPr lang="pl-PL"/>
            <a:t>dalsze rozbijanie na mniejsze elementy</a:t>
          </a:r>
          <a:endParaRPr lang="en-US"/>
        </a:p>
      </dgm:t>
    </dgm:pt>
    <dgm:pt modelId="{99C33B72-8AC8-4F4F-9AA8-D729E22B3494}" type="parTrans" cxnId="{CA5599DB-CFD6-4873-9308-EE94D5A90713}">
      <dgm:prSet/>
      <dgm:spPr/>
      <dgm:t>
        <a:bodyPr/>
        <a:lstStyle/>
        <a:p>
          <a:endParaRPr lang="en-US"/>
        </a:p>
      </dgm:t>
    </dgm:pt>
    <dgm:pt modelId="{D85E4D59-6969-4928-B400-3583108BB606}" type="sibTrans" cxnId="{CA5599DB-CFD6-4873-9308-EE94D5A90713}">
      <dgm:prSet/>
      <dgm:spPr/>
      <dgm:t>
        <a:bodyPr/>
        <a:lstStyle/>
        <a:p>
          <a:endParaRPr lang="en-US"/>
        </a:p>
      </dgm:t>
    </dgm:pt>
    <dgm:pt modelId="{905F3443-6FC1-45E3-AF70-1B99520ABA8F}">
      <dgm:prSet/>
      <dgm:spPr/>
      <dgm:t>
        <a:bodyPr/>
        <a:lstStyle/>
        <a:p>
          <a:r>
            <a:rPr lang="pl-PL"/>
            <a:t>przypisanie odpowiedzialności</a:t>
          </a:r>
          <a:endParaRPr lang="en-US"/>
        </a:p>
      </dgm:t>
    </dgm:pt>
    <dgm:pt modelId="{47B8EBB6-0CFB-48EA-B258-CF5C460E2323}" type="parTrans" cxnId="{2DF8F68E-A944-49DE-AB41-ED2DF013FB07}">
      <dgm:prSet/>
      <dgm:spPr/>
      <dgm:t>
        <a:bodyPr/>
        <a:lstStyle/>
        <a:p>
          <a:endParaRPr lang="en-US"/>
        </a:p>
      </dgm:t>
    </dgm:pt>
    <dgm:pt modelId="{A62A061A-2CB4-4965-8D60-DE0FA0337FC1}" type="sibTrans" cxnId="{2DF8F68E-A944-49DE-AB41-ED2DF013FB07}">
      <dgm:prSet/>
      <dgm:spPr/>
      <dgm:t>
        <a:bodyPr/>
        <a:lstStyle/>
        <a:p>
          <a:endParaRPr lang="en-US"/>
        </a:p>
      </dgm:t>
    </dgm:pt>
    <dgm:pt modelId="{C5558C4B-3438-481E-BBB3-276F9F00A0B6}" type="pres">
      <dgm:prSet presAssocID="{CFAD208F-3F9D-445E-A7D2-FE14F9408215}" presName="diagram" presStyleCnt="0">
        <dgm:presLayoutVars>
          <dgm:dir/>
          <dgm:resizeHandles val="exact"/>
        </dgm:presLayoutVars>
      </dgm:prSet>
      <dgm:spPr/>
    </dgm:pt>
    <dgm:pt modelId="{A1A65B3C-262B-4083-AAAD-E739BCAFC4E2}" type="pres">
      <dgm:prSet presAssocID="{5F0B0061-4787-42EF-B091-CB259B104A45}" presName="node" presStyleLbl="node1" presStyleIdx="0" presStyleCnt="4">
        <dgm:presLayoutVars>
          <dgm:bulletEnabled val="1"/>
        </dgm:presLayoutVars>
      </dgm:prSet>
      <dgm:spPr/>
    </dgm:pt>
    <dgm:pt modelId="{44B51600-8D7D-426F-A08E-AAFAAE414193}" type="pres">
      <dgm:prSet presAssocID="{3C8DA83B-F019-4E98-BE0F-9F3FE660562F}" presName="sibTrans" presStyleLbl="sibTrans2D1" presStyleIdx="0" presStyleCnt="3"/>
      <dgm:spPr/>
    </dgm:pt>
    <dgm:pt modelId="{D8688617-0B99-4161-964A-8F28DCFD72D6}" type="pres">
      <dgm:prSet presAssocID="{3C8DA83B-F019-4E98-BE0F-9F3FE660562F}" presName="connectorText" presStyleLbl="sibTrans2D1" presStyleIdx="0" presStyleCnt="3"/>
      <dgm:spPr/>
    </dgm:pt>
    <dgm:pt modelId="{408AA66B-5186-4EE7-BEAD-86B7EECF5297}" type="pres">
      <dgm:prSet presAssocID="{07E4046C-D1F8-4B83-93E0-A38E905DD54D}" presName="node" presStyleLbl="node1" presStyleIdx="1" presStyleCnt="4">
        <dgm:presLayoutVars>
          <dgm:bulletEnabled val="1"/>
        </dgm:presLayoutVars>
      </dgm:prSet>
      <dgm:spPr/>
    </dgm:pt>
    <dgm:pt modelId="{77292518-9B56-435E-A1D4-DA80F5D8CB40}" type="pres">
      <dgm:prSet presAssocID="{5719C0C4-3617-42A3-9B0A-24A6E1A330F0}" presName="sibTrans" presStyleLbl="sibTrans2D1" presStyleIdx="1" presStyleCnt="3"/>
      <dgm:spPr/>
    </dgm:pt>
    <dgm:pt modelId="{31EDEFBD-0B34-4F63-AC06-6BF3BD60CCD6}" type="pres">
      <dgm:prSet presAssocID="{5719C0C4-3617-42A3-9B0A-24A6E1A330F0}" presName="connectorText" presStyleLbl="sibTrans2D1" presStyleIdx="1" presStyleCnt="3"/>
      <dgm:spPr/>
    </dgm:pt>
    <dgm:pt modelId="{6A00FAF7-F57F-48CC-A0AE-C889C3E392C5}" type="pres">
      <dgm:prSet presAssocID="{AB73B06F-D849-4645-9DC0-B29DF0A1DEB5}" presName="node" presStyleLbl="node1" presStyleIdx="2" presStyleCnt="4">
        <dgm:presLayoutVars>
          <dgm:bulletEnabled val="1"/>
        </dgm:presLayoutVars>
      </dgm:prSet>
      <dgm:spPr/>
    </dgm:pt>
    <dgm:pt modelId="{3B58ACCA-A7B8-4542-A1A1-D0839479E4EC}" type="pres">
      <dgm:prSet presAssocID="{D85E4D59-6969-4928-B400-3583108BB606}" presName="sibTrans" presStyleLbl="sibTrans2D1" presStyleIdx="2" presStyleCnt="3"/>
      <dgm:spPr/>
    </dgm:pt>
    <dgm:pt modelId="{A9CDE46F-4D6E-4B46-8159-5D5DE3D755F9}" type="pres">
      <dgm:prSet presAssocID="{D85E4D59-6969-4928-B400-3583108BB606}" presName="connectorText" presStyleLbl="sibTrans2D1" presStyleIdx="2" presStyleCnt="3"/>
      <dgm:spPr/>
    </dgm:pt>
    <dgm:pt modelId="{6C74868C-1C60-409B-AC4F-33F751A0D73B}" type="pres">
      <dgm:prSet presAssocID="{905F3443-6FC1-45E3-AF70-1B99520ABA8F}" presName="node" presStyleLbl="node1" presStyleIdx="3" presStyleCnt="4">
        <dgm:presLayoutVars>
          <dgm:bulletEnabled val="1"/>
        </dgm:presLayoutVars>
      </dgm:prSet>
      <dgm:spPr/>
    </dgm:pt>
  </dgm:ptLst>
  <dgm:cxnLst>
    <dgm:cxn modelId="{AA20040D-6D88-48B4-B54D-0F7EC6FE3CAE}" srcId="{CFAD208F-3F9D-445E-A7D2-FE14F9408215}" destId="{5F0B0061-4787-42EF-B091-CB259B104A45}" srcOrd="0" destOrd="0" parTransId="{05216449-0785-40BC-9AB4-39D40AA5681F}" sibTransId="{3C8DA83B-F019-4E98-BE0F-9F3FE660562F}"/>
    <dgm:cxn modelId="{C552BC2E-46D5-49A3-8227-0766A273D556}" type="presOf" srcId="{3C8DA83B-F019-4E98-BE0F-9F3FE660562F}" destId="{D8688617-0B99-4161-964A-8F28DCFD72D6}" srcOrd="1" destOrd="0" presId="urn:microsoft.com/office/officeart/2005/8/layout/process5"/>
    <dgm:cxn modelId="{B8E9E537-35F7-4733-897E-D12E9B349631}" type="presOf" srcId="{CFAD208F-3F9D-445E-A7D2-FE14F9408215}" destId="{C5558C4B-3438-481E-BBB3-276F9F00A0B6}" srcOrd="0" destOrd="0" presId="urn:microsoft.com/office/officeart/2005/8/layout/process5"/>
    <dgm:cxn modelId="{96B1F35F-CBE9-447B-B6D2-266B9C1CE68F}" type="presOf" srcId="{07E4046C-D1F8-4B83-93E0-A38E905DD54D}" destId="{408AA66B-5186-4EE7-BEAD-86B7EECF5297}" srcOrd="0" destOrd="0" presId="urn:microsoft.com/office/officeart/2005/8/layout/process5"/>
    <dgm:cxn modelId="{A5A86243-781E-4414-8DAA-0464E4C299A8}" type="presOf" srcId="{AB73B06F-D849-4645-9DC0-B29DF0A1DEB5}" destId="{6A00FAF7-F57F-48CC-A0AE-C889C3E392C5}" srcOrd="0" destOrd="0" presId="urn:microsoft.com/office/officeart/2005/8/layout/process5"/>
    <dgm:cxn modelId="{36808F6C-1B3B-40A9-B149-73FDA05DD7AE}" type="presOf" srcId="{3C8DA83B-F019-4E98-BE0F-9F3FE660562F}" destId="{44B51600-8D7D-426F-A08E-AAFAAE414193}" srcOrd="0" destOrd="0" presId="urn:microsoft.com/office/officeart/2005/8/layout/process5"/>
    <dgm:cxn modelId="{4B497871-0DE3-403A-A4E6-DBF03688C8C1}" type="presOf" srcId="{5719C0C4-3617-42A3-9B0A-24A6E1A330F0}" destId="{77292518-9B56-435E-A1D4-DA80F5D8CB40}" srcOrd="0" destOrd="0" presId="urn:microsoft.com/office/officeart/2005/8/layout/process5"/>
    <dgm:cxn modelId="{55804756-8229-49E3-B8F8-9F1B0AC3EB61}" type="presOf" srcId="{D85E4D59-6969-4928-B400-3583108BB606}" destId="{3B58ACCA-A7B8-4542-A1A1-D0839479E4EC}" srcOrd="0" destOrd="0" presId="urn:microsoft.com/office/officeart/2005/8/layout/process5"/>
    <dgm:cxn modelId="{B42A7D85-B82C-4FBE-9958-938CCD9A1EF9}" type="presOf" srcId="{5719C0C4-3617-42A3-9B0A-24A6E1A330F0}" destId="{31EDEFBD-0B34-4F63-AC06-6BF3BD60CCD6}" srcOrd="1" destOrd="0" presId="urn:microsoft.com/office/officeart/2005/8/layout/process5"/>
    <dgm:cxn modelId="{2DF8F68E-A944-49DE-AB41-ED2DF013FB07}" srcId="{CFAD208F-3F9D-445E-A7D2-FE14F9408215}" destId="{905F3443-6FC1-45E3-AF70-1B99520ABA8F}" srcOrd="3" destOrd="0" parTransId="{47B8EBB6-0CFB-48EA-B258-CF5C460E2323}" sibTransId="{A62A061A-2CB4-4965-8D60-DE0FA0337FC1}"/>
    <dgm:cxn modelId="{6E545591-F878-4E6A-AF08-23138835288A}" type="presOf" srcId="{5F0B0061-4787-42EF-B091-CB259B104A45}" destId="{A1A65B3C-262B-4083-AAAD-E739BCAFC4E2}" srcOrd="0" destOrd="0" presId="urn:microsoft.com/office/officeart/2005/8/layout/process5"/>
    <dgm:cxn modelId="{073934A7-6E90-4153-AFBF-D561B356D928}" type="presOf" srcId="{905F3443-6FC1-45E3-AF70-1B99520ABA8F}" destId="{6C74868C-1C60-409B-AC4F-33F751A0D73B}" srcOrd="0" destOrd="0" presId="urn:microsoft.com/office/officeart/2005/8/layout/process5"/>
    <dgm:cxn modelId="{CA5599DB-CFD6-4873-9308-EE94D5A90713}" srcId="{CFAD208F-3F9D-445E-A7D2-FE14F9408215}" destId="{AB73B06F-D849-4645-9DC0-B29DF0A1DEB5}" srcOrd="2" destOrd="0" parTransId="{99C33B72-8AC8-4F4F-9AA8-D729E22B3494}" sibTransId="{D85E4D59-6969-4928-B400-3583108BB606}"/>
    <dgm:cxn modelId="{280004E9-A1C3-4DDD-90C4-8D8CFFD3F70B}" type="presOf" srcId="{D85E4D59-6969-4928-B400-3583108BB606}" destId="{A9CDE46F-4D6E-4B46-8159-5D5DE3D755F9}" srcOrd="1" destOrd="0" presId="urn:microsoft.com/office/officeart/2005/8/layout/process5"/>
    <dgm:cxn modelId="{3FFE15F3-6089-4179-9DF4-223F2FAFEF84}" srcId="{CFAD208F-3F9D-445E-A7D2-FE14F9408215}" destId="{07E4046C-D1F8-4B83-93E0-A38E905DD54D}" srcOrd="1" destOrd="0" parTransId="{F191E306-9F1E-48DE-ABC5-9C97425B309F}" sibTransId="{5719C0C4-3617-42A3-9B0A-24A6E1A330F0}"/>
    <dgm:cxn modelId="{D42F4B6F-64DF-4A7D-B32F-7417510DBCDC}" type="presParOf" srcId="{C5558C4B-3438-481E-BBB3-276F9F00A0B6}" destId="{A1A65B3C-262B-4083-AAAD-E739BCAFC4E2}" srcOrd="0" destOrd="0" presId="urn:microsoft.com/office/officeart/2005/8/layout/process5"/>
    <dgm:cxn modelId="{54E28B58-BEBE-4649-8F27-47130F6A4925}" type="presParOf" srcId="{C5558C4B-3438-481E-BBB3-276F9F00A0B6}" destId="{44B51600-8D7D-426F-A08E-AAFAAE414193}" srcOrd="1" destOrd="0" presId="urn:microsoft.com/office/officeart/2005/8/layout/process5"/>
    <dgm:cxn modelId="{A0F8E581-E8B9-4F36-AE59-40ECB55AB158}" type="presParOf" srcId="{44B51600-8D7D-426F-A08E-AAFAAE414193}" destId="{D8688617-0B99-4161-964A-8F28DCFD72D6}" srcOrd="0" destOrd="0" presId="urn:microsoft.com/office/officeart/2005/8/layout/process5"/>
    <dgm:cxn modelId="{6621AA36-6FE6-4CEF-A15D-8622E5677E27}" type="presParOf" srcId="{C5558C4B-3438-481E-BBB3-276F9F00A0B6}" destId="{408AA66B-5186-4EE7-BEAD-86B7EECF5297}" srcOrd="2" destOrd="0" presId="urn:microsoft.com/office/officeart/2005/8/layout/process5"/>
    <dgm:cxn modelId="{CA988659-4EC7-40BA-82D7-7DF9B87A874D}" type="presParOf" srcId="{C5558C4B-3438-481E-BBB3-276F9F00A0B6}" destId="{77292518-9B56-435E-A1D4-DA80F5D8CB40}" srcOrd="3" destOrd="0" presId="urn:microsoft.com/office/officeart/2005/8/layout/process5"/>
    <dgm:cxn modelId="{D37F24C1-8996-4E27-B3A8-6EF5782DF27F}" type="presParOf" srcId="{77292518-9B56-435E-A1D4-DA80F5D8CB40}" destId="{31EDEFBD-0B34-4F63-AC06-6BF3BD60CCD6}" srcOrd="0" destOrd="0" presId="urn:microsoft.com/office/officeart/2005/8/layout/process5"/>
    <dgm:cxn modelId="{D93021D6-41E5-4127-A1EB-24202AADCE1F}" type="presParOf" srcId="{C5558C4B-3438-481E-BBB3-276F9F00A0B6}" destId="{6A00FAF7-F57F-48CC-A0AE-C889C3E392C5}" srcOrd="4" destOrd="0" presId="urn:microsoft.com/office/officeart/2005/8/layout/process5"/>
    <dgm:cxn modelId="{65360886-B69B-4BCA-B5E5-A5018D7B3A0B}" type="presParOf" srcId="{C5558C4B-3438-481E-BBB3-276F9F00A0B6}" destId="{3B58ACCA-A7B8-4542-A1A1-D0839479E4EC}" srcOrd="5" destOrd="0" presId="urn:microsoft.com/office/officeart/2005/8/layout/process5"/>
    <dgm:cxn modelId="{4F915FCF-DA0A-4CEE-9CD5-39721F52D20A}" type="presParOf" srcId="{3B58ACCA-A7B8-4542-A1A1-D0839479E4EC}" destId="{A9CDE46F-4D6E-4B46-8159-5D5DE3D755F9}" srcOrd="0" destOrd="0" presId="urn:microsoft.com/office/officeart/2005/8/layout/process5"/>
    <dgm:cxn modelId="{4361FEC2-169C-439A-B2AF-6E1A18FD4778}" type="presParOf" srcId="{C5558C4B-3438-481E-BBB3-276F9F00A0B6}" destId="{6C74868C-1C60-409B-AC4F-33F751A0D73B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60B1A1-741F-45FE-93AE-83438CDA13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9A195DE-37FD-4670-B511-CD1D0488D665}">
      <dgm:prSet/>
      <dgm:spPr/>
      <dgm:t>
        <a:bodyPr/>
        <a:lstStyle/>
        <a:p>
          <a:r>
            <a:rPr lang="pl-PL"/>
            <a:t>Zależności oznaczają, że jedno zadanie nie może się rozpocząć lub zakończyć bez innego.</a:t>
          </a:r>
          <a:br>
            <a:rPr lang="pl-PL"/>
          </a:br>
          <a:r>
            <a:rPr lang="pl-PL"/>
            <a:t>Są naturalnym elementem każdego projektu IT.</a:t>
          </a:r>
          <a:endParaRPr lang="en-US"/>
        </a:p>
      </dgm:t>
    </dgm:pt>
    <dgm:pt modelId="{745CC28F-2FC4-4393-B07A-DC03E1CC30F5}" type="parTrans" cxnId="{5AC756B4-46D4-40BB-A6A4-7314CA329608}">
      <dgm:prSet/>
      <dgm:spPr/>
      <dgm:t>
        <a:bodyPr/>
        <a:lstStyle/>
        <a:p>
          <a:endParaRPr lang="en-US"/>
        </a:p>
      </dgm:t>
    </dgm:pt>
    <dgm:pt modelId="{7D6C63DD-D93C-4141-A885-9718FD5EC9A4}" type="sibTrans" cxnId="{5AC756B4-46D4-40BB-A6A4-7314CA329608}">
      <dgm:prSet/>
      <dgm:spPr/>
      <dgm:t>
        <a:bodyPr/>
        <a:lstStyle/>
        <a:p>
          <a:endParaRPr lang="en-US"/>
        </a:p>
      </dgm:t>
    </dgm:pt>
    <dgm:pt modelId="{17F575CB-B081-46EF-8547-47F159F1CD09}">
      <dgm:prSet/>
      <dgm:spPr/>
      <dgm:t>
        <a:bodyPr/>
        <a:lstStyle/>
        <a:p>
          <a:r>
            <a:rPr lang="pl-PL"/>
            <a:t>Jak zarządzać zależnościami?</a:t>
          </a:r>
          <a:endParaRPr lang="en-US"/>
        </a:p>
      </dgm:t>
    </dgm:pt>
    <dgm:pt modelId="{5D6FBD54-63E2-4A79-8A2B-4781E028225A}" type="parTrans" cxnId="{45FE03B7-1570-4EE0-8CFA-006C82145348}">
      <dgm:prSet/>
      <dgm:spPr/>
      <dgm:t>
        <a:bodyPr/>
        <a:lstStyle/>
        <a:p>
          <a:endParaRPr lang="en-US"/>
        </a:p>
      </dgm:t>
    </dgm:pt>
    <dgm:pt modelId="{13792CAD-E521-4843-B3C1-F6840294DF25}" type="sibTrans" cxnId="{45FE03B7-1570-4EE0-8CFA-006C82145348}">
      <dgm:prSet/>
      <dgm:spPr/>
      <dgm:t>
        <a:bodyPr/>
        <a:lstStyle/>
        <a:p>
          <a:endParaRPr lang="en-US"/>
        </a:p>
      </dgm:t>
    </dgm:pt>
    <dgm:pt modelId="{E4223BA7-471E-4DB2-A777-6024FE9E2EF9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identyfikacja zależności na etapie planowania </a:t>
          </a:r>
          <a:endParaRPr lang="en-US" dirty="0"/>
        </a:p>
      </dgm:t>
    </dgm:pt>
    <dgm:pt modelId="{BF25906C-0097-4433-BC26-C8784485C135}" type="parTrans" cxnId="{2AE93407-FFCC-412F-957F-5EB64B0C0337}">
      <dgm:prSet/>
      <dgm:spPr/>
      <dgm:t>
        <a:bodyPr/>
        <a:lstStyle/>
        <a:p>
          <a:endParaRPr lang="en-US"/>
        </a:p>
      </dgm:t>
    </dgm:pt>
    <dgm:pt modelId="{5ED9D584-4A86-493A-BC56-8DF1B265F5EF}" type="sibTrans" cxnId="{2AE93407-FFCC-412F-957F-5EB64B0C0337}">
      <dgm:prSet/>
      <dgm:spPr/>
      <dgm:t>
        <a:bodyPr/>
        <a:lstStyle/>
        <a:p>
          <a:endParaRPr lang="en-US"/>
        </a:p>
      </dgm:t>
    </dgm:pt>
    <dgm:pt modelId="{F0D15DA0-456E-4DF8-A103-DEC42C1411F5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wizualizacja (np. diagramy) </a:t>
          </a:r>
          <a:endParaRPr lang="en-US" dirty="0"/>
        </a:p>
      </dgm:t>
    </dgm:pt>
    <dgm:pt modelId="{543FF316-91B3-4B42-B9D2-4A80EE00AD31}" type="parTrans" cxnId="{96D47B4E-553A-4E29-AB23-85F3AF1F9B85}">
      <dgm:prSet/>
      <dgm:spPr/>
      <dgm:t>
        <a:bodyPr/>
        <a:lstStyle/>
        <a:p>
          <a:endParaRPr lang="en-US"/>
        </a:p>
      </dgm:t>
    </dgm:pt>
    <dgm:pt modelId="{53BA4536-C0CF-49CD-A2FD-6F9A661332C2}" type="sibTrans" cxnId="{96D47B4E-553A-4E29-AB23-85F3AF1F9B85}">
      <dgm:prSet/>
      <dgm:spPr/>
      <dgm:t>
        <a:bodyPr/>
        <a:lstStyle/>
        <a:p>
          <a:endParaRPr lang="en-US"/>
        </a:p>
      </dgm:t>
    </dgm:pt>
    <dgm:pt modelId="{3C6B68DF-9BA5-4350-8671-D80FB13C05F6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monitorowanie postępu </a:t>
          </a:r>
          <a:endParaRPr lang="en-US" dirty="0"/>
        </a:p>
      </dgm:t>
    </dgm:pt>
    <dgm:pt modelId="{227B2403-431A-42B8-A8CE-F6B40D6E29A5}" type="parTrans" cxnId="{A7C8D3EF-7B57-407A-9140-5ADD41B71778}">
      <dgm:prSet/>
      <dgm:spPr/>
      <dgm:t>
        <a:bodyPr/>
        <a:lstStyle/>
        <a:p>
          <a:endParaRPr lang="en-US"/>
        </a:p>
      </dgm:t>
    </dgm:pt>
    <dgm:pt modelId="{2AB1304F-4BC0-427D-A0EF-46A806733728}" type="sibTrans" cxnId="{A7C8D3EF-7B57-407A-9140-5ADD41B71778}">
      <dgm:prSet/>
      <dgm:spPr/>
      <dgm:t>
        <a:bodyPr/>
        <a:lstStyle/>
        <a:p>
          <a:endParaRPr lang="en-US"/>
        </a:p>
      </dgm:t>
    </dgm:pt>
    <dgm:pt modelId="{D0E44327-8D59-415C-9A56-A1B660DD86F5}">
      <dgm:prSet/>
      <dgm:spPr/>
      <dgm:t>
        <a:bodyPr/>
        <a:lstStyle/>
        <a:p>
          <a:r>
            <a:rPr lang="en-US" dirty="0"/>
            <a:t>	</a:t>
          </a:r>
          <a:r>
            <a:rPr lang="pl-PL" dirty="0"/>
            <a:t>szybka reakcja na opóźnienia</a:t>
          </a:r>
          <a:endParaRPr lang="en-US" dirty="0"/>
        </a:p>
      </dgm:t>
    </dgm:pt>
    <dgm:pt modelId="{75B997D9-D981-4233-A33E-C95419B69104}" type="parTrans" cxnId="{4AB8B3CA-3199-4E5E-8F8F-AEE1B6637B83}">
      <dgm:prSet/>
      <dgm:spPr/>
      <dgm:t>
        <a:bodyPr/>
        <a:lstStyle/>
        <a:p>
          <a:endParaRPr lang="en-US"/>
        </a:p>
      </dgm:t>
    </dgm:pt>
    <dgm:pt modelId="{2E4CB067-19A9-4E64-A773-4E25A7EE0927}" type="sibTrans" cxnId="{4AB8B3CA-3199-4E5E-8F8F-AEE1B6637B83}">
      <dgm:prSet/>
      <dgm:spPr/>
      <dgm:t>
        <a:bodyPr/>
        <a:lstStyle/>
        <a:p>
          <a:endParaRPr lang="en-US"/>
        </a:p>
      </dgm:t>
    </dgm:pt>
    <dgm:pt modelId="{1F9FD1BA-E8EB-4184-A5D1-267B84E6CDBC}" type="pres">
      <dgm:prSet presAssocID="{5C60B1A1-741F-45FE-93AE-83438CDA139E}" presName="root" presStyleCnt="0">
        <dgm:presLayoutVars>
          <dgm:dir/>
          <dgm:resizeHandles val="exact"/>
        </dgm:presLayoutVars>
      </dgm:prSet>
      <dgm:spPr/>
    </dgm:pt>
    <dgm:pt modelId="{045F3874-0DD6-4F20-AE4A-68D3A27A52FF}" type="pres">
      <dgm:prSet presAssocID="{99A195DE-37FD-4670-B511-CD1D0488D665}" presName="compNode" presStyleCnt="0"/>
      <dgm:spPr/>
    </dgm:pt>
    <dgm:pt modelId="{B3443570-4752-4C25-B0F0-E775DEECE0C7}" type="pres">
      <dgm:prSet presAssocID="{99A195DE-37FD-4670-B511-CD1D0488D665}" presName="bgRect" presStyleLbl="bgShp" presStyleIdx="0" presStyleCnt="6"/>
      <dgm:spPr/>
    </dgm:pt>
    <dgm:pt modelId="{BBB65A0D-8C31-4338-824F-37FC98DDDBC6}" type="pres">
      <dgm:prSet presAssocID="{99A195DE-37FD-4670-B511-CD1D0488D66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stancja drażniąca"/>
        </a:ext>
      </dgm:extLst>
    </dgm:pt>
    <dgm:pt modelId="{F063448A-D1B4-465E-97DE-FFBCD0E0C3A1}" type="pres">
      <dgm:prSet presAssocID="{99A195DE-37FD-4670-B511-CD1D0488D665}" presName="spaceRect" presStyleCnt="0"/>
      <dgm:spPr/>
    </dgm:pt>
    <dgm:pt modelId="{2AD571D4-2BE6-4CBD-BAE0-6D9F7F46F4F0}" type="pres">
      <dgm:prSet presAssocID="{99A195DE-37FD-4670-B511-CD1D0488D665}" presName="parTx" presStyleLbl="revTx" presStyleIdx="0" presStyleCnt="6">
        <dgm:presLayoutVars>
          <dgm:chMax val="0"/>
          <dgm:chPref val="0"/>
        </dgm:presLayoutVars>
      </dgm:prSet>
      <dgm:spPr/>
    </dgm:pt>
    <dgm:pt modelId="{E252878F-DF30-4BA3-8061-2A24284BCB8A}" type="pres">
      <dgm:prSet presAssocID="{7D6C63DD-D93C-4141-A885-9718FD5EC9A4}" presName="sibTrans" presStyleCnt="0"/>
      <dgm:spPr/>
    </dgm:pt>
    <dgm:pt modelId="{7CB00927-4BFD-4299-9FAB-E2740F11131F}" type="pres">
      <dgm:prSet presAssocID="{17F575CB-B081-46EF-8547-47F159F1CD09}" presName="compNode" presStyleCnt="0"/>
      <dgm:spPr/>
    </dgm:pt>
    <dgm:pt modelId="{872E201B-EAC3-4EF9-B303-5904F149B7A2}" type="pres">
      <dgm:prSet presAssocID="{17F575CB-B081-46EF-8547-47F159F1CD09}" presName="bgRect" presStyleLbl="bgShp" presStyleIdx="1" presStyleCnt="6"/>
      <dgm:spPr/>
    </dgm:pt>
    <dgm:pt modelId="{B4911F57-1A16-4758-BE97-D4339E87124B}" type="pres">
      <dgm:prSet presAssocID="{17F575CB-B081-46EF-8547-47F159F1CD0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ia"/>
        </a:ext>
      </dgm:extLst>
    </dgm:pt>
    <dgm:pt modelId="{C6837E3D-E643-4F3D-8EFE-E540F86494BB}" type="pres">
      <dgm:prSet presAssocID="{17F575CB-B081-46EF-8547-47F159F1CD09}" presName="spaceRect" presStyleCnt="0"/>
      <dgm:spPr/>
    </dgm:pt>
    <dgm:pt modelId="{51168B2C-7BDE-4782-8CD7-10F0A59F09BC}" type="pres">
      <dgm:prSet presAssocID="{17F575CB-B081-46EF-8547-47F159F1CD09}" presName="parTx" presStyleLbl="revTx" presStyleIdx="1" presStyleCnt="6">
        <dgm:presLayoutVars>
          <dgm:chMax val="0"/>
          <dgm:chPref val="0"/>
        </dgm:presLayoutVars>
      </dgm:prSet>
      <dgm:spPr/>
    </dgm:pt>
    <dgm:pt modelId="{AA5A11C6-567E-4F02-A856-AD987AC1EAB4}" type="pres">
      <dgm:prSet presAssocID="{13792CAD-E521-4843-B3C1-F6840294DF25}" presName="sibTrans" presStyleCnt="0"/>
      <dgm:spPr/>
    </dgm:pt>
    <dgm:pt modelId="{3CF20DB5-6111-4D14-B141-7CF7544A2072}" type="pres">
      <dgm:prSet presAssocID="{E4223BA7-471E-4DB2-A777-6024FE9E2EF9}" presName="compNode" presStyleCnt="0"/>
      <dgm:spPr/>
    </dgm:pt>
    <dgm:pt modelId="{C061C951-9666-4147-95A5-046DC90291D2}" type="pres">
      <dgm:prSet presAssocID="{E4223BA7-471E-4DB2-A777-6024FE9E2EF9}" presName="bgRect" presStyleLbl="bgShp" presStyleIdx="2" presStyleCnt="6"/>
      <dgm:spPr/>
    </dgm:pt>
    <dgm:pt modelId="{F66DED8C-BD24-4DD2-94ED-13EC87DD43F4}" type="pres">
      <dgm:prSet presAssocID="{E4223BA7-471E-4DB2-A777-6024FE9E2EF9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nacznik wyboru"/>
        </a:ext>
      </dgm:extLst>
    </dgm:pt>
    <dgm:pt modelId="{870BC9A2-48A7-4221-9A39-7FB89604BA36}" type="pres">
      <dgm:prSet presAssocID="{E4223BA7-471E-4DB2-A777-6024FE9E2EF9}" presName="spaceRect" presStyleCnt="0"/>
      <dgm:spPr/>
    </dgm:pt>
    <dgm:pt modelId="{28D37FDD-CF9E-48D9-8C30-24BBF94573F0}" type="pres">
      <dgm:prSet presAssocID="{E4223BA7-471E-4DB2-A777-6024FE9E2EF9}" presName="parTx" presStyleLbl="revTx" presStyleIdx="2" presStyleCnt="6">
        <dgm:presLayoutVars>
          <dgm:chMax val="0"/>
          <dgm:chPref val="0"/>
        </dgm:presLayoutVars>
      </dgm:prSet>
      <dgm:spPr/>
    </dgm:pt>
    <dgm:pt modelId="{7865FAD8-A319-4985-9716-993171525833}" type="pres">
      <dgm:prSet presAssocID="{5ED9D584-4A86-493A-BC56-8DF1B265F5EF}" presName="sibTrans" presStyleCnt="0"/>
      <dgm:spPr/>
    </dgm:pt>
    <dgm:pt modelId="{42141AC5-8454-4E5A-9B24-20AE0768AF05}" type="pres">
      <dgm:prSet presAssocID="{F0D15DA0-456E-4DF8-A103-DEC42C1411F5}" presName="compNode" presStyleCnt="0"/>
      <dgm:spPr/>
    </dgm:pt>
    <dgm:pt modelId="{9363F7C1-EA57-411A-B2B0-E59B78466A0B}" type="pres">
      <dgm:prSet presAssocID="{F0D15DA0-456E-4DF8-A103-DEC42C1411F5}" presName="bgRect" presStyleLbl="bgShp" presStyleIdx="3" presStyleCnt="6"/>
      <dgm:spPr/>
    </dgm:pt>
    <dgm:pt modelId="{671F24B5-703E-42F3-ABB8-82D81C817B9D}" type="pres">
      <dgm:prSet presAssocID="{F0D15DA0-456E-4DF8-A103-DEC42C1411F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stążka"/>
        </a:ext>
      </dgm:extLst>
    </dgm:pt>
    <dgm:pt modelId="{6B651DB4-F56C-4200-9EA8-82D3DA27E041}" type="pres">
      <dgm:prSet presAssocID="{F0D15DA0-456E-4DF8-A103-DEC42C1411F5}" presName="spaceRect" presStyleCnt="0"/>
      <dgm:spPr/>
    </dgm:pt>
    <dgm:pt modelId="{EE6140A9-B7AF-4AB9-91DD-1F9A69EDAFAF}" type="pres">
      <dgm:prSet presAssocID="{F0D15DA0-456E-4DF8-A103-DEC42C1411F5}" presName="parTx" presStyleLbl="revTx" presStyleIdx="3" presStyleCnt="6">
        <dgm:presLayoutVars>
          <dgm:chMax val="0"/>
          <dgm:chPref val="0"/>
        </dgm:presLayoutVars>
      </dgm:prSet>
      <dgm:spPr/>
    </dgm:pt>
    <dgm:pt modelId="{729999BD-9EDC-4E77-B8CE-57976EA352AE}" type="pres">
      <dgm:prSet presAssocID="{53BA4536-C0CF-49CD-A2FD-6F9A661332C2}" presName="sibTrans" presStyleCnt="0"/>
      <dgm:spPr/>
    </dgm:pt>
    <dgm:pt modelId="{BADE92BF-9EEB-424B-ABA4-DDE08EA31C6C}" type="pres">
      <dgm:prSet presAssocID="{3C6B68DF-9BA5-4350-8671-D80FB13C05F6}" presName="compNode" presStyleCnt="0"/>
      <dgm:spPr/>
    </dgm:pt>
    <dgm:pt modelId="{6C76620D-1C46-4AF2-AAA7-5A9B7159A405}" type="pres">
      <dgm:prSet presAssocID="{3C6B68DF-9BA5-4350-8671-D80FB13C05F6}" presName="bgRect" presStyleLbl="bgShp" presStyleIdx="4" presStyleCnt="6"/>
      <dgm:spPr/>
    </dgm:pt>
    <dgm:pt modelId="{40BBBC41-8BBD-45EC-8472-59D1984F8B12}" type="pres">
      <dgm:prSet presAssocID="{3C6B68DF-9BA5-4350-8671-D80FB13C05F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ernik"/>
        </a:ext>
      </dgm:extLst>
    </dgm:pt>
    <dgm:pt modelId="{D0CD19AF-7C41-4276-9E84-4EE3DD4A2BDE}" type="pres">
      <dgm:prSet presAssocID="{3C6B68DF-9BA5-4350-8671-D80FB13C05F6}" presName="spaceRect" presStyleCnt="0"/>
      <dgm:spPr/>
    </dgm:pt>
    <dgm:pt modelId="{93EC2D1E-1185-491B-86BD-22272F189F59}" type="pres">
      <dgm:prSet presAssocID="{3C6B68DF-9BA5-4350-8671-D80FB13C05F6}" presName="parTx" presStyleLbl="revTx" presStyleIdx="4" presStyleCnt="6">
        <dgm:presLayoutVars>
          <dgm:chMax val="0"/>
          <dgm:chPref val="0"/>
        </dgm:presLayoutVars>
      </dgm:prSet>
      <dgm:spPr/>
    </dgm:pt>
    <dgm:pt modelId="{E0684EA4-79D8-4F3F-935B-B473A36896E9}" type="pres">
      <dgm:prSet presAssocID="{2AB1304F-4BC0-427D-A0EF-46A806733728}" presName="sibTrans" presStyleCnt="0"/>
      <dgm:spPr/>
    </dgm:pt>
    <dgm:pt modelId="{51423B4C-44CA-4A22-86F5-77221D4092C2}" type="pres">
      <dgm:prSet presAssocID="{D0E44327-8D59-415C-9A56-A1B660DD86F5}" presName="compNode" presStyleCnt="0"/>
      <dgm:spPr/>
    </dgm:pt>
    <dgm:pt modelId="{0C5CC697-CC2E-40DF-8BED-79237C13D74B}" type="pres">
      <dgm:prSet presAssocID="{D0E44327-8D59-415C-9A56-A1B660DD86F5}" presName="bgRect" presStyleLbl="bgShp" presStyleIdx="5" presStyleCnt="6"/>
      <dgm:spPr/>
    </dgm:pt>
    <dgm:pt modelId="{A0A4546E-1F19-48F6-B341-B388D0B73422}" type="pres">
      <dgm:prSet presAssocID="{D0E44327-8D59-415C-9A56-A1B660DD86F5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er"/>
        </a:ext>
      </dgm:extLst>
    </dgm:pt>
    <dgm:pt modelId="{B985C79D-0432-4311-8552-6D3DAFE81E1B}" type="pres">
      <dgm:prSet presAssocID="{D0E44327-8D59-415C-9A56-A1B660DD86F5}" presName="spaceRect" presStyleCnt="0"/>
      <dgm:spPr/>
    </dgm:pt>
    <dgm:pt modelId="{8ECE9BE3-0BA5-476A-90DE-3C0E612D14B1}" type="pres">
      <dgm:prSet presAssocID="{D0E44327-8D59-415C-9A56-A1B660DD86F5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AE93407-FFCC-412F-957F-5EB64B0C0337}" srcId="{5C60B1A1-741F-45FE-93AE-83438CDA139E}" destId="{E4223BA7-471E-4DB2-A777-6024FE9E2EF9}" srcOrd="2" destOrd="0" parTransId="{BF25906C-0097-4433-BC26-C8784485C135}" sibTransId="{5ED9D584-4A86-493A-BC56-8DF1B265F5EF}"/>
    <dgm:cxn modelId="{FE9A423A-8C28-4D01-A5D3-6CC5075CB0B3}" type="presOf" srcId="{3C6B68DF-9BA5-4350-8671-D80FB13C05F6}" destId="{93EC2D1E-1185-491B-86BD-22272F189F59}" srcOrd="0" destOrd="0" presId="urn:microsoft.com/office/officeart/2018/2/layout/IconVerticalSolidList"/>
    <dgm:cxn modelId="{5EC2304C-4FDC-456B-8F18-06E3033AFEB7}" type="presOf" srcId="{D0E44327-8D59-415C-9A56-A1B660DD86F5}" destId="{8ECE9BE3-0BA5-476A-90DE-3C0E612D14B1}" srcOrd="0" destOrd="0" presId="urn:microsoft.com/office/officeart/2018/2/layout/IconVerticalSolidList"/>
    <dgm:cxn modelId="{96D47B4E-553A-4E29-AB23-85F3AF1F9B85}" srcId="{5C60B1A1-741F-45FE-93AE-83438CDA139E}" destId="{F0D15DA0-456E-4DF8-A103-DEC42C1411F5}" srcOrd="3" destOrd="0" parTransId="{543FF316-91B3-4B42-B9D2-4A80EE00AD31}" sibTransId="{53BA4536-C0CF-49CD-A2FD-6F9A661332C2}"/>
    <dgm:cxn modelId="{A577734F-E2FA-41C9-B7D1-A43E48CCEF79}" type="presOf" srcId="{E4223BA7-471E-4DB2-A777-6024FE9E2EF9}" destId="{28D37FDD-CF9E-48D9-8C30-24BBF94573F0}" srcOrd="0" destOrd="0" presId="urn:microsoft.com/office/officeart/2018/2/layout/IconVerticalSolidList"/>
    <dgm:cxn modelId="{09EDD051-61D0-4862-ACDF-81A675681BA5}" type="presOf" srcId="{F0D15DA0-456E-4DF8-A103-DEC42C1411F5}" destId="{EE6140A9-B7AF-4AB9-91DD-1F9A69EDAFAF}" srcOrd="0" destOrd="0" presId="urn:microsoft.com/office/officeart/2018/2/layout/IconVerticalSolidList"/>
    <dgm:cxn modelId="{5A5668AB-109B-444B-812B-5173917A6CCC}" type="presOf" srcId="{17F575CB-B081-46EF-8547-47F159F1CD09}" destId="{51168B2C-7BDE-4782-8CD7-10F0A59F09BC}" srcOrd="0" destOrd="0" presId="urn:microsoft.com/office/officeart/2018/2/layout/IconVerticalSolidList"/>
    <dgm:cxn modelId="{5AC756B4-46D4-40BB-A6A4-7314CA329608}" srcId="{5C60B1A1-741F-45FE-93AE-83438CDA139E}" destId="{99A195DE-37FD-4670-B511-CD1D0488D665}" srcOrd="0" destOrd="0" parTransId="{745CC28F-2FC4-4393-B07A-DC03E1CC30F5}" sibTransId="{7D6C63DD-D93C-4141-A885-9718FD5EC9A4}"/>
    <dgm:cxn modelId="{45FE03B7-1570-4EE0-8CFA-006C82145348}" srcId="{5C60B1A1-741F-45FE-93AE-83438CDA139E}" destId="{17F575CB-B081-46EF-8547-47F159F1CD09}" srcOrd="1" destOrd="0" parTransId="{5D6FBD54-63E2-4A79-8A2B-4781E028225A}" sibTransId="{13792CAD-E521-4843-B3C1-F6840294DF25}"/>
    <dgm:cxn modelId="{4AB8B3CA-3199-4E5E-8F8F-AEE1B6637B83}" srcId="{5C60B1A1-741F-45FE-93AE-83438CDA139E}" destId="{D0E44327-8D59-415C-9A56-A1B660DD86F5}" srcOrd="5" destOrd="0" parTransId="{75B997D9-D981-4233-A33E-C95419B69104}" sibTransId="{2E4CB067-19A9-4E64-A773-4E25A7EE0927}"/>
    <dgm:cxn modelId="{03CA8CE1-920C-4677-BDC3-DD0B47D039F4}" type="presOf" srcId="{5C60B1A1-741F-45FE-93AE-83438CDA139E}" destId="{1F9FD1BA-E8EB-4184-A5D1-267B84E6CDBC}" srcOrd="0" destOrd="0" presId="urn:microsoft.com/office/officeart/2018/2/layout/IconVerticalSolidList"/>
    <dgm:cxn modelId="{A7C8D3EF-7B57-407A-9140-5ADD41B71778}" srcId="{5C60B1A1-741F-45FE-93AE-83438CDA139E}" destId="{3C6B68DF-9BA5-4350-8671-D80FB13C05F6}" srcOrd="4" destOrd="0" parTransId="{227B2403-431A-42B8-A8CE-F6B40D6E29A5}" sibTransId="{2AB1304F-4BC0-427D-A0EF-46A806733728}"/>
    <dgm:cxn modelId="{9DED2CFD-06AA-4A89-B7DB-1A1ADD05200A}" type="presOf" srcId="{99A195DE-37FD-4670-B511-CD1D0488D665}" destId="{2AD571D4-2BE6-4CBD-BAE0-6D9F7F46F4F0}" srcOrd="0" destOrd="0" presId="urn:microsoft.com/office/officeart/2018/2/layout/IconVerticalSolidList"/>
    <dgm:cxn modelId="{CECDFFB6-F554-4840-A8C8-B1B6A9807EA3}" type="presParOf" srcId="{1F9FD1BA-E8EB-4184-A5D1-267B84E6CDBC}" destId="{045F3874-0DD6-4F20-AE4A-68D3A27A52FF}" srcOrd="0" destOrd="0" presId="urn:microsoft.com/office/officeart/2018/2/layout/IconVerticalSolidList"/>
    <dgm:cxn modelId="{5C6EC8A0-A066-42A8-8B58-EDCE58DD69F9}" type="presParOf" srcId="{045F3874-0DD6-4F20-AE4A-68D3A27A52FF}" destId="{B3443570-4752-4C25-B0F0-E775DEECE0C7}" srcOrd="0" destOrd="0" presId="urn:microsoft.com/office/officeart/2018/2/layout/IconVerticalSolidList"/>
    <dgm:cxn modelId="{41100E95-604B-4042-8323-2ECAAAAD9585}" type="presParOf" srcId="{045F3874-0DD6-4F20-AE4A-68D3A27A52FF}" destId="{BBB65A0D-8C31-4338-824F-37FC98DDDBC6}" srcOrd="1" destOrd="0" presId="urn:microsoft.com/office/officeart/2018/2/layout/IconVerticalSolidList"/>
    <dgm:cxn modelId="{82E79729-0594-4805-9C4E-C3996CFDA40E}" type="presParOf" srcId="{045F3874-0DD6-4F20-AE4A-68D3A27A52FF}" destId="{F063448A-D1B4-465E-97DE-FFBCD0E0C3A1}" srcOrd="2" destOrd="0" presId="urn:microsoft.com/office/officeart/2018/2/layout/IconVerticalSolidList"/>
    <dgm:cxn modelId="{939AA279-2035-4730-844E-7D557B38B21C}" type="presParOf" srcId="{045F3874-0DD6-4F20-AE4A-68D3A27A52FF}" destId="{2AD571D4-2BE6-4CBD-BAE0-6D9F7F46F4F0}" srcOrd="3" destOrd="0" presId="urn:microsoft.com/office/officeart/2018/2/layout/IconVerticalSolidList"/>
    <dgm:cxn modelId="{D49147A0-539C-41A0-B84B-1E77AB88E0E3}" type="presParOf" srcId="{1F9FD1BA-E8EB-4184-A5D1-267B84E6CDBC}" destId="{E252878F-DF30-4BA3-8061-2A24284BCB8A}" srcOrd="1" destOrd="0" presId="urn:microsoft.com/office/officeart/2018/2/layout/IconVerticalSolidList"/>
    <dgm:cxn modelId="{D8C12581-B537-45A9-89FE-30FD2FAAF864}" type="presParOf" srcId="{1F9FD1BA-E8EB-4184-A5D1-267B84E6CDBC}" destId="{7CB00927-4BFD-4299-9FAB-E2740F11131F}" srcOrd="2" destOrd="0" presId="urn:microsoft.com/office/officeart/2018/2/layout/IconVerticalSolidList"/>
    <dgm:cxn modelId="{A2B5975E-CA23-4EB0-B5BD-84CE418F509D}" type="presParOf" srcId="{7CB00927-4BFD-4299-9FAB-E2740F11131F}" destId="{872E201B-EAC3-4EF9-B303-5904F149B7A2}" srcOrd="0" destOrd="0" presId="urn:microsoft.com/office/officeart/2018/2/layout/IconVerticalSolidList"/>
    <dgm:cxn modelId="{5575AAA6-3949-40E2-9AE8-D73ACD5103A2}" type="presParOf" srcId="{7CB00927-4BFD-4299-9FAB-E2740F11131F}" destId="{B4911F57-1A16-4758-BE97-D4339E87124B}" srcOrd="1" destOrd="0" presId="urn:microsoft.com/office/officeart/2018/2/layout/IconVerticalSolidList"/>
    <dgm:cxn modelId="{6841947D-634F-41C6-B597-3659355C83CD}" type="presParOf" srcId="{7CB00927-4BFD-4299-9FAB-E2740F11131F}" destId="{C6837E3D-E643-4F3D-8EFE-E540F86494BB}" srcOrd="2" destOrd="0" presId="urn:microsoft.com/office/officeart/2018/2/layout/IconVerticalSolidList"/>
    <dgm:cxn modelId="{B6A72243-8A30-408C-91A2-2BFDE2AC6E27}" type="presParOf" srcId="{7CB00927-4BFD-4299-9FAB-E2740F11131F}" destId="{51168B2C-7BDE-4782-8CD7-10F0A59F09BC}" srcOrd="3" destOrd="0" presId="urn:microsoft.com/office/officeart/2018/2/layout/IconVerticalSolidList"/>
    <dgm:cxn modelId="{AC60EA5F-72E9-4916-B944-B41B72DDBC1A}" type="presParOf" srcId="{1F9FD1BA-E8EB-4184-A5D1-267B84E6CDBC}" destId="{AA5A11C6-567E-4F02-A856-AD987AC1EAB4}" srcOrd="3" destOrd="0" presId="urn:microsoft.com/office/officeart/2018/2/layout/IconVerticalSolidList"/>
    <dgm:cxn modelId="{5FD9904B-65FE-4D00-94BD-5B35CDA198F9}" type="presParOf" srcId="{1F9FD1BA-E8EB-4184-A5D1-267B84E6CDBC}" destId="{3CF20DB5-6111-4D14-B141-7CF7544A2072}" srcOrd="4" destOrd="0" presId="urn:microsoft.com/office/officeart/2018/2/layout/IconVerticalSolidList"/>
    <dgm:cxn modelId="{D2B8B2A0-067A-4255-9612-1A36945FEECE}" type="presParOf" srcId="{3CF20DB5-6111-4D14-B141-7CF7544A2072}" destId="{C061C951-9666-4147-95A5-046DC90291D2}" srcOrd="0" destOrd="0" presId="urn:microsoft.com/office/officeart/2018/2/layout/IconVerticalSolidList"/>
    <dgm:cxn modelId="{6F18F762-F4CB-4B13-AEDB-4AD270456D19}" type="presParOf" srcId="{3CF20DB5-6111-4D14-B141-7CF7544A2072}" destId="{F66DED8C-BD24-4DD2-94ED-13EC87DD43F4}" srcOrd="1" destOrd="0" presId="urn:microsoft.com/office/officeart/2018/2/layout/IconVerticalSolidList"/>
    <dgm:cxn modelId="{2718BB2B-124F-4BA9-8F6F-D6E970875314}" type="presParOf" srcId="{3CF20DB5-6111-4D14-B141-7CF7544A2072}" destId="{870BC9A2-48A7-4221-9A39-7FB89604BA36}" srcOrd="2" destOrd="0" presId="urn:microsoft.com/office/officeart/2018/2/layout/IconVerticalSolidList"/>
    <dgm:cxn modelId="{541AA192-C473-47B1-AF99-D714ECBB3DDE}" type="presParOf" srcId="{3CF20DB5-6111-4D14-B141-7CF7544A2072}" destId="{28D37FDD-CF9E-48D9-8C30-24BBF94573F0}" srcOrd="3" destOrd="0" presId="urn:microsoft.com/office/officeart/2018/2/layout/IconVerticalSolidList"/>
    <dgm:cxn modelId="{3D3C20BC-3342-4707-A3C5-3310F1936FF4}" type="presParOf" srcId="{1F9FD1BA-E8EB-4184-A5D1-267B84E6CDBC}" destId="{7865FAD8-A319-4985-9716-993171525833}" srcOrd="5" destOrd="0" presId="urn:microsoft.com/office/officeart/2018/2/layout/IconVerticalSolidList"/>
    <dgm:cxn modelId="{1FB75AA6-D807-4AD6-9E27-2722F40D1A99}" type="presParOf" srcId="{1F9FD1BA-E8EB-4184-A5D1-267B84E6CDBC}" destId="{42141AC5-8454-4E5A-9B24-20AE0768AF05}" srcOrd="6" destOrd="0" presId="urn:microsoft.com/office/officeart/2018/2/layout/IconVerticalSolidList"/>
    <dgm:cxn modelId="{DE831597-EB4A-4836-9980-299ACF14C903}" type="presParOf" srcId="{42141AC5-8454-4E5A-9B24-20AE0768AF05}" destId="{9363F7C1-EA57-411A-B2B0-E59B78466A0B}" srcOrd="0" destOrd="0" presId="urn:microsoft.com/office/officeart/2018/2/layout/IconVerticalSolidList"/>
    <dgm:cxn modelId="{4957D5DB-E88D-4382-B87A-6E3E4EA5C1D0}" type="presParOf" srcId="{42141AC5-8454-4E5A-9B24-20AE0768AF05}" destId="{671F24B5-703E-42F3-ABB8-82D81C817B9D}" srcOrd="1" destOrd="0" presId="urn:microsoft.com/office/officeart/2018/2/layout/IconVerticalSolidList"/>
    <dgm:cxn modelId="{DB5DC3E3-DDFA-4C0C-BD82-1E9585FCD1A8}" type="presParOf" srcId="{42141AC5-8454-4E5A-9B24-20AE0768AF05}" destId="{6B651DB4-F56C-4200-9EA8-82D3DA27E041}" srcOrd="2" destOrd="0" presId="urn:microsoft.com/office/officeart/2018/2/layout/IconVerticalSolidList"/>
    <dgm:cxn modelId="{54B7C1A0-C0FA-47AF-A72C-F832A3D8451C}" type="presParOf" srcId="{42141AC5-8454-4E5A-9B24-20AE0768AF05}" destId="{EE6140A9-B7AF-4AB9-91DD-1F9A69EDAFAF}" srcOrd="3" destOrd="0" presId="urn:microsoft.com/office/officeart/2018/2/layout/IconVerticalSolidList"/>
    <dgm:cxn modelId="{73FAF7D2-042A-499F-9FA7-6B95364BFB6E}" type="presParOf" srcId="{1F9FD1BA-E8EB-4184-A5D1-267B84E6CDBC}" destId="{729999BD-9EDC-4E77-B8CE-57976EA352AE}" srcOrd="7" destOrd="0" presId="urn:microsoft.com/office/officeart/2018/2/layout/IconVerticalSolidList"/>
    <dgm:cxn modelId="{51998EEF-4257-4B6F-B91F-78074EA200FF}" type="presParOf" srcId="{1F9FD1BA-E8EB-4184-A5D1-267B84E6CDBC}" destId="{BADE92BF-9EEB-424B-ABA4-DDE08EA31C6C}" srcOrd="8" destOrd="0" presId="urn:microsoft.com/office/officeart/2018/2/layout/IconVerticalSolidList"/>
    <dgm:cxn modelId="{CA3D0DC5-EB4F-470B-825A-0CEAE2FC1BDC}" type="presParOf" srcId="{BADE92BF-9EEB-424B-ABA4-DDE08EA31C6C}" destId="{6C76620D-1C46-4AF2-AAA7-5A9B7159A405}" srcOrd="0" destOrd="0" presId="urn:microsoft.com/office/officeart/2018/2/layout/IconVerticalSolidList"/>
    <dgm:cxn modelId="{0A9EEA2C-DF0E-4726-92A1-99F9C671854F}" type="presParOf" srcId="{BADE92BF-9EEB-424B-ABA4-DDE08EA31C6C}" destId="{40BBBC41-8BBD-45EC-8472-59D1984F8B12}" srcOrd="1" destOrd="0" presId="urn:microsoft.com/office/officeart/2018/2/layout/IconVerticalSolidList"/>
    <dgm:cxn modelId="{5FE901A6-EC33-4488-A3E1-AF10B787BA77}" type="presParOf" srcId="{BADE92BF-9EEB-424B-ABA4-DDE08EA31C6C}" destId="{D0CD19AF-7C41-4276-9E84-4EE3DD4A2BDE}" srcOrd="2" destOrd="0" presId="urn:microsoft.com/office/officeart/2018/2/layout/IconVerticalSolidList"/>
    <dgm:cxn modelId="{AE22CA59-8D16-42A9-B943-A4D3819CA6BC}" type="presParOf" srcId="{BADE92BF-9EEB-424B-ABA4-DDE08EA31C6C}" destId="{93EC2D1E-1185-491B-86BD-22272F189F59}" srcOrd="3" destOrd="0" presId="urn:microsoft.com/office/officeart/2018/2/layout/IconVerticalSolidList"/>
    <dgm:cxn modelId="{77740947-A7FD-414C-AF3A-F07BAEFC58CD}" type="presParOf" srcId="{1F9FD1BA-E8EB-4184-A5D1-267B84E6CDBC}" destId="{E0684EA4-79D8-4F3F-935B-B473A36896E9}" srcOrd="9" destOrd="0" presId="urn:microsoft.com/office/officeart/2018/2/layout/IconVerticalSolidList"/>
    <dgm:cxn modelId="{5E6E0D17-13DB-4B9C-A7B3-519A66134F51}" type="presParOf" srcId="{1F9FD1BA-E8EB-4184-A5D1-267B84E6CDBC}" destId="{51423B4C-44CA-4A22-86F5-77221D4092C2}" srcOrd="10" destOrd="0" presId="urn:microsoft.com/office/officeart/2018/2/layout/IconVerticalSolidList"/>
    <dgm:cxn modelId="{C7CD1BDD-EE2D-46E7-95AF-4B231A3392F6}" type="presParOf" srcId="{51423B4C-44CA-4A22-86F5-77221D4092C2}" destId="{0C5CC697-CC2E-40DF-8BED-79237C13D74B}" srcOrd="0" destOrd="0" presId="urn:microsoft.com/office/officeart/2018/2/layout/IconVerticalSolidList"/>
    <dgm:cxn modelId="{EE40E43D-249F-47D9-ADD9-F0CC3B2DFB15}" type="presParOf" srcId="{51423B4C-44CA-4A22-86F5-77221D4092C2}" destId="{A0A4546E-1F19-48F6-B341-B388D0B73422}" srcOrd="1" destOrd="0" presId="urn:microsoft.com/office/officeart/2018/2/layout/IconVerticalSolidList"/>
    <dgm:cxn modelId="{5B5278A4-32A0-4F00-9B1D-F918A76EB102}" type="presParOf" srcId="{51423B4C-44CA-4A22-86F5-77221D4092C2}" destId="{B985C79D-0432-4311-8552-6D3DAFE81E1B}" srcOrd="2" destOrd="0" presId="urn:microsoft.com/office/officeart/2018/2/layout/IconVerticalSolidList"/>
    <dgm:cxn modelId="{9067CB7F-7C20-4BF3-9939-51AD5771A3F7}" type="presParOf" srcId="{51423B4C-44CA-4A22-86F5-77221D4092C2}" destId="{8ECE9BE3-0BA5-476A-90DE-3C0E612D14B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7F47BD9-CDB6-4139-B63B-9BEEFB01462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BECFFC-F2C2-4279-A2BE-57877771F115}">
      <dgm:prSet/>
      <dgm:spPr/>
      <dgm:t>
        <a:bodyPr/>
        <a:lstStyle/>
        <a:p>
          <a:r>
            <a:rPr lang="pl-PL"/>
            <a:t>Planowanie falowe polega na:</a:t>
          </a:r>
          <a:endParaRPr lang="en-US"/>
        </a:p>
      </dgm:t>
    </dgm:pt>
    <dgm:pt modelId="{B4F4800B-597C-4B2D-B6B4-EBBCE08DB124}" type="parTrans" cxnId="{C38BA140-F133-43FD-AC5D-676EEE4B1422}">
      <dgm:prSet/>
      <dgm:spPr/>
      <dgm:t>
        <a:bodyPr/>
        <a:lstStyle/>
        <a:p>
          <a:endParaRPr lang="en-US"/>
        </a:p>
      </dgm:t>
    </dgm:pt>
    <dgm:pt modelId="{56B4DD1A-4632-4B54-A6A5-CDFC9D616012}" type="sibTrans" cxnId="{C38BA140-F133-43FD-AC5D-676EEE4B1422}">
      <dgm:prSet/>
      <dgm:spPr/>
      <dgm:t>
        <a:bodyPr/>
        <a:lstStyle/>
        <a:p>
          <a:endParaRPr lang="en-US"/>
        </a:p>
      </dgm:t>
    </dgm:pt>
    <dgm:pt modelId="{A8047209-CA96-4294-9B1E-487FDF2FA451}">
      <dgm:prSet/>
      <dgm:spPr/>
      <dgm:t>
        <a:bodyPr/>
        <a:lstStyle/>
        <a:p>
          <a:r>
            <a:rPr lang="pl-PL"/>
            <a:t>planowaniu szczegółowym najbliższych zadań,</a:t>
          </a:r>
          <a:endParaRPr lang="en-US"/>
        </a:p>
      </dgm:t>
    </dgm:pt>
    <dgm:pt modelId="{132FD613-A1F5-45D9-B3B7-CC77FFE3108D}" type="parTrans" cxnId="{BAE2E894-FA42-4F8E-93F5-9885B2AB0B90}">
      <dgm:prSet/>
      <dgm:spPr/>
      <dgm:t>
        <a:bodyPr/>
        <a:lstStyle/>
        <a:p>
          <a:endParaRPr lang="en-US"/>
        </a:p>
      </dgm:t>
    </dgm:pt>
    <dgm:pt modelId="{0969F523-14A8-431F-B724-9511A3684E9E}" type="sibTrans" cxnId="{BAE2E894-FA42-4F8E-93F5-9885B2AB0B90}">
      <dgm:prSet/>
      <dgm:spPr/>
      <dgm:t>
        <a:bodyPr/>
        <a:lstStyle/>
        <a:p>
          <a:endParaRPr lang="en-US"/>
        </a:p>
      </dgm:t>
    </dgm:pt>
    <dgm:pt modelId="{77BA8BDC-3033-47E0-A658-3554BCFB6126}">
      <dgm:prSet/>
      <dgm:spPr/>
      <dgm:t>
        <a:bodyPr/>
        <a:lstStyle/>
        <a:p>
          <a:r>
            <a:rPr lang="pl-PL"/>
            <a:t>pozostawieniu dalszych etapów w formie ogólnej,</a:t>
          </a:r>
          <a:endParaRPr lang="en-US"/>
        </a:p>
      </dgm:t>
    </dgm:pt>
    <dgm:pt modelId="{059099B0-B146-4178-A524-D7F6509FE3AF}" type="parTrans" cxnId="{1B7C30A8-7975-4CA0-BDC8-4605EA5EEC3C}">
      <dgm:prSet/>
      <dgm:spPr/>
      <dgm:t>
        <a:bodyPr/>
        <a:lstStyle/>
        <a:p>
          <a:endParaRPr lang="en-US"/>
        </a:p>
      </dgm:t>
    </dgm:pt>
    <dgm:pt modelId="{FC98A3C9-70AF-4732-805A-E55C63703F5B}" type="sibTrans" cxnId="{1B7C30A8-7975-4CA0-BDC8-4605EA5EEC3C}">
      <dgm:prSet/>
      <dgm:spPr/>
      <dgm:t>
        <a:bodyPr/>
        <a:lstStyle/>
        <a:p>
          <a:endParaRPr lang="en-US"/>
        </a:p>
      </dgm:t>
    </dgm:pt>
    <dgm:pt modelId="{455787C9-30E4-42CB-8E60-7F59594B071C}">
      <dgm:prSet/>
      <dgm:spPr/>
      <dgm:t>
        <a:bodyPr/>
        <a:lstStyle/>
        <a:p>
          <a:r>
            <a:rPr lang="pl-PL"/>
            <a:t>stopniowym doprecyzowywaniu planu w czasie.</a:t>
          </a:r>
          <a:endParaRPr lang="en-US"/>
        </a:p>
      </dgm:t>
    </dgm:pt>
    <dgm:pt modelId="{125A6751-9051-46AA-B821-8D500F428AA9}" type="parTrans" cxnId="{088AF57E-850A-4474-9396-8E2B6C947714}">
      <dgm:prSet/>
      <dgm:spPr/>
      <dgm:t>
        <a:bodyPr/>
        <a:lstStyle/>
        <a:p>
          <a:endParaRPr lang="en-US"/>
        </a:p>
      </dgm:t>
    </dgm:pt>
    <dgm:pt modelId="{3A6C2B96-9501-457D-B1C8-81662B5FCEF0}" type="sibTrans" cxnId="{088AF57E-850A-4474-9396-8E2B6C947714}">
      <dgm:prSet/>
      <dgm:spPr/>
      <dgm:t>
        <a:bodyPr/>
        <a:lstStyle/>
        <a:p>
          <a:endParaRPr lang="en-US"/>
        </a:p>
      </dgm:t>
    </dgm:pt>
    <dgm:pt modelId="{D0126318-A605-4AD4-9980-5F75FAA706B1}" type="pres">
      <dgm:prSet presAssocID="{17F47BD9-CDB6-4139-B63B-9BEEFB014629}" presName="linear" presStyleCnt="0">
        <dgm:presLayoutVars>
          <dgm:animLvl val="lvl"/>
          <dgm:resizeHandles val="exact"/>
        </dgm:presLayoutVars>
      </dgm:prSet>
      <dgm:spPr/>
    </dgm:pt>
    <dgm:pt modelId="{61D505D9-AF7D-4D57-AFFB-5F15BD7F6C36}" type="pres">
      <dgm:prSet presAssocID="{32BECFFC-F2C2-4279-A2BE-57877771F11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C9089F5-C307-45D2-A1E6-8F9CD0FA064F}" type="pres">
      <dgm:prSet presAssocID="{56B4DD1A-4632-4B54-A6A5-CDFC9D616012}" presName="spacer" presStyleCnt="0"/>
      <dgm:spPr/>
    </dgm:pt>
    <dgm:pt modelId="{EF308366-404F-4D9A-A0A6-6565C20A8062}" type="pres">
      <dgm:prSet presAssocID="{A8047209-CA96-4294-9B1E-487FDF2FA4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7549C2-0416-4619-B86B-E2E70C0D64C7}" type="pres">
      <dgm:prSet presAssocID="{0969F523-14A8-431F-B724-9511A3684E9E}" presName="spacer" presStyleCnt="0"/>
      <dgm:spPr/>
    </dgm:pt>
    <dgm:pt modelId="{EACA0FFF-433F-42A0-B2C2-59BE41B44075}" type="pres">
      <dgm:prSet presAssocID="{77BA8BDC-3033-47E0-A658-3554BCFB612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65679D7-79B5-42A9-8DD7-6FF9475A59AB}" type="pres">
      <dgm:prSet presAssocID="{FC98A3C9-70AF-4732-805A-E55C63703F5B}" presName="spacer" presStyleCnt="0"/>
      <dgm:spPr/>
    </dgm:pt>
    <dgm:pt modelId="{C1934C2F-5895-479B-B4EA-A25A9618457E}" type="pres">
      <dgm:prSet presAssocID="{455787C9-30E4-42CB-8E60-7F59594B071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8D54E13-6CA4-4DDF-B97A-9BA612064BDE}" type="presOf" srcId="{455787C9-30E4-42CB-8E60-7F59594B071C}" destId="{C1934C2F-5895-479B-B4EA-A25A9618457E}" srcOrd="0" destOrd="0" presId="urn:microsoft.com/office/officeart/2005/8/layout/vList2"/>
    <dgm:cxn modelId="{C38BA140-F133-43FD-AC5D-676EEE4B1422}" srcId="{17F47BD9-CDB6-4139-B63B-9BEEFB014629}" destId="{32BECFFC-F2C2-4279-A2BE-57877771F115}" srcOrd="0" destOrd="0" parTransId="{B4F4800B-597C-4B2D-B6B4-EBBCE08DB124}" sibTransId="{56B4DD1A-4632-4B54-A6A5-CDFC9D616012}"/>
    <dgm:cxn modelId="{F84C404B-7600-4A94-AE63-E2D6E99665C7}" type="presOf" srcId="{77BA8BDC-3033-47E0-A658-3554BCFB6126}" destId="{EACA0FFF-433F-42A0-B2C2-59BE41B44075}" srcOrd="0" destOrd="0" presId="urn:microsoft.com/office/officeart/2005/8/layout/vList2"/>
    <dgm:cxn modelId="{76825959-9F74-476F-B484-C80EC0F8729D}" type="presOf" srcId="{A8047209-CA96-4294-9B1E-487FDF2FA451}" destId="{EF308366-404F-4D9A-A0A6-6565C20A8062}" srcOrd="0" destOrd="0" presId="urn:microsoft.com/office/officeart/2005/8/layout/vList2"/>
    <dgm:cxn modelId="{088AF57E-850A-4474-9396-8E2B6C947714}" srcId="{17F47BD9-CDB6-4139-B63B-9BEEFB014629}" destId="{455787C9-30E4-42CB-8E60-7F59594B071C}" srcOrd="3" destOrd="0" parTransId="{125A6751-9051-46AA-B821-8D500F428AA9}" sibTransId="{3A6C2B96-9501-457D-B1C8-81662B5FCEF0}"/>
    <dgm:cxn modelId="{66C05491-597E-4BF9-B723-E535A772D873}" type="presOf" srcId="{32BECFFC-F2C2-4279-A2BE-57877771F115}" destId="{61D505D9-AF7D-4D57-AFFB-5F15BD7F6C36}" srcOrd="0" destOrd="0" presId="urn:microsoft.com/office/officeart/2005/8/layout/vList2"/>
    <dgm:cxn modelId="{BAE2E894-FA42-4F8E-93F5-9885B2AB0B90}" srcId="{17F47BD9-CDB6-4139-B63B-9BEEFB014629}" destId="{A8047209-CA96-4294-9B1E-487FDF2FA451}" srcOrd="1" destOrd="0" parTransId="{132FD613-A1F5-45D9-B3B7-CC77FFE3108D}" sibTransId="{0969F523-14A8-431F-B724-9511A3684E9E}"/>
    <dgm:cxn modelId="{1B7C30A8-7975-4CA0-BDC8-4605EA5EEC3C}" srcId="{17F47BD9-CDB6-4139-B63B-9BEEFB014629}" destId="{77BA8BDC-3033-47E0-A658-3554BCFB6126}" srcOrd="2" destOrd="0" parTransId="{059099B0-B146-4178-A524-D7F6509FE3AF}" sibTransId="{FC98A3C9-70AF-4732-805A-E55C63703F5B}"/>
    <dgm:cxn modelId="{110F04B9-4558-4DEC-B3EC-6C16D5EACA82}" type="presOf" srcId="{17F47BD9-CDB6-4139-B63B-9BEEFB014629}" destId="{D0126318-A605-4AD4-9980-5F75FAA706B1}" srcOrd="0" destOrd="0" presId="urn:microsoft.com/office/officeart/2005/8/layout/vList2"/>
    <dgm:cxn modelId="{70E20113-D37B-4566-9E94-F0B23B4169DB}" type="presParOf" srcId="{D0126318-A605-4AD4-9980-5F75FAA706B1}" destId="{61D505D9-AF7D-4D57-AFFB-5F15BD7F6C36}" srcOrd="0" destOrd="0" presId="urn:microsoft.com/office/officeart/2005/8/layout/vList2"/>
    <dgm:cxn modelId="{82781F4C-CF77-4E3D-91F5-1AE8B55CBA40}" type="presParOf" srcId="{D0126318-A605-4AD4-9980-5F75FAA706B1}" destId="{CC9089F5-C307-45D2-A1E6-8F9CD0FA064F}" srcOrd="1" destOrd="0" presId="urn:microsoft.com/office/officeart/2005/8/layout/vList2"/>
    <dgm:cxn modelId="{2737705F-CACF-4933-BC46-45FC8E3201FA}" type="presParOf" srcId="{D0126318-A605-4AD4-9980-5F75FAA706B1}" destId="{EF308366-404F-4D9A-A0A6-6565C20A8062}" srcOrd="2" destOrd="0" presId="urn:microsoft.com/office/officeart/2005/8/layout/vList2"/>
    <dgm:cxn modelId="{66CC4BB3-D61F-4561-922B-8E488D217C22}" type="presParOf" srcId="{D0126318-A605-4AD4-9980-5F75FAA706B1}" destId="{277549C2-0416-4619-B86B-E2E70C0D64C7}" srcOrd="3" destOrd="0" presId="urn:microsoft.com/office/officeart/2005/8/layout/vList2"/>
    <dgm:cxn modelId="{5E45E0D1-D6EC-4733-A8B0-343CCA58C77E}" type="presParOf" srcId="{D0126318-A605-4AD4-9980-5F75FAA706B1}" destId="{EACA0FFF-433F-42A0-B2C2-59BE41B44075}" srcOrd="4" destOrd="0" presId="urn:microsoft.com/office/officeart/2005/8/layout/vList2"/>
    <dgm:cxn modelId="{185B7082-49EC-4968-9258-E1BDD97EA392}" type="presParOf" srcId="{D0126318-A605-4AD4-9980-5F75FAA706B1}" destId="{465679D7-79B5-42A9-8DD7-6FF9475A59AB}" srcOrd="5" destOrd="0" presId="urn:microsoft.com/office/officeart/2005/8/layout/vList2"/>
    <dgm:cxn modelId="{F494FA68-5967-4DBA-82B7-12844007E60F}" type="presParOf" srcId="{D0126318-A605-4AD4-9980-5F75FAA706B1}" destId="{C1934C2F-5895-479B-B4EA-A25A9618457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F3BE0F-F7CE-4849-B237-A9C910826FDF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8F317D1-147B-4705-924B-A787CB253CE1}">
      <dgm:prSet/>
      <dgm:spPr/>
      <dgm:t>
        <a:bodyPr/>
        <a:lstStyle/>
        <a:p>
          <a:r>
            <a:rPr lang="pl-PL"/>
            <a:t>Crashing:</a:t>
          </a:r>
          <a:br>
            <a:rPr lang="pl-PL"/>
          </a:br>
          <a:r>
            <a:rPr lang="pl-PL"/>
            <a:t>dodanie zasobów, aby przyspieszyć zadanie</a:t>
          </a:r>
          <a:endParaRPr lang="en-US"/>
        </a:p>
      </dgm:t>
    </dgm:pt>
    <dgm:pt modelId="{CCE4A15D-C490-4055-9459-C1A0B300D286}" type="parTrans" cxnId="{C01BD333-96C9-4CFC-AD62-E1F9EB77ADA3}">
      <dgm:prSet/>
      <dgm:spPr/>
      <dgm:t>
        <a:bodyPr/>
        <a:lstStyle/>
        <a:p>
          <a:endParaRPr lang="en-US"/>
        </a:p>
      </dgm:t>
    </dgm:pt>
    <dgm:pt modelId="{124FBE4B-4581-4231-A66F-2CD343789026}" type="sibTrans" cxnId="{C01BD333-96C9-4CFC-AD62-E1F9EB77ADA3}">
      <dgm:prSet/>
      <dgm:spPr/>
      <dgm:t>
        <a:bodyPr/>
        <a:lstStyle/>
        <a:p>
          <a:endParaRPr lang="en-US"/>
        </a:p>
      </dgm:t>
    </dgm:pt>
    <dgm:pt modelId="{636F8932-A8C0-490F-9B78-86E078060B87}">
      <dgm:prSet/>
      <dgm:spPr/>
      <dgm:t>
        <a:bodyPr/>
        <a:lstStyle/>
        <a:p>
          <a:r>
            <a:rPr lang="pl-PL"/>
            <a:t>Fast tracking:</a:t>
          </a:r>
          <a:br>
            <a:rPr lang="pl-PL"/>
          </a:br>
          <a:r>
            <a:rPr lang="pl-PL"/>
            <a:t>wykonywanie zadań równolegle zamiast sekwencyjnie</a:t>
          </a:r>
          <a:endParaRPr lang="en-US"/>
        </a:p>
      </dgm:t>
    </dgm:pt>
    <dgm:pt modelId="{D812CDDB-4EAB-4746-92E3-22A3BD72B247}" type="parTrans" cxnId="{668FCDD1-46EC-4457-B9CE-95B6C92B1CBD}">
      <dgm:prSet/>
      <dgm:spPr/>
      <dgm:t>
        <a:bodyPr/>
        <a:lstStyle/>
        <a:p>
          <a:endParaRPr lang="en-US"/>
        </a:p>
      </dgm:t>
    </dgm:pt>
    <dgm:pt modelId="{E796E3FC-5A68-46C7-97F8-5BC74B7699C4}" type="sibTrans" cxnId="{668FCDD1-46EC-4457-B9CE-95B6C92B1CBD}">
      <dgm:prSet/>
      <dgm:spPr/>
      <dgm:t>
        <a:bodyPr/>
        <a:lstStyle/>
        <a:p>
          <a:endParaRPr lang="en-US"/>
        </a:p>
      </dgm:t>
    </dgm:pt>
    <dgm:pt modelId="{B7C7EF28-3A1D-4958-A8DF-08068579C726}" type="pres">
      <dgm:prSet presAssocID="{92F3BE0F-F7CE-4849-B237-A9C910826FD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19BBA2-12DD-49E7-992B-EE3427B209CF}" type="pres">
      <dgm:prSet presAssocID="{28F317D1-147B-4705-924B-A787CB253CE1}" presName="hierRoot1" presStyleCnt="0"/>
      <dgm:spPr/>
    </dgm:pt>
    <dgm:pt modelId="{0524930A-B354-4B91-9E15-D8917A98A682}" type="pres">
      <dgm:prSet presAssocID="{28F317D1-147B-4705-924B-A787CB253CE1}" presName="composite" presStyleCnt="0"/>
      <dgm:spPr/>
    </dgm:pt>
    <dgm:pt modelId="{D670616C-C2A8-4263-8339-60C60DADC7C7}" type="pres">
      <dgm:prSet presAssocID="{28F317D1-147B-4705-924B-A787CB253CE1}" presName="background" presStyleLbl="node0" presStyleIdx="0" presStyleCnt="2"/>
      <dgm:spPr/>
    </dgm:pt>
    <dgm:pt modelId="{8FD7CA9C-4082-48CB-B0C3-73FC4BE6FF6B}" type="pres">
      <dgm:prSet presAssocID="{28F317D1-147B-4705-924B-A787CB253CE1}" presName="text" presStyleLbl="fgAcc0" presStyleIdx="0" presStyleCnt="2">
        <dgm:presLayoutVars>
          <dgm:chPref val="3"/>
        </dgm:presLayoutVars>
      </dgm:prSet>
      <dgm:spPr/>
    </dgm:pt>
    <dgm:pt modelId="{DD2B3C8E-1FE5-4397-B764-E388BB117F55}" type="pres">
      <dgm:prSet presAssocID="{28F317D1-147B-4705-924B-A787CB253CE1}" presName="hierChild2" presStyleCnt="0"/>
      <dgm:spPr/>
    </dgm:pt>
    <dgm:pt modelId="{49AEFA2C-97EA-49C5-9404-BDE1A67BE85E}" type="pres">
      <dgm:prSet presAssocID="{636F8932-A8C0-490F-9B78-86E078060B87}" presName="hierRoot1" presStyleCnt="0"/>
      <dgm:spPr/>
    </dgm:pt>
    <dgm:pt modelId="{2AA6078A-DF21-4DD2-9F06-2C9114DBE408}" type="pres">
      <dgm:prSet presAssocID="{636F8932-A8C0-490F-9B78-86E078060B87}" presName="composite" presStyleCnt="0"/>
      <dgm:spPr/>
    </dgm:pt>
    <dgm:pt modelId="{988CA1E9-CAC5-418C-93A6-F651DB0F39F6}" type="pres">
      <dgm:prSet presAssocID="{636F8932-A8C0-490F-9B78-86E078060B87}" presName="background" presStyleLbl="node0" presStyleIdx="1" presStyleCnt="2"/>
      <dgm:spPr/>
    </dgm:pt>
    <dgm:pt modelId="{5F43C692-898D-42F9-8606-6F76F435AA0D}" type="pres">
      <dgm:prSet presAssocID="{636F8932-A8C0-490F-9B78-86E078060B87}" presName="text" presStyleLbl="fgAcc0" presStyleIdx="1" presStyleCnt="2">
        <dgm:presLayoutVars>
          <dgm:chPref val="3"/>
        </dgm:presLayoutVars>
      </dgm:prSet>
      <dgm:spPr/>
    </dgm:pt>
    <dgm:pt modelId="{597636AD-8BA5-4322-8D4B-7F46D84EBEFA}" type="pres">
      <dgm:prSet presAssocID="{636F8932-A8C0-490F-9B78-86E078060B87}" presName="hierChild2" presStyleCnt="0"/>
      <dgm:spPr/>
    </dgm:pt>
  </dgm:ptLst>
  <dgm:cxnLst>
    <dgm:cxn modelId="{C01BD333-96C9-4CFC-AD62-E1F9EB77ADA3}" srcId="{92F3BE0F-F7CE-4849-B237-A9C910826FDF}" destId="{28F317D1-147B-4705-924B-A787CB253CE1}" srcOrd="0" destOrd="0" parTransId="{CCE4A15D-C490-4055-9459-C1A0B300D286}" sibTransId="{124FBE4B-4581-4231-A66F-2CD343789026}"/>
    <dgm:cxn modelId="{BCCBCC40-8AB3-4F6F-9B03-CC8A867D897A}" type="presOf" srcId="{28F317D1-147B-4705-924B-A787CB253CE1}" destId="{8FD7CA9C-4082-48CB-B0C3-73FC4BE6FF6B}" srcOrd="0" destOrd="0" presId="urn:microsoft.com/office/officeart/2005/8/layout/hierarchy1"/>
    <dgm:cxn modelId="{9ADEE578-2D5A-4000-B284-71FBD3E4E08D}" type="presOf" srcId="{636F8932-A8C0-490F-9B78-86E078060B87}" destId="{5F43C692-898D-42F9-8606-6F76F435AA0D}" srcOrd="0" destOrd="0" presId="urn:microsoft.com/office/officeart/2005/8/layout/hierarchy1"/>
    <dgm:cxn modelId="{61F59CC2-7DF9-4135-B067-63F0AD0F2324}" type="presOf" srcId="{92F3BE0F-F7CE-4849-B237-A9C910826FDF}" destId="{B7C7EF28-3A1D-4958-A8DF-08068579C726}" srcOrd="0" destOrd="0" presId="urn:microsoft.com/office/officeart/2005/8/layout/hierarchy1"/>
    <dgm:cxn modelId="{668FCDD1-46EC-4457-B9CE-95B6C92B1CBD}" srcId="{92F3BE0F-F7CE-4849-B237-A9C910826FDF}" destId="{636F8932-A8C0-490F-9B78-86E078060B87}" srcOrd="1" destOrd="0" parTransId="{D812CDDB-4EAB-4746-92E3-22A3BD72B247}" sibTransId="{E796E3FC-5A68-46C7-97F8-5BC74B7699C4}"/>
    <dgm:cxn modelId="{527C02CF-DC9F-4D43-A359-410C422BF18A}" type="presParOf" srcId="{B7C7EF28-3A1D-4958-A8DF-08068579C726}" destId="{0B19BBA2-12DD-49E7-992B-EE3427B209CF}" srcOrd="0" destOrd="0" presId="urn:microsoft.com/office/officeart/2005/8/layout/hierarchy1"/>
    <dgm:cxn modelId="{DC2E3F9E-D4DB-4E9B-9D02-9A664605D3EC}" type="presParOf" srcId="{0B19BBA2-12DD-49E7-992B-EE3427B209CF}" destId="{0524930A-B354-4B91-9E15-D8917A98A682}" srcOrd="0" destOrd="0" presId="urn:microsoft.com/office/officeart/2005/8/layout/hierarchy1"/>
    <dgm:cxn modelId="{7D61E73E-00B5-4B35-A149-D2D4B1B0A63F}" type="presParOf" srcId="{0524930A-B354-4B91-9E15-D8917A98A682}" destId="{D670616C-C2A8-4263-8339-60C60DADC7C7}" srcOrd="0" destOrd="0" presId="urn:microsoft.com/office/officeart/2005/8/layout/hierarchy1"/>
    <dgm:cxn modelId="{6DA4E50B-708D-4E40-AF83-F0300584C3CF}" type="presParOf" srcId="{0524930A-B354-4B91-9E15-D8917A98A682}" destId="{8FD7CA9C-4082-48CB-B0C3-73FC4BE6FF6B}" srcOrd="1" destOrd="0" presId="urn:microsoft.com/office/officeart/2005/8/layout/hierarchy1"/>
    <dgm:cxn modelId="{12C4213D-3C28-474C-8A61-B665D3E1F5D7}" type="presParOf" srcId="{0B19BBA2-12DD-49E7-992B-EE3427B209CF}" destId="{DD2B3C8E-1FE5-4397-B764-E388BB117F55}" srcOrd="1" destOrd="0" presId="urn:microsoft.com/office/officeart/2005/8/layout/hierarchy1"/>
    <dgm:cxn modelId="{5A126594-A839-46BD-B7F9-4ED2BF23C5BB}" type="presParOf" srcId="{B7C7EF28-3A1D-4958-A8DF-08068579C726}" destId="{49AEFA2C-97EA-49C5-9404-BDE1A67BE85E}" srcOrd="1" destOrd="0" presId="urn:microsoft.com/office/officeart/2005/8/layout/hierarchy1"/>
    <dgm:cxn modelId="{7C6F7D05-653A-4E2C-BD72-70FABB55C5EC}" type="presParOf" srcId="{49AEFA2C-97EA-49C5-9404-BDE1A67BE85E}" destId="{2AA6078A-DF21-4DD2-9F06-2C9114DBE408}" srcOrd="0" destOrd="0" presId="urn:microsoft.com/office/officeart/2005/8/layout/hierarchy1"/>
    <dgm:cxn modelId="{108C1BE5-2873-4785-AD0A-A417BEDA6EF9}" type="presParOf" srcId="{2AA6078A-DF21-4DD2-9F06-2C9114DBE408}" destId="{988CA1E9-CAC5-418C-93A6-F651DB0F39F6}" srcOrd="0" destOrd="0" presId="urn:microsoft.com/office/officeart/2005/8/layout/hierarchy1"/>
    <dgm:cxn modelId="{4137A1DD-A09B-4DBA-9EFB-6A3BEDA53D25}" type="presParOf" srcId="{2AA6078A-DF21-4DD2-9F06-2C9114DBE408}" destId="{5F43C692-898D-42F9-8606-6F76F435AA0D}" srcOrd="1" destOrd="0" presId="urn:microsoft.com/office/officeart/2005/8/layout/hierarchy1"/>
    <dgm:cxn modelId="{1DD42321-205C-4168-B86A-4F036B3FDB77}" type="presParOf" srcId="{49AEFA2C-97EA-49C5-9404-BDE1A67BE85E}" destId="{597636AD-8BA5-4322-8D4B-7F46D84EBEF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24E514-5363-4FC9-AE72-E1B4F57FABB2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B6CC7B3-C90A-4966-9DD2-29D71BAB94E6}">
      <dgm:prSet/>
      <dgm:spPr/>
      <dgm:t>
        <a:bodyPr/>
        <a:lstStyle/>
        <a:p>
          <a:r>
            <a:rPr lang="pl-PL" dirty="0"/>
            <a:t>Szacowanie relatywne polega na:</a:t>
          </a:r>
          <a:endParaRPr lang="en-US" dirty="0"/>
        </a:p>
      </dgm:t>
    </dgm:pt>
    <dgm:pt modelId="{225E701F-C467-4495-A7C6-EAFFD10DD31D}" type="parTrans" cxnId="{831B446E-F8A5-437A-9297-2328494028C0}">
      <dgm:prSet/>
      <dgm:spPr/>
      <dgm:t>
        <a:bodyPr/>
        <a:lstStyle/>
        <a:p>
          <a:endParaRPr lang="en-US"/>
        </a:p>
      </dgm:t>
    </dgm:pt>
    <dgm:pt modelId="{684323C7-3AF4-4A03-BFEB-C1F090CD24D0}" type="sibTrans" cxnId="{831B446E-F8A5-437A-9297-2328494028C0}">
      <dgm:prSet/>
      <dgm:spPr/>
      <dgm:t>
        <a:bodyPr/>
        <a:lstStyle/>
        <a:p>
          <a:endParaRPr lang="en-US"/>
        </a:p>
      </dgm:t>
    </dgm:pt>
    <dgm:pt modelId="{5115FE6A-E330-443F-B278-76EA8EC80251}">
      <dgm:prSet/>
      <dgm:spPr/>
      <dgm:t>
        <a:bodyPr/>
        <a:lstStyle/>
        <a:p>
          <a:r>
            <a:rPr lang="pl-PL"/>
            <a:t>porównywaniu zadań względem siebie,</a:t>
          </a:r>
          <a:endParaRPr lang="en-US"/>
        </a:p>
      </dgm:t>
    </dgm:pt>
    <dgm:pt modelId="{5D89B539-AAF3-4B69-A254-FCA0F533B84A}" type="parTrans" cxnId="{4EF655AB-AA9E-4458-82EB-ABC318FEE692}">
      <dgm:prSet/>
      <dgm:spPr/>
      <dgm:t>
        <a:bodyPr/>
        <a:lstStyle/>
        <a:p>
          <a:endParaRPr lang="en-US"/>
        </a:p>
      </dgm:t>
    </dgm:pt>
    <dgm:pt modelId="{39104AF3-354D-49F9-AEB2-46BB0F64F06D}" type="sibTrans" cxnId="{4EF655AB-AA9E-4458-82EB-ABC318FEE692}">
      <dgm:prSet/>
      <dgm:spPr/>
      <dgm:t>
        <a:bodyPr/>
        <a:lstStyle/>
        <a:p>
          <a:endParaRPr lang="en-US"/>
        </a:p>
      </dgm:t>
    </dgm:pt>
    <dgm:pt modelId="{4AE20561-40BB-4A33-B840-5428E86A414B}">
      <dgm:prSet/>
      <dgm:spPr/>
      <dgm:t>
        <a:bodyPr/>
        <a:lstStyle/>
        <a:p>
          <a:r>
            <a:rPr lang="pl-PL"/>
            <a:t>ocenie ich złożoności, a nie czasu,</a:t>
          </a:r>
          <a:endParaRPr lang="en-US"/>
        </a:p>
      </dgm:t>
    </dgm:pt>
    <dgm:pt modelId="{C54C8533-12E6-4500-9E94-E4881B7AB018}" type="parTrans" cxnId="{D8F20A46-8FDD-44FF-A51F-8E7B3E6FF2F5}">
      <dgm:prSet/>
      <dgm:spPr/>
      <dgm:t>
        <a:bodyPr/>
        <a:lstStyle/>
        <a:p>
          <a:endParaRPr lang="en-US"/>
        </a:p>
      </dgm:t>
    </dgm:pt>
    <dgm:pt modelId="{E1372EF9-748F-4FB0-9C9B-5B44647D091D}" type="sibTrans" cxnId="{D8F20A46-8FDD-44FF-A51F-8E7B3E6FF2F5}">
      <dgm:prSet/>
      <dgm:spPr/>
      <dgm:t>
        <a:bodyPr/>
        <a:lstStyle/>
        <a:p>
          <a:endParaRPr lang="en-US"/>
        </a:p>
      </dgm:t>
    </dgm:pt>
    <dgm:pt modelId="{E922CC9B-FCBE-4867-B803-5FC2BEC92469}">
      <dgm:prSet/>
      <dgm:spPr/>
      <dgm:t>
        <a:bodyPr/>
        <a:lstStyle/>
        <a:p>
          <a:r>
            <a:rPr lang="pl-PL"/>
            <a:t>stosowaniu jednostek takich jak Story Points.</a:t>
          </a:r>
          <a:endParaRPr lang="en-US"/>
        </a:p>
      </dgm:t>
    </dgm:pt>
    <dgm:pt modelId="{89FE2F9A-F198-4F19-A5D7-85884B9FA55F}" type="parTrans" cxnId="{AAE4896E-6B06-49C9-A5FE-2908E7D47660}">
      <dgm:prSet/>
      <dgm:spPr/>
      <dgm:t>
        <a:bodyPr/>
        <a:lstStyle/>
        <a:p>
          <a:endParaRPr lang="en-US"/>
        </a:p>
      </dgm:t>
    </dgm:pt>
    <dgm:pt modelId="{63DE7C41-D123-4E51-A16C-B3DEDCC828EC}" type="sibTrans" cxnId="{AAE4896E-6B06-49C9-A5FE-2908E7D47660}">
      <dgm:prSet/>
      <dgm:spPr/>
      <dgm:t>
        <a:bodyPr/>
        <a:lstStyle/>
        <a:p>
          <a:endParaRPr lang="en-US"/>
        </a:p>
      </dgm:t>
    </dgm:pt>
    <dgm:pt modelId="{02A14CF6-34CC-489F-96EA-E13AEE6CC42C}" type="pres">
      <dgm:prSet presAssocID="{AD24E514-5363-4FC9-AE72-E1B4F57FABB2}" presName="outerComposite" presStyleCnt="0">
        <dgm:presLayoutVars>
          <dgm:chMax val="5"/>
          <dgm:dir/>
          <dgm:resizeHandles val="exact"/>
        </dgm:presLayoutVars>
      </dgm:prSet>
      <dgm:spPr/>
    </dgm:pt>
    <dgm:pt modelId="{4B93E434-D671-444D-84CC-58E628608B07}" type="pres">
      <dgm:prSet presAssocID="{AD24E514-5363-4FC9-AE72-E1B4F57FABB2}" presName="dummyMaxCanvas" presStyleCnt="0">
        <dgm:presLayoutVars/>
      </dgm:prSet>
      <dgm:spPr/>
    </dgm:pt>
    <dgm:pt modelId="{89F82D62-F4C7-4365-A193-578FBDA0B650}" type="pres">
      <dgm:prSet presAssocID="{AD24E514-5363-4FC9-AE72-E1B4F57FABB2}" presName="FourNodes_1" presStyleLbl="node1" presStyleIdx="0" presStyleCnt="4">
        <dgm:presLayoutVars>
          <dgm:bulletEnabled val="1"/>
        </dgm:presLayoutVars>
      </dgm:prSet>
      <dgm:spPr/>
    </dgm:pt>
    <dgm:pt modelId="{8873FFE7-2A02-4CB7-B9D4-5751C109DB32}" type="pres">
      <dgm:prSet presAssocID="{AD24E514-5363-4FC9-AE72-E1B4F57FABB2}" presName="FourNodes_2" presStyleLbl="node1" presStyleIdx="1" presStyleCnt="4">
        <dgm:presLayoutVars>
          <dgm:bulletEnabled val="1"/>
        </dgm:presLayoutVars>
      </dgm:prSet>
      <dgm:spPr/>
    </dgm:pt>
    <dgm:pt modelId="{C6BBCA27-BCE6-4312-8574-209C9AB48E5B}" type="pres">
      <dgm:prSet presAssocID="{AD24E514-5363-4FC9-AE72-E1B4F57FABB2}" presName="FourNodes_3" presStyleLbl="node1" presStyleIdx="2" presStyleCnt="4">
        <dgm:presLayoutVars>
          <dgm:bulletEnabled val="1"/>
        </dgm:presLayoutVars>
      </dgm:prSet>
      <dgm:spPr/>
    </dgm:pt>
    <dgm:pt modelId="{C5FFF12A-EA2D-4F40-8394-BB24F236A687}" type="pres">
      <dgm:prSet presAssocID="{AD24E514-5363-4FC9-AE72-E1B4F57FABB2}" presName="FourNodes_4" presStyleLbl="node1" presStyleIdx="3" presStyleCnt="4">
        <dgm:presLayoutVars>
          <dgm:bulletEnabled val="1"/>
        </dgm:presLayoutVars>
      </dgm:prSet>
      <dgm:spPr/>
    </dgm:pt>
    <dgm:pt modelId="{BB966ED7-F255-407F-A75F-D00FDC11FF3C}" type="pres">
      <dgm:prSet presAssocID="{AD24E514-5363-4FC9-AE72-E1B4F57FABB2}" presName="FourConn_1-2" presStyleLbl="fgAccFollowNode1" presStyleIdx="0" presStyleCnt="3">
        <dgm:presLayoutVars>
          <dgm:bulletEnabled val="1"/>
        </dgm:presLayoutVars>
      </dgm:prSet>
      <dgm:spPr/>
    </dgm:pt>
    <dgm:pt modelId="{B3AAB52A-0F98-47F7-A38A-703977149341}" type="pres">
      <dgm:prSet presAssocID="{AD24E514-5363-4FC9-AE72-E1B4F57FABB2}" presName="FourConn_2-3" presStyleLbl="fgAccFollowNode1" presStyleIdx="1" presStyleCnt="3">
        <dgm:presLayoutVars>
          <dgm:bulletEnabled val="1"/>
        </dgm:presLayoutVars>
      </dgm:prSet>
      <dgm:spPr/>
    </dgm:pt>
    <dgm:pt modelId="{59211B07-2128-4807-8BB0-56EFB229B538}" type="pres">
      <dgm:prSet presAssocID="{AD24E514-5363-4FC9-AE72-E1B4F57FABB2}" presName="FourConn_3-4" presStyleLbl="fgAccFollowNode1" presStyleIdx="2" presStyleCnt="3">
        <dgm:presLayoutVars>
          <dgm:bulletEnabled val="1"/>
        </dgm:presLayoutVars>
      </dgm:prSet>
      <dgm:spPr/>
    </dgm:pt>
    <dgm:pt modelId="{1D426715-E324-43E4-87CE-86A50CDD7137}" type="pres">
      <dgm:prSet presAssocID="{AD24E514-5363-4FC9-AE72-E1B4F57FABB2}" presName="FourNodes_1_text" presStyleLbl="node1" presStyleIdx="3" presStyleCnt="4">
        <dgm:presLayoutVars>
          <dgm:bulletEnabled val="1"/>
        </dgm:presLayoutVars>
      </dgm:prSet>
      <dgm:spPr/>
    </dgm:pt>
    <dgm:pt modelId="{EA808A69-B53B-473B-BEAD-BD32A1084E48}" type="pres">
      <dgm:prSet presAssocID="{AD24E514-5363-4FC9-AE72-E1B4F57FABB2}" presName="FourNodes_2_text" presStyleLbl="node1" presStyleIdx="3" presStyleCnt="4">
        <dgm:presLayoutVars>
          <dgm:bulletEnabled val="1"/>
        </dgm:presLayoutVars>
      </dgm:prSet>
      <dgm:spPr/>
    </dgm:pt>
    <dgm:pt modelId="{1318F899-06C4-4893-84F9-6BAC325C1C9B}" type="pres">
      <dgm:prSet presAssocID="{AD24E514-5363-4FC9-AE72-E1B4F57FABB2}" presName="FourNodes_3_text" presStyleLbl="node1" presStyleIdx="3" presStyleCnt="4">
        <dgm:presLayoutVars>
          <dgm:bulletEnabled val="1"/>
        </dgm:presLayoutVars>
      </dgm:prSet>
      <dgm:spPr/>
    </dgm:pt>
    <dgm:pt modelId="{66149844-59A1-45AE-9378-E2DB9E76BD3B}" type="pres">
      <dgm:prSet presAssocID="{AD24E514-5363-4FC9-AE72-E1B4F57FABB2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85B3B06-B55D-4E1B-BDCB-0B85F138DCBE}" type="presOf" srcId="{AD24E514-5363-4FC9-AE72-E1B4F57FABB2}" destId="{02A14CF6-34CC-489F-96EA-E13AEE6CC42C}" srcOrd="0" destOrd="0" presId="urn:microsoft.com/office/officeart/2005/8/layout/vProcess5"/>
    <dgm:cxn modelId="{6BFB861E-1B20-4EE8-9CC5-1708A31409E2}" type="presOf" srcId="{E1372EF9-748F-4FB0-9C9B-5B44647D091D}" destId="{59211B07-2128-4807-8BB0-56EFB229B538}" srcOrd="0" destOrd="0" presId="urn:microsoft.com/office/officeart/2005/8/layout/vProcess5"/>
    <dgm:cxn modelId="{0F97FA35-B509-4FA7-A4EC-CA6082E19C90}" type="presOf" srcId="{E922CC9B-FCBE-4867-B803-5FC2BEC92469}" destId="{C5FFF12A-EA2D-4F40-8394-BB24F236A687}" srcOrd="0" destOrd="0" presId="urn:microsoft.com/office/officeart/2005/8/layout/vProcess5"/>
    <dgm:cxn modelId="{B5E85A3B-EB20-4408-AE87-A9B45405AF1E}" type="presOf" srcId="{5115FE6A-E330-443F-B278-76EA8EC80251}" destId="{EA808A69-B53B-473B-BEAD-BD32A1084E48}" srcOrd="1" destOrd="0" presId="urn:microsoft.com/office/officeart/2005/8/layout/vProcess5"/>
    <dgm:cxn modelId="{D8F20A46-8FDD-44FF-A51F-8E7B3E6FF2F5}" srcId="{AD24E514-5363-4FC9-AE72-E1B4F57FABB2}" destId="{4AE20561-40BB-4A33-B840-5428E86A414B}" srcOrd="2" destOrd="0" parTransId="{C54C8533-12E6-4500-9E94-E4881B7AB018}" sibTransId="{E1372EF9-748F-4FB0-9C9B-5B44647D091D}"/>
    <dgm:cxn modelId="{06FE996A-2CDC-4A67-B4B5-550432C4CDE6}" type="presOf" srcId="{E922CC9B-FCBE-4867-B803-5FC2BEC92469}" destId="{66149844-59A1-45AE-9378-E2DB9E76BD3B}" srcOrd="1" destOrd="0" presId="urn:microsoft.com/office/officeart/2005/8/layout/vProcess5"/>
    <dgm:cxn modelId="{831B446E-F8A5-437A-9297-2328494028C0}" srcId="{AD24E514-5363-4FC9-AE72-E1B4F57FABB2}" destId="{5B6CC7B3-C90A-4966-9DD2-29D71BAB94E6}" srcOrd="0" destOrd="0" parTransId="{225E701F-C467-4495-A7C6-EAFFD10DD31D}" sibTransId="{684323C7-3AF4-4A03-BFEB-C1F090CD24D0}"/>
    <dgm:cxn modelId="{AAE4896E-6B06-49C9-A5FE-2908E7D47660}" srcId="{AD24E514-5363-4FC9-AE72-E1B4F57FABB2}" destId="{E922CC9B-FCBE-4867-B803-5FC2BEC92469}" srcOrd="3" destOrd="0" parTransId="{89FE2F9A-F198-4F19-A5D7-85884B9FA55F}" sibTransId="{63DE7C41-D123-4E51-A16C-B3DEDCC828EC}"/>
    <dgm:cxn modelId="{DA5B4A89-855A-4EC5-8B33-BFDD9EBB092B}" type="presOf" srcId="{39104AF3-354D-49F9-AEB2-46BB0F64F06D}" destId="{B3AAB52A-0F98-47F7-A38A-703977149341}" srcOrd="0" destOrd="0" presId="urn:microsoft.com/office/officeart/2005/8/layout/vProcess5"/>
    <dgm:cxn modelId="{67FBC38D-96FC-4871-BC8F-B9F58FAE846A}" type="presOf" srcId="{5B6CC7B3-C90A-4966-9DD2-29D71BAB94E6}" destId="{89F82D62-F4C7-4365-A193-578FBDA0B650}" srcOrd="0" destOrd="0" presId="urn:microsoft.com/office/officeart/2005/8/layout/vProcess5"/>
    <dgm:cxn modelId="{5975428E-459B-4677-B4BB-309859C36B69}" type="presOf" srcId="{5115FE6A-E330-443F-B278-76EA8EC80251}" destId="{8873FFE7-2A02-4CB7-B9D4-5751C109DB32}" srcOrd="0" destOrd="0" presId="urn:microsoft.com/office/officeart/2005/8/layout/vProcess5"/>
    <dgm:cxn modelId="{63368FA1-6D09-4DC7-ACB6-731541DF5DC6}" type="presOf" srcId="{5B6CC7B3-C90A-4966-9DD2-29D71BAB94E6}" destId="{1D426715-E324-43E4-87CE-86A50CDD7137}" srcOrd="1" destOrd="0" presId="urn:microsoft.com/office/officeart/2005/8/layout/vProcess5"/>
    <dgm:cxn modelId="{318E8BA3-E004-4BE4-8774-B6E6FD607BB5}" type="presOf" srcId="{4AE20561-40BB-4A33-B840-5428E86A414B}" destId="{C6BBCA27-BCE6-4312-8574-209C9AB48E5B}" srcOrd="0" destOrd="0" presId="urn:microsoft.com/office/officeart/2005/8/layout/vProcess5"/>
    <dgm:cxn modelId="{4EF655AB-AA9E-4458-82EB-ABC318FEE692}" srcId="{AD24E514-5363-4FC9-AE72-E1B4F57FABB2}" destId="{5115FE6A-E330-443F-B278-76EA8EC80251}" srcOrd="1" destOrd="0" parTransId="{5D89B539-AAF3-4B69-A254-FCA0F533B84A}" sibTransId="{39104AF3-354D-49F9-AEB2-46BB0F64F06D}"/>
    <dgm:cxn modelId="{7101F0B8-8960-4288-8EB0-6A14DA3F2702}" type="presOf" srcId="{684323C7-3AF4-4A03-BFEB-C1F090CD24D0}" destId="{BB966ED7-F255-407F-A75F-D00FDC11FF3C}" srcOrd="0" destOrd="0" presId="urn:microsoft.com/office/officeart/2005/8/layout/vProcess5"/>
    <dgm:cxn modelId="{F51735E9-BD43-44A4-A18C-96F881A4B6C0}" type="presOf" srcId="{4AE20561-40BB-4A33-B840-5428E86A414B}" destId="{1318F899-06C4-4893-84F9-6BAC325C1C9B}" srcOrd="1" destOrd="0" presId="urn:microsoft.com/office/officeart/2005/8/layout/vProcess5"/>
    <dgm:cxn modelId="{01D70816-77F8-4BB1-BDC4-8D3EEE498774}" type="presParOf" srcId="{02A14CF6-34CC-489F-96EA-E13AEE6CC42C}" destId="{4B93E434-D671-444D-84CC-58E628608B07}" srcOrd="0" destOrd="0" presId="urn:microsoft.com/office/officeart/2005/8/layout/vProcess5"/>
    <dgm:cxn modelId="{5B06C3E9-7C78-47EB-A8D7-4FA9EE8AC7C2}" type="presParOf" srcId="{02A14CF6-34CC-489F-96EA-E13AEE6CC42C}" destId="{89F82D62-F4C7-4365-A193-578FBDA0B650}" srcOrd="1" destOrd="0" presId="urn:microsoft.com/office/officeart/2005/8/layout/vProcess5"/>
    <dgm:cxn modelId="{DD0946A3-F0D0-4F8D-AA57-1C2503840C5B}" type="presParOf" srcId="{02A14CF6-34CC-489F-96EA-E13AEE6CC42C}" destId="{8873FFE7-2A02-4CB7-B9D4-5751C109DB32}" srcOrd="2" destOrd="0" presId="urn:microsoft.com/office/officeart/2005/8/layout/vProcess5"/>
    <dgm:cxn modelId="{6F27D1C2-23E2-4857-BCA6-415CCB558000}" type="presParOf" srcId="{02A14CF6-34CC-489F-96EA-E13AEE6CC42C}" destId="{C6BBCA27-BCE6-4312-8574-209C9AB48E5B}" srcOrd="3" destOrd="0" presId="urn:microsoft.com/office/officeart/2005/8/layout/vProcess5"/>
    <dgm:cxn modelId="{D6BB5996-1683-4F54-858C-3F4FAB04FE9E}" type="presParOf" srcId="{02A14CF6-34CC-489F-96EA-E13AEE6CC42C}" destId="{C5FFF12A-EA2D-4F40-8394-BB24F236A687}" srcOrd="4" destOrd="0" presId="urn:microsoft.com/office/officeart/2005/8/layout/vProcess5"/>
    <dgm:cxn modelId="{559243EE-7527-4A3A-84B6-039ED261EC2A}" type="presParOf" srcId="{02A14CF6-34CC-489F-96EA-E13AEE6CC42C}" destId="{BB966ED7-F255-407F-A75F-D00FDC11FF3C}" srcOrd="5" destOrd="0" presId="urn:microsoft.com/office/officeart/2005/8/layout/vProcess5"/>
    <dgm:cxn modelId="{7A82D99A-C0A3-4F94-AE05-02E8B8B85685}" type="presParOf" srcId="{02A14CF6-34CC-489F-96EA-E13AEE6CC42C}" destId="{B3AAB52A-0F98-47F7-A38A-703977149341}" srcOrd="6" destOrd="0" presId="urn:microsoft.com/office/officeart/2005/8/layout/vProcess5"/>
    <dgm:cxn modelId="{E5D0D0BA-9F91-4413-9F59-F9FF73C36503}" type="presParOf" srcId="{02A14CF6-34CC-489F-96EA-E13AEE6CC42C}" destId="{59211B07-2128-4807-8BB0-56EFB229B538}" srcOrd="7" destOrd="0" presId="urn:microsoft.com/office/officeart/2005/8/layout/vProcess5"/>
    <dgm:cxn modelId="{D0C33F17-D9BC-49D2-8392-7B8308AB536A}" type="presParOf" srcId="{02A14CF6-34CC-489F-96EA-E13AEE6CC42C}" destId="{1D426715-E324-43E4-87CE-86A50CDD7137}" srcOrd="8" destOrd="0" presId="urn:microsoft.com/office/officeart/2005/8/layout/vProcess5"/>
    <dgm:cxn modelId="{E6AC9A12-8A5A-43CD-A1D7-299E7C4014F3}" type="presParOf" srcId="{02A14CF6-34CC-489F-96EA-E13AEE6CC42C}" destId="{EA808A69-B53B-473B-BEAD-BD32A1084E48}" srcOrd="9" destOrd="0" presId="urn:microsoft.com/office/officeart/2005/8/layout/vProcess5"/>
    <dgm:cxn modelId="{E8FFF0D3-7220-4F99-B847-5187ACF48FE3}" type="presParOf" srcId="{02A14CF6-34CC-489F-96EA-E13AEE6CC42C}" destId="{1318F899-06C4-4893-84F9-6BAC325C1C9B}" srcOrd="10" destOrd="0" presId="urn:microsoft.com/office/officeart/2005/8/layout/vProcess5"/>
    <dgm:cxn modelId="{E4A11ABB-AB8B-4E7B-A4B2-076E30B35B52}" type="presParOf" srcId="{02A14CF6-34CC-489F-96EA-E13AEE6CC42C}" destId="{66149844-59A1-45AE-9378-E2DB9E76BD3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92840B-4EF1-432E-84E5-BFA6DFB8AF73}" type="doc">
      <dgm:prSet loTypeId="urn:microsoft.com/office/officeart/2016/7/layout/LinearBlockProcessNumbered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EC8DE00-E587-4796-BAA1-3025FB2490C9}">
      <dgm:prSet/>
      <dgm:spPr/>
      <dgm:t>
        <a:bodyPr/>
        <a:lstStyle/>
        <a:p>
          <a:r>
            <a:rPr lang="pl-PL"/>
            <a:t>To bardzo ważne pojęcia w harmonogramie, które pozwalają lepiej modelować rzeczywistość projektu</a:t>
          </a:r>
          <a:endParaRPr lang="en-US"/>
        </a:p>
      </dgm:t>
    </dgm:pt>
    <dgm:pt modelId="{7C2E715B-63A7-497E-AB16-9EC8F179E539}" type="parTrans" cxnId="{8F397759-78DC-4685-ABBB-566FD5513DF2}">
      <dgm:prSet/>
      <dgm:spPr/>
      <dgm:t>
        <a:bodyPr/>
        <a:lstStyle/>
        <a:p>
          <a:endParaRPr lang="en-US"/>
        </a:p>
      </dgm:t>
    </dgm:pt>
    <dgm:pt modelId="{8C492666-8841-4C80-A34B-8582931A70FA}" type="sibTrans" cxnId="{8F397759-78DC-4685-ABBB-566FD5513DF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4DD2405-02C0-4319-B8D9-02D4C184E227}">
      <dgm:prSet/>
      <dgm:spPr/>
      <dgm:t>
        <a:bodyPr/>
        <a:lstStyle/>
        <a:p>
          <a:r>
            <a:rPr lang="pl-PL"/>
            <a:t>Lead: rozpoczęcie zadania przed zakończeniem poprzedniego</a:t>
          </a:r>
          <a:endParaRPr lang="en-US"/>
        </a:p>
      </dgm:t>
    </dgm:pt>
    <dgm:pt modelId="{C16EC8EA-ABEF-4033-A809-C002C6210EC2}" type="parTrans" cxnId="{FA34533C-B2AE-4033-A7E9-B1E260477469}">
      <dgm:prSet/>
      <dgm:spPr/>
      <dgm:t>
        <a:bodyPr/>
        <a:lstStyle/>
        <a:p>
          <a:endParaRPr lang="en-US"/>
        </a:p>
      </dgm:t>
    </dgm:pt>
    <dgm:pt modelId="{D418679A-3042-44B1-8007-1800B2EB703C}" type="sibTrans" cxnId="{FA34533C-B2AE-4033-A7E9-B1E26047746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B955A564-63FE-4806-B3B6-60D41A2F0791}">
      <dgm:prSet/>
      <dgm:spPr/>
      <dgm:t>
        <a:bodyPr/>
        <a:lstStyle/>
        <a:p>
          <a:r>
            <a:rPr lang="pl-PL"/>
            <a:t>Lag: opóźnienie między zadaniami</a:t>
          </a:r>
          <a:endParaRPr lang="en-US"/>
        </a:p>
      </dgm:t>
    </dgm:pt>
    <dgm:pt modelId="{2900C9C7-5204-4188-8036-6B9CB7424958}" type="parTrans" cxnId="{527413A3-2A0F-4AA5-BDB8-C6E8AC1EC46F}">
      <dgm:prSet/>
      <dgm:spPr/>
      <dgm:t>
        <a:bodyPr/>
        <a:lstStyle/>
        <a:p>
          <a:endParaRPr lang="en-US"/>
        </a:p>
      </dgm:t>
    </dgm:pt>
    <dgm:pt modelId="{53648813-3B5F-4C9D-9C1A-FF62CC850A4F}" type="sibTrans" cxnId="{527413A3-2A0F-4AA5-BDB8-C6E8AC1EC46F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C205D168-EFDB-4ABC-9B21-0952357EAC70}" type="pres">
      <dgm:prSet presAssocID="{5C92840B-4EF1-432E-84E5-BFA6DFB8AF73}" presName="Name0" presStyleCnt="0">
        <dgm:presLayoutVars>
          <dgm:animLvl val="lvl"/>
          <dgm:resizeHandles val="exact"/>
        </dgm:presLayoutVars>
      </dgm:prSet>
      <dgm:spPr/>
    </dgm:pt>
    <dgm:pt modelId="{21423AA9-DE5A-4BEA-8D26-01A1E089AFC4}" type="pres">
      <dgm:prSet presAssocID="{3EC8DE00-E587-4796-BAA1-3025FB2490C9}" presName="compositeNode" presStyleCnt="0">
        <dgm:presLayoutVars>
          <dgm:bulletEnabled val="1"/>
        </dgm:presLayoutVars>
      </dgm:prSet>
      <dgm:spPr/>
    </dgm:pt>
    <dgm:pt modelId="{C2CE53FC-3DCD-4863-B9BA-7A7F2DCCA759}" type="pres">
      <dgm:prSet presAssocID="{3EC8DE00-E587-4796-BAA1-3025FB2490C9}" presName="bgRect" presStyleLbl="alignNode1" presStyleIdx="0" presStyleCnt="3"/>
      <dgm:spPr/>
    </dgm:pt>
    <dgm:pt modelId="{55B58A89-5524-4E8D-B047-A4A6964536C3}" type="pres">
      <dgm:prSet presAssocID="{8C492666-8841-4C80-A34B-8582931A70FA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BB93E759-6241-4E35-B747-CF0E4644689F}" type="pres">
      <dgm:prSet presAssocID="{3EC8DE00-E587-4796-BAA1-3025FB2490C9}" presName="nodeRect" presStyleLbl="alignNode1" presStyleIdx="0" presStyleCnt="3">
        <dgm:presLayoutVars>
          <dgm:bulletEnabled val="1"/>
        </dgm:presLayoutVars>
      </dgm:prSet>
      <dgm:spPr/>
    </dgm:pt>
    <dgm:pt modelId="{1D6649D5-6812-4D4C-A8C4-5F5059DD60EC}" type="pres">
      <dgm:prSet presAssocID="{8C492666-8841-4C80-A34B-8582931A70FA}" presName="sibTrans" presStyleCnt="0"/>
      <dgm:spPr/>
    </dgm:pt>
    <dgm:pt modelId="{EE4AC287-79A6-4E3D-824D-6348E9FB9A2D}" type="pres">
      <dgm:prSet presAssocID="{64DD2405-02C0-4319-B8D9-02D4C184E227}" presName="compositeNode" presStyleCnt="0">
        <dgm:presLayoutVars>
          <dgm:bulletEnabled val="1"/>
        </dgm:presLayoutVars>
      </dgm:prSet>
      <dgm:spPr/>
    </dgm:pt>
    <dgm:pt modelId="{82189710-10C6-4C29-B5A1-C8314BF851B7}" type="pres">
      <dgm:prSet presAssocID="{64DD2405-02C0-4319-B8D9-02D4C184E227}" presName="bgRect" presStyleLbl="alignNode1" presStyleIdx="1" presStyleCnt="3"/>
      <dgm:spPr/>
    </dgm:pt>
    <dgm:pt modelId="{8035B0E1-32DF-4107-8E15-D5CDAD996B2E}" type="pres">
      <dgm:prSet presAssocID="{D418679A-3042-44B1-8007-1800B2EB703C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7787950-B75C-4556-BE38-E2FE89B6E26C}" type="pres">
      <dgm:prSet presAssocID="{64DD2405-02C0-4319-B8D9-02D4C184E227}" presName="nodeRect" presStyleLbl="alignNode1" presStyleIdx="1" presStyleCnt="3">
        <dgm:presLayoutVars>
          <dgm:bulletEnabled val="1"/>
        </dgm:presLayoutVars>
      </dgm:prSet>
      <dgm:spPr/>
    </dgm:pt>
    <dgm:pt modelId="{B7D0A0EC-D6B0-4540-8936-B7EA94BF6036}" type="pres">
      <dgm:prSet presAssocID="{D418679A-3042-44B1-8007-1800B2EB703C}" presName="sibTrans" presStyleCnt="0"/>
      <dgm:spPr/>
    </dgm:pt>
    <dgm:pt modelId="{D405EB67-DC71-45CA-9BE1-6BBC33B83B39}" type="pres">
      <dgm:prSet presAssocID="{B955A564-63FE-4806-B3B6-60D41A2F0791}" presName="compositeNode" presStyleCnt="0">
        <dgm:presLayoutVars>
          <dgm:bulletEnabled val="1"/>
        </dgm:presLayoutVars>
      </dgm:prSet>
      <dgm:spPr/>
    </dgm:pt>
    <dgm:pt modelId="{E9E2E691-165F-432B-95E8-4B81B9451B65}" type="pres">
      <dgm:prSet presAssocID="{B955A564-63FE-4806-B3B6-60D41A2F0791}" presName="bgRect" presStyleLbl="alignNode1" presStyleIdx="2" presStyleCnt="3"/>
      <dgm:spPr/>
    </dgm:pt>
    <dgm:pt modelId="{E556F7C1-F931-45B8-BB9D-5D20ACBDB933}" type="pres">
      <dgm:prSet presAssocID="{53648813-3B5F-4C9D-9C1A-FF62CC850A4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3E697EF-48FA-4E59-A142-8A860822B488}" type="pres">
      <dgm:prSet presAssocID="{B955A564-63FE-4806-B3B6-60D41A2F0791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FA34533C-B2AE-4033-A7E9-B1E260477469}" srcId="{5C92840B-4EF1-432E-84E5-BFA6DFB8AF73}" destId="{64DD2405-02C0-4319-B8D9-02D4C184E227}" srcOrd="1" destOrd="0" parTransId="{C16EC8EA-ABEF-4033-A809-C002C6210EC2}" sibTransId="{D418679A-3042-44B1-8007-1800B2EB703C}"/>
    <dgm:cxn modelId="{ED59805F-9EBC-4841-BDAC-1B4ED504CABD}" type="presOf" srcId="{53648813-3B5F-4C9D-9C1A-FF62CC850A4F}" destId="{E556F7C1-F931-45B8-BB9D-5D20ACBDB933}" srcOrd="0" destOrd="0" presId="urn:microsoft.com/office/officeart/2016/7/layout/LinearBlockProcessNumbered"/>
    <dgm:cxn modelId="{D1039142-0827-45BB-A7CC-15307AF8BBFB}" type="presOf" srcId="{64DD2405-02C0-4319-B8D9-02D4C184E227}" destId="{17787950-B75C-4556-BE38-E2FE89B6E26C}" srcOrd="1" destOrd="0" presId="urn:microsoft.com/office/officeart/2016/7/layout/LinearBlockProcessNumbered"/>
    <dgm:cxn modelId="{376D8943-FCEB-48EF-8419-9DB605776EA2}" type="presOf" srcId="{5C92840B-4EF1-432E-84E5-BFA6DFB8AF73}" destId="{C205D168-EFDB-4ABC-9B21-0952357EAC70}" srcOrd="0" destOrd="0" presId="urn:microsoft.com/office/officeart/2016/7/layout/LinearBlockProcessNumbered"/>
    <dgm:cxn modelId="{C6A95172-0D08-491E-80E0-BB2CE0AA5E99}" type="presOf" srcId="{64DD2405-02C0-4319-B8D9-02D4C184E227}" destId="{82189710-10C6-4C29-B5A1-C8314BF851B7}" srcOrd="0" destOrd="0" presId="urn:microsoft.com/office/officeart/2016/7/layout/LinearBlockProcessNumbered"/>
    <dgm:cxn modelId="{8F397759-78DC-4685-ABBB-566FD5513DF2}" srcId="{5C92840B-4EF1-432E-84E5-BFA6DFB8AF73}" destId="{3EC8DE00-E587-4796-BAA1-3025FB2490C9}" srcOrd="0" destOrd="0" parTransId="{7C2E715B-63A7-497E-AB16-9EC8F179E539}" sibTransId="{8C492666-8841-4C80-A34B-8582931A70FA}"/>
    <dgm:cxn modelId="{F4E84A84-AE98-4B53-B8D3-28FF8185B0AE}" type="presOf" srcId="{8C492666-8841-4C80-A34B-8582931A70FA}" destId="{55B58A89-5524-4E8D-B047-A4A6964536C3}" srcOrd="0" destOrd="0" presId="urn:microsoft.com/office/officeart/2016/7/layout/LinearBlockProcessNumbered"/>
    <dgm:cxn modelId="{527413A3-2A0F-4AA5-BDB8-C6E8AC1EC46F}" srcId="{5C92840B-4EF1-432E-84E5-BFA6DFB8AF73}" destId="{B955A564-63FE-4806-B3B6-60D41A2F0791}" srcOrd="2" destOrd="0" parTransId="{2900C9C7-5204-4188-8036-6B9CB7424958}" sibTransId="{53648813-3B5F-4C9D-9C1A-FF62CC850A4F}"/>
    <dgm:cxn modelId="{F14C5FA3-F092-48AA-ACFE-68C7934B816D}" type="presOf" srcId="{3EC8DE00-E587-4796-BAA1-3025FB2490C9}" destId="{C2CE53FC-3DCD-4863-B9BA-7A7F2DCCA759}" srcOrd="0" destOrd="0" presId="urn:microsoft.com/office/officeart/2016/7/layout/LinearBlockProcessNumbered"/>
    <dgm:cxn modelId="{292EDBAC-30FE-4835-B543-1DCFE91CE7BC}" type="presOf" srcId="{B955A564-63FE-4806-B3B6-60D41A2F0791}" destId="{E9E2E691-165F-432B-95E8-4B81B9451B65}" srcOrd="0" destOrd="0" presId="urn:microsoft.com/office/officeart/2016/7/layout/LinearBlockProcessNumbered"/>
    <dgm:cxn modelId="{331A06B5-3F15-44E1-8E5F-4137BE2BF1A9}" type="presOf" srcId="{D418679A-3042-44B1-8007-1800B2EB703C}" destId="{8035B0E1-32DF-4107-8E15-D5CDAD996B2E}" srcOrd="0" destOrd="0" presId="urn:microsoft.com/office/officeart/2016/7/layout/LinearBlockProcessNumbered"/>
    <dgm:cxn modelId="{E9D6FBCD-9324-4811-95CA-1AEA104E5667}" type="presOf" srcId="{3EC8DE00-E587-4796-BAA1-3025FB2490C9}" destId="{BB93E759-6241-4E35-B747-CF0E4644689F}" srcOrd="1" destOrd="0" presId="urn:microsoft.com/office/officeart/2016/7/layout/LinearBlockProcessNumbered"/>
    <dgm:cxn modelId="{758930F5-E348-418D-9D6D-8F7D468BAB96}" type="presOf" srcId="{B955A564-63FE-4806-B3B6-60D41A2F0791}" destId="{B3E697EF-48FA-4E59-A142-8A860822B488}" srcOrd="1" destOrd="0" presId="urn:microsoft.com/office/officeart/2016/7/layout/LinearBlockProcessNumbered"/>
    <dgm:cxn modelId="{3CBEAD15-1E88-42FF-BFC3-F60D50822607}" type="presParOf" srcId="{C205D168-EFDB-4ABC-9B21-0952357EAC70}" destId="{21423AA9-DE5A-4BEA-8D26-01A1E089AFC4}" srcOrd="0" destOrd="0" presId="urn:microsoft.com/office/officeart/2016/7/layout/LinearBlockProcessNumbered"/>
    <dgm:cxn modelId="{AEABDBD9-D5A4-4681-9ACD-3871C7ED8628}" type="presParOf" srcId="{21423AA9-DE5A-4BEA-8D26-01A1E089AFC4}" destId="{C2CE53FC-3DCD-4863-B9BA-7A7F2DCCA759}" srcOrd="0" destOrd="0" presId="urn:microsoft.com/office/officeart/2016/7/layout/LinearBlockProcessNumbered"/>
    <dgm:cxn modelId="{A582E90F-81B3-4474-9EB8-E029989799AD}" type="presParOf" srcId="{21423AA9-DE5A-4BEA-8D26-01A1E089AFC4}" destId="{55B58A89-5524-4E8D-B047-A4A6964536C3}" srcOrd="1" destOrd="0" presId="urn:microsoft.com/office/officeart/2016/7/layout/LinearBlockProcessNumbered"/>
    <dgm:cxn modelId="{B972734A-41D3-46C9-A1F4-DD024E9EC2A1}" type="presParOf" srcId="{21423AA9-DE5A-4BEA-8D26-01A1E089AFC4}" destId="{BB93E759-6241-4E35-B747-CF0E4644689F}" srcOrd="2" destOrd="0" presId="urn:microsoft.com/office/officeart/2016/7/layout/LinearBlockProcessNumbered"/>
    <dgm:cxn modelId="{0D56AAEC-47D6-4D70-8CDB-4900DB16796B}" type="presParOf" srcId="{C205D168-EFDB-4ABC-9B21-0952357EAC70}" destId="{1D6649D5-6812-4D4C-A8C4-5F5059DD60EC}" srcOrd="1" destOrd="0" presId="urn:microsoft.com/office/officeart/2016/7/layout/LinearBlockProcessNumbered"/>
    <dgm:cxn modelId="{05CCA9E6-70B6-4C25-817A-C7F07B8B970D}" type="presParOf" srcId="{C205D168-EFDB-4ABC-9B21-0952357EAC70}" destId="{EE4AC287-79A6-4E3D-824D-6348E9FB9A2D}" srcOrd="2" destOrd="0" presId="urn:microsoft.com/office/officeart/2016/7/layout/LinearBlockProcessNumbered"/>
    <dgm:cxn modelId="{007F63F0-7FB1-4CE7-9A5E-83D7BE66898F}" type="presParOf" srcId="{EE4AC287-79A6-4E3D-824D-6348E9FB9A2D}" destId="{82189710-10C6-4C29-B5A1-C8314BF851B7}" srcOrd="0" destOrd="0" presId="urn:microsoft.com/office/officeart/2016/7/layout/LinearBlockProcessNumbered"/>
    <dgm:cxn modelId="{F49C1152-C96D-4213-8E92-CDD6CA53DF40}" type="presParOf" srcId="{EE4AC287-79A6-4E3D-824D-6348E9FB9A2D}" destId="{8035B0E1-32DF-4107-8E15-D5CDAD996B2E}" srcOrd="1" destOrd="0" presId="urn:microsoft.com/office/officeart/2016/7/layout/LinearBlockProcessNumbered"/>
    <dgm:cxn modelId="{996F6D88-C489-46D5-976D-9F6E40CF7A06}" type="presParOf" srcId="{EE4AC287-79A6-4E3D-824D-6348E9FB9A2D}" destId="{17787950-B75C-4556-BE38-E2FE89B6E26C}" srcOrd="2" destOrd="0" presId="urn:microsoft.com/office/officeart/2016/7/layout/LinearBlockProcessNumbered"/>
    <dgm:cxn modelId="{4A60573B-0E31-4EC4-B3AE-66EDC1A90E17}" type="presParOf" srcId="{C205D168-EFDB-4ABC-9B21-0952357EAC70}" destId="{B7D0A0EC-D6B0-4540-8936-B7EA94BF6036}" srcOrd="3" destOrd="0" presId="urn:microsoft.com/office/officeart/2016/7/layout/LinearBlockProcessNumbered"/>
    <dgm:cxn modelId="{16DA0FB7-E655-4E9F-B228-7BAE08FF729B}" type="presParOf" srcId="{C205D168-EFDB-4ABC-9B21-0952357EAC70}" destId="{D405EB67-DC71-45CA-9BE1-6BBC33B83B39}" srcOrd="4" destOrd="0" presId="urn:microsoft.com/office/officeart/2016/7/layout/LinearBlockProcessNumbered"/>
    <dgm:cxn modelId="{50ADDFF4-A8AE-43BD-B8AA-9F123AC80A4D}" type="presParOf" srcId="{D405EB67-DC71-45CA-9BE1-6BBC33B83B39}" destId="{E9E2E691-165F-432B-95E8-4B81B9451B65}" srcOrd="0" destOrd="0" presId="urn:microsoft.com/office/officeart/2016/7/layout/LinearBlockProcessNumbered"/>
    <dgm:cxn modelId="{54964599-7884-4B58-AACD-E9C71447CBB1}" type="presParOf" srcId="{D405EB67-DC71-45CA-9BE1-6BBC33B83B39}" destId="{E556F7C1-F931-45B8-BB9D-5D20ACBDB933}" srcOrd="1" destOrd="0" presId="urn:microsoft.com/office/officeart/2016/7/layout/LinearBlockProcessNumbered"/>
    <dgm:cxn modelId="{873DE8B3-1ACF-4FB6-9C0E-5F99D59FF4FD}" type="presParOf" srcId="{D405EB67-DC71-45CA-9BE1-6BBC33B83B39}" destId="{B3E697EF-48FA-4E59-A142-8A860822B48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F4FCE0D-0798-4D9C-954B-4AEA36EE922B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9C2D56-1099-4D37-939D-A05419B12490}">
      <dgm:prSet/>
      <dgm:spPr/>
      <dgm:t>
        <a:bodyPr/>
        <a:lstStyle/>
        <a:p>
          <a:r>
            <a:rPr lang="pl-PL"/>
            <a:t>Precyzja </a:t>
          </a:r>
          <a:r>
            <a:rPr lang="en-US"/>
            <a:t>to</a:t>
          </a:r>
          <a:r>
            <a:rPr lang="pl-PL"/>
            <a:t> powtarzalność wyników</a:t>
          </a:r>
          <a:endParaRPr lang="en-US"/>
        </a:p>
      </dgm:t>
    </dgm:pt>
    <dgm:pt modelId="{6BCB46C8-787E-4E45-9754-B8A1C8100C96}" type="parTrans" cxnId="{B05FA4B3-5A0F-4A2F-B42D-F9C20A4B23D8}">
      <dgm:prSet/>
      <dgm:spPr/>
      <dgm:t>
        <a:bodyPr/>
        <a:lstStyle/>
        <a:p>
          <a:endParaRPr lang="en-US"/>
        </a:p>
      </dgm:t>
    </dgm:pt>
    <dgm:pt modelId="{D6AC3351-3D82-4602-A1E5-EA6132409577}" type="sibTrans" cxnId="{B05FA4B3-5A0F-4A2F-B42D-F9C20A4B23D8}">
      <dgm:prSet/>
      <dgm:spPr/>
      <dgm:t>
        <a:bodyPr/>
        <a:lstStyle/>
        <a:p>
          <a:endParaRPr lang="en-US"/>
        </a:p>
      </dgm:t>
    </dgm:pt>
    <dgm:pt modelId="{D824674B-45D9-4AC4-B346-ED79B84CC03F}">
      <dgm:prSet/>
      <dgm:spPr/>
      <dgm:t>
        <a:bodyPr/>
        <a:lstStyle/>
        <a:p>
          <a:r>
            <a:rPr lang="pl-PL"/>
            <a:t>Dokładność </a:t>
          </a:r>
          <a:r>
            <a:rPr lang="en-US"/>
            <a:t>to</a:t>
          </a:r>
          <a:r>
            <a:rPr lang="pl-PL"/>
            <a:t> zgodność z rzeczywistością</a:t>
          </a:r>
          <a:endParaRPr lang="en-US"/>
        </a:p>
      </dgm:t>
    </dgm:pt>
    <dgm:pt modelId="{561981D1-BE84-4920-BD1B-7492214AB532}" type="parTrans" cxnId="{19058745-28AD-4831-A01D-6A1274012E36}">
      <dgm:prSet/>
      <dgm:spPr/>
      <dgm:t>
        <a:bodyPr/>
        <a:lstStyle/>
        <a:p>
          <a:endParaRPr lang="en-US"/>
        </a:p>
      </dgm:t>
    </dgm:pt>
    <dgm:pt modelId="{81A4105A-75E3-412E-977F-67D96088B2F9}" type="sibTrans" cxnId="{19058745-28AD-4831-A01D-6A1274012E36}">
      <dgm:prSet/>
      <dgm:spPr/>
      <dgm:t>
        <a:bodyPr/>
        <a:lstStyle/>
        <a:p>
          <a:endParaRPr lang="en-US"/>
        </a:p>
      </dgm:t>
    </dgm:pt>
    <dgm:pt modelId="{2BEFD052-2ED7-4CFA-BAEC-DE62DA7A5CAA}" type="pres">
      <dgm:prSet presAssocID="{EF4FCE0D-0798-4D9C-954B-4AEA36EE922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D0FEC9F-1064-4DEE-9FF0-E171D2FC34B9}" type="pres">
      <dgm:prSet presAssocID="{E69C2D56-1099-4D37-939D-A05419B12490}" presName="hierRoot1" presStyleCnt="0"/>
      <dgm:spPr/>
    </dgm:pt>
    <dgm:pt modelId="{74DE7DDC-3D56-4B32-8E48-5B6A343D0C9F}" type="pres">
      <dgm:prSet presAssocID="{E69C2D56-1099-4D37-939D-A05419B12490}" presName="composite" presStyleCnt="0"/>
      <dgm:spPr/>
    </dgm:pt>
    <dgm:pt modelId="{A272AA4E-A81B-4BD3-9AD8-48A3E41F77B2}" type="pres">
      <dgm:prSet presAssocID="{E69C2D56-1099-4D37-939D-A05419B12490}" presName="background" presStyleLbl="node0" presStyleIdx="0" presStyleCnt="2"/>
      <dgm:spPr/>
    </dgm:pt>
    <dgm:pt modelId="{FB9E8B7F-B2E2-44E6-8F4B-EC6AC52AEFAF}" type="pres">
      <dgm:prSet presAssocID="{E69C2D56-1099-4D37-939D-A05419B12490}" presName="text" presStyleLbl="fgAcc0" presStyleIdx="0" presStyleCnt="2">
        <dgm:presLayoutVars>
          <dgm:chPref val="3"/>
        </dgm:presLayoutVars>
      </dgm:prSet>
      <dgm:spPr/>
    </dgm:pt>
    <dgm:pt modelId="{111F2276-7F12-4D7D-8602-576A288AB0D0}" type="pres">
      <dgm:prSet presAssocID="{E69C2D56-1099-4D37-939D-A05419B12490}" presName="hierChild2" presStyleCnt="0"/>
      <dgm:spPr/>
    </dgm:pt>
    <dgm:pt modelId="{CDACBBE7-7B95-43D7-AB09-9309A475CB1E}" type="pres">
      <dgm:prSet presAssocID="{D824674B-45D9-4AC4-B346-ED79B84CC03F}" presName="hierRoot1" presStyleCnt="0"/>
      <dgm:spPr/>
    </dgm:pt>
    <dgm:pt modelId="{C4DAC291-EAC4-4C8A-8168-FC26FBD531A3}" type="pres">
      <dgm:prSet presAssocID="{D824674B-45D9-4AC4-B346-ED79B84CC03F}" presName="composite" presStyleCnt="0"/>
      <dgm:spPr/>
    </dgm:pt>
    <dgm:pt modelId="{8A941D81-FBB3-4511-A1B7-3F9589AA0D51}" type="pres">
      <dgm:prSet presAssocID="{D824674B-45D9-4AC4-B346-ED79B84CC03F}" presName="background" presStyleLbl="node0" presStyleIdx="1" presStyleCnt="2"/>
      <dgm:spPr/>
    </dgm:pt>
    <dgm:pt modelId="{DB5442EC-4FA8-4D04-9F67-985E824CFDCE}" type="pres">
      <dgm:prSet presAssocID="{D824674B-45D9-4AC4-B346-ED79B84CC03F}" presName="text" presStyleLbl="fgAcc0" presStyleIdx="1" presStyleCnt="2">
        <dgm:presLayoutVars>
          <dgm:chPref val="3"/>
        </dgm:presLayoutVars>
      </dgm:prSet>
      <dgm:spPr/>
    </dgm:pt>
    <dgm:pt modelId="{070B255F-B5B6-4DF0-A42D-AEE2B43AE3A8}" type="pres">
      <dgm:prSet presAssocID="{D824674B-45D9-4AC4-B346-ED79B84CC03F}" presName="hierChild2" presStyleCnt="0"/>
      <dgm:spPr/>
    </dgm:pt>
  </dgm:ptLst>
  <dgm:cxnLst>
    <dgm:cxn modelId="{947C993F-3037-44BD-BB90-62BD57BE0E4D}" type="presOf" srcId="{EF4FCE0D-0798-4D9C-954B-4AEA36EE922B}" destId="{2BEFD052-2ED7-4CFA-BAEC-DE62DA7A5CAA}" srcOrd="0" destOrd="0" presId="urn:microsoft.com/office/officeart/2005/8/layout/hierarchy1"/>
    <dgm:cxn modelId="{19058745-28AD-4831-A01D-6A1274012E36}" srcId="{EF4FCE0D-0798-4D9C-954B-4AEA36EE922B}" destId="{D824674B-45D9-4AC4-B346-ED79B84CC03F}" srcOrd="1" destOrd="0" parTransId="{561981D1-BE84-4920-BD1B-7492214AB532}" sibTransId="{81A4105A-75E3-412E-977F-67D96088B2F9}"/>
    <dgm:cxn modelId="{B05FA4B3-5A0F-4A2F-B42D-F9C20A4B23D8}" srcId="{EF4FCE0D-0798-4D9C-954B-4AEA36EE922B}" destId="{E69C2D56-1099-4D37-939D-A05419B12490}" srcOrd="0" destOrd="0" parTransId="{6BCB46C8-787E-4E45-9754-B8A1C8100C96}" sibTransId="{D6AC3351-3D82-4602-A1E5-EA6132409577}"/>
    <dgm:cxn modelId="{20485CBF-D0C7-4CA0-89EF-F71C2BD27CC1}" type="presOf" srcId="{E69C2D56-1099-4D37-939D-A05419B12490}" destId="{FB9E8B7F-B2E2-44E6-8F4B-EC6AC52AEFAF}" srcOrd="0" destOrd="0" presId="urn:microsoft.com/office/officeart/2005/8/layout/hierarchy1"/>
    <dgm:cxn modelId="{70C0CAD8-123E-4CA4-994D-01115E1F2721}" type="presOf" srcId="{D824674B-45D9-4AC4-B346-ED79B84CC03F}" destId="{DB5442EC-4FA8-4D04-9F67-985E824CFDCE}" srcOrd="0" destOrd="0" presId="urn:microsoft.com/office/officeart/2005/8/layout/hierarchy1"/>
    <dgm:cxn modelId="{5F29B3DD-CA34-416D-914F-42B01537FB45}" type="presParOf" srcId="{2BEFD052-2ED7-4CFA-BAEC-DE62DA7A5CAA}" destId="{3D0FEC9F-1064-4DEE-9FF0-E171D2FC34B9}" srcOrd="0" destOrd="0" presId="urn:microsoft.com/office/officeart/2005/8/layout/hierarchy1"/>
    <dgm:cxn modelId="{04B4C2BE-D6A0-48AD-AAAB-E3B7CF9E3C0F}" type="presParOf" srcId="{3D0FEC9F-1064-4DEE-9FF0-E171D2FC34B9}" destId="{74DE7DDC-3D56-4B32-8E48-5B6A343D0C9F}" srcOrd="0" destOrd="0" presId="urn:microsoft.com/office/officeart/2005/8/layout/hierarchy1"/>
    <dgm:cxn modelId="{B27CAB6D-4136-4C48-86CA-00EB572CAE12}" type="presParOf" srcId="{74DE7DDC-3D56-4B32-8E48-5B6A343D0C9F}" destId="{A272AA4E-A81B-4BD3-9AD8-48A3E41F77B2}" srcOrd="0" destOrd="0" presId="urn:microsoft.com/office/officeart/2005/8/layout/hierarchy1"/>
    <dgm:cxn modelId="{DCF37825-08CD-483E-BF61-A3136717EB42}" type="presParOf" srcId="{74DE7DDC-3D56-4B32-8E48-5B6A343D0C9F}" destId="{FB9E8B7F-B2E2-44E6-8F4B-EC6AC52AEFAF}" srcOrd="1" destOrd="0" presId="urn:microsoft.com/office/officeart/2005/8/layout/hierarchy1"/>
    <dgm:cxn modelId="{8620062E-3D1D-4633-8968-DE9BFCAAC5C9}" type="presParOf" srcId="{3D0FEC9F-1064-4DEE-9FF0-E171D2FC34B9}" destId="{111F2276-7F12-4D7D-8602-576A288AB0D0}" srcOrd="1" destOrd="0" presId="urn:microsoft.com/office/officeart/2005/8/layout/hierarchy1"/>
    <dgm:cxn modelId="{1321A6B7-3761-4986-86E7-39815583BCB7}" type="presParOf" srcId="{2BEFD052-2ED7-4CFA-BAEC-DE62DA7A5CAA}" destId="{CDACBBE7-7B95-43D7-AB09-9309A475CB1E}" srcOrd="1" destOrd="0" presId="urn:microsoft.com/office/officeart/2005/8/layout/hierarchy1"/>
    <dgm:cxn modelId="{83F0AC50-6CB7-45BB-ADB0-1893DA4631F2}" type="presParOf" srcId="{CDACBBE7-7B95-43D7-AB09-9309A475CB1E}" destId="{C4DAC291-EAC4-4C8A-8168-FC26FBD531A3}" srcOrd="0" destOrd="0" presId="urn:microsoft.com/office/officeart/2005/8/layout/hierarchy1"/>
    <dgm:cxn modelId="{21F09C8F-0D6B-4BC7-8259-6CD30EC5163E}" type="presParOf" srcId="{C4DAC291-EAC4-4C8A-8168-FC26FBD531A3}" destId="{8A941D81-FBB3-4511-A1B7-3F9589AA0D51}" srcOrd="0" destOrd="0" presId="urn:microsoft.com/office/officeart/2005/8/layout/hierarchy1"/>
    <dgm:cxn modelId="{68C3D31B-7118-4783-B7B8-3416D75EAE99}" type="presParOf" srcId="{C4DAC291-EAC4-4C8A-8168-FC26FBD531A3}" destId="{DB5442EC-4FA8-4D04-9F67-985E824CFDCE}" srcOrd="1" destOrd="0" presId="urn:microsoft.com/office/officeart/2005/8/layout/hierarchy1"/>
    <dgm:cxn modelId="{53257866-B1D4-463B-A73F-8C99F76DC457}" type="presParOf" srcId="{CDACBBE7-7B95-43D7-AB09-9309A475CB1E}" destId="{070B255F-B5B6-4DF0-A42D-AEE2B43AE3A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3CAEC79-BE4E-4087-8713-9738E2721462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FFE54BA-E2B6-4C5A-B665-2FE209393506}">
      <dgm:prSet/>
      <dgm:spPr/>
      <dgm:t>
        <a:bodyPr/>
        <a:lstStyle/>
        <a:p>
          <a:r>
            <a:rPr lang="pl-PL"/>
            <a:t>Nie da się zaplanować wszystkiego. Dlatego w projektach stosuje się rezerwy </a:t>
          </a:r>
          <a:r>
            <a:rPr lang="en-US"/>
            <a:t>jako</a:t>
          </a:r>
          <a:r>
            <a:rPr lang="pl-PL"/>
            <a:t> bufor bezpieczeństwa.</a:t>
          </a:r>
          <a:endParaRPr lang="en-US"/>
        </a:p>
      </dgm:t>
    </dgm:pt>
    <dgm:pt modelId="{5A697BDD-1C21-4B1E-BC10-9A76E6D0E93C}" type="parTrans" cxnId="{C058C360-934A-4EDF-BBCB-AEC6CC2395BD}">
      <dgm:prSet/>
      <dgm:spPr/>
      <dgm:t>
        <a:bodyPr/>
        <a:lstStyle/>
        <a:p>
          <a:endParaRPr lang="en-US"/>
        </a:p>
      </dgm:t>
    </dgm:pt>
    <dgm:pt modelId="{72CE8E13-8A22-42D2-AEED-EC408D578CD8}" type="sibTrans" cxnId="{C058C360-934A-4EDF-BBCB-AEC6CC2395BD}">
      <dgm:prSet/>
      <dgm:spPr/>
      <dgm:t>
        <a:bodyPr/>
        <a:lstStyle/>
        <a:p>
          <a:endParaRPr lang="en-US"/>
        </a:p>
      </dgm:t>
    </dgm:pt>
    <dgm:pt modelId="{BCC60F23-F7AA-40EE-A9FF-4CAD7971DDF3}">
      <dgm:prSet/>
      <dgm:spPr/>
      <dgm:t>
        <a:bodyPr/>
        <a:lstStyle/>
        <a:p>
          <a:r>
            <a:rPr lang="pl-PL"/>
            <a:t>Contingency reserve:</a:t>
          </a:r>
          <a:br>
            <a:rPr lang="pl-PL"/>
          </a:br>
          <a:r>
            <a:rPr lang="pl-PL"/>
            <a:t>rezerwa na znane ryzyka</a:t>
          </a:r>
          <a:endParaRPr lang="en-US"/>
        </a:p>
      </dgm:t>
    </dgm:pt>
    <dgm:pt modelId="{183C3020-020F-425A-9AD9-F565A814691F}" type="parTrans" cxnId="{9603E0C3-1E33-4088-896E-549D4AC31821}">
      <dgm:prSet/>
      <dgm:spPr/>
      <dgm:t>
        <a:bodyPr/>
        <a:lstStyle/>
        <a:p>
          <a:endParaRPr lang="en-US"/>
        </a:p>
      </dgm:t>
    </dgm:pt>
    <dgm:pt modelId="{D5D4A11F-BA2C-46A6-9A58-7C2F87455028}" type="sibTrans" cxnId="{9603E0C3-1E33-4088-896E-549D4AC31821}">
      <dgm:prSet/>
      <dgm:spPr/>
      <dgm:t>
        <a:bodyPr/>
        <a:lstStyle/>
        <a:p>
          <a:endParaRPr lang="en-US"/>
        </a:p>
      </dgm:t>
    </dgm:pt>
    <dgm:pt modelId="{12C5DDA0-3C97-4FB1-A24F-7DAE89A5E7E7}">
      <dgm:prSet/>
      <dgm:spPr/>
      <dgm:t>
        <a:bodyPr/>
        <a:lstStyle/>
        <a:p>
          <a:r>
            <a:rPr lang="pl-PL"/>
            <a:t>Management reserve:</a:t>
          </a:r>
          <a:br>
            <a:rPr lang="pl-PL"/>
          </a:br>
          <a:r>
            <a:rPr lang="pl-PL"/>
            <a:t>rezerwa na nieprzewidziane zdarzenia</a:t>
          </a:r>
          <a:endParaRPr lang="en-US"/>
        </a:p>
      </dgm:t>
    </dgm:pt>
    <dgm:pt modelId="{4F50C577-3AB8-4754-A31B-C13F28EB4ACF}" type="parTrans" cxnId="{9AC1C529-C6B2-4688-AB91-5777C58ED947}">
      <dgm:prSet/>
      <dgm:spPr/>
      <dgm:t>
        <a:bodyPr/>
        <a:lstStyle/>
        <a:p>
          <a:endParaRPr lang="en-US"/>
        </a:p>
      </dgm:t>
    </dgm:pt>
    <dgm:pt modelId="{B0249038-FCEF-4E3E-86C7-E482F867C439}" type="sibTrans" cxnId="{9AC1C529-C6B2-4688-AB91-5777C58ED947}">
      <dgm:prSet/>
      <dgm:spPr/>
      <dgm:t>
        <a:bodyPr/>
        <a:lstStyle/>
        <a:p>
          <a:endParaRPr lang="en-US"/>
        </a:p>
      </dgm:t>
    </dgm:pt>
    <dgm:pt modelId="{E7140CDB-25B5-432B-87AC-A8A1233D39B0}" type="pres">
      <dgm:prSet presAssocID="{D3CAEC79-BE4E-4087-8713-9738E272146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2A169C-98E0-4610-BF09-EE6258EC8D3F}" type="pres">
      <dgm:prSet presAssocID="{BFFE54BA-E2B6-4C5A-B665-2FE209393506}" presName="hierRoot1" presStyleCnt="0"/>
      <dgm:spPr/>
    </dgm:pt>
    <dgm:pt modelId="{BEFDD182-4E1E-47D5-8A29-1BA124CD42FE}" type="pres">
      <dgm:prSet presAssocID="{BFFE54BA-E2B6-4C5A-B665-2FE209393506}" presName="composite" presStyleCnt="0"/>
      <dgm:spPr/>
    </dgm:pt>
    <dgm:pt modelId="{6B66E66F-AEF9-4A43-8631-78B90763261A}" type="pres">
      <dgm:prSet presAssocID="{BFFE54BA-E2B6-4C5A-B665-2FE209393506}" presName="background" presStyleLbl="node0" presStyleIdx="0" presStyleCnt="3"/>
      <dgm:spPr/>
    </dgm:pt>
    <dgm:pt modelId="{B5A0D9D2-A0ED-456C-9683-C872ED975FF7}" type="pres">
      <dgm:prSet presAssocID="{BFFE54BA-E2B6-4C5A-B665-2FE209393506}" presName="text" presStyleLbl="fgAcc0" presStyleIdx="0" presStyleCnt="3">
        <dgm:presLayoutVars>
          <dgm:chPref val="3"/>
        </dgm:presLayoutVars>
      </dgm:prSet>
      <dgm:spPr/>
    </dgm:pt>
    <dgm:pt modelId="{27553602-3838-4A98-A380-6DEDF7218251}" type="pres">
      <dgm:prSet presAssocID="{BFFE54BA-E2B6-4C5A-B665-2FE209393506}" presName="hierChild2" presStyleCnt="0"/>
      <dgm:spPr/>
    </dgm:pt>
    <dgm:pt modelId="{ADB000C4-D529-4866-8952-D099EC8BA91B}" type="pres">
      <dgm:prSet presAssocID="{BCC60F23-F7AA-40EE-A9FF-4CAD7971DDF3}" presName="hierRoot1" presStyleCnt="0"/>
      <dgm:spPr/>
    </dgm:pt>
    <dgm:pt modelId="{66EFB166-8C7F-468F-8E47-A3225D997F90}" type="pres">
      <dgm:prSet presAssocID="{BCC60F23-F7AA-40EE-A9FF-4CAD7971DDF3}" presName="composite" presStyleCnt="0"/>
      <dgm:spPr/>
    </dgm:pt>
    <dgm:pt modelId="{5AFF8C02-187B-43BC-B190-C2408D9F46E8}" type="pres">
      <dgm:prSet presAssocID="{BCC60F23-F7AA-40EE-A9FF-4CAD7971DDF3}" presName="background" presStyleLbl="node0" presStyleIdx="1" presStyleCnt="3"/>
      <dgm:spPr/>
    </dgm:pt>
    <dgm:pt modelId="{3CBF2ACF-2ABB-40D5-840D-878C55013821}" type="pres">
      <dgm:prSet presAssocID="{BCC60F23-F7AA-40EE-A9FF-4CAD7971DDF3}" presName="text" presStyleLbl="fgAcc0" presStyleIdx="1" presStyleCnt="3">
        <dgm:presLayoutVars>
          <dgm:chPref val="3"/>
        </dgm:presLayoutVars>
      </dgm:prSet>
      <dgm:spPr/>
    </dgm:pt>
    <dgm:pt modelId="{DC4CE7CF-B087-4A71-9E6A-F6CDDD1CC172}" type="pres">
      <dgm:prSet presAssocID="{BCC60F23-F7AA-40EE-A9FF-4CAD7971DDF3}" presName="hierChild2" presStyleCnt="0"/>
      <dgm:spPr/>
    </dgm:pt>
    <dgm:pt modelId="{0B4DD09A-3EA1-450F-9891-23664F3D5D85}" type="pres">
      <dgm:prSet presAssocID="{12C5DDA0-3C97-4FB1-A24F-7DAE89A5E7E7}" presName="hierRoot1" presStyleCnt="0"/>
      <dgm:spPr/>
    </dgm:pt>
    <dgm:pt modelId="{A8F4DD2D-FABA-40D6-8434-855197DE2A82}" type="pres">
      <dgm:prSet presAssocID="{12C5DDA0-3C97-4FB1-A24F-7DAE89A5E7E7}" presName="composite" presStyleCnt="0"/>
      <dgm:spPr/>
    </dgm:pt>
    <dgm:pt modelId="{6E93C31B-730E-4980-8CFC-AD3A802038C0}" type="pres">
      <dgm:prSet presAssocID="{12C5DDA0-3C97-4FB1-A24F-7DAE89A5E7E7}" presName="background" presStyleLbl="node0" presStyleIdx="2" presStyleCnt="3"/>
      <dgm:spPr/>
    </dgm:pt>
    <dgm:pt modelId="{151F6041-0B56-4F49-A047-2B11E57406CC}" type="pres">
      <dgm:prSet presAssocID="{12C5DDA0-3C97-4FB1-A24F-7DAE89A5E7E7}" presName="text" presStyleLbl="fgAcc0" presStyleIdx="2" presStyleCnt="3">
        <dgm:presLayoutVars>
          <dgm:chPref val="3"/>
        </dgm:presLayoutVars>
      </dgm:prSet>
      <dgm:spPr/>
    </dgm:pt>
    <dgm:pt modelId="{208F749B-0BCE-4AAB-A7DF-42D770237A4B}" type="pres">
      <dgm:prSet presAssocID="{12C5DDA0-3C97-4FB1-A24F-7DAE89A5E7E7}" presName="hierChild2" presStyleCnt="0"/>
      <dgm:spPr/>
    </dgm:pt>
  </dgm:ptLst>
  <dgm:cxnLst>
    <dgm:cxn modelId="{DBCB7912-3F97-4662-BE91-C4AAAC24056C}" type="presOf" srcId="{BCC60F23-F7AA-40EE-A9FF-4CAD7971DDF3}" destId="{3CBF2ACF-2ABB-40D5-840D-878C55013821}" srcOrd="0" destOrd="0" presId="urn:microsoft.com/office/officeart/2005/8/layout/hierarchy1"/>
    <dgm:cxn modelId="{9AC1C529-C6B2-4688-AB91-5777C58ED947}" srcId="{D3CAEC79-BE4E-4087-8713-9738E2721462}" destId="{12C5DDA0-3C97-4FB1-A24F-7DAE89A5E7E7}" srcOrd="2" destOrd="0" parTransId="{4F50C577-3AB8-4754-A31B-C13F28EB4ACF}" sibTransId="{B0249038-FCEF-4E3E-86C7-E482F867C439}"/>
    <dgm:cxn modelId="{C058C360-934A-4EDF-BBCB-AEC6CC2395BD}" srcId="{D3CAEC79-BE4E-4087-8713-9738E2721462}" destId="{BFFE54BA-E2B6-4C5A-B665-2FE209393506}" srcOrd="0" destOrd="0" parTransId="{5A697BDD-1C21-4B1E-BC10-9A76E6D0E93C}" sibTransId="{72CE8E13-8A22-42D2-AEED-EC408D578CD8}"/>
    <dgm:cxn modelId="{7A365A50-8CDB-47ED-9E61-5E8ACA0A74A8}" type="presOf" srcId="{12C5DDA0-3C97-4FB1-A24F-7DAE89A5E7E7}" destId="{151F6041-0B56-4F49-A047-2B11E57406CC}" srcOrd="0" destOrd="0" presId="urn:microsoft.com/office/officeart/2005/8/layout/hierarchy1"/>
    <dgm:cxn modelId="{3BAFDEAF-5A68-4A14-A1F2-C73FCF61E300}" type="presOf" srcId="{D3CAEC79-BE4E-4087-8713-9738E2721462}" destId="{E7140CDB-25B5-432B-87AC-A8A1233D39B0}" srcOrd="0" destOrd="0" presId="urn:microsoft.com/office/officeart/2005/8/layout/hierarchy1"/>
    <dgm:cxn modelId="{9603E0C3-1E33-4088-896E-549D4AC31821}" srcId="{D3CAEC79-BE4E-4087-8713-9738E2721462}" destId="{BCC60F23-F7AA-40EE-A9FF-4CAD7971DDF3}" srcOrd="1" destOrd="0" parTransId="{183C3020-020F-425A-9AD9-F565A814691F}" sibTransId="{D5D4A11F-BA2C-46A6-9A58-7C2F87455028}"/>
    <dgm:cxn modelId="{7D7C11CE-271F-440D-A521-4CA81494C446}" type="presOf" srcId="{BFFE54BA-E2B6-4C5A-B665-2FE209393506}" destId="{B5A0D9D2-A0ED-456C-9683-C872ED975FF7}" srcOrd="0" destOrd="0" presId="urn:microsoft.com/office/officeart/2005/8/layout/hierarchy1"/>
    <dgm:cxn modelId="{8BDF1912-D7B3-4A3B-BB62-7AA238A9AD4C}" type="presParOf" srcId="{E7140CDB-25B5-432B-87AC-A8A1233D39B0}" destId="{492A169C-98E0-4610-BF09-EE6258EC8D3F}" srcOrd="0" destOrd="0" presId="urn:microsoft.com/office/officeart/2005/8/layout/hierarchy1"/>
    <dgm:cxn modelId="{75C1F0B2-F97F-4CBB-A82E-54E0C98F9788}" type="presParOf" srcId="{492A169C-98E0-4610-BF09-EE6258EC8D3F}" destId="{BEFDD182-4E1E-47D5-8A29-1BA124CD42FE}" srcOrd="0" destOrd="0" presId="urn:microsoft.com/office/officeart/2005/8/layout/hierarchy1"/>
    <dgm:cxn modelId="{109D9C7A-4D11-43F6-86C1-2BD72D705BB7}" type="presParOf" srcId="{BEFDD182-4E1E-47D5-8A29-1BA124CD42FE}" destId="{6B66E66F-AEF9-4A43-8631-78B90763261A}" srcOrd="0" destOrd="0" presId="urn:microsoft.com/office/officeart/2005/8/layout/hierarchy1"/>
    <dgm:cxn modelId="{2B93AA7C-4C41-40EF-B2D2-AC90B6F3B617}" type="presParOf" srcId="{BEFDD182-4E1E-47D5-8A29-1BA124CD42FE}" destId="{B5A0D9D2-A0ED-456C-9683-C872ED975FF7}" srcOrd="1" destOrd="0" presId="urn:microsoft.com/office/officeart/2005/8/layout/hierarchy1"/>
    <dgm:cxn modelId="{9E1FBA7E-A5B1-4134-BC31-57CD4BDC2C4D}" type="presParOf" srcId="{492A169C-98E0-4610-BF09-EE6258EC8D3F}" destId="{27553602-3838-4A98-A380-6DEDF7218251}" srcOrd="1" destOrd="0" presId="urn:microsoft.com/office/officeart/2005/8/layout/hierarchy1"/>
    <dgm:cxn modelId="{B5547B72-DE42-4305-BF6D-86C11F4AB632}" type="presParOf" srcId="{E7140CDB-25B5-432B-87AC-A8A1233D39B0}" destId="{ADB000C4-D529-4866-8952-D099EC8BA91B}" srcOrd="1" destOrd="0" presId="urn:microsoft.com/office/officeart/2005/8/layout/hierarchy1"/>
    <dgm:cxn modelId="{974C8ED0-82B6-483D-B7CB-ED2DC7BA405A}" type="presParOf" srcId="{ADB000C4-D529-4866-8952-D099EC8BA91B}" destId="{66EFB166-8C7F-468F-8E47-A3225D997F90}" srcOrd="0" destOrd="0" presId="urn:microsoft.com/office/officeart/2005/8/layout/hierarchy1"/>
    <dgm:cxn modelId="{E890F26E-DE53-44E8-AD92-BC9B2DF6C3A4}" type="presParOf" srcId="{66EFB166-8C7F-468F-8E47-A3225D997F90}" destId="{5AFF8C02-187B-43BC-B190-C2408D9F46E8}" srcOrd="0" destOrd="0" presId="urn:microsoft.com/office/officeart/2005/8/layout/hierarchy1"/>
    <dgm:cxn modelId="{90EFDF30-D83B-4868-8549-A5C4A7BB6A8E}" type="presParOf" srcId="{66EFB166-8C7F-468F-8E47-A3225D997F90}" destId="{3CBF2ACF-2ABB-40D5-840D-878C55013821}" srcOrd="1" destOrd="0" presId="urn:microsoft.com/office/officeart/2005/8/layout/hierarchy1"/>
    <dgm:cxn modelId="{29CB1A4C-C315-4CD1-9A5A-B841F1C47962}" type="presParOf" srcId="{ADB000C4-D529-4866-8952-D099EC8BA91B}" destId="{DC4CE7CF-B087-4A71-9E6A-F6CDDD1CC172}" srcOrd="1" destOrd="0" presId="urn:microsoft.com/office/officeart/2005/8/layout/hierarchy1"/>
    <dgm:cxn modelId="{1D56C009-EA07-49C1-9F8E-C1E0B2F3EC86}" type="presParOf" srcId="{E7140CDB-25B5-432B-87AC-A8A1233D39B0}" destId="{0B4DD09A-3EA1-450F-9891-23664F3D5D85}" srcOrd="2" destOrd="0" presId="urn:microsoft.com/office/officeart/2005/8/layout/hierarchy1"/>
    <dgm:cxn modelId="{4710430A-2F2B-445D-B55C-9593A35E7DF3}" type="presParOf" srcId="{0B4DD09A-3EA1-450F-9891-23664F3D5D85}" destId="{A8F4DD2D-FABA-40D6-8434-855197DE2A82}" srcOrd="0" destOrd="0" presId="urn:microsoft.com/office/officeart/2005/8/layout/hierarchy1"/>
    <dgm:cxn modelId="{E916D92D-6E05-4F6D-BE11-E899850EACB6}" type="presParOf" srcId="{A8F4DD2D-FABA-40D6-8434-855197DE2A82}" destId="{6E93C31B-730E-4980-8CFC-AD3A802038C0}" srcOrd="0" destOrd="0" presId="urn:microsoft.com/office/officeart/2005/8/layout/hierarchy1"/>
    <dgm:cxn modelId="{324819B2-279B-4B90-99BC-D141C0D1B5AA}" type="presParOf" srcId="{A8F4DD2D-FABA-40D6-8434-855197DE2A82}" destId="{151F6041-0B56-4F49-A047-2B11E57406CC}" srcOrd="1" destOrd="0" presId="urn:microsoft.com/office/officeart/2005/8/layout/hierarchy1"/>
    <dgm:cxn modelId="{D9FCC687-CBE2-4F32-84CD-BF787AF6FCD9}" type="presParOf" srcId="{0B4DD09A-3EA1-450F-9891-23664F3D5D85}" destId="{208F749B-0BCE-4AAB-A7DF-42D770237A4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4B5FD34-11F1-4B52-82C2-0EA2F8320562}" type="doc">
      <dgm:prSet loTypeId="urn:microsoft.com/office/officeart/2005/8/layout/process5" loCatId="process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3F280EB-16A1-49DC-8044-77F015435644}">
      <dgm:prSet/>
      <dgm:spPr/>
      <dgm:t>
        <a:bodyPr/>
        <a:lstStyle/>
        <a:p>
          <a:r>
            <a:rPr lang="pl-PL"/>
            <a:t>Projekt Oil:</a:t>
          </a:r>
          <a:endParaRPr lang="en-US"/>
        </a:p>
      </dgm:t>
    </dgm:pt>
    <dgm:pt modelId="{A098B2FE-577C-4C04-B65C-EFE2BE65D131}" type="parTrans" cxnId="{FF70E7EA-B5C7-4260-BD8B-B7FC8B0A238C}">
      <dgm:prSet/>
      <dgm:spPr/>
      <dgm:t>
        <a:bodyPr/>
        <a:lstStyle/>
        <a:p>
          <a:endParaRPr lang="en-US"/>
        </a:p>
      </dgm:t>
    </dgm:pt>
    <dgm:pt modelId="{42958056-0F5E-414C-A1F5-7EE0D923DFA1}" type="sibTrans" cxnId="{FF70E7EA-B5C7-4260-BD8B-B7FC8B0A238C}">
      <dgm:prSet/>
      <dgm:spPr/>
      <dgm:t>
        <a:bodyPr/>
        <a:lstStyle/>
        <a:p>
          <a:endParaRPr lang="en-US"/>
        </a:p>
      </dgm:t>
    </dgm:pt>
    <dgm:pt modelId="{E361EBA0-EF68-416A-94A1-358D21F10A5D}">
      <dgm:prSet/>
      <dgm:spPr/>
      <dgm:t>
        <a:bodyPr/>
        <a:lstStyle/>
        <a:p>
          <a:r>
            <a:rPr lang="pl-PL"/>
            <a:t>rozpoczął się od planu </a:t>
          </a:r>
          <a:endParaRPr lang="en-US"/>
        </a:p>
      </dgm:t>
    </dgm:pt>
    <dgm:pt modelId="{66006150-0594-4150-837D-3B86D1D2360D}" type="parTrans" cxnId="{891E17C9-AD09-4DDD-B200-0FA8DC028A6C}">
      <dgm:prSet/>
      <dgm:spPr/>
      <dgm:t>
        <a:bodyPr/>
        <a:lstStyle/>
        <a:p>
          <a:endParaRPr lang="en-US"/>
        </a:p>
      </dgm:t>
    </dgm:pt>
    <dgm:pt modelId="{BB982D80-4720-45B4-A96F-26EAB22BAEB6}" type="sibTrans" cxnId="{891E17C9-AD09-4DDD-B200-0FA8DC028A6C}">
      <dgm:prSet/>
      <dgm:spPr/>
      <dgm:t>
        <a:bodyPr/>
        <a:lstStyle/>
        <a:p>
          <a:endParaRPr lang="en-US"/>
        </a:p>
      </dgm:t>
    </dgm:pt>
    <dgm:pt modelId="{B22D6E5F-F472-4255-BF75-D46F0B259BC5}">
      <dgm:prSet/>
      <dgm:spPr/>
      <dgm:t>
        <a:bodyPr/>
        <a:lstStyle/>
        <a:p>
          <a:r>
            <a:rPr lang="pl-PL"/>
            <a:t>przeszedł przez zmiany i problemy </a:t>
          </a:r>
          <a:endParaRPr lang="en-US"/>
        </a:p>
      </dgm:t>
    </dgm:pt>
    <dgm:pt modelId="{6F3D239A-C3A1-4428-B425-4347C0AD4BA6}" type="parTrans" cxnId="{51CD2035-6473-4C33-A330-4C5BD8C4B8F5}">
      <dgm:prSet/>
      <dgm:spPr/>
      <dgm:t>
        <a:bodyPr/>
        <a:lstStyle/>
        <a:p>
          <a:endParaRPr lang="en-US"/>
        </a:p>
      </dgm:t>
    </dgm:pt>
    <dgm:pt modelId="{F3A87A58-5773-4042-A588-C0D29200EEFE}" type="sibTrans" cxnId="{51CD2035-6473-4C33-A330-4C5BD8C4B8F5}">
      <dgm:prSet/>
      <dgm:spPr/>
      <dgm:t>
        <a:bodyPr/>
        <a:lstStyle/>
        <a:p>
          <a:endParaRPr lang="en-US"/>
        </a:p>
      </dgm:t>
    </dgm:pt>
    <dgm:pt modelId="{A6224695-4AAA-4BDC-9A7B-34923F843C3E}">
      <dgm:prSet/>
      <dgm:spPr/>
      <dgm:t>
        <a:bodyPr/>
        <a:lstStyle/>
        <a:p>
          <a:r>
            <a:rPr lang="pl-PL"/>
            <a:t>wymagał elastyczności i adaptacji </a:t>
          </a:r>
          <a:endParaRPr lang="en-US"/>
        </a:p>
      </dgm:t>
    </dgm:pt>
    <dgm:pt modelId="{96B2DDD9-9318-4660-9199-CFAFD8AE0160}" type="parTrans" cxnId="{67B31445-C3E8-4274-A186-AAC11BD4E10A}">
      <dgm:prSet/>
      <dgm:spPr/>
      <dgm:t>
        <a:bodyPr/>
        <a:lstStyle/>
        <a:p>
          <a:endParaRPr lang="en-US"/>
        </a:p>
      </dgm:t>
    </dgm:pt>
    <dgm:pt modelId="{DFD33080-E59E-42A2-BC7A-DF7563DC93D8}" type="sibTrans" cxnId="{67B31445-C3E8-4274-A186-AAC11BD4E10A}">
      <dgm:prSet/>
      <dgm:spPr/>
      <dgm:t>
        <a:bodyPr/>
        <a:lstStyle/>
        <a:p>
          <a:endParaRPr lang="en-US"/>
        </a:p>
      </dgm:t>
    </dgm:pt>
    <dgm:pt modelId="{867ABE25-3C5C-41F7-BB5E-66A1EA22ED52}">
      <dgm:prSet/>
      <dgm:spPr/>
      <dgm:t>
        <a:bodyPr/>
        <a:lstStyle/>
        <a:p>
          <a:r>
            <a:rPr lang="pl-PL"/>
            <a:t>zakończył się dzięki świadomemu zarządzaniu</a:t>
          </a:r>
          <a:endParaRPr lang="en-US"/>
        </a:p>
      </dgm:t>
    </dgm:pt>
    <dgm:pt modelId="{CDB40B3D-E285-4A32-AFAB-85611A8141C9}" type="parTrans" cxnId="{91F37512-6681-4E26-AD65-E253728EDEAB}">
      <dgm:prSet/>
      <dgm:spPr/>
      <dgm:t>
        <a:bodyPr/>
        <a:lstStyle/>
        <a:p>
          <a:endParaRPr lang="en-US"/>
        </a:p>
      </dgm:t>
    </dgm:pt>
    <dgm:pt modelId="{CBF903C9-EE40-4207-9F75-4043F9390AE0}" type="sibTrans" cxnId="{91F37512-6681-4E26-AD65-E253728EDEAB}">
      <dgm:prSet/>
      <dgm:spPr/>
      <dgm:t>
        <a:bodyPr/>
        <a:lstStyle/>
        <a:p>
          <a:endParaRPr lang="en-US"/>
        </a:p>
      </dgm:t>
    </dgm:pt>
    <dgm:pt modelId="{39431EAC-CF7D-47FC-956D-4C18B88F2B94}" type="pres">
      <dgm:prSet presAssocID="{14B5FD34-11F1-4B52-82C2-0EA2F8320562}" presName="diagram" presStyleCnt="0">
        <dgm:presLayoutVars>
          <dgm:dir/>
          <dgm:resizeHandles val="exact"/>
        </dgm:presLayoutVars>
      </dgm:prSet>
      <dgm:spPr/>
    </dgm:pt>
    <dgm:pt modelId="{3094BBB8-BB50-4595-A4B3-C73F13C1B43C}" type="pres">
      <dgm:prSet presAssocID="{E3F280EB-16A1-49DC-8044-77F015435644}" presName="node" presStyleLbl="node1" presStyleIdx="0" presStyleCnt="5">
        <dgm:presLayoutVars>
          <dgm:bulletEnabled val="1"/>
        </dgm:presLayoutVars>
      </dgm:prSet>
      <dgm:spPr/>
    </dgm:pt>
    <dgm:pt modelId="{2CE90B05-6A98-43AD-B271-F5F3F312681E}" type="pres">
      <dgm:prSet presAssocID="{42958056-0F5E-414C-A1F5-7EE0D923DFA1}" presName="sibTrans" presStyleLbl="sibTrans2D1" presStyleIdx="0" presStyleCnt="4"/>
      <dgm:spPr/>
    </dgm:pt>
    <dgm:pt modelId="{A434763F-848C-416B-A9EE-F4E69B0334E2}" type="pres">
      <dgm:prSet presAssocID="{42958056-0F5E-414C-A1F5-7EE0D923DFA1}" presName="connectorText" presStyleLbl="sibTrans2D1" presStyleIdx="0" presStyleCnt="4"/>
      <dgm:spPr/>
    </dgm:pt>
    <dgm:pt modelId="{1938FDB9-7B39-4C21-B48C-3C0EDCFAA4D1}" type="pres">
      <dgm:prSet presAssocID="{E361EBA0-EF68-416A-94A1-358D21F10A5D}" presName="node" presStyleLbl="node1" presStyleIdx="1" presStyleCnt="5">
        <dgm:presLayoutVars>
          <dgm:bulletEnabled val="1"/>
        </dgm:presLayoutVars>
      </dgm:prSet>
      <dgm:spPr/>
    </dgm:pt>
    <dgm:pt modelId="{5F57406E-A645-403C-92E1-B3FBB475ED00}" type="pres">
      <dgm:prSet presAssocID="{BB982D80-4720-45B4-A96F-26EAB22BAEB6}" presName="sibTrans" presStyleLbl="sibTrans2D1" presStyleIdx="1" presStyleCnt="4"/>
      <dgm:spPr/>
    </dgm:pt>
    <dgm:pt modelId="{70466354-8C91-4817-A01A-29877EC1DA4C}" type="pres">
      <dgm:prSet presAssocID="{BB982D80-4720-45B4-A96F-26EAB22BAEB6}" presName="connectorText" presStyleLbl="sibTrans2D1" presStyleIdx="1" presStyleCnt="4"/>
      <dgm:spPr/>
    </dgm:pt>
    <dgm:pt modelId="{78C60F1E-461E-46B3-81F3-FEDF048783CA}" type="pres">
      <dgm:prSet presAssocID="{B22D6E5F-F472-4255-BF75-D46F0B259BC5}" presName="node" presStyleLbl="node1" presStyleIdx="2" presStyleCnt="5">
        <dgm:presLayoutVars>
          <dgm:bulletEnabled val="1"/>
        </dgm:presLayoutVars>
      </dgm:prSet>
      <dgm:spPr/>
    </dgm:pt>
    <dgm:pt modelId="{B0CD6EB8-965A-410D-A2F8-729F56F75AD8}" type="pres">
      <dgm:prSet presAssocID="{F3A87A58-5773-4042-A588-C0D29200EEFE}" presName="sibTrans" presStyleLbl="sibTrans2D1" presStyleIdx="2" presStyleCnt="4"/>
      <dgm:spPr/>
    </dgm:pt>
    <dgm:pt modelId="{0E2D4676-DB59-49F6-BD28-C5ECFEC3EF13}" type="pres">
      <dgm:prSet presAssocID="{F3A87A58-5773-4042-A588-C0D29200EEFE}" presName="connectorText" presStyleLbl="sibTrans2D1" presStyleIdx="2" presStyleCnt="4"/>
      <dgm:spPr/>
    </dgm:pt>
    <dgm:pt modelId="{B3AFF80D-B8A1-4F0D-A4DD-813D52C37EE5}" type="pres">
      <dgm:prSet presAssocID="{A6224695-4AAA-4BDC-9A7B-34923F843C3E}" presName="node" presStyleLbl="node1" presStyleIdx="3" presStyleCnt="5">
        <dgm:presLayoutVars>
          <dgm:bulletEnabled val="1"/>
        </dgm:presLayoutVars>
      </dgm:prSet>
      <dgm:spPr/>
    </dgm:pt>
    <dgm:pt modelId="{CA08A753-A3DF-4B20-9207-ABA70077224B}" type="pres">
      <dgm:prSet presAssocID="{DFD33080-E59E-42A2-BC7A-DF7563DC93D8}" presName="sibTrans" presStyleLbl="sibTrans2D1" presStyleIdx="3" presStyleCnt="4"/>
      <dgm:spPr/>
    </dgm:pt>
    <dgm:pt modelId="{CCE7C1E0-A3B2-4319-9C74-876BD1D8500F}" type="pres">
      <dgm:prSet presAssocID="{DFD33080-E59E-42A2-BC7A-DF7563DC93D8}" presName="connectorText" presStyleLbl="sibTrans2D1" presStyleIdx="3" presStyleCnt="4"/>
      <dgm:spPr/>
    </dgm:pt>
    <dgm:pt modelId="{2B5CBE8D-3F84-42F3-B5DF-B8D1337DB72A}" type="pres">
      <dgm:prSet presAssocID="{867ABE25-3C5C-41F7-BB5E-66A1EA22ED52}" presName="node" presStyleLbl="node1" presStyleIdx="4" presStyleCnt="5">
        <dgm:presLayoutVars>
          <dgm:bulletEnabled val="1"/>
        </dgm:presLayoutVars>
      </dgm:prSet>
      <dgm:spPr/>
    </dgm:pt>
  </dgm:ptLst>
  <dgm:cxnLst>
    <dgm:cxn modelId="{C3ACD606-94B3-49EE-B1F9-45172239E58C}" type="presOf" srcId="{14B5FD34-11F1-4B52-82C2-0EA2F8320562}" destId="{39431EAC-CF7D-47FC-956D-4C18B88F2B94}" srcOrd="0" destOrd="0" presId="urn:microsoft.com/office/officeart/2005/8/layout/process5"/>
    <dgm:cxn modelId="{E9A65C11-431B-47ED-A0BF-FF581AEECA33}" type="presOf" srcId="{E361EBA0-EF68-416A-94A1-358D21F10A5D}" destId="{1938FDB9-7B39-4C21-B48C-3C0EDCFAA4D1}" srcOrd="0" destOrd="0" presId="urn:microsoft.com/office/officeart/2005/8/layout/process5"/>
    <dgm:cxn modelId="{91F37512-6681-4E26-AD65-E253728EDEAB}" srcId="{14B5FD34-11F1-4B52-82C2-0EA2F8320562}" destId="{867ABE25-3C5C-41F7-BB5E-66A1EA22ED52}" srcOrd="4" destOrd="0" parTransId="{CDB40B3D-E285-4A32-AFAB-85611A8141C9}" sibTransId="{CBF903C9-EE40-4207-9F75-4043F9390AE0}"/>
    <dgm:cxn modelId="{C1FF6823-0D7A-4C0F-8E8E-D7D8978BE3BD}" type="presOf" srcId="{B22D6E5F-F472-4255-BF75-D46F0B259BC5}" destId="{78C60F1E-461E-46B3-81F3-FEDF048783CA}" srcOrd="0" destOrd="0" presId="urn:microsoft.com/office/officeart/2005/8/layout/process5"/>
    <dgm:cxn modelId="{34701D34-DCF0-4BA8-896A-0D3ACC2818E8}" type="presOf" srcId="{DFD33080-E59E-42A2-BC7A-DF7563DC93D8}" destId="{CA08A753-A3DF-4B20-9207-ABA70077224B}" srcOrd="0" destOrd="0" presId="urn:microsoft.com/office/officeart/2005/8/layout/process5"/>
    <dgm:cxn modelId="{51CD2035-6473-4C33-A330-4C5BD8C4B8F5}" srcId="{14B5FD34-11F1-4B52-82C2-0EA2F8320562}" destId="{B22D6E5F-F472-4255-BF75-D46F0B259BC5}" srcOrd="2" destOrd="0" parTransId="{6F3D239A-C3A1-4428-B425-4347C0AD4BA6}" sibTransId="{F3A87A58-5773-4042-A588-C0D29200EEFE}"/>
    <dgm:cxn modelId="{09B6743D-B434-4E49-A11D-7EEFC35338C6}" type="presOf" srcId="{A6224695-4AAA-4BDC-9A7B-34923F843C3E}" destId="{B3AFF80D-B8A1-4F0D-A4DD-813D52C37EE5}" srcOrd="0" destOrd="0" presId="urn:microsoft.com/office/officeart/2005/8/layout/process5"/>
    <dgm:cxn modelId="{02125C63-DD4A-4388-9CAD-FB968B52A8B9}" type="presOf" srcId="{DFD33080-E59E-42A2-BC7A-DF7563DC93D8}" destId="{CCE7C1E0-A3B2-4319-9C74-876BD1D8500F}" srcOrd="1" destOrd="0" presId="urn:microsoft.com/office/officeart/2005/8/layout/process5"/>
    <dgm:cxn modelId="{67B31445-C3E8-4274-A186-AAC11BD4E10A}" srcId="{14B5FD34-11F1-4B52-82C2-0EA2F8320562}" destId="{A6224695-4AAA-4BDC-9A7B-34923F843C3E}" srcOrd="3" destOrd="0" parTransId="{96B2DDD9-9318-4660-9199-CFAFD8AE0160}" sibTransId="{DFD33080-E59E-42A2-BC7A-DF7563DC93D8}"/>
    <dgm:cxn modelId="{0F7F6172-0BCF-4943-82AB-981377AE503E}" type="presOf" srcId="{42958056-0F5E-414C-A1F5-7EE0D923DFA1}" destId="{2CE90B05-6A98-43AD-B271-F5F3F312681E}" srcOrd="0" destOrd="0" presId="urn:microsoft.com/office/officeart/2005/8/layout/process5"/>
    <dgm:cxn modelId="{98572C55-D121-4DD8-999F-184196AC8FC6}" type="presOf" srcId="{BB982D80-4720-45B4-A96F-26EAB22BAEB6}" destId="{5F57406E-A645-403C-92E1-B3FBB475ED00}" srcOrd="0" destOrd="0" presId="urn:microsoft.com/office/officeart/2005/8/layout/process5"/>
    <dgm:cxn modelId="{C852F156-B297-417A-BF2F-89D7D2BCD55B}" type="presOf" srcId="{BB982D80-4720-45B4-A96F-26EAB22BAEB6}" destId="{70466354-8C91-4817-A01A-29877EC1DA4C}" srcOrd="1" destOrd="0" presId="urn:microsoft.com/office/officeart/2005/8/layout/process5"/>
    <dgm:cxn modelId="{FE42757E-23B3-4854-83F3-E89814DA42FD}" type="presOf" srcId="{F3A87A58-5773-4042-A588-C0D29200EEFE}" destId="{0E2D4676-DB59-49F6-BD28-C5ECFEC3EF13}" srcOrd="1" destOrd="0" presId="urn:microsoft.com/office/officeart/2005/8/layout/process5"/>
    <dgm:cxn modelId="{CF07C682-328A-42E8-90A8-9F7E6B35DA53}" type="presOf" srcId="{E3F280EB-16A1-49DC-8044-77F015435644}" destId="{3094BBB8-BB50-4595-A4B3-C73F13C1B43C}" srcOrd="0" destOrd="0" presId="urn:microsoft.com/office/officeart/2005/8/layout/process5"/>
    <dgm:cxn modelId="{D4619F83-FCF6-4B99-BE4F-D53D3C549EE2}" type="presOf" srcId="{867ABE25-3C5C-41F7-BB5E-66A1EA22ED52}" destId="{2B5CBE8D-3F84-42F3-B5DF-B8D1337DB72A}" srcOrd="0" destOrd="0" presId="urn:microsoft.com/office/officeart/2005/8/layout/process5"/>
    <dgm:cxn modelId="{61D2EE9B-38DC-4329-ABFE-1B6E02597965}" type="presOf" srcId="{F3A87A58-5773-4042-A588-C0D29200EEFE}" destId="{B0CD6EB8-965A-410D-A2F8-729F56F75AD8}" srcOrd="0" destOrd="0" presId="urn:microsoft.com/office/officeart/2005/8/layout/process5"/>
    <dgm:cxn modelId="{891E17C9-AD09-4DDD-B200-0FA8DC028A6C}" srcId="{14B5FD34-11F1-4B52-82C2-0EA2F8320562}" destId="{E361EBA0-EF68-416A-94A1-358D21F10A5D}" srcOrd="1" destOrd="0" parTransId="{66006150-0594-4150-837D-3B86D1D2360D}" sibTransId="{BB982D80-4720-45B4-A96F-26EAB22BAEB6}"/>
    <dgm:cxn modelId="{817465D1-1ED3-42A5-BC49-9B441724AA06}" type="presOf" srcId="{42958056-0F5E-414C-A1F5-7EE0D923DFA1}" destId="{A434763F-848C-416B-A9EE-F4E69B0334E2}" srcOrd="1" destOrd="0" presId="urn:microsoft.com/office/officeart/2005/8/layout/process5"/>
    <dgm:cxn modelId="{FF70E7EA-B5C7-4260-BD8B-B7FC8B0A238C}" srcId="{14B5FD34-11F1-4B52-82C2-0EA2F8320562}" destId="{E3F280EB-16A1-49DC-8044-77F015435644}" srcOrd="0" destOrd="0" parTransId="{A098B2FE-577C-4C04-B65C-EFE2BE65D131}" sibTransId="{42958056-0F5E-414C-A1F5-7EE0D923DFA1}"/>
    <dgm:cxn modelId="{BC5B3D4A-BA45-4492-AA12-1DB640BE65F2}" type="presParOf" srcId="{39431EAC-CF7D-47FC-956D-4C18B88F2B94}" destId="{3094BBB8-BB50-4595-A4B3-C73F13C1B43C}" srcOrd="0" destOrd="0" presId="urn:microsoft.com/office/officeart/2005/8/layout/process5"/>
    <dgm:cxn modelId="{AC5585EF-970B-471A-A3F9-76FEDC6BA5A9}" type="presParOf" srcId="{39431EAC-CF7D-47FC-956D-4C18B88F2B94}" destId="{2CE90B05-6A98-43AD-B271-F5F3F312681E}" srcOrd="1" destOrd="0" presId="urn:microsoft.com/office/officeart/2005/8/layout/process5"/>
    <dgm:cxn modelId="{DBB2E52F-54DA-45D6-9816-91954B020C97}" type="presParOf" srcId="{2CE90B05-6A98-43AD-B271-F5F3F312681E}" destId="{A434763F-848C-416B-A9EE-F4E69B0334E2}" srcOrd="0" destOrd="0" presId="urn:microsoft.com/office/officeart/2005/8/layout/process5"/>
    <dgm:cxn modelId="{61F430D4-7D68-415D-9459-558D6FCFB90D}" type="presParOf" srcId="{39431EAC-CF7D-47FC-956D-4C18B88F2B94}" destId="{1938FDB9-7B39-4C21-B48C-3C0EDCFAA4D1}" srcOrd="2" destOrd="0" presId="urn:microsoft.com/office/officeart/2005/8/layout/process5"/>
    <dgm:cxn modelId="{346F1443-8A27-4FB6-B8DD-C185FE3CEBED}" type="presParOf" srcId="{39431EAC-CF7D-47FC-956D-4C18B88F2B94}" destId="{5F57406E-A645-403C-92E1-B3FBB475ED00}" srcOrd="3" destOrd="0" presId="urn:microsoft.com/office/officeart/2005/8/layout/process5"/>
    <dgm:cxn modelId="{035F571F-B81D-4C2F-8BC0-8427F63E4C12}" type="presParOf" srcId="{5F57406E-A645-403C-92E1-B3FBB475ED00}" destId="{70466354-8C91-4817-A01A-29877EC1DA4C}" srcOrd="0" destOrd="0" presId="urn:microsoft.com/office/officeart/2005/8/layout/process5"/>
    <dgm:cxn modelId="{ADE5844C-7416-4714-B395-5FF4A9780766}" type="presParOf" srcId="{39431EAC-CF7D-47FC-956D-4C18B88F2B94}" destId="{78C60F1E-461E-46B3-81F3-FEDF048783CA}" srcOrd="4" destOrd="0" presId="urn:microsoft.com/office/officeart/2005/8/layout/process5"/>
    <dgm:cxn modelId="{E94BFF2E-30E2-4605-8E1B-503D9B77617A}" type="presParOf" srcId="{39431EAC-CF7D-47FC-956D-4C18B88F2B94}" destId="{B0CD6EB8-965A-410D-A2F8-729F56F75AD8}" srcOrd="5" destOrd="0" presId="urn:microsoft.com/office/officeart/2005/8/layout/process5"/>
    <dgm:cxn modelId="{3423F707-541F-42F7-A896-05770F9102F1}" type="presParOf" srcId="{B0CD6EB8-965A-410D-A2F8-729F56F75AD8}" destId="{0E2D4676-DB59-49F6-BD28-C5ECFEC3EF13}" srcOrd="0" destOrd="0" presId="urn:microsoft.com/office/officeart/2005/8/layout/process5"/>
    <dgm:cxn modelId="{839661EB-2D33-4B64-95D1-CEC9BA990BB7}" type="presParOf" srcId="{39431EAC-CF7D-47FC-956D-4C18B88F2B94}" destId="{B3AFF80D-B8A1-4F0D-A4DD-813D52C37EE5}" srcOrd="6" destOrd="0" presId="urn:microsoft.com/office/officeart/2005/8/layout/process5"/>
    <dgm:cxn modelId="{26938249-7202-41A2-8073-BDDDAE1EC089}" type="presParOf" srcId="{39431EAC-CF7D-47FC-956D-4C18B88F2B94}" destId="{CA08A753-A3DF-4B20-9207-ABA70077224B}" srcOrd="7" destOrd="0" presId="urn:microsoft.com/office/officeart/2005/8/layout/process5"/>
    <dgm:cxn modelId="{A724ED3D-F193-4B5E-911E-5485CE46E1E4}" type="presParOf" srcId="{CA08A753-A3DF-4B20-9207-ABA70077224B}" destId="{CCE7C1E0-A3B2-4319-9C74-876BD1D8500F}" srcOrd="0" destOrd="0" presId="urn:microsoft.com/office/officeart/2005/8/layout/process5"/>
    <dgm:cxn modelId="{859B197E-35CB-4717-ABDC-0A8F601C4E30}" type="presParOf" srcId="{39431EAC-CF7D-47FC-956D-4C18B88F2B94}" destId="{2B5CBE8D-3F84-42F3-B5DF-B8D1337DB72A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41E1D-07BD-423F-9100-D2729F69B4E4}">
      <dsp:nvSpPr>
        <dsp:cNvPr id="0" name=""/>
        <dsp:cNvSpPr/>
      </dsp:nvSpPr>
      <dsp:spPr>
        <a:xfrm>
          <a:off x="0" y="50809"/>
          <a:ext cx="5906181" cy="16309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Czasami mówi się o metodzie SMARTER</a:t>
          </a:r>
        </a:p>
      </dsp:txBody>
      <dsp:txXfrm>
        <a:off x="79618" y="130427"/>
        <a:ext cx="5746945" cy="1471744"/>
      </dsp:txXfrm>
    </dsp:sp>
    <dsp:sp modelId="{04D74F78-D716-4B57-9809-2EAE617B5152}">
      <dsp:nvSpPr>
        <dsp:cNvPr id="0" name=""/>
        <dsp:cNvSpPr/>
      </dsp:nvSpPr>
      <dsp:spPr>
        <a:xfrm>
          <a:off x="0" y="1799869"/>
          <a:ext cx="5906181" cy="1630980"/>
        </a:xfrm>
        <a:prstGeom prst="roundRect">
          <a:avLst/>
        </a:prstGeom>
        <a:solidFill>
          <a:schemeClr val="accent5">
            <a:hueOff val="-10661560"/>
            <a:satOff val="6060"/>
            <a:lumOff val="-5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 – Evaluated (oceniony)</a:t>
          </a:r>
        </a:p>
      </dsp:txBody>
      <dsp:txXfrm>
        <a:off x="79618" y="1879487"/>
        <a:ext cx="5746945" cy="1471744"/>
      </dsp:txXfrm>
    </dsp:sp>
    <dsp:sp modelId="{3B944C52-907C-41DF-A47B-EF209C19B42C}">
      <dsp:nvSpPr>
        <dsp:cNvPr id="0" name=""/>
        <dsp:cNvSpPr/>
      </dsp:nvSpPr>
      <dsp:spPr>
        <a:xfrm>
          <a:off x="0" y="3548929"/>
          <a:ext cx="5906181" cy="1630980"/>
        </a:xfrm>
        <a:prstGeom prst="roundRect">
          <a:avLst/>
        </a:prstGeom>
        <a:solidFill>
          <a:schemeClr val="accent5">
            <a:hueOff val="-21323121"/>
            <a:satOff val="12119"/>
            <a:lumOff val="-1000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R – Reviewed (nagrodzony, wznowiony)</a:t>
          </a:r>
        </a:p>
      </dsp:txBody>
      <dsp:txXfrm>
        <a:off x="79618" y="3628547"/>
        <a:ext cx="5746945" cy="14717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A65B3C-262B-4083-AAAD-E739BCAFC4E2}">
      <dsp:nvSpPr>
        <dsp:cNvPr id="0" name=""/>
        <dsp:cNvSpPr/>
      </dsp:nvSpPr>
      <dsp:spPr>
        <a:xfrm>
          <a:off x="1181934" y="504"/>
          <a:ext cx="1817142" cy="109028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podział projektu na etapy</a:t>
          </a:r>
          <a:endParaRPr lang="en-US" sz="1700" kern="1200"/>
        </a:p>
      </dsp:txBody>
      <dsp:txXfrm>
        <a:off x="1213867" y="32437"/>
        <a:ext cx="1753276" cy="1026419"/>
      </dsp:txXfrm>
    </dsp:sp>
    <dsp:sp modelId="{44B51600-8D7D-426F-A08E-AAFAAE414193}">
      <dsp:nvSpPr>
        <dsp:cNvPr id="0" name=""/>
        <dsp:cNvSpPr/>
      </dsp:nvSpPr>
      <dsp:spPr>
        <a:xfrm>
          <a:off x="3158986" y="320321"/>
          <a:ext cx="385234" cy="4506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158986" y="410451"/>
        <a:ext cx="269664" cy="270391"/>
      </dsp:txXfrm>
    </dsp:sp>
    <dsp:sp modelId="{408AA66B-5186-4EE7-BEAD-86B7EECF5297}">
      <dsp:nvSpPr>
        <dsp:cNvPr id="0" name=""/>
        <dsp:cNvSpPr/>
      </dsp:nvSpPr>
      <dsp:spPr>
        <a:xfrm>
          <a:off x="3725934" y="504"/>
          <a:ext cx="1817142" cy="10902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podział etapów na zadania</a:t>
          </a:r>
          <a:endParaRPr lang="en-US" sz="1700" kern="1200"/>
        </a:p>
      </dsp:txBody>
      <dsp:txXfrm>
        <a:off x="3757867" y="32437"/>
        <a:ext cx="1753276" cy="1026419"/>
      </dsp:txXfrm>
    </dsp:sp>
    <dsp:sp modelId="{77292518-9B56-435E-A1D4-DA80F5D8CB40}">
      <dsp:nvSpPr>
        <dsp:cNvPr id="0" name=""/>
        <dsp:cNvSpPr/>
      </dsp:nvSpPr>
      <dsp:spPr>
        <a:xfrm>
          <a:off x="5702985" y="320321"/>
          <a:ext cx="385234" cy="4506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702985" y="410451"/>
        <a:ext cx="269664" cy="270391"/>
      </dsp:txXfrm>
    </dsp:sp>
    <dsp:sp modelId="{6A00FAF7-F57F-48CC-A0AE-C889C3E392C5}">
      <dsp:nvSpPr>
        <dsp:cNvPr id="0" name=""/>
        <dsp:cNvSpPr/>
      </dsp:nvSpPr>
      <dsp:spPr>
        <a:xfrm>
          <a:off x="6269934" y="504"/>
          <a:ext cx="1817142" cy="109028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dalsze rozbijanie na mniejsze elementy</a:t>
          </a:r>
          <a:endParaRPr lang="en-US" sz="1700" kern="1200"/>
        </a:p>
      </dsp:txBody>
      <dsp:txXfrm>
        <a:off x="6301867" y="32437"/>
        <a:ext cx="1753276" cy="1026419"/>
      </dsp:txXfrm>
    </dsp:sp>
    <dsp:sp modelId="{3B58ACCA-A7B8-4542-A1A1-D0839479E4EC}">
      <dsp:nvSpPr>
        <dsp:cNvPr id="0" name=""/>
        <dsp:cNvSpPr/>
      </dsp:nvSpPr>
      <dsp:spPr>
        <a:xfrm rot="5400000">
          <a:off x="6985888" y="1217989"/>
          <a:ext cx="385234" cy="45065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7043310" y="1250697"/>
        <a:ext cx="270391" cy="269664"/>
      </dsp:txXfrm>
    </dsp:sp>
    <dsp:sp modelId="{6C74868C-1C60-409B-AC4F-33F751A0D73B}">
      <dsp:nvSpPr>
        <dsp:cNvPr id="0" name=""/>
        <dsp:cNvSpPr/>
      </dsp:nvSpPr>
      <dsp:spPr>
        <a:xfrm>
          <a:off x="6269934" y="1817647"/>
          <a:ext cx="1817142" cy="109028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700" kern="1200"/>
            <a:t>przypisanie odpowiedzialności</a:t>
          </a:r>
          <a:endParaRPr lang="en-US" sz="1700" kern="1200"/>
        </a:p>
      </dsp:txBody>
      <dsp:txXfrm>
        <a:off x="6301867" y="1849580"/>
        <a:ext cx="1753276" cy="10264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443570-4752-4C25-B0F0-E775DEECE0C7}">
      <dsp:nvSpPr>
        <dsp:cNvPr id="0" name=""/>
        <dsp:cNvSpPr/>
      </dsp:nvSpPr>
      <dsp:spPr>
        <a:xfrm>
          <a:off x="0" y="4244"/>
          <a:ext cx="5906181" cy="6984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65A0D-8C31-4338-824F-37FC98DDDBC6}">
      <dsp:nvSpPr>
        <dsp:cNvPr id="0" name=""/>
        <dsp:cNvSpPr/>
      </dsp:nvSpPr>
      <dsp:spPr>
        <a:xfrm>
          <a:off x="211290" y="161402"/>
          <a:ext cx="384539" cy="3841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D571D4-2BE6-4CBD-BAE0-6D9F7F46F4F0}">
      <dsp:nvSpPr>
        <dsp:cNvPr id="0" name=""/>
        <dsp:cNvSpPr/>
      </dsp:nvSpPr>
      <dsp:spPr>
        <a:xfrm>
          <a:off x="807119" y="4244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Zależności oznaczają, że jedno zadanie nie może się rozpocząć lub zakończyć bez innego.</a:t>
          </a:r>
          <a:br>
            <a:rPr lang="pl-PL" sz="1400" kern="1200"/>
          </a:br>
          <a:r>
            <a:rPr lang="pl-PL" sz="1400" kern="1200"/>
            <a:t>Są naturalnym elementem każdego projektu IT.</a:t>
          </a:r>
          <a:endParaRPr lang="en-US" sz="1400" kern="1200"/>
        </a:p>
      </dsp:txBody>
      <dsp:txXfrm>
        <a:off x="807119" y="4244"/>
        <a:ext cx="5086631" cy="720307"/>
      </dsp:txXfrm>
    </dsp:sp>
    <dsp:sp modelId="{872E201B-EAC3-4EF9-B303-5904F149B7A2}">
      <dsp:nvSpPr>
        <dsp:cNvPr id="0" name=""/>
        <dsp:cNvSpPr/>
      </dsp:nvSpPr>
      <dsp:spPr>
        <a:xfrm>
          <a:off x="0" y="904628"/>
          <a:ext cx="5906181" cy="69847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11F57-1A16-4758-BE97-D4339E87124B}">
      <dsp:nvSpPr>
        <dsp:cNvPr id="0" name=""/>
        <dsp:cNvSpPr/>
      </dsp:nvSpPr>
      <dsp:spPr>
        <a:xfrm>
          <a:off x="211290" y="1061786"/>
          <a:ext cx="384539" cy="3841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68B2C-7BDE-4782-8CD7-10F0A59F09BC}">
      <dsp:nvSpPr>
        <dsp:cNvPr id="0" name=""/>
        <dsp:cNvSpPr/>
      </dsp:nvSpPr>
      <dsp:spPr>
        <a:xfrm>
          <a:off x="807119" y="904628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1400" kern="1200"/>
            <a:t>Jak zarządzać zależnościami?</a:t>
          </a:r>
          <a:endParaRPr lang="en-US" sz="1400" kern="1200"/>
        </a:p>
      </dsp:txBody>
      <dsp:txXfrm>
        <a:off x="807119" y="904628"/>
        <a:ext cx="5086631" cy="720307"/>
      </dsp:txXfrm>
    </dsp:sp>
    <dsp:sp modelId="{C061C951-9666-4147-95A5-046DC90291D2}">
      <dsp:nvSpPr>
        <dsp:cNvPr id="0" name=""/>
        <dsp:cNvSpPr/>
      </dsp:nvSpPr>
      <dsp:spPr>
        <a:xfrm>
          <a:off x="0" y="1805013"/>
          <a:ext cx="5906181" cy="69847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6DED8C-BD24-4DD2-94ED-13EC87DD43F4}">
      <dsp:nvSpPr>
        <dsp:cNvPr id="0" name=""/>
        <dsp:cNvSpPr/>
      </dsp:nvSpPr>
      <dsp:spPr>
        <a:xfrm>
          <a:off x="211290" y="1962171"/>
          <a:ext cx="384539" cy="3841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37FDD-CF9E-48D9-8C30-24BBF94573F0}">
      <dsp:nvSpPr>
        <dsp:cNvPr id="0" name=""/>
        <dsp:cNvSpPr/>
      </dsp:nvSpPr>
      <dsp:spPr>
        <a:xfrm>
          <a:off x="807119" y="1805013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	</a:t>
          </a:r>
          <a:r>
            <a:rPr lang="pl-PL" sz="1400" kern="1200" dirty="0"/>
            <a:t>identyfikacja zależności na etapie planowania </a:t>
          </a:r>
          <a:endParaRPr lang="en-US" sz="1400" kern="1200" dirty="0"/>
        </a:p>
      </dsp:txBody>
      <dsp:txXfrm>
        <a:off x="807119" y="1805013"/>
        <a:ext cx="5086631" cy="720307"/>
      </dsp:txXfrm>
    </dsp:sp>
    <dsp:sp modelId="{9363F7C1-EA57-411A-B2B0-E59B78466A0B}">
      <dsp:nvSpPr>
        <dsp:cNvPr id="0" name=""/>
        <dsp:cNvSpPr/>
      </dsp:nvSpPr>
      <dsp:spPr>
        <a:xfrm>
          <a:off x="0" y="2705397"/>
          <a:ext cx="5906181" cy="69847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1F24B5-703E-42F3-ABB8-82D81C817B9D}">
      <dsp:nvSpPr>
        <dsp:cNvPr id="0" name=""/>
        <dsp:cNvSpPr/>
      </dsp:nvSpPr>
      <dsp:spPr>
        <a:xfrm>
          <a:off x="211290" y="2862555"/>
          <a:ext cx="384539" cy="3841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6140A9-B7AF-4AB9-91DD-1F9A69EDAFAF}">
      <dsp:nvSpPr>
        <dsp:cNvPr id="0" name=""/>
        <dsp:cNvSpPr/>
      </dsp:nvSpPr>
      <dsp:spPr>
        <a:xfrm>
          <a:off x="807119" y="2705397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	</a:t>
          </a:r>
          <a:r>
            <a:rPr lang="pl-PL" sz="1400" kern="1200" dirty="0"/>
            <a:t>wizualizacja (np. diagramy) </a:t>
          </a:r>
          <a:endParaRPr lang="en-US" sz="1400" kern="1200" dirty="0"/>
        </a:p>
      </dsp:txBody>
      <dsp:txXfrm>
        <a:off x="807119" y="2705397"/>
        <a:ext cx="5086631" cy="720307"/>
      </dsp:txXfrm>
    </dsp:sp>
    <dsp:sp modelId="{6C76620D-1C46-4AF2-AAA7-5A9B7159A405}">
      <dsp:nvSpPr>
        <dsp:cNvPr id="0" name=""/>
        <dsp:cNvSpPr/>
      </dsp:nvSpPr>
      <dsp:spPr>
        <a:xfrm>
          <a:off x="0" y="3605781"/>
          <a:ext cx="5906181" cy="69847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BBC41-8BBD-45EC-8472-59D1984F8B12}">
      <dsp:nvSpPr>
        <dsp:cNvPr id="0" name=""/>
        <dsp:cNvSpPr/>
      </dsp:nvSpPr>
      <dsp:spPr>
        <a:xfrm>
          <a:off x="211290" y="3762939"/>
          <a:ext cx="384539" cy="38416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C2D1E-1185-491B-86BD-22272F189F59}">
      <dsp:nvSpPr>
        <dsp:cNvPr id="0" name=""/>
        <dsp:cNvSpPr/>
      </dsp:nvSpPr>
      <dsp:spPr>
        <a:xfrm>
          <a:off x="807119" y="3605781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	</a:t>
          </a:r>
          <a:r>
            <a:rPr lang="pl-PL" sz="1400" kern="1200" dirty="0"/>
            <a:t>monitorowanie postępu </a:t>
          </a:r>
          <a:endParaRPr lang="en-US" sz="1400" kern="1200" dirty="0"/>
        </a:p>
      </dsp:txBody>
      <dsp:txXfrm>
        <a:off x="807119" y="3605781"/>
        <a:ext cx="5086631" cy="720307"/>
      </dsp:txXfrm>
    </dsp:sp>
    <dsp:sp modelId="{0C5CC697-CC2E-40DF-8BED-79237C13D74B}">
      <dsp:nvSpPr>
        <dsp:cNvPr id="0" name=""/>
        <dsp:cNvSpPr/>
      </dsp:nvSpPr>
      <dsp:spPr>
        <a:xfrm>
          <a:off x="0" y="4506166"/>
          <a:ext cx="5906181" cy="69847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4546E-1F19-48F6-B341-B388D0B73422}">
      <dsp:nvSpPr>
        <dsp:cNvPr id="0" name=""/>
        <dsp:cNvSpPr/>
      </dsp:nvSpPr>
      <dsp:spPr>
        <a:xfrm>
          <a:off x="211290" y="4663324"/>
          <a:ext cx="384539" cy="38416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E9BE3-0BA5-476A-90DE-3C0E612D14B1}">
      <dsp:nvSpPr>
        <dsp:cNvPr id="0" name=""/>
        <dsp:cNvSpPr/>
      </dsp:nvSpPr>
      <dsp:spPr>
        <a:xfrm>
          <a:off x="807119" y="4506166"/>
          <a:ext cx="5086631" cy="7203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33" tIns="76233" rIns="76233" bIns="76233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	</a:t>
          </a:r>
          <a:r>
            <a:rPr lang="pl-PL" sz="1400" kern="1200" dirty="0"/>
            <a:t>szybka reakcja na opóźnienia</a:t>
          </a:r>
          <a:endParaRPr lang="en-US" sz="1400" kern="1200" dirty="0"/>
        </a:p>
      </dsp:txBody>
      <dsp:txXfrm>
        <a:off x="807119" y="4506166"/>
        <a:ext cx="5086631" cy="72030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505D9-AF7D-4D57-AFFB-5F15BD7F6C36}">
      <dsp:nvSpPr>
        <dsp:cNvPr id="0" name=""/>
        <dsp:cNvSpPr/>
      </dsp:nvSpPr>
      <dsp:spPr>
        <a:xfrm>
          <a:off x="0" y="42371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Planowanie falowe polega na:</a:t>
          </a:r>
          <a:endParaRPr lang="en-US" sz="3600" kern="1200"/>
        </a:p>
      </dsp:txBody>
      <dsp:txXfrm>
        <a:off x="42151" y="84522"/>
        <a:ext cx="9974097" cy="779158"/>
      </dsp:txXfrm>
    </dsp:sp>
    <dsp:sp modelId="{EF308366-404F-4D9A-A0A6-6565C20A8062}">
      <dsp:nvSpPr>
        <dsp:cNvPr id="0" name=""/>
        <dsp:cNvSpPr/>
      </dsp:nvSpPr>
      <dsp:spPr>
        <a:xfrm>
          <a:off x="0" y="1009512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planowaniu szczegółowym najbliższych zadań,</a:t>
          </a:r>
          <a:endParaRPr lang="en-US" sz="3600" kern="1200"/>
        </a:p>
      </dsp:txBody>
      <dsp:txXfrm>
        <a:off x="42151" y="1051663"/>
        <a:ext cx="9974097" cy="779158"/>
      </dsp:txXfrm>
    </dsp:sp>
    <dsp:sp modelId="{EACA0FFF-433F-42A0-B2C2-59BE41B44075}">
      <dsp:nvSpPr>
        <dsp:cNvPr id="0" name=""/>
        <dsp:cNvSpPr/>
      </dsp:nvSpPr>
      <dsp:spPr>
        <a:xfrm>
          <a:off x="0" y="1976652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pozostawieniu dalszych etapów w formie ogólnej,</a:t>
          </a:r>
          <a:endParaRPr lang="en-US" sz="3600" kern="1200"/>
        </a:p>
      </dsp:txBody>
      <dsp:txXfrm>
        <a:off x="42151" y="2018803"/>
        <a:ext cx="9974097" cy="779158"/>
      </dsp:txXfrm>
    </dsp:sp>
    <dsp:sp modelId="{C1934C2F-5895-479B-B4EA-A25A9618457E}">
      <dsp:nvSpPr>
        <dsp:cNvPr id="0" name=""/>
        <dsp:cNvSpPr/>
      </dsp:nvSpPr>
      <dsp:spPr>
        <a:xfrm>
          <a:off x="0" y="2943791"/>
          <a:ext cx="10058399" cy="8634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600" kern="1200"/>
            <a:t>stopniowym doprecyzowywaniu planu w czasie.</a:t>
          </a:r>
          <a:endParaRPr lang="en-US" sz="3600" kern="1200"/>
        </a:p>
      </dsp:txBody>
      <dsp:txXfrm>
        <a:off x="42151" y="2985942"/>
        <a:ext cx="9974097" cy="7791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70616C-C2A8-4263-8339-60C60DADC7C7}">
      <dsp:nvSpPr>
        <dsp:cNvPr id="0" name=""/>
        <dsp:cNvSpPr/>
      </dsp:nvSpPr>
      <dsp:spPr>
        <a:xfrm>
          <a:off x="1227" y="267023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FD7CA9C-4082-48CB-B0C3-73FC4BE6FF6B}">
      <dsp:nvSpPr>
        <dsp:cNvPr id="0" name=""/>
        <dsp:cNvSpPr/>
      </dsp:nvSpPr>
      <dsp:spPr>
        <a:xfrm>
          <a:off x="480082" y="721935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/>
            <a:t>Crashing:</a:t>
          </a:r>
          <a:br>
            <a:rPr lang="pl-PL" sz="3900" kern="1200"/>
          </a:br>
          <a:r>
            <a:rPr lang="pl-PL" sz="3900" kern="1200"/>
            <a:t>dodanie zasobów, aby przyspieszyć zadanie</a:t>
          </a:r>
          <a:endParaRPr lang="en-US" sz="3900" kern="1200"/>
        </a:p>
      </dsp:txBody>
      <dsp:txXfrm>
        <a:off x="560236" y="802089"/>
        <a:ext cx="4149382" cy="2576345"/>
      </dsp:txXfrm>
    </dsp:sp>
    <dsp:sp modelId="{988CA1E9-CAC5-418C-93A6-F651DB0F39F6}">
      <dsp:nvSpPr>
        <dsp:cNvPr id="0" name=""/>
        <dsp:cNvSpPr/>
      </dsp:nvSpPr>
      <dsp:spPr>
        <a:xfrm>
          <a:off x="5268627" y="267023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F43C692-898D-42F9-8606-6F76F435AA0D}">
      <dsp:nvSpPr>
        <dsp:cNvPr id="0" name=""/>
        <dsp:cNvSpPr/>
      </dsp:nvSpPr>
      <dsp:spPr>
        <a:xfrm>
          <a:off x="5747481" y="721935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3900" kern="1200"/>
            <a:t>Fast tracking:</a:t>
          </a:r>
          <a:br>
            <a:rPr lang="pl-PL" sz="3900" kern="1200"/>
          </a:br>
          <a:r>
            <a:rPr lang="pl-PL" sz="3900" kern="1200"/>
            <a:t>wykonywanie zadań równolegle zamiast sekwencyjnie</a:t>
          </a:r>
          <a:endParaRPr lang="en-US" sz="3900" kern="1200"/>
        </a:p>
      </dsp:txBody>
      <dsp:txXfrm>
        <a:off x="5827635" y="802089"/>
        <a:ext cx="4149382" cy="25763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F82D62-F4C7-4365-A193-578FBDA0B650}">
      <dsp:nvSpPr>
        <dsp:cNvPr id="0" name=""/>
        <dsp:cNvSpPr/>
      </dsp:nvSpPr>
      <dsp:spPr>
        <a:xfrm>
          <a:off x="0" y="0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 dirty="0"/>
            <a:t>Szacowanie relatywne polega na:</a:t>
          </a:r>
          <a:endParaRPr lang="en-US" sz="2900" kern="1200" dirty="0"/>
        </a:p>
      </dsp:txBody>
      <dsp:txXfrm>
        <a:off x="24006" y="24006"/>
        <a:ext cx="7093011" cy="771622"/>
      </dsp:txXfrm>
    </dsp:sp>
    <dsp:sp modelId="{8873FFE7-2A02-4CB7-B9D4-5751C109DB32}">
      <dsp:nvSpPr>
        <dsp:cNvPr id="0" name=""/>
        <dsp:cNvSpPr/>
      </dsp:nvSpPr>
      <dsp:spPr>
        <a:xfrm>
          <a:off x="673912" y="968659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373730"/>
            <a:satOff val="-16788"/>
            <a:lumOff val="22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porównywaniu zadań względem siebie,</a:t>
          </a:r>
          <a:endParaRPr lang="en-US" sz="2900" kern="1200"/>
        </a:p>
      </dsp:txBody>
      <dsp:txXfrm>
        <a:off x="697918" y="992665"/>
        <a:ext cx="6792032" cy="771622"/>
      </dsp:txXfrm>
    </dsp:sp>
    <dsp:sp modelId="{C6BBCA27-BCE6-4312-8574-209C9AB48E5B}">
      <dsp:nvSpPr>
        <dsp:cNvPr id="0" name=""/>
        <dsp:cNvSpPr/>
      </dsp:nvSpPr>
      <dsp:spPr>
        <a:xfrm>
          <a:off x="1337767" y="1937318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747461"/>
            <a:satOff val="-33577"/>
            <a:lumOff val="44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ocenie ich złożoności, a nie czasu,</a:t>
          </a:r>
          <a:endParaRPr lang="en-US" sz="2900" kern="1200"/>
        </a:p>
      </dsp:txBody>
      <dsp:txXfrm>
        <a:off x="1361773" y="1961324"/>
        <a:ext cx="6802091" cy="771622"/>
      </dsp:txXfrm>
    </dsp:sp>
    <dsp:sp modelId="{C5FFF12A-EA2D-4F40-8394-BB24F236A687}">
      <dsp:nvSpPr>
        <dsp:cNvPr id="0" name=""/>
        <dsp:cNvSpPr/>
      </dsp:nvSpPr>
      <dsp:spPr>
        <a:xfrm>
          <a:off x="2011680" y="2905977"/>
          <a:ext cx="8046720" cy="819634"/>
        </a:xfrm>
        <a:prstGeom prst="roundRect">
          <a:avLst>
            <a:gd name="adj" fmla="val 10000"/>
          </a:avLst>
        </a:prstGeom>
        <a:solidFill>
          <a:schemeClr val="accent2">
            <a:hueOff val="1121191"/>
            <a:satOff val="-50365"/>
            <a:lumOff val="666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900" kern="1200"/>
            <a:t>stosowaniu jednostek takich jak Story Points.</a:t>
          </a:r>
          <a:endParaRPr lang="en-US" sz="2900" kern="1200"/>
        </a:p>
      </dsp:txBody>
      <dsp:txXfrm>
        <a:off x="2035686" y="2929983"/>
        <a:ext cx="6792032" cy="771622"/>
      </dsp:txXfrm>
    </dsp:sp>
    <dsp:sp modelId="{BB966ED7-F255-407F-A75F-D00FDC11FF3C}">
      <dsp:nvSpPr>
        <dsp:cNvPr id="0" name=""/>
        <dsp:cNvSpPr/>
      </dsp:nvSpPr>
      <dsp:spPr>
        <a:xfrm>
          <a:off x="7513957" y="627765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33828" y="627765"/>
        <a:ext cx="293020" cy="400903"/>
      </dsp:txXfrm>
    </dsp:sp>
    <dsp:sp modelId="{B3AAB52A-0F98-47F7-A38A-703977149341}">
      <dsp:nvSpPr>
        <dsp:cNvPr id="0" name=""/>
        <dsp:cNvSpPr/>
      </dsp:nvSpPr>
      <dsp:spPr>
        <a:xfrm>
          <a:off x="8187870" y="1596424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81989"/>
            <a:satOff val="-14696"/>
            <a:lumOff val="-4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781989"/>
              <a:satOff val="-14696"/>
              <a:lumOff val="-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07741" y="1596424"/>
        <a:ext cx="293020" cy="400903"/>
      </dsp:txXfrm>
    </dsp:sp>
    <dsp:sp modelId="{59211B07-2128-4807-8BB0-56EFB229B538}">
      <dsp:nvSpPr>
        <dsp:cNvPr id="0" name=""/>
        <dsp:cNvSpPr/>
      </dsp:nvSpPr>
      <dsp:spPr>
        <a:xfrm>
          <a:off x="8851724" y="2565083"/>
          <a:ext cx="532762" cy="532762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563978"/>
            <a:satOff val="-29393"/>
            <a:lumOff val="-878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563978"/>
              <a:satOff val="-29393"/>
              <a:lumOff val="-8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71595" y="2565083"/>
        <a:ext cx="293020" cy="40090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E53FC-3DCD-4863-B9BA-7A7F2DCCA759}">
      <dsp:nvSpPr>
        <dsp:cNvPr id="0" name=""/>
        <dsp:cNvSpPr/>
      </dsp:nvSpPr>
      <dsp:spPr>
        <a:xfrm>
          <a:off x="785" y="0"/>
          <a:ext cx="3182540" cy="37256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To bardzo ważne pojęcia w harmonogramie, które pozwalają lepiej modelować rzeczywistość projektu</a:t>
          </a:r>
          <a:endParaRPr lang="en-US" sz="2300" kern="1200"/>
        </a:p>
      </dsp:txBody>
      <dsp:txXfrm>
        <a:off x="785" y="1490244"/>
        <a:ext cx="3182540" cy="2235367"/>
      </dsp:txXfrm>
    </dsp:sp>
    <dsp:sp modelId="{55B58A89-5524-4E8D-B047-A4A6964536C3}">
      <dsp:nvSpPr>
        <dsp:cNvPr id="0" name=""/>
        <dsp:cNvSpPr/>
      </dsp:nvSpPr>
      <dsp:spPr>
        <a:xfrm>
          <a:off x="785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785" y="0"/>
        <a:ext cx="3182540" cy="1490244"/>
      </dsp:txXfrm>
    </dsp:sp>
    <dsp:sp modelId="{82189710-10C6-4C29-B5A1-C8314BF851B7}">
      <dsp:nvSpPr>
        <dsp:cNvPr id="0" name=""/>
        <dsp:cNvSpPr/>
      </dsp:nvSpPr>
      <dsp:spPr>
        <a:xfrm>
          <a:off x="3437929" y="0"/>
          <a:ext cx="3182540" cy="37256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Lead: rozpoczęcie zadania przed zakończeniem poprzedniego</a:t>
          </a:r>
          <a:endParaRPr lang="en-US" sz="2300" kern="1200"/>
        </a:p>
      </dsp:txBody>
      <dsp:txXfrm>
        <a:off x="3437929" y="1490244"/>
        <a:ext cx="3182540" cy="2235367"/>
      </dsp:txXfrm>
    </dsp:sp>
    <dsp:sp modelId="{8035B0E1-32DF-4107-8E15-D5CDAD996B2E}">
      <dsp:nvSpPr>
        <dsp:cNvPr id="0" name=""/>
        <dsp:cNvSpPr/>
      </dsp:nvSpPr>
      <dsp:spPr>
        <a:xfrm>
          <a:off x="3437929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437929" y="0"/>
        <a:ext cx="3182540" cy="1490244"/>
      </dsp:txXfrm>
    </dsp:sp>
    <dsp:sp modelId="{E9E2E691-165F-432B-95E8-4B81B9451B65}">
      <dsp:nvSpPr>
        <dsp:cNvPr id="0" name=""/>
        <dsp:cNvSpPr/>
      </dsp:nvSpPr>
      <dsp:spPr>
        <a:xfrm>
          <a:off x="6875073" y="0"/>
          <a:ext cx="3182540" cy="37256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0" rIns="314364" bIns="33020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300" kern="1200"/>
            <a:t>Lag: opóźnienie między zadaniami</a:t>
          </a:r>
          <a:endParaRPr lang="en-US" sz="2300" kern="1200"/>
        </a:p>
      </dsp:txBody>
      <dsp:txXfrm>
        <a:off x="6875073" y="1490244"/>
        <a:ext cx="3182540" cy="2235367"/>
      </dsp:txXfrm>
    </dsp:sp>
    <dsp:sp modelId="{E556F7C1-F931-45B8-BB9D-5D20ACBDB933}">
      <dsp:nvSpPr>
        <dsp:cNvPr id="0" name=""/>
        <dsp:cNvSpPr/>
      </dsp:nvSpPr>
      <dsp:spPr>
        <a:xfrm>
          <a:off x="6875073" y="0"/>
          <a:ext cx="3182540" cy="1490244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14364" tIns="165100" rIns="31436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6875073" y="0"/>
        <a:ext cx="3182540" cy="149024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2AA4E-A81B-4BD3-9AD8-48A3E41F77B2}">
      <dsp:nvSpPr>
        <dsp:cNvPr id="0" name=""/>
        <dsp:cNvSpPr/>
      </dsp:nvSpPr>
      <dsp:spPr>
        <a:xfrm>
          <a:off x="1227" y="267023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9E8B7F-B2E2-44E6-8F4B-EC6AC52AEFAF}">
      <dsp:nvSpPr>
        <dsp:cNvPr id="0" name=""/>
        <dsp:cNvSpPr/>
      </dsp:nvSpPr>
      <dsp:spPr>
        <a:xfrm>
          <a:off x="480082" y="721935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/>
            <a:t>Precyzja </a:t>
          </a:r>
          <a:r>
            <a:rPr lang="en-US" sz="5000" kern="1200"/>
            <a:t>to</a:t>
          </a:r>
          <a:r>
            <a:rPr lang="pl-PL" sz="5000" kern="1200"/>
            <a:t> powtarzalność wyników</a:t>
          </a:r>
          <a:endParaRPr lang="en-US" sz="5000" kern="1200"/>
        </a:p>
      </dsp:txBody>
      <dsp:txXfrm>
        <a:off x="560236" y="802089"/>
        <a:ext cx="4149382" cy="2576345"/>
      </dsp:txXfrm>
    </dsp:sp>
    <dsp:sp modelId="{8A941D81-FBB3-4511-A1B7-3F9589AA0D51}">
      <dsp:nvSpPr>
        <dsp:cNvPr id="0" name=""/>
        <dsp:cNvSpPr/>
      </dsp:nvSpPr>
      <dsp:spPr>
        <a:xfrm>
          <a:off x="5268627" y="267023"/>
          <a:ext cx="4309690" cy="273665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B5442EC-4FA8-4D04-9F67-985E824CFDCE}">
      <dsp:nvSpPr>
        <dsp:cNvPr id="0" name=""/>
        <dsp:cNvSpPr/>
      </dsp:nvSpPr>
      <dsp:spPr>
        <a:xfrm>
          <a:off x="5747481" y="721935"/>
          <a:ext cx="4309690" cy="273665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5000" kern="1200"/>
            <a:t>Dokładność </a:t>
          </a:r>
          <a:r>
            <a:rPr lang="en-US" sz="5000" kern="1200"/>
            <a:t>to</a:t>
          </a:r>
          <a:r>
            <a:rPr lang="pl-PL" sz="5000" kern="1200"/>
            <a:t> zgodność z rzeczywistością</a:t>
          </a:r>
          <a:endParaRPr lang="en-US" sz="5000" kern="1200"/>
        </a:p>
      </dsp:txBody>
      <dsp:txXfrm>
        <a:off x="5827635" y="802089"/>
        <a:ext cx="4149382" cy="25763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66E66F-AEF9-4A43-8631-78B90763261A}">
      <dsp:nvSpPr>
        <dsp:cNvPr id="0" name=""/>
        <dsp:cNvSpPr/>
      </dsp:nvSpPr>
      <dsp:spPr>
        <a:xfrm>
          <a:off x="0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A0D9D2-A0ED-456C-9683-C872ED975FF7}">
      <dsp:nvSpPr>
        <dsp:cNvPr id="0" name=""/>
        <dsp:cNvSpPr/>
      </dsp:nvSpPr>
      <dsp:spPr>
        <a:xfrm>
          <a:off x="314325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Nie da się zaplanować wszystkiego. Dlatego w projektach stosuje się rezerwy </a:t>
          </a:r>
          <a:r>
            <a:rPr lang="en-US" sz="2200" kern="1200"/>
            <a:t>jako</a:t>
          </a:r>
          <a:r>
            <a:rPr lang="pl-PL" sz="2200" kern="1200"/>
            <a:t> bufor bezpieczeństwa.</a:t>
          </a:r>
          <a:endParaRPr lang="en-US" sz="2200" kern="1200"/>
        </a:p>
      </dsp:txBody>
      <dsp:txXfrm>
        <a:off x="366939" y="1166540"/>
        <a:ext cx="2723696" cy="1691139"/>
      </dsp:txXfrm>
    </dsp:sp>
    <dsp:sp modelId="{5AFF8C02-187B-43BC-B190-C2408D9F46E8}">
      <dsp:nvSpPr>
        <dsp:cNvPr id="0" name=""/>
        <dsp:cNvSpPr/>
      </dsp:nvSpPr>
      <dsp:spPr>
        <a:xfrm>
          <a:off x="3457574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CBF2ACF-2ABB-40D5-840D-878C55013821}">
      <dsp:nvSpPr>
        <dsp:cNvPr id="0" name=""/>
        <dsp:cNvSpPr/>
      </dsp:nvSpPr>
      <dsp:spPr>
        <a:xfrm>
          <a:off x="3771899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Contingency reserve:</a:t>
          </a:r>
          <a:br>
            <a:rPr lang="pl-PL" sz="2200" kern="1200"/>
          </a:br>
          <a:r>
            <a:rPr lang="pl-PL" sz="2200" kern="1200"/>
            <a:t>rezerwa na znane ryzyka</a:t>
          </a:r>
          <a:endParaRPr lang="en-US" sz="2200" kern="1200"/>
        </a:p>
      </dsp:txBody>
      <dsp:txXfrm>
        <a:off x="3824513" y="1166540"/>
        <a:ext cx="2723696" cy="1691139"/>
      </dsp:txXfrm>
    </dsp:sp>
    <dsp:sp modelId="{6E93C31B-730E-4980-8CFC-AD3A802038C0}">
      <dsp:nvSpPr>
        <dsp:cNvPr id="0" name=""/>
        <dsp:cNvSpPr/>
      </dsp:nvSpPr>
      <dsp:spPr>
        <a:xfrm>
          <a:off x="6915149" y="815317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51F6041-0B56-4F49-A047-2B11E57406CC}">
      <dsp:nvSpPr>
        <dsp:cNvPr id="0" name=""/>
        <dsp:cNvSpPr/>
      </dsp:nvSpPr>
      <dsp:spPr>
        <a:xfrm>
          <a:off x="7229475" y="1113926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200" kern="1200"/>
            <a:t>Management reserve:</a:t>
          </a:r>
          <a:br>
            <a:rPr lang="pl-PL" sz="2200" kern="1200"/>
          </a:br>
          <a:r>
            <a:rPr lang="pl-PL" sz="2200" kern="1200"/>
            <a:t>rezerwa na nieprzewidziane zdarzenia</a:t>
          </a:r>
          <a:endParaRPr lang="en-US" sz="2200" kern="1200"/>
        </a:p>
      </dsp:txBody>
      <dsp:txXfrm>
        <a:off x="7282089" y="1166540"/>
        <a:ext cx="2723696" cy="16911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94BBB8-BB50-4595-A4B3-C73F13C1B43C}">
      <dsp:nvSpPr>
        <dsp:cNvPr id="0" name=""/>
        <dsp:cNvSpPr/>
      </dsp:nvSpPr>
      <dsp:spPr>
        <a:xfrm>
          <a:off x="606057" y="430"/>
          <a:ext cx="2327969" cy="139678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Projekt Oil:</a:t>
          </a:r>
          <a:endParaRPr lang="en-US" sz="2100" kern="1200"/>
        </a:p>
      </dsp:txBody>
      <dsp:txXfrm>
        <a:off x="646967" y="41340"/>
        <a:ext cx="2246149" cy="1314961"/>
      </dsp:txXfrm>
    </dsp:sp>
    <dsp:sp modelId="{2CE90B05-6A98-43AD-B271-F5F3F312681E}">
      <dsp:nvSpPr>
        <dsp:cNvPr id="0" name=""/>
        <dsp:cNvSpPr/>
      </dsp:nvSpPr>
      <dsp:spPr>
        <a:xfrm>
          <a:off x="3138888" y="410153"/>
          <a:ext cx="493529" cy="5773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3138888" y="525620"/>
        <a:ext cx="345470" cy="346402"/>
      </dsp:txXfrm>
    </dsp:sp>
    <dsp:sp modelId="{1938FDB9-7B39-4C21-B48C-3C0EDCFAA4D1}">
      <dsp:nvSpPr>
        <dsp:cNvPr id="0" name=""/>
        <dsp:cNvSpPr/>
      </dsp:nvSpPr>
      <dsp:spPr>
        <a:xfrm>
          <a:off x="3865215" y="430"/>
          <a:ext cx="2327969" cy="139678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rozpoczął się od planu </a:t>
          </a:r>
          <a:endParaRPr lang="en-US" sz="2100" kern="1200"/>
        </a:p>
      </dsp:txBody>
      <dsp:txXfrm>
        <a:off x="3906125" y="41340"/>
        <a:ext cx="2246149" cy="1314961"/>
      </dsp:txXfrm>
    </dsp:sp>
    <dsp:sp modelId="{5F57406E-A645-403C-92E1-B3FBB475ED00}">
      <dsp:nvSpPr>
        <dsp:cNvPr id="0" name=""/>
        <dsp:cNvSpPr/>
      </dsp:nvSpPr>
      <dsp:spPr>
        <a:xfrm>
          <a:off x="6398046" y="410153"/>
          <a:ext cx="493529" cy="5773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398046" y="525620"/>
        <a:ext cx="345470" cy="346402"/>
      </dsp:txXfrm>
    </dsp:sp>
    <dsp:sp modelId="{78C60F1E-461E-46B3-81F3-FEDF048783CA}">
      <dsp:nvSpPr>
        <dsp:cNvPr id="0" name=""/>
        <dsp:cNvSpPr/>
      </dsp:nvSpPr>
      <dsp:spPr>
        <a:xfrm>
          <a:off x="7124372" y="430"/>
          <a:ext cx="2327969" cy="139678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przeszedł przez zmiany i problemy </a:t>
          </a:r>
          <a:endParaRPr lang="en-US" sz="2100" kern="1200"/>
        </a:p>
      </dsp:txBody>
      <dsp:txXfrm>
        <a:off x="7165282" y="41340"/>
        <a:ext cx="2246149" cy="1314961"/>
      </dsp:txXfrm>
    </dsp:sp>
    <dsp:sp modelId="{B0CD6EB8-965A-410D-A2F8-729F56F75AD8}">
      <dsp:nvSpPr>
        <dsp:cNvPr id="0" name=""/>
        <dsp:cNvSpPr/>
      </dsp:nvSpPr>
      <dsp:spPr>
        <a:xfrm rot="5400000">
          <a:off x="8041592" y="1560169"/>
          <a:ext cx="493529" cy="5773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8115156" y="1602073"/>
        <a:ext cx="346402" cy="345470"/>
      </dsp:txXfrm>
    </dsp:sp>
    <dsp:sp modelId="{B3AFF80D-B8A1-4F0D-A4DD-813D52C37EE5}">
      <dsp:nvSpPr>
        <dsp:cNvPr id="0" name=""/>
        <dsp:cNvSpPr/>
      </dsp:nvSpPr>
      <dsp:spPr>
        <a:xfrm>
          <a:off x="7124372" y="2328399"/>
          <a:ext cx="2327969" cy="139678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wymagał elastyczności i adaptacji </a:t>
          </a:r>
          <a:endParaRPr lang="en-US" sz="2100" kern="1200"/>
        </a:p>
      </dsp:txBody>
      <dsp:txXfrm>
        <a:off x="7165282" y="2369309"/>
        <a:ext cx="2246149" cy="1314961"/>
      </dsp:txXfrm>
    </dsp:sp>
    <dsp:sp modelId="{CA08A753-A3DF-4B20-9207-ABA70077224B}">
      <dsp:nvSpPr>
        <dsp:cNvPr id="0" name=""/>
        <dsp:cNvSpPr/>
      </dsp:nvSpPr>
      <dsp:spPr>
        <a:xfrm rot="10800000">
          <a:off x="6425981" y="2738122"/>
          <a:ext cx="493529" cy="5773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10800000">
        <a:off x="6574040" y="2853589"/>
        <a:ext cx="345470" cy="346402"/>
      </dsp:txXfrm>
    </dsp:sp>
    <dsp:sp modelId="{2B5CBE8D-3F84-42F3-B5DF-B8D1337DB72A}">
      <dsp:nvSpPr>
        <dsp:cNvPr id="0" name=""/>
        <dsp:cNvSpPr/>
      </dsp:nvSpPr>
      <dsp:spPr>
        <a:xfrm>
          <a:off x="3865215" y="2328399"/>
          <a:ext cx="2327969" cy="1396781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l-PL" sz="2100" kern="1200"/>
            <a:t>zakończył się dzięki świadomemu zarządzaniu</a:t>
          </a:r>
          <a:endParaRPr lang="en-US" sz="2100" kern="1200"/>
        </a:p>
      </dsp:txBody>
      <dsp:txXfrm>
        <a:off x="3906125" y="2369309"/>
        <a:ext cx="2246149" cy="13149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821D00-018B-4FE1-9655-E60BA897FB0E}" type="datetimeFigureOut">
              <a:rPr lang="pl-PL" smtClean="0"/>
              <a:t>28.03.2026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C15C2-4723-4E68-A05A-85C9AA3E540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43839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Temat </a:t>
            </a:r>
            <a:r>
              <a:rPr lang="en-US" dirty="0" err="1"/>
              <a:t>prezentacji</a:t>
            </a:r>
            <a:r>
              <a:rPr lang="en-US" dirty="0"/>
              <a:t>: jak </a:t>
            </a:r>
            <a:r>
              <a:rPr lang="pl-PL" dirty="0"/>
              <a:t>wygląda proces planowania projektu IT na przykładzie firmy </a:t>
            </a:r>
            <a:r>
              <a:rPr lang="pl-PL" dirty="0" err="1"/>
              <a:t>Oil</a:t>
            </a:r>
            <a:r>
              <a:rPr lang="pl-PL" dirty="0"/>
              <a:t>, która tworzy oprogramowanie sprzedażowe dla stacji paliw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3039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EB30-35A7-78A0-977C-E8DFCBD4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00B4EB1-E714-3751-05A6-13CDED57C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7E22205-62FB-74E7-482E-047F8DE28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Temat </a:t>
            </a:r>
            <a:r>
              <a:rPr lang="en-US" dirty="0" err="1"/>
              <a:t>prezentacji</a:t>
            </a:r>
            <a:r>
              <a:rPr lang="en-US" dirty="0"/>
              <a:t>: jak </a:t>
            </a:r>
            <a:r>
              <a:rPr lang="pl-PL" dirty="0"/>
              <a:t>wygląda proces planowania projektu IT na przykładzie firmy </a:t>
            </a:r>
            <a:r>
              <a:rPr lang="pl-PL" dirty="0" err="1"/>
              <a:t>Oil</a:t>
            </a:r>
            <a:r>
              <a:rPr lang="pl-PL" dirty="0"/>
              <a:t>, która tworzy oprogramowanie sprzedażowe dla stacji paliw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B11C1B0-B9A1-83AA-DE21-38D2E026E5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57034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FA97-FA7A-2F96-C32E-2572E69AB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7A71570E-F671-FC1C-3876-82E6F5BFB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547C82C7-E288-85D1-8CCC-26101CDB4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Plan projektu to fundament całej pracy. Bez niego zespół działa chaotycznie, a projekt jest trudny do kontrolowania.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https://mfiles.pl/pl/index.php/Plan_projektu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9C31FC8-FCB9-6E79-00B5-2286E775B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84017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26DCD-88D7-52DE-A36F-852425F3F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E702FF13-7C44-F9EB-74E2-03975E49F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5153AD5-DF6B-3D01-9574-9A65F3427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plan projektu obejmuje nie tylko zadania, ale też sposób pracy zespołu i reagowania na problem</a:t>
            </a:r>
            <a:r>
              <a:rPr lang="en-US" dirty="0"/>
              <a:t>:</a:t>
            </a:r>
          </a:p>
          <a:p>
            <a:r>
              <a:rPr lang="pl-PL" dirty="0"/>
              <a:t>zakres: system sprzedaży i lojalności </a:t>
            </a:r>
            <a:endParaRPr lang="en-US" dirty="0"/>
          </a:p>
          <a:p>
            <a:r>
              <a:rPr lang="pl-PL" dirty="0"/>
              <a:t>cel: zwiększenie sprzedaży i automatyzacja procesów </a:t>
            </a:r>
            <a:endParaRPr lang="en-US" dirty="0"/>
          </a:p>
          <a:p>
            <a:r>
              <a:rPr lang="pl-PL" dirty="0"/>
              <a:t>czas realizacji: 6 miesięcy </a:t>
            </a:r>
            <a:endParaRPr lang="en-US" dirty="0"/>
          </a:p>
          <a:p>
            <a:r>
              <a:rPr lang="pl-PL" dirty="0"/>
              <a:t>zespół: 8 osób</a:t>
            </a:r>
            <a:endParaRPr lang="en-US" dirty="0"/>
          </a:p>
          <a:p>
            <a:r>
              <a:rPr lang="en-US" dirty="0"/>
              <a:t>W </a:t>
            </a:r>
            <a:r>
              <a:rPr lang="en-US" dirty="0" err="1"/>
              <a:t>skrócie</a:t>
            </a:r>
            <a:r>
              <a:rPr lang="en-US" dirty="0"/>
              <a:t>: d</a:t>
            </a:r>
            <a:r>
              <a:rPr lang="pl-PL" dirty="0" err="1"/>
              <a:t>zięki</a:t>
            </a:r>
            <a:r>
              <a:rPr lang="pl-PL" dirty="0"/>
              <a:t> planowi </a:t>
            </a:r>
            <a:r>
              <a:rPr lang="pl-PL" dirty="0" err="1"/>
              <a:t>Oil</a:t>
            </a:r>
            <a:r>
              <a:rPr lang="pl-PL" dirty="0"/>
              <a:t> wie, co chce osiągnąć, w jakim czasie i jakimi zasobami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https://mfiles.pl/pl/index.php/Plan_projektu</a:t>
            </a:r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955A55C-7E98-C856-CA2E-16A250FDA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98275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Cele SMART pozwalają uniknąć niejasności i sprawiają, że zespół dokładnie wie, do czego dąży</a:t>
            </a:r>
            <a:r>
              <a:rPr lang="en-US" dirty="0"/>
              <a:t>.</a:t>
            </a:r>
          </a:p>
          <a:p>
            <a:r>
              <a:rPr lang="en-US" dirty="0"/>
              <a:t>W Oil nie ma celu “</a:t>
            </a:r>
            <a:r>
              <a:rPr lang="en-US" dirty="0" err="1"/>
              <a:t>poprawić</a:t>
            </a:r>
            <a:r>
              <a:rPr lang="en-US" dirty="0"/>
              <a:t> </a:t>
            </a:r>
            <a:r>
              <a:rPr lang="en-US" dirty="0" err="1"/>
              <a:t>sprzedaż</a:t>
            </a:r>
            <a:r>
              <a:rPr lang="en-US" dirty="0"/>
              <a:t>”, jest cel “</a:t>
            </a:r>
            <a:r>
              <a:rPr lang="pl-PL" dirty="0"/>
              <a:t>zwiększyć sprzedaż o 15% w ciągu 6 miesięcy dzięki wdrożeniu systemu lojalnościowego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pl-PL" dirty="0"/>
              <a:t>https://sklep-allboards.pl/blog/cele-smart?srsltid=AfmBOopLB0CBXotBWrpcJ560yoNaGZm9EvepvSaunLFbwMl0SUI_Af6o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78213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 </a:t>
            </a:r>
            <a:r>
              <a:rPr lang="en-US" dirty="0" err="1"/>
              <a:t>ciekawe</a:t>
            </a:r>
            <a:r>
              <a:rPr lang="en-US" dirty="0"/>
              <a:t> </a:t>
            </a:r>
            <a:r>
              <a:rPr lang="en-US" dirty="0" err="1"/>
              <a:t>przykłady</a:t>
            </a:r>
            <a:r>
              <a:rPr lang="en-US" dirty="0"/>
              <a:t> SMART: </a:t>
            </a:r>
            <a:r>
              <a:rPr lang="en-US" dirty="0" err="1"/>
              <a:t>zaczynanie</a:t>
            </a:r>
            <a:r>
              <a:rPr lang="en-US" dirty="0"/>
              <a:t> </a:t>
            </a:r>
            <a:r>
              <a:rPr lang="en-US" dirty="0" err="1"/>
              <a:t>biegania</a:t>
            </a:r>
            <a:r>
              <a:rPr lang="en-US" dirty="0"/>
              <a:t> i </a:t>
            </a:r>
            <a:r>
              <a:rPr lang="en-US" dirty="0" err="1"/>
              <a:t>pisanie</a:t>
            </a:r>
            <a:r>
              <a:rPr lang="en-US" dirty="0"/>
              <a:t> </a:t>
            </a:r>
            <a:r>
              <a:rPr lang="en-US" dirty="0" err="1"/>
              <a:t>pracy</a:t>
            </a:r>
            <a:r>
              <a:rPr lang="en-US" dirty="0"/>
              <a:t> </a:t>
            </a:r>
            <a:r>
              <a:rPr lang="en-US" dirty="0" err="1"/>
              <a:t>magisterskiej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https://abk.umed.pl/krok-1-metoda-smarter/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7273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https://abk.umed.pl/krok-1-metoda-smarter/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6186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WBS (</a:t>
            </a:r>
            <a:r>
              <a:rPr lang="pl-PL" dirty="0" err="1"/>
              <a:t>Work</a:t>
            </a:r>
            <a:r>
              <a:rPr lang="pl-PL" dirty="0"/>
              <a:t> </a:t>
            </a:r>
            <a:r>
              <a:rPr lang="pl-PL" dirty="0" err="1"/>
              <a:t>Breakdown</a:t>
            </a:r>
            <a:r>
              <a:rPr lang="pl-PL" dirty="0"/>
              <a:t> </a:t>
            </a:r>
            <a:r>
              <a:rPr lang="pl-PL" dirty="0" err="1"/>
              <a:t>Structure</a:t>
            </a:r>
            <a:r>
              <a:rPr lang="pl-PL" dirty="0"/>
              <a:t>) to:</a:t>
            </a:r>
          </a:p>
          <a:p>
            <a:r>
              <a:rPr lang="en-US" dirty="0"/>
              <a:t>- </a:t>
            </a:r>
            <a:r>
              <a:rPr lang="pl-PL" dirty="0"/>
              <a:t>podział projektu na mniejsze elementy </a:t>
            </a:r>
          </a:p>
          <a:p>
            <a:r>
              <a:rPr lang="en-US" dirty="0"/>
              <a:t>- </a:t>
            </a:r>
            <a:r>
              <a:rPr lang="pl-PL" dirty="0"/>
              <a:t>hierarchiczna struktura zadań </a:t>
            </a:r>
          </a:p>
          <a:p>
            <a:r>
              <a:rPr lang="en-US" dirty="0"/>
              <a:t>- </a:t>
            </a:r>
            <a:r>
              <a:rPr lang="pl-PL" dirty="0"/>
              <a:t>narzędzie organizacji pracy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https://t2informatik.de/en/smartpedia/work-breakdown-structure/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1518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Oil</a:t>
            </a:r>
            <a:r>
              <a:rPr lang="en-US" dirty="0"/>
              <a:t> i</a:t>
            </a:r>
            <a:r>
              <a:rPr lang="pl-PL" dirty="0"/>
              <a:t> WBS w praktyce</a:t>
            </a:r>
            <a:r>
              <a:rPr lang="en-US" dirty="0"/>
              <a:t>:</a:t>
            </a:r>
          </a:p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projekt dzielony jest na moduły: sprzedaż, płatności, raportowanie</a:t>
            </a:r>
            <a:r>
              <a:rPr lang="en-US" dirty="0"/>
              <a:t>, </a:t>
            </a:r>
            <a:r>
              <a:rPr lang="en-US" dirty="0" err="1"/>
              <a:t>lojalność</a:t>
            </a:r>
            <a:r>
              <a:rPr lang="pl-PL" dirty="0"/>
              <a:t>. Każdy moduł ma swoje zadania</a:t>
            </a:r>
            <a:r>
              <a:rPr lang="en-US" dirty="0"/>
              <a:t>.</a:t>
            </a:r>
          </a:p>
          <a:p>
            <a:r>
              <a:rPr lang="en-US" dirty="0"/>
              <a:t>Projekt</a:t>
            </a:r>
            <a:r>
              <a:rPr lang="pl-PL" dirty="0"/>
              <a:t>:</a:t>
            </a:r>
          </a:p>
          <a:p>
            <a:r>
              <a:rPr lang="en-US" dirty="0"/>
              <a:t>- </a:t>
            </a:r>
            <a:r>
              <a:rPr lang="pl-PL" dirty="0"/>
              <a:t>moduł płatności </a:t>
            </a:r>
          </a:p>
          <a:p>
            <a:r>
              <a:rPr lang="en-US" dirty="0"/>
              <a:t>- </a:t>
            </a:r>
            <a:r>
              <a:rPr lang="pl-PL" dirty="0"/>
              <a:t>moduł </a:t>
            </a:r>
            <a:r>
              <a:rPr lang="en-US" dirty="0" err="1"/>
              <a:t>sprzedaży</a:t>
            </a:r>
            <a:r>
              <a:rPr lang="pl-PL" dirty="0"/>
              <a:t> </a:t>
            </a:r>
          </a:p>
          <a:p>
            <a:pPr marL="171450" indent="-171450">
              <a:buFontTx/>
              <a:buChar char="-"/>
            </a:pPr>
            <a:r>
              <a:rPr lang="pl-PL" dirty="0"/>
              <a:t>moduł raportowania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moduł</a:t>
            </a:r>
            <a:r>
              <a:rPr lang="en-US" dirty="0"/>
              <a:t> </a:t>
            </a:r>
            <a:r>
              <a:rPr lang="en-US" dirty="0" err="1"/>
              <a:t>lojalnościowy</a:t>
            </a: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K</a:t>
            </a:r>
            <a:r>
              <a:rPr lang="pl-PL" dirty="0" err="1"/>
              <a:t>ażdy</a:t>
            </a:r>
            <a:r>
              <a:rPr lang="pl-PL" dirty="0"/>
              <a:t> moduł </a:t>
            </a:r>
            <a:r>
              <a:rPr lang="en-US" dirty="0"/>
              <a:t>to </a:t>
            </a:r>
            <a:r>
              <a:rPr lang="en-US" dirty="0" err="1"/>
              <a:t>różne</a:t>
            </a:r>
            <a:r>
              <a:rPr lang="pl-PL" dirty="0"/>
              <a:t> zadania de</a:t>
            </a:r>
            <a:r>
              <a:rPr lang="en-US" dirty="0"/>
              <a:t>w</a:t>
            </a:r>
            <a:r>
              <a:rPr lang="pl-PL" dirty="0" err="1"/>
              <a:t>eloperskie</a:t>
            </a:r>
            <a:r>
              <a:rPr lang="pl-PL" dirty="0"/>
              <a:t> i testowe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Dzięki WBS zespół </a:t>
            </a:r>
            <a:r>
              <a:rPr lang="pl-PL" dirty="0" err="1"/>
              <a:t>Oil</a:t>
            </a:r>
            <a:r>
              <a:rPr lang="pl-PL" dirty="0"/>
              <a:t> dokładnie wie, co trzeba zrobić i kto za to odpowiada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2736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Szacowanie to jedno z najtrudniejszych zadań PM. W </a:t>
            </a:r>
            <a:r>
              <a:rPr lang="pl-PL" dirty="0" err="1"/>
              <a:t>Oil</a:t>
            </a:r>
            <a:r>
              <a:rPr lang="pl-PL" dirty="0"/>
              <a:t> wykorzystuje się doświadczenie zespołu i dane historyczne.</a:t>
            </a:r>
            <a:endParaRPr lang="en-US" dirty="0"/>
          </a:p>
          <a:p>
            <a:r>
              <a:rPr lang="pl-PL" dirty="0" err="1"/>
              <a:t>Oil</a:t>
            </a:r>
            <a:r>
              <a:rPr lang="en-US" dirty="0"/>
              <a:t>, </a:t>
            </a:r>
            <a:r>
              <a:rPr lang="pl-PL" dirty="0"/>
              <a:t>przykład szacowania</a:t>
            </a:r>
            <a:r>
              <a:rPr lang="en-US" dirty="0"/>
              <a:t>:</a:t>
            </a:r>
          </a:p>
          <a:p>
            <a:r>
              <a:rPr lang="pl-PL" dirty="0"/>
              <a:t>moduł płatności </a:t>
            </a:r>
            <a:r>
              <a:rPr lang="en-US" dirty="0"/>
              <a:t>to</a:t>
            </a:r>
            <a:r>
              <a:rPr lang="pl-PL" dirty="0"/>
              <a:t> 3 tygodnie</a:t>
            </a:r>
            <a:endParaRPr lang="en-US" dirty="0"/>
          </a:p>
          <a:p>
            <a:r>
              <a:rPr lang="pl-PL" dirty="0"/>
              <a:t>moduł lojalnościowy </a:t>
            </a:r>
            <a:r>
              <a:rPr lang="en-US" dirty="0"/>
              <a:t>to</a:t>
            </a:r>
            <a:r>
              <a:rPr lang="pl-PL" dirty="0"/>
              <a:t> 4 tygodnie </a:t>
            </a:r>
            <a:endParaRPr lang="en-US" dirty="0"/>
          </a:p>
          <a:p>
            <a:r>
              <a:rPr lang="pl-PL" dirty="0"/>
              <a:t>testy </a:t>
            </a:r>
            <a:r>
              <a:rPr lang="en-US" dirty="0"/>
              <a:t>to</a:t>
            </a:r>
            <a:r>
              <a:rPr lang="pl-PL" dirty="0"/>
              <a:t> 2 tygodnie</a:t>
            </a:r>
            <a:endParaRPr lang="en-US" dirty="0"/>
          </a:p>
          <a:p>
            <a:r>
              <a:rPr lang="pl-PL" dirty="0"/>
              <a:t>Zespół wspólnie ocenia czas realizacji zadań. Dzięki temu plan jest bardziej realistyczny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2318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Diagram Gantta:</a:t>
            </a:r>
          </a:p>
          <a:p>
            <a:pPr marL="171450" indent="-171450">
              <a:buFontTx/>
              <a:buChar char="-"/>
            </a:pPr>
            <a:r>
              <a:rPr lang="pl-PL" dirty="0"/>
              <a:t>wizualne przedstawienie harmonogramu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pokazuje zadania i ich czas trwania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uwzględnia zależności między zadaniami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diagram Gantta pomaga zobaczyć cały projekt na jednej osi czasu</a:t>
            </a:r>
            <a:r>
              <a:rPr lang="en-US" dirty="0"/>
              <a:t>. </a:t>
            </a:r>
            <a:r>
              <a:rPr lang="pl-PL" dirty="0"/>
              <a:t>Dzięki </a:t>
            </a:r>
            <a:r>
              <a:rPr lang="en-US" dirty="0" err="1"/>
              <a:t>temu</a:t>
            </a:r>
            <a:r>
              <a:rPr lang="en-US" dirty="0"/>
              <a:t> </a:t>
            </a:r>
            <a:r>
              <a:rPr lang="pl-PL" dirty="0"/>
              <a:t>harmonogramowi zespół</a:t>
            </a:r>
            <a:r>
              <a:rPr lang="en-US" dirty="0"/>
              <a:t> </a:t>
            </a:r>
            <a:r>
              <a:rPr lang="pl-PL" dirty="0"/>
              <a:t>ma jasny plan działania i wie, kiedy projekt powinien się zakończyć</a:t>
            </a:r>
            <a:r>
              <a:rPr lang="en-US" dirty="0"/>
              <a:t>.</a:t>
            </a:r>
            <a:endParaRPr lang="pl-PL" dirty="0"/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https://signalo.pl/wykres-gantta/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57621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Kamień milowy to taki moment, w którym możemy powiedzieć: </a:t>
            </a:r>
            <a:r>
              <a:rPr lang="en-US" dirty="0"/>
              <a:t>“</a:t>
            </a:r>
            <a:r>
              <a:rPr lang="pl-PL" dirty="0"/>
              <a:t>osiągnęliśmy coś ważnego</a:t>
            </a:r>
            <a:r>
              <a:rPr lang="en-US" dirty="0"/>
              <a:t>”</a:t>
            </a:r>
            <a:r>
              <a:rPr lang="pl-PL" dirty="0"/>
              <a:t>. To nie jest praca, tylko efekt pracy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pl-PL" dirty="0"/>
              <a:t>Kamienie milowe identyfikuje się poprzez: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analizę kluczowych etapów projektu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wyznaczenie punktów decyzyjnych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określenie momentów dostarczenia wartości</a:t>
            </a:r>
            <a:br>
              <a:rPr lang="pl-PL" dirty="0"/>
            </a:br>
            <a:r>
              <a:rPr lang="en-US" dirty="0"/>
              <a:t>- </a:t>
            </a:r>
            <a:r>
              <a:rPr lang="pl-PL" dirty="0"/>
              <a:t>powiązanie z celami biznesowym</a:t>
            </a:r>
            <a:endParaRPr lang="en-US" dirty="0"/>
          </a:p>
          <a:p>
            <a:endParaRPr lang="en-US" dirty="0"/>
          </a:p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kamieniem milowym nie jest napisanie kodu, tylko </a:t>
            </a:r>
            <a:r>
              <a:rPr lang="pl-PL" dirty="0" err="1"/>
              <a:t>np</a:t>
            </a:r>
            <a:r>
              <a:rPr lang="pl-PL" dirty="0"/>
              <a:t> gotowy moduł płatności działający na stacji paliw. 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https://www.ey.com/pl_pl/insights/consulting/czym-sa-kamienie-milowe-w-projekcie</a:t>
            </a:r>
            <a:endParaRPr lang="en-US" dirty="0"/>
          </a:p>
          <a:p>
            <a:r>
              <a:rPr lang="pl-PL" dirty="0"/>
              <a:t>linkedin.com/</a:t>
            </a:r>
            <a:r>
              <a:rPr lang="pl-PL" dirty="0" err="1"/>
              <a:t>pulse</a:t>
            </a:r>
            <a:r>
              <a:rPr lang="pl-PL" dirty="0"/>
              <a:t>/kamienie-milowe-projektu-czym-są-i-jak-je-dobrze-zdefiniować-luylf/?</a:t>
            </a:r>
            <a:r>
              <a:rPr lang="pl-PL" dirty="0" err="1"/>
              <a:t>originalSubdomain</a:t>
            </a:r>
            <a:r>
              <a:rPr lang="pl-PL" dirty="0"/>
              <a:t>=</a:t>
            </a:r>
            <a:r>
              <a:rPr lang="pl-PL" dirty="0" err="1"/>
              <a:t>pl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72137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Oil</a:t>
            </a:r>
            <a:r>
              <a:rPr lang="pl-PL" dirty="0"/>
              <a:t> początkowo planował wszystko sekwencyjnie. Ale szybko okazało się, że wymagania się zmieniają i trzeba działać bardziej elastycznie</a:t>
            </a:r>
            <a:endParaRPr lang="en-US" dirty="0"/>
          </a:p>
          <a:p>
            <a:r>
              <a:rPr lang="pl-PL" dirty="0"/>
              <a:t>Przejście z podejścia sekwencyjnego na iteracyjne:</a:t>
            </a:r>
            <a:r>
              <a:rPr lang="en-US" dirty="0"/>
              <a:t> </a:t>
            </a:r>
            <a:r>
              <a:rPr lang="pl-PL" dirty="0"/>
              <a:t>krótsze cykle pracy</a:t>
            </a:r>
            <a:r>
              <a:rPr lang="en-US" dirty="0"/>
              <a:t>, </a:t>
            </a:r>
            <a:r>
              <a:rPr lang="pl-PL" dirty="0"/>
              <a:t>częstsze testowanie</a:t>
            </a:r>
            <a:r>
              <a:rPr lang="en-US" dirty="0"/>
              <a:t>, </a:t>
            </a:r>
            <a:r>
              <a:rPr lang="pl-PL" dirty="0"/>
              <a:t>szybsze wykrywanie błędów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https://www.atlassian.com/pl/work-management/project-management/iterative-process</a:t>
            </a:r>
            <a:endParaRPr lang="en-US" dirty="0"/>
          </a:p>
          <a:p>
            <a:r>
              <a:rPr lang="pl-PL" dirty="0"/>
              <a:t>https://teamdeck.io/pl/zasoby/porownanie-metodyk-zarzadzania-projektami/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873865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projekcie nic nie dzieje się w izolacji. Każde zadanie wpływa na inne</a:t>
            </a:r>
            <a:endParaRPr lang="en-US" dirty="0"/>
          </a:p>
          <a:p>
            <a:r>
              <a:rPr lang="en-US" dirty="0" err="1"/>
              <a:t>Przykładowo</a:t>
            </a:r>
            <a:r>
              <a:rPr lang="en-US" dirty="0"/>
              <a:t>: </a:t>
            </a:r>
            <a:r>
              <a:rPr lang="pl-PL" dirty="0"/>
              <a:t>moduł płatności musi być gotowy przed testami</a:t>
            </a:r>
            <a:r>
              <a:rPr lang="en-US" dirty="0"/>
              <a:t>,</a:t>
            </a:r>
            <a:r>
              <a:rPr lang="pl-PL" dirty="0"/>
              <a:t> integracja </a:t>
            </a:r>
            <a:r>
              <a:rPr lang="en-US" dirty="0"/>
              <a:t>jest </a:t>
            </a:r>
            <a:r>
              <a:rPr lang="pl-PL" dirty="0"/>
              <a:t>zależy od API dostawcy</a:t>
            </a:r>
            <a:r>
              <a:rPr lang="en-US" dirty="0"/>
              <a:t>,</a:t>
            </a:r>
            <a:r>
              <a:rPr lang="pl-PL" dirty="0"/>
              <a:t> UX zależy od funkcjonalności </a:t>
            </a:r>
            <a:r>
              <a:rPr lang="pl-PL" dirty="0" err="1"/>
              <a:t>backendu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21543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plan zmieniał się wielokrotnie. I to było dobre</a:t>
            </a:r>
            <a:r>
              <a:rPr lang="en-US" dirty="0"/>
              <a:t>,</a:t>
            </a:r>
            <a:r>
              <a:rPr lang="pl-PL" dirty="0"/>
              <a:t> bo oznaczało, że zespół reaguje na rzeczywistość</a:t>
            </a:r>
            <a:r>
              <a:rPr lang="en-US" dirty="0"/>
              <a:t>. </a:t>
            </a:r>
            <a:r>
              <a:rPr lang="pl-PL" dirty="0"/>
              <a:t>Zespół nauczył się, że trzymanie się starego planu na siłę jest gorsze niż jego aktualizacja.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https://www.evertop.pl/zarzadzanie-zmiana-w-projekcie-it/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62413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Planowanie strategiczne:</a:t>
            </a:r>
            <a:r>
              <a:rPr lang="en-US" dirty="0"/>
              <a:t> </a:t>
            </a:r>
            <a:r>
              <a:rPr lang="pl-PL" dirty="0"/>
              <a:t>długoterminowe cele i kierunek projektu</a:t>
            </a:r>
          </a:p>
          <a:p>
            <a:r>
              <a:rPr lang="pl-PL" dirty="0"/>
              <a:t>Planowanie operacyjne:</a:t>
            </a:r>
            <a:r>
              <a:rPr lang="en-US" dirty="0"/>
              <a:t> </a:t>
            </a:r>
            <a:r>
              <a:rPr lang="pl-PL" dirty="0"/>
              <a:t>codzienne zadania i działania zespołu</a:t>
            </a:r>
          </a:p>
          <a:p>
            <a:endParaRPr lang="en-US" dirty="0"/>
          </a:p>
          <a:p>
            <a:endParaRPr lang="en-US" dirty="0"/>
          </a:p>
          <a:p>
            <a:r>
              <a:rPr lang="pl-PL" dirty="0"/>
              <a:t>https://cyrekdigital.com/pl/baza-wiedzy/zarzadzanie-operacyjne-a-strategiczne/</a:t>
            </a:r>
            <a:endParaRPr lang="en-US" dirty="0"/>
          </a:p>
          <a:p>
            <a:r>
              <a:rPr lang="pl-PL" dirty="0"/>
              <a:t>https://artursmolicki.com/blog/cele-taktyczne-strategiczne/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64406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 Oil:</a:t>
            </a:r>
          </a:p>
          <a:p>
            <a:r>
              <a:rPr lang="pl-PL" dirty="0"/>
              <a:t>Strategia: zwiększenie sprzedaży na stacjach paliw</a:t>
            </a:r>
            <a:br>
              <a:rPr lang="pl-PL" dirty="0"/>
            </a:br>
            <a:r>
              <a:rPr lang="pl-PL" dirty="0"/>
              <a:t>Operacje: sprinty, zadania, development</a:t>
            </a:r>
            <a:endParaRPr lang="en-US" dirty="0"/>
          </a:p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każdy sprint był powiązany z celem biznesowym. Dzięki temu zespół wiedział, po co wykonuje swoją pracę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255766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Nie da się zaplanować wszystkiego dokładnie na początku projektu. W </a:t>
            </a:r>
            <a:r>
              <a:rPr lang="pl-PL" dirty="0" err="1"/>
              <a:t>Oil</a:t>
            </a:r>
            <a:r>
              <a:rPr lang="pl-PL" dirty="0"/>
              <a:t> zespół planuje szczegółowo najbliższe sprinty, a dalsze etapy doprecyzowuje później</a:t>
            </a:r>
            <a:endParaRPr lang="en-US" dirty="0"/>
          </a:p>
          <a:p>
            <a:r>
              <a:rPr lang="pl-PL" dirty="0"/>
              <a:t>sprint 1–2 </a:t>
            </a:r>
            <a:r>
              <a:rPr lang="en-US" dirty="0"/>
              <a:t>-</a:t>
            </a:r>
            <a:r>
              <a:rPr lang="pl-PL" dirty="0"/>
              <a:t> szczegółowy plan </a:t>
            </a:r>
            <a:endParaRPr lang="en-US" dirty="0"/>
          </a:p>
          <a:p>
            <a:r>
              <a:rPr lang="pl-PL" dirty="0"/>
              <a:t>kolejne etapy </a:t>
            </a:r>
            <a:r>
              <a:rPr lang="en-US" dirty="0"/>
              <a:t>-</a:t>
            </a:r>
            <a:r>
              <a:rPr lang="pl-PL" dirty="0"/>
              <a:t> ogólny kierunek </a:t>
            </a:r>
            <a:endParaRPr lang="en-US" dirty="0"/>
          </a:p>
          <a:p>
            <a:r>
              <a:rPr lang="en-US" dirty="0"/>
              <a:t>+ </a:t>
            </a:r>
            <a:r>
              <a:rPr lang="pl-PL" dirty="0"/>
              <a:t>plan aktualizowany co iterację</a:t>
            </a:r>
            <a:endParaRPr lang="en-US" dirty="0"/>
          </a:p>
          <a:p>
            <a:r>
              <a:rPr lang="pl-PL" dirty="0"/>
              <a:t>Dzięki temu </a:t>
            </a:r>
            <a:r>
              <a:rPr lang="pl-PL" dirty="0" err="1"/>
              <a:t>Oil</a:t>
            </a:r>
            <a:r>
              <a:rPr lang="pl-PL" dirty="0"/>
              <a:t> unika błędów wynikających z planowania na podstawie niepełnych informacji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https://aprika.com/glossary/rolling-wave-planning/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9091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dirty="0"/>
              <a:t>https://aprika.com/glossary/rolling-wave-planning/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92539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początkowo stosowano podejście deterministyczne. Problem pojawił się, gdy rzeczywistość zaczęła odbiegać od planu</a:t>
            </a:r>
            <a:endParaRPr lang="en-US" dirty="0"/>
          </a:p>
          <a:p>
            <a:r>
              <a:rPr lang="en-US" dirty="0"/>
              <a:t>Co </a:t>
            </a:r>
            <a:r>
              <a:rPr lang="en-US" dirty="0" err="1"/>
              <a:t>zrobiono</a:t>
            </a:r>
            <a:r>
              <a:rPr lang="en-US" dirty="0"/>
              <a:t>? </a:t>
            </a:r>
            <a:r>
              <a:rPr lang="pl-PL" dirty="0"/>
              <a:t>Zamiast: </a:t>
            </a:r>
            <a:r>
              <a:rPr lang="en-US" dirty="0"/>
              <a:t>“</a:t>
            </a:r>
            <a:r>
              <a:rPr lang="pl-PL" dirty="0"/>
              <a:t>zadanie trwa 5 dni</a:t>
            </a:r>
            <a:r>
              <a:rPr lang="en-US" dirty="0"/>
              <a:t>” management </a:t>
            </a:r>
            <a:r>
              <a:rPr lang="en-US" dirty="0" err="1"/>
              <a:t>przeszedł</a:t>
            </a:r>
            <a:r>
              <a:rPr lang="en-US" dirty="0"/>
              <a:t> na </a:t>
            </a:r>
            <a:r>
              <a:rPr lang="en-US" dirty="0" err="1"/>
              <a:t>szacowanie</a:t>
            </a:r>
            <a:r>
              <a:rPr lang="en-US" dirty="0"/>
              <a:t> typu “</a:t>
            </a:r>
            <a:r>
              <a:rPr lang="pl-PL" dirty="0"/>
              <a:t>zadanie trwa od 4 do 8 </a:t>
            </a:r>
            <a:r>
              <a:rPr lang="pl-PL" dirty="0" err="1"/>
              <a:t>dn</a:t>
            </a:r>
            <a:r>
              <a:rPr lang="en-US" dirty="0"/>
              <a:t>i”. </a:t>
            </a:r>
            <a:r>
              <a:rPr lang="pl-PL" dirty="0"/>
              <a:t>Po kilku opóźnieniach zespół </a:t>
            </a:r>
            <a:r>
              <a:rPr lang="pl-PL" dirty="0" err="1"/>
              <a:t>Oil</a:t>
            </a:r>
            <a:r>
              <a:rPr lang="pl-PL" dirty="0"/>
              <a:t> zaczął myśleć w kategoriach ryzyka i niepewności, co pozwoliło lepiej zarządzać harmonogramem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https://mfiles.pl/pl/index.php/Model_deterministyczny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98632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Kiedy projekt </a:t>
            </a:r>
            <a:r>
              <a:rPr lang="pl-PL" dirty="0" err="1"/>
              <a:t>Oil</a:t>
            </a:r>
            <a:r>
              <a:rPr lang="pl-PL" dirty="0"/>
              <a:t> zaczął się opóźniać, pojawiło się pytanie: jak nadrobić czas?</a:t>
            </a:r>
            <a:endParaRPr lang="en-US" dirty="0"/>
          </a:p>
          <a:p>
            <a:r>
              <a:rPr lang="pl-PL" dirty="0"/>
              <a:t>Rozwiązanie w </a:t>
            </a:r>
            <a:r>
              <a:rPr lang="pl-PL" dirty="0" err="1"/>
              <a:t>Oil</a:t>
            </a:r>
            <a:r>
              <a:rPr lang="en-US" dirty="0"/>
              <a:t>:</a:t>
            </a:r>
          </a:p>
          <a:p>
            <a:r>
              <a:rPr lang="pl-PL" dirty="0" err="1"/>
              <a:t>crashing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dodanie dodatkowego developera</a:t>
            </a:r>
            <a:r>
              <a:rPr lang="en-US" dirty="0"/>
              <a:t>, </a:t>
            </a:r>
            <a:r>
              <a:rPr lang="pl-PL" dirty="0"/>
              <a:t>fast </a:t>
            </a:r>
            <a:r>
              <a:rPr lang="pl-PL" dirty="0" err="1"/>
              <a:t>tracking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równoległe testy i development</a:t>
            </a:r>
            <a:endParaRPr lang="en-US" dirty="0"/>
          </a:p>
          <a:p>
            <a:r>
              <a:rPr lang="pl-PL" dirty="0"/>
              <a:t>Zespół przyspieszył pracę, ale pojawiło się też większe ryzyko błędów. To pokazuje, że skracanie czasu zawsze ma swoją cenę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https://clickup.com/blog/crashing-vs-fast-tracking/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2734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https://plan.io/blog/how-to-use-story-points-in-agile/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014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</a:t>
            </a:r>
            <a:r>
              <a:rPr lang="pl-PL" dirty="0" err="1"/>
              <a:t>Oil</a:t>
            </a:r>
            <a:r>
              <a:rPr lang="pl-PL" dirty="0"/>
              <a:t> zespół przeszedł na Story </a:t>
            </a:r>
            <a:r>
              <a:rPr lang="pl-PL" dirty="0" err="1"/>
              <a:t>Points</a:t>
            </a:r>
            <a:r>
              <a:rPr lang="pl-PL" dirty="0"/>
              <a:t>, bo dokładne szacowanie czasu było trudne i często błędne</a:t>
            </a:r>
            <a:r>
              <a:rPr lang="en-US" dirty="0"/>
              <a:t>. </a:t>
            </a:r>
            <a:r>
              <a:rPr lang="pl-PL" dirty="0"/>
              <a:t>Dzięki temu zespół lepiej rozumie złożoność pracy i może realistycznie planować sprinty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https://plan.io/blog/how-to-use-story-points-in-agile/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08959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Przykładowa</a:t>
            </a:r>
            <a:r>
              <a:rPr lang="en-US" dirty="0"/>
              <a:t> </a:t>
            </a:r>
            <a:r>
              <a:rPr lang="en-US" dirty="0" err="1"/>
              <a:t>macierz</a:t>
            </a:r>
            <a:r>
              <a:rPr lang="en-US" dirty="0"/>
              <a:t> story points – </a:t>
            </a:r>
            <a:r>
              <a:rPr lang="en-US" dirty="0" err="1"/>
              <a:t>czyli</a:t>
            </a:r>
            <a:r>
              <a:rPr lang="en-US" dirty="0"/>
              <a:t> jak “</a:t>
            </a:r>
            <a:r>
              <a:rPr lang="en-US" dirty="0" err="1"/>
              <a:t>wyceniać</a:t>
            </a:r>
            <a:r>
              <a:rPr lang="en-US" dirty="0"/>
              <a:t>” zadania</a:t>
            </a:r>
          </a:p>
          <a:p>
            <a:endParaRPr lang="en-US" dirty="0"/>
          </a:p>
          <a:p>
            <a:r>
              <a:rPr lang="pl-PL" dirty="0"/>
              <a:t>https://plan.io/blog/how-to-use-story-points-in-agile/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9510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Przykład dla OIL:</a:t>
            </a:r>
          </a:p>
          <a:p>
            <a:r>
              <a:rPr lang="pl-PL" dirty="0" err="1"/>
              <a:t>lead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testy zaczynają się przed zakończeniem </a:t>
            </a:r>
            <a:r>
              <a:rPr lang="pl-PL" dirty="0" err="1"/>
              <a:t>developmentu</a:t>
            </a:r>
            <a:r>
              <a:rPr lang="pl-PL" dirty="0"/>
              <a:t> </a:t>
            </a:r>
            <a:endParaRPr lang="en-US" dirty="0"/>
          </a:p>
          <a:p>
            <a:r>
              <a:rPr lang="pl-PL" dirty="0"/>
              <a:t>lag </a:t>
            </a:r>
            <a:r>
              <a:rPr lang="en-US" dirty="0"/>
              <a:t>–</a:t>
            </a:r>
            <a:r>
              <a:rPr lang="pl-PL" dirty="0"/>
              <a:t> wdrożenie zaczyna się 2 dni po testach</a:t>
            </a:r>
            <a:endParaRPr lang="en-US" dirty="0"/>
          </a:p>
          <a:p>
            <a:r>
              <a:rPr lang="pl-PL" dirty="0"/>
              <a:t>Dzięki </a:t>
            </a:r>
            <a:r>
              <a:rPr lang="pl-PL" dirty="0" err="1"/>
              <a:t>lead</a:t>
            </a:r>
            <a:r>
              <a:rPr lang="pl-PL" dirty="0"/>
              <a:t> i lag harmonogram </a:t>
            </a:r>
            <a:r>
              <a:rPr lang="pl-PL" dirty="0" err="1"/>
              <a:t>Oil</a:t>
            </a:r>
            <a:r>
              <a:rPr lang="pl-PL" dirty="0"/>
              <a:t> stał się bardziej realistyczny i elastyczny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https://www.wrike.com/project-management-guide/faq/what-are-leads-and-lags-project-management/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6420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Przykłady</a:t>
            </a:r>
            <a:r>
              <a:rPr lang="en-US" dirty="0"/>
              <a:t> </a:t>
            </a:r>
            <a:r>
              <a:rPr lang="en-US" dirty="0" err="1"/>
              <a:t>zależności</a:t>
            </a:r>
            <a:r>
              <a:rPr lang="en-US" dirty="0"/>
              <a:t> w Oil:</a:t>
            </a:r>
          </a:p>
          <a:p>
            <a:r>
              <a:rPr lang="pl-PL" dirty="0"/>
              <a:t>obowiązkowe </a:t>
            </a:r>
            <a:r>
              <a:rPr lang="en-US" dirty="0"/>
              <a:t>–</a:t>
            </a:r>
            <a:r>
              <a:rPr lang="pl-PL" dirty="0"/>
              <a:t> najpierw development, potem testy </a:t>
            </a:r>
            <a:endParaRPr lang="en-US" dirty="0"/>
          </a:p>
          <a:p>
            <a:r>
              <a:rPr lang="pl-PL" dirty="0"/>
              <a:t>zewnętrzne </a:t>
            </a:r>
            <a:r>
              <a:rPr lang="en-US" dirty="0"/>
              <a:t>– </a:t>
            </a:r>
            <a:r>
              <a:rPr lang="pl-PL" dirty="0"/>
              <a:t>integracja z systemem bankowym </a:t>
            </a:r>
            <a:endParaRPr lang="en-US" dirty="0"/>
          </a:p>
          <a:p>
            <a:r>
              <a:rPr lang="pl-PL" dirty="0"/>
              <a:t>uznaniowe </a:t>
            </a:r>
            <a:r>
              <a:rPr lang="en-US" dirty="0"/>
              <a:t>–</a:t>
            </a:r>
            <a:r>
              <a:rPr lang="pl-PL" dirty="0"/>
              <a:t> kolejność wdrażania funkcji </a:t>
            </a:r>
            <a:endParaRPr lang="en-US" dirty="0"/>
          </a:p>
          <a:p>
            <a:r>
              <a:rPr lang="pl-PL" dirty="0"/>
              <a:t>wewnętrzne </a:t>
            </a:r>
            <a:r>
              <a:rPr lang="en-US" dirty="0"/>
              <a:t>–</a:t>
            </a:r>
            <a:r>
              <a:rPr lang="pl-PL" dirty="0"/>
              <a:t> współpraca między developerami</a:t>
            </a:r>
            <a:endParaRPr lang="en-US" dirty="0"/>
          </a:p>
          <a:p>
            <a:r>
              <a:rPr lang="pl-PL" dirty="0"/>
              <a:t>Największym problemem w </a:t>
            </a:r>
            <a:r>
              <a:rPr lang="pl-PL" dirty="0" err="1"/>
              <a:t>Oil</a:t>
            </a:r>
            <a:r>
              <a:rPr lang="pl-PL" dirty="0"/>
              <a:t> były zależności zewnętrzne. Opóźnienie dostawcy API wpływało na cały harmonogram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5135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Obraz</a:t>
            </a:r>
            <a:r>
              <a:rPr lang="en-US" dirty="0"/>
              <a:t> </a:t>
            </a:r>
            <a:r>
              <a:rPr lang="en-US" dirty="0" err="1"/>
              <a:t>poglądowy</a:t>
            </a:r>
            <a:r>
              <a:rPr lang="en-US" dirty="0"/>
              <a:t>, aby </a:t>
            </a:r>
            <a:r>
              <a:rPr lang="en-US" dirty="0" err="1"/>
              <a:t>lepiej</a:t>
            </a:r>
            <a:r>
              <a:rPr lang="en-US" dirty="0"/>
              <a:t> </a:t>
            </a:r>
            <a:r>
              <a:rPr lang="en-US" dirty="0" err="1"/>
              <a:t>zrozumieć</a:t>
            </a:r>
            <a:r>
              <a:rPr lang="en-US" dirty="0"/>
              <a:t> </a:t>
            </a:r>
            <a:r>
              <a:rPr lang="en-US" dirty="0" err="1"/>
              <a:t>koncept</a:t>
            </a:r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06504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W projektach IT często mylimy te pojęcia. Możemy wielokrotnie szacować 5 dni, ale jeśli zadanie trwa 10 </a:t>
            </a:r>
            <a:r>
              <a:rPr lang="en-US" dirty="0"/>
              <a:t>to</a:t>
            </a:r>
            <a:r>
              <a:rPr lang="pl-PL" dirty="0"/>
              <a:t> jesteśmy precyzyjni, ale niedokładni</a:t>
            </a:r>
            <a:r>
              <a:rPr lang="en-US" dirty="0"/>
              <a:t>.</a:t>
            </a:r>
          </a:p>
          <a:p>
            <a:r>
              <a:rPr lang="pl-PL" dirty="0"/>
              <a:t>Zespół </a:t>
            </a:r>
            <a:r>
              <a:rPr lang="en-US" dirty="0"/>
              <a:t>Oil </a:t>
            </a:r>
            <a:r>
              <a:rPr lang="pl-PL" dirty="0"/>
              <a:t>zawsze </a:t>
            </a:r>
            <a:r>
              <a:rPr lang="pl-PL" dirty="0" err="1"/>
              <a:t>szac</a:t>
            </a:r>
            <a:r>
              <a:rPr lang="en-US" dirty="0" err="1"/>
              <a:t>ował</a:t>
            </a:r>
            <a:r>
              <a:rPr lang="pl-PL" dirty="0"/>
              <a:t> zadania na 5 dni</a:t>
            </a:r>
            <a:r>
              <a:rPr lang="en-US" dirty="0"/>
              <a:t>, </a:t>
            </a:r>
            <a:r>
              <a:rPr lang="en-US" dirty="0" err="1"/>
              <a:t>choć</a:t>
            </a:r>
            <a:r>
              <a:rPr lang="en-US" dirty="0"/>
              <a:t> </a:t>
            </a:r>
            <a:r>
              <a:rPr lang="pl-PL" dirty="0"/>
              <a:t>rzeczywisty czas</a:t>
            </a:r>
            <a:r>
              <a:rPr lang="en-US" dirty="0"/>
              <a:t> </a:t>
            </a:r>
            <a:r>
              <a:rPr lang="en-US" dirty="0" err="1"/>
              <a:t>wynosił</a:t>
            </a:r>
            <a:r>
              <a:rPr lang="en-US" dirty="0"/>
              <a:t> od 8 do </a:t>
            </a:r>
            <a:r>
              <a:rPr lang="pl-PL" dirty="0"/>
              <a:t>10 dni</a:t>
            </a:r>
            <a:r>
              <a:rPr lang="en-US" dirty="0"/>
              <a:t>. S</a:t>
            </a:r>
            <a:r>
              <a:rPr lang="pl-PL" dirty="0" err="1"/>
              <a:t>zacunki</a:t>
            </a:r>
            <a:r>
              <a:rPr lang="pl-PL" dirty="0"/>
              <a:t> </a:t>
            </a:r>
            <a:r>
              <a:rPr lang="en-US" dirty="0" err="1"/>
              <a:t>były</a:t>
            </a:r>
            <a:r>
              <a:rPr lang="pl-PL" dirty="0"/>
              <a:t> powtarzalne, ale błędne. Dopiero analiza danych pozwoliła poprawić dokładność.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https://worksection.com/pl/blog/accuracy-vs-precision.html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95408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 err="1"/>
              <a:t>DoR</a:t>
            </a:r>
            <a:r>
              <a:rPr lang="pl-PL" dirty="0"/>
              <a:t> chroni zespół przed chaosem. Jeśli zadanie nie jest gotowe, nie powinno trafiać do sprintu.</a:t>
            </a:r>
            <a:endParaRPr lang="en-US" dirty="0"/>
          </a:p>
          <a:p>
            <a:endParaRPr lang="en-US" dirty="0"/>
          </a:p>
          <a:p>
            <a:r>
              <a:rPr lang="en-US" dirty="0"/>
              <a:t>W Oil:</a:t>
            </a:r>
          </a:p>
          <a:p>
            <a:r>
              <a:rPr lang="pl-PL" dirty="0"/>
              <a:t>Przed wprowadzeniem </a:t>
            </a:r>
            <a:r>
              <a:rPr lang="pl-PL" dirty="0" err="1"/>
              <a:t>DoR</a:t>
            </a:r>
            <a:r>
              <a:rPr lang="pl-PL" dirty="0"/>
              <a:t>:</a:t>
            </a:r>
            <a:r>
              <a:rPr lang="en-US" dirty="0"/>
              <a:t> </a:t>
            </a:r>
            <a:r>
              <a:rPr lang="pl-PL" dirty="0"/>
              <a:t>niejasne wymagania </a:t>
            </a:r>
            <a:r>
              <a:rPr lang="en-US" dirty="0"/>
              <a:t>I </a:t>
            </a:r>
            <a:r>
              <a:rPr lang="pl-PL" dirty="0"/>
              <a:t>częste zmiany w trakcie pracy </a:t>
            </a:r>
          </a:p>
          <a:p>
            <a:r>
              <a:rPr lang="pl-PL" dirty="0"/>
              <a:t>Po wprowadzeniu </a:t>
            </a:r>
            <a:r>
              <a:rPr lang="pl-PL" dirty="0" err="1"/>
              <a:t>DoR</a:t>
            </a:r>
            <a:r>
              <a:rPr lang="pl-PL" dirty="0"/>
              <a:t>:</a:t>
            </a:r>
            <a:r>
              <a:rPr lang="en-US" dirty="0"/>
              <a:t> </a:t>
            </a:r>
            <a:r>
              <a:rPr lang="pl-PL" dirty="0"/>
              <a:t>lepsza jakość pracy </a:t>
            </a:r>
            <a:r>
              <a:rPr lang="en-US" dirty="0"/>
              <a:t>I </a:t>
            </a:r>
            <a:r>
              <a:rPr lang="pl-PL" dirty="0"/>
              <a:t>mniej poprawek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https://www.atlassian.com/agile/project-management/definition-of-ready</a:t>
            </a:r>
            <a:endParaRPr lang="en-US" dirty="0"/>
          </a:p>
          <a:p>
            <a:r>
              <a:rPr lang="pl-PL" dirty="0"/>
              <a:t>https://www.romanpichler.com/blog/the-definition-of-ready/</a:t>
            </a:r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73052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Przykłady</a:t>
            </a:r>
            <a:r>
              <a:rPr lang="en-US" dirty="0"/>
              <a:t>:</a:t>
            </a:r>
          </a:p>
          <a:p>
            <a:pPr marL="171450" indent="-171450">
              <a:buFontTx/>
              <a:buChar char="-"/>
            </a:pPr>
            <a:r>
              <a:rPr lang="pl-PL" dirty="0" err="1"/>
              <a:t>contingency</a:t>
            </a:r>
            <a:r>
              <a:rPr lang="pl-PL" dirty="0"/>
              <a:t> </a:t>
            </a:r>
            <a:r>
              <a:rPr lang="en-US" dirty="0"/>
              <a:t>–</a:t>
            </a:r>
            <a:r>
              <a:rPr lang="pl-PL" dirty="0"/>
              <a:t> opóźnienia integracji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pl-PL" dirty="0"/>
              <a:t>management </a:t>
            </a:r>
            <a:r>
              <a:rPr lang="en-US" dirty="0"/>
              <a:t>–</a:t>
            </a:r>
            <a:r>
              <a:rPr lang="pl-PL" dirty="0"/>
              <a:t> nieprzewidziane zmiany wymagań</a:t>
            </a:r>
            <a:endParaRPr lang="en-US" dirty="0"/>
          </a:p>
          <a:p>
            <a:pPr marL="0" indent="0">
              <a:buFontTx/>
              <a:buNone/>
            </a:pPr>
            <a:r>
              <a:rPr lang="pl-PL" dirty="0"/>
              <a:t>Dzięki rezerwom </a:t>
            </a:r>
            <a:r>
              <a:rPr lang="pl-PL" dirty="0" err="1"/>
              <a:t>Oil</a:t>
            </a:r>
            <a:r>
              <a:rPr lang="pl-PL" dirty="0"/>
              <a:t> był w stanie zareagować na problemy bez całkowitego załamania harmonogramu</a:t>
            </a:r>
            <a:endParaRPr lang="en-US" dirty="0"/>
          </a:p>
          <a:p>
            <a:endParaRPr lang="en-US" dirty="0"/>
          </a:p>
          <a:p>
            <a:r>
              <a:rPr lang="pl-PL" dirty="0"/>
              <a:t>https://www.projectmanagement.com/blog-post/5806/management-reserves-and-contingency-reserves--what-s-the-difference-#_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869166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Historia </a:t>
            </a:r>
            <a:r>
              <a:rPr lang="pl-PL" dirty="0" err="1"/>
              <a:t>Oil</a:t>
            </a:r>
            <a:r>
              <a:rPr lang="pl-PL" dirty="0"/>
              <a:t> pokazuje, że plan projektu to nie statyczny dokument, ale narzędzie, które musi ewoluować razem z projektem</a:t>
            </a:r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C15C2-4723-4E68-A05A-85C9AA3E540E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103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none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702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54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18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4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75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80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3/28/2026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46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2456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86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47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83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2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i="1" kern="1200" cap="none" spc="-7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1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20E194-8975-DF61-8A14-1E060BFEFC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29" b="1622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314" y="0"/>
            <a:ext cx="6525472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38682" y="320040"/>
            <a:ext cx="5888736" cy="6217920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6A38443-5A18-6CF6-B8ED-9B443C6C47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316" y="1348844"/>
            <a:ext cx="5409468" cy="3042706"/>
          </a:xfrm>
        </p:spPr>
        <p:txBody>
          <a:bodyPr>
            <a:normAutofit/>
          </a:bodyPr>
          <a:lstStyle/>
          <a:p>
            <a:r>
              <a:rPr lang="pl-PL" sz="4200" dirty="0">
                <a:solidFill>
                  <a:schemeClr val="tx1"/>
                </a:solidFill>
                <a:latin typeface="Aptos" panose="020B0004020202020204" pitchFamily="34" charset="0"/>
              </a:rPr>
              <a:t>PLANOWANIE PROJEKTU INFORMATYCZNEGO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496AE3E-0CDD-F99C-B994-9E78AFAC6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316" y="4682061"/>
            <a:ext cx="5409468" cy="950976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Filip Hałys</a:t>
            </a:r>
          </a:p>
          <a:p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Geoinformatyka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V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rok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Prezentacji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VI</a:t>
            </a:r>
            <a:endParaRPr lang="pl-PL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82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CAE6D-71B6-B6D8-9C59-7924BD983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1657BF2-BFFB-4FF0-9FE2-4D7F7A7C9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397171-E233-4F26-9A8C-29C436537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830B9C-C9EB-4D80-9552-AE9DE3075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AA5B589-4F76-2A62-006B-9CF2AA0FB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642593"/>
            <a:ext cx="6281928" cy="17441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spc="0" dirty="0" err="1">
                <a:latin typeface="Aptos" panose="020B0004020202020204" pitchFamily="34" charset="0"/>
              </a:rPr>
              <a:t>Firma</a:t>
            </a:r>
            <a:r>
              <a:rPr lang="en-US" sz="4800" spc="0" dirty="0">
                <a:latin typeface="Aptos" panose="020B0004020202020204" pitchFamily="34" charset="0"/>
              </a:rPr>
              <a:t> Oil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A3D4009-89B3-A6DB-BDAA-CF87BEA67A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680" y="2386584"/>
            <a:ext cx="6281928" cy="3648456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tworzy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system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sprzedaży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dla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stacji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paliw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nowy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projekt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: system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obsługi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płatności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i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lojalności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klientów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zespół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: PM,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developerzy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, QA,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analitycy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Firma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Oil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rozpoczyna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projekt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systemu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sprzedażowego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dla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stacji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paliw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. Aby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projekt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się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udał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potrzebny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jest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dobrze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przygotowany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plan.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9D429C-91AD-A9FB-51E4-E61BBA7562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07" r="15672" b="-2"/>
          <a:stretch>
            <a:fillRect/>
          </a:stretch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34964-8013-BA43-27ED-D52F5015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30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32">
            <a:extLst>
              <a:ext uri="{FF2B5EF4-FFF2-40B4-BE49-F238E27FC236}">
                <a16:creationId xmlns:a16="http://schemas.microsoft.com/office/drawing/2014/main" id="{04B7AC44-1B7B-4F09-9AA4-3DFDEC575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51" name="Rectangle 34">
            <a:extLst>
              <a:ext uri="{FF2B5EF4-FFF2-40B4-BE49-F238E27FC236}">
                <a16:creationId xmlns:a16="http://schemas.microsoft.com/office/drawing/2014/main" id="{6683E473-94FF-4ACE-9433-1F14799E8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52" name="Rectangle 36">
            <a:extLst>
              <a:ext uri="{FF2B5EF4-FFF2-40B4-BE49-F238E27FC236}">
                <a16:creationId xmlns:a16="http://schemas.microsoft.com/office/drawing/2014/main" id="{D1361653-1899-40D5-AFDF-07D88AD01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38">
            <a:extLst>
              <a:ext uri="{FF2B5EF4-FFF2-40B4-BE49-F238E27FC236}">
                <a16:creationId xmlns:a16="http://schemas.microsoft.com/office/drawing/2014/main" id="{458F0425-DCEB-462D-A06F-7DFDD2FDF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883" y="805445"/>
            <a:ext cx="3616369" cy="5244498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D3F97-DD5A-47A3-B484-F9B310258E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07" r="15672" b="-2"/>
          <a:stretch>
            <a:fillRect/>
          </a:stretch>
        </p:blipFill>
        <p:spPr>
          <a:xfrm>
            <a:off x="1158219" y="1138924"/>
            <a:ext cx="2957993" cy="457754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DA70624B-2458-4127-BF8B-A209062ED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8001" y="255102"/>
            <a:ext cx="6705400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42">
            <a:extLst>
              <a:ext uri="{FF2B5EF4-FFF2-40B4-BE49-F238E27FC236}">
                <a16:creationId xmlns:a16="http://schemas.microsoft.com/office/drawing/2014/main" id="{CBAE5E18-89E5-4B66-A4ED-71860A613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2592" y="393365"/>
            <a:ext cx="6364719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428ED12-E991-C49F-3090-2B3C9523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7874" y="892120"/>
            <a:ext cx="544725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spc="0" dirty="0">
                <a:latin typeface="Aptos" panose="020B0004020202020204" pitchFamily="34" charset="0"/>
              </a:rPr>
              <a:t>PLAN PROJEKTU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8D88EFD-AECA-9056-98DD-581D373DA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7873" y="2679192"/>
            <a:ext cx="5447251" cy="3291840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Plan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projektu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to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dokument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który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:</a:t>
            </a:r>
          </a:p>
          <a:p>
            <a:pPr indent="-182880" algn="l">
              <a:lnSpc>
                <a:spcPct val="100000"/>
              </a:lnSpc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określa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zakres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prac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indent="-182880" algn="l">
              <a:lnSpc>
                <a:spcPct val="100000"/>
              </a:lnSpc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definiuje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cele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projektu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indent="-182880" algn="l">
              <a:lnSpc>
                <a:spcPct val="100000"/>
              </a:lnSpc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opisuje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harmonogram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indent="-182880" algn="l">
              <a:lnSpc>
                <a:spcPct val="100000"/>
              </a:lnSpc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wskazuje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zasoby i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budżet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</a:p>
          <a:p>
            <a:pPr indent="-182880" algn="l">
              <a:lnSpc>
                <a:spcPct val="100000"/>
              </a:lnSpc>
              <a:buFont typeface="Garamond" pitchFamily="18" charset="0"/>
              <a:buChar char="◦"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określa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sposób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zarządzania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ryzykiem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 i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</a:rPr>
              <a:t>komunikacją</a:t>
            </a: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endParaRPr lang="en-US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69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0000"/>
                <a:shade val="100000"/>
                <a:satMod val="300000"/>
              </a:schemeClr>
            </a:gs>
            <a:gs pos="100000">
              <a:schemeClr val="bg2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D124F-5D9B-6ECD-6751-098401350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65ABA3-820C-4D75-9437-9EFA1ADFE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36BF2FB-90D8-48DB-BD34-D040CDCFF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08D8648-8D4B-4942-9B18-2D7F69A6A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gradFill>
            <a:gsLst>
              <a:gs pos="0">
                <a:schemeClr val="bg2">
                  <a:tint val="90000"/>
                  <a:shade val="92000"/>
                  <a:satMod val="160000"/>
                </a:schemeClr>
              </a:gs>
              <a:gs pos="77000">
                <a:schemeClr val="bg2">
                  <a:tint val="100000"/>
                  <a:shade val="73000"/>
                  <a:satMod val="155000"/>
                </a:schemeClr>
              </a:gs>
              <a:gs pos="100000">
                <a:schemeClr val="bg2">
                  <a:tint val="100000"/>
                  <a:shade val="67000"/>
                  <a:satMod val="14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A232AA-31C0-92CE-E64E-153036D339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85000"/>
          </a:blip>
          <a:srcRect t="26831" r="9091" b="22033"/>
          <a:stretch>
            <a:fillRect/>
          </a:stretch>
        </p:blipFill>
        <p:spPr>
          <a:xfrm>
            <a:off x="1" y="10"/>
            <a:ext cx="12191999" cy="6857989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AE5867F1-48B9-435A-ABFE-A00128240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4393" y="237744"/>
            <a:ext cx="7652977" cy="6382512"/>
          </a:xfrm>
          <a:prstGeom prst="rect">
            <a:avLst/>
          </a:prstGeom>
          <a:solidFill>
            <a:schemeClr val="bg2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DADDF0F-63A7-4A0D-8CD6-1321F9DCE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53" y="374904"/>
            <a:ext cx="7340156" cy="6108192"/>
          </a:xfrm>
          <a:prstGeom prst="rect">
            <a:avLst/>
          </a:prstGeom>
          <a:noFill/>
          <a:ln w="6350" cap="sq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1DB0F03-A05E-3288-6E2D-8D3E37DE1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642594"/>
            <a:ext cx="6281928" cy="174650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spc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Elementy </a:t>
            </a:r>
            <a:r>
              <a:rPr lang="en-US" sz="4800" spc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planu</a:t>
            </a:r>
            <a:r>
              <a:rPr lang="en-US" sz="4800" spc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4800" spc="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projektu</a:t>
            </a:r>
            <a:endParaRPr lang="en-US" sz="4800" spc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AF6B44F-63D7-6F66-7A7C-2012D1CBD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8680" y="2389098"/>
            <a:ext cx="6281928" cy="3645942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zakres projektu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cele i wymagania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Harmonogram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zasoby i role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Ryzyka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plan komunikacji</a:t>
            </a:r>
          </a:p>
          <a:p>
            <a:pPr indent="-182880" algn="l">
              <a:lnSpc>
                <a:spcPct val="100000"/>
              </a:lnSpc>
              <a:spcAft>
                <a:spcPts val="600"/>
              </a:spcAft>
              <a:buFont typeface="Garamond" pitchFamily="18" charset="0"/>
              <a:buChar char="◦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plan jakości</a:t>
            </a:r>
          </a:p>
        </p:txBody>
      </p:sp>
    </p:spTree>
    <p:extLst>
      <p:ext uri="{BB962C8B-B14F-4D97-AF65-F5344CB8AC3E}">
        <p14:creationId xmlns:p14="http://schemas.microsoft.com/office/powerpoint/2010/main" val="377209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3CD28FA-2A54-68AB-6FFF-85056F773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cap="all" spc="-100">
                <a:solidFill>
                  <a:schemeClr val="bg1"/>
                </a:solidFill>
              </a:rPr>
              <a:t>CELE SMART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BB744BE3-E35B-D7E1-8F94-1499DB7F7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120918" y="1945893"/>
            <a:ext cx="6882827" cy="3028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38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250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0B26089E-162E-D8AC-6185-BE84466B47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9417" y="803063"/>
            <a:ext cx="6933166" cy="525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793EF97-3D4C-CFD9-EB05-080D70CA2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Ciekawostka</a:t>
            </a:r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254EE90-E4A9-03FA-DA94-7F6E35F018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662229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0829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88334271-A6E7-8D9F-E950-0BBC535A6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700" cap="all" spc="-100">
                <a:solidFill>
                  <a:schemeClr val="bg1"/>
                </a:solidFill>
              </a:rPr>
              <a:t>WBS (Work Breakdown Structure)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F2C34112-F42F-F63A-3FC3-C772B64A06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46570" y="1427216"/>
            <a:ext cx="6202238" cy="400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23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09D6CD28-D147-4DC0-A5FF-335351C7D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7CDDF69-9963-4CB8-8441-2D6CA2C6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190" y="457199"/>
            <a:ext cx="11281609" cy="214616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58B53A5F-63B3-4E86-93F7-275390D70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6738" y="620453"/>
            <a:ext cx="10954512" cy="1819656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68E2CED-DDA5-423C-766E-B58B59583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794" y="844481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</a:rPr>
              <a:t>Tworzenie WBS</a:t>
            </a:r>
          </a:p>
        </p:txBody>
      </p:sp>
      <p:graphicFrame>
        <p:nvGraphicFramePr>
          <p:cNvPr id="18" name="Symbol zastępczy zawartości 2">
            <a:extLst>
              <a:ext uri="{FF2B5EF4-FFF2-40B4-BE49-F238E27FC236}">
                <a16:creationId xmlns:a16="http://schemas.microsoft.com/office/drawing/2014/main" id="{EACB431C-8722-4A11-E314-F92BC9C8FB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7524663"/>
              </p:ext>
            </p:extLst>
          </p:nvPr>
        </p:nvGraphicFramePr>
        <p:xfrm>
          <a:off x="1473200" y="3060562"/>
          <a:ext cx="9269012" cy="2908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08848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B6D992E-C69D-8CF9-7C28-ABD091F6C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dirty="0"/>
              <a:t>SZACOWANIE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27EABE36-0BE2-99C7-A971-32BA06BB9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256" y="1230863"/>
            <a:ext cx="4414438" cy="4414438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7BC2FAC-DB23-A228-055F-19B55AD47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Szacowanie obejmuje:</a:t>
            </a:r>
          </a:p>
          <a:p>
            <a:r>
              <a:rPr lang="pl-PL" dirty="0"/>
              <a:t>czas realizacji zadań </a:t>
            </a:r>
          </a:p>
          <a:p>
            <a:r>
              <a:rPr lang="pl-PL" dirty="0"/>
              <a:t>liczbę osób potrzebnych do pracy </a:t>
            </a:r>
          </a:p>
          <a:p>
            <a:r>
              <a:rPr lang="pl-PL" dirty="0"/>
              <a:t>kompetencje zespołu </a:t>
            </a:r>
          </a:p>
          <a:p>
            <a:r>
              <a:rPr lang="pl-PL" dirty="0"/>
              <a:t>ryzyka wpływające na czas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5344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2C42E0-E142-C57F-3C2C-2E6E2326A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dirty="0"/>
              <a:t>HARMONOGRAM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7" name="Graphic 6" descr="Akcja planowania zdarzenia">
            <a:extLst>
              <a:ext uri="{FF2B5EF4-FFF2-40B4-BE49-F238E27FC236}">
                <a16:creationId xmlns:a16="http://schemas.microsoft.com/office/drawing/2014/main" id="{4C984FD5-A5B0-655E-55E2-92A93474D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256" y="1230863"/>
            <a:ext cx="4414438" cy="4414438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E8B20F-1741-39F2-9DC6-5CC75C167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Harmonogram pokazuje, kiedy co ma być zrobione i w jakiej kolejności</a:t>
            </a:r>
            <a:r>
              <a:rPr lang="en-US" dirty="0"/>
              <a:t>:</a:t>
            </a:r>
          </a:p>
          <a:p>
            <a:r>
              <a:rPr lang="pl-PL" dirty="0"/>
              <a:t>plan realizacji projektu w czasie</a:t>
            </a:r>
            <a:endParaRPr lang="en-US" dirty="0"/>
          </a:p>
          <a:p>
            <a:r>
              <a:rPr lang="en-US" dirty="0"/>
              <a:t>u</a:t>
            </a:r>
            <a:r>
              <a:rPr lang="pl-PL" dirty="0"/>
              <a:t>porządkowanie zadań</a:t>
            </a:r>
            <a:endParaRPr lang="en-US" dirty="0"/>
          </a:p>
          <a:p>
            <a:r>
              <a:rPr lang="pl-PL" dirty="0"/>
              <a:t>określenie zależności między nimi</a:t>
            </a:r>
          </a:p>
        </p:txBody>
      </p:sp>
    </p:spTree>
    <p:extLst>
      <p:ext uri="{BB962C8B-B14F-4D97-AF65-F5344CB8AC3E}">
        <p14:creationId xmlns:p14="http://schemas.microsoft.com/office/powerpoint/2010/main" val="2095827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9891C27D-8C9D-415C-A639-23D76B7B1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F4C0D6-B7E0-42D0-A57F-6781017A2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B4D6D08-A7F1-4445-BA2E-E449562C0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7" y="0"/>
            <a:ext cx="8168743" cy="6858000"/>
          </a:xfrm>
          <a:prstGeom prst="rect">
            <a:avLst/>
          </a:prstGeom>
          <a:solidFill>
            <a:schemeClr val="tx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A7C1A41-D915-4D26-8D5E-C01B27160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6909241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0B663E-F671-4504-99A8-455955469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227" y="805446"/>
            <a:ext cx="6570161" cy="5244497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F89585-ECD6-4B38-96B1-AD41A1BD4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37837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B6FCD50-3FE8-4AB2-B746-2CC0EA9D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E90108-E441-4AF0-A059-613D076C7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43777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B422045-789A-442D-9E39-6FC4EC452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2137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CEBE3C4-B16E-A6E4-A072-9982588E0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5859" y="1726330"/>
            <a:ext cx="5600897" cy="380861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3F4C63FE-9526-4F8E-BCFD-954D2EF94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31468" y="164592"/>
            <a:ext cx="3708894" cy="654017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B96C71C-AEB0-6C72-A215-0F8D44D47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024" y="1182454"/>
            <a:ext cx="3238829" cy="34807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cap="all" spc="-100"/>
              <a:t>Diagram Gantta</a:t>
            </a:r>
          </a:p>
        </p:txBody>
      </p:sp>
    </p:spTree>
    <p:extLst>
      <p:ext uri="{BB962C8B-B14F-4D97-AF65-F5344CB8AC3E}">
        <p14:creationId xmlns:p14="http://schemas.microsoft.com/office/powerpoint/2010/main" val="2694784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43CAB5-B0FB-7025-3DD4-C6554D302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dirty="0"/>
              <a:t>KAMIENIE MILOWE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F6186A4-DF7E-48D1-23FE-F3EB92433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56" y="1639199"/>
            <a:ext cx="4414438" cy="3597766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9706DC-9EB1-7A79-F675-BA2F27E65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Kamienie milowe to kluczowe punkty w projekcie, które oznaczają zakończenie ważnych etapów.</a:t>
            </a:r>
            <a:br>
              <a:rPr lang="pl-PL" dirty="0"/>
            </a:br>
            <a:r>
              <a:rPr lang="pl-PL" dirty="0"/>
              <a:t>Nie są zadaniami, lecz momentami kontrolnymi, które pozwalają ocenić postęp projektu.</a:t>
            </a:r>
          </a:p>
        </p:txBody>
      </p:sp>
    </p:spTree>
    <p:extLst>
      <p:ext uri="{BB962C8B-B14F-4D97-AF65-F5344CB8AC3E}">
        <p14:creationId xmlns:p14="http://schemas.microsoft.com/office/powerpoint/2010/main" val="3215339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D6D783-DAB2-D87D-AF62-2E384678F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sz="3700"/>
              <a:t>PLANOWANIE ITERACYJNE VS SEKWENCYJNE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7" name="Graphic 6" descr="Lista kontrolna">
            <a:extLst>
              <a:ext uri="{FF2B5EF4-FFF2-40B4-BE49-F238E27FC236}">
                <a16:creationId xmlns:a16="http://schemas.microsoft.com/office/drawing/2014/main" id="{A5D52648-72B8-4BF1-4705-90DD209AC1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256" y="1230863"/>
            <a:ext cx="4414438" cy="4414438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69FDCB-85B7-F713-3C4A-3B65C551F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r>
              <a:rPr lang="pl-PL" dirty="0"/>
              <a:t>Planowanie sekwencyjne:</a:t>
            </a:r>
            <a:br>
              <a:rPr lang="pl-PL" dirty="0"/>
            </a:br>
            <a:r>
              <a:rPr lang="pl-PL" dirty="0"/>
              <a:t>najpierw analiza, potem development, potem testy</a:t>
            </a:r>
          </a:p>
          <a:p>
            <a:r>
              <a:rPr lang="pl-PL" dirty="0"/>
              <a:t>Planowanie iteracyjne:</a:t>
            </a:r>
            <a:br>
              <a:rPr lang="pl-PL" dirty="0"/>
            </a:br>
            <a:r>
              <a:rPr lang="pl-PL" dirty="0"/>
              <a:t>krótkie cykle pracy, częste dostarczanie wartości, ciągłe poprawki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pl-PL" dirty="0"/>
              <a:t>Planowanie iteracyjne zwiększa elastyczność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</a:t>
            </a:r>
            <a:r>
              <a:rPr lang="pl-PL" dirty="0" err="1"/>
              <a:t>lanowanie</a:t>
            </a:r>
            <a:r>
              <a:rPr lang="pl-PL" dirty="0"/>
              <a:t> sekwencyjne zwiększa przewidywalność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95570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AD6B69-E0A0-476D-9EE1-6B69F04C5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E10A1-AD5F-4AB3-8A94-41D62B494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4419599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396CB46-B99C-BCD0-842F-962B6629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409" y="559477"/>
            <a:ext cx="3765200" cy="5709931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ZALEŻNOŚCI</a:t>
            </a:r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84BFFE-6A90-4311-ACD5-B34177D46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4122323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6D16518A-BC2D-1F18-0D9A-747DD91F4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2268171"/>
              </p:ext>
            </p:extLst>
          </p:nvPr>
        </p:nvGraphicFramePr>
        <p:xfrm>
          <a:off x="5478124" y="800947"/>
          <a:ext cx="5906181" cy="5230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0856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4BED5A-E98E-4DA0-BAA5-4F6AB2492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64B94A-E40E-48CE-BD7B-C1A30AE57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3982" y="488542"/>
            <a:ext cx="11244036" cy="5880916"/>
          </a:xfrm>
          <a:prstGeom prst="rect">
            <a:avLst/>
          </a:prstGeom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EC5CA6-6479-49D5-B4B5-5643D26B8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84442" y="2057401"/>
            <a:ext cx="0" cy="27432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1B26337-5AA4-470D-9687-5907CB53B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685800"/>
            <a:ext cx="10853928" cy="5486400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B6A584C-1098-567C-2DF7-934A0BE1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440" y="1000370"/>
            <a:ext cx="3462079" cy="4857262"/>
          </a:xfrm>
        </p:spPr>
        <p:txBody>
          <a:bodyPr>
            <a:normAutofit/>
          </a:bodyPr>
          <a:lstStyle/>
          <a:p>
            <a:pPr algn="r"/>
            <a:r>
              <a:rPr lang="pl-PL" sz="3700">
                <a:solidFill>
                  <a:srgbClr val="FFFFFF"/>
                </a:solidFill>
              </a:rPr>
              <a:t>AKTUALIZACJA PLANU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00EA70-D6FE-B561-C437-E0351E57D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3691" y="1000370"/>
            <a:ext cx="6212310" cy="485726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l-PL" sz="2000" dirty="0">
                <a:solidFill>
                  <a:srgbClr val="FFFFFF"/>
                </a:solidFill>
              </a:rPr>
              <a:t>Plan projektu nie jest stały.</a:t>
            </a:r>
            <a:br>
              <a:rPr lang="pl-PL" sz="2000" dirty="0">
                <a:solidFill>
                  <a:srgbClr val="FFFFFF"/>
                </a:solidFill>
              </a:rPr>
            </a:br>
            <a:r>
              <a:rPr lang="pl-PL" sz="2000" dirty="0">
                <a:solidFill>
                  <a:srgbClr val="FFFFFF"/>
                </a:solidFill>
              </a:rPr>
              <a:t>Musi być aktualizowany w odpowiedzi na: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pl-PL" sz="2000" dirty="0">
                <a:solidFill>
                  <a:srgbClr val="FFFFFF"/>
                </a:solidFill>
              </a:rPr>
              <a:t>zmiany wymagań,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pl-PL" sz="2000" dirty="0">
                <a:solidFill>
                  <a:srgbClr val="FFFFFF"/>
                </a:solidFill>
              </a:rPr>
              <a:t>problemy techniczne,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pl-PL" sz="2000" dirty="0">
                <a:solidFill>
                  <a:srgbClr val="FFFFFF"/>
                </a:solidFill>
              </a:rPr>
              <a:t>opóźnienia,</a:t>
            </a:r>
            <a:endParaRPr lang="en-US" sz="2000" dirty="0">
              <a:solidFill>
                <a:srgbClr val="FFFFFF"/>
              </a:solidFill>
            </a:endParaRPr>
          </a:p>
          <a:p>
            <a:r>
              <a:rPr lang="pl-PL" sz="2000" dirty="0">
                <a:solidFill>
                  <a:srgbClr val="FFFFFF"/>
                </a:solidFill>
              </a:rPr>
              <a:t>nowe ryzyka.</a:t>
            </a:r>
          </a:p>
        </p:txBody>
      </p:sp>
    </p:spTree>
    <p:extLst>
      <p:ext uri="{BB962C8B-B14F-4D97-AF65-F5344CB8AC3E}">
        <p14:creationId xmlns:p14="http://schemas.microsoft.com/office/powerpoint/2010/main" val="3351795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2A915846-06DE-8690-6A47-FDF52D0F3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43098" y="645106"/>
            <a:ext cx="6692796" cy="32292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8A69131-0470-FCE2-A2D0-8DE5F306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032" y="4519486"/>
            <a:ext cx="10366743" cy="1054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cap="all" spc="-100">
                <a:solidFill>
                  <a:schemeClr val="bg1"/>
                </a:solidFill>
              </a:rPr>
              <a:t>STRATEGIA VS OPERACJE</a:t>
            </a:r>
          </a:p>
        </p:txBody>
      </p:sp>
    </p:spTree>
    <p:extLst>
      <p:ext uri="{BB962C8B-B14F-4D97-AF65-F5344CB8AC3E}">
        <p14:creationId xmlns:p14="http://schemas.microsoft.com/office/powerpoint/2010/main" val="29925765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866" y="0"/>
            <a:ext cx="1219386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ubię to">
            <a:extLst>
              <a:ext uri="{FF2B5EF4-FFF2-40B4-BE49-F238E27FC236}">
                <a16:creationId xmlns:a16="http://schemas.microsoft.com/office/drawing/2014/main" id="{EB445DBE-0F0C-7E28-455D-B030EBD42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4859" y="645106"/>
            <a:ext cx="3229275" cy="32292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50FF9623-3FD1-CC23-5A44-7A3CCEDB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032" y="4519486"/>
            <a:ext cx="10366743" cy="1054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2600" cap="all" spc="-100">
                <a:solidFill>
                  <a:schemeClr val="bg1"/>
                </a:solidFill>
              </a:rPr>
              <a:t>Strategia mówi, dokąd idziemy. Operacje mówią, jak tam dojść</a:t>
            </a:r>
            <a:br>
              <a:rPr lang="en-US" sz="2600" cap="all" spc="-100">
                <a:solidFill>
                  <a:schemeClr val="bg1"/>
                </a:solidFill>
              </a:rPr>
            </a:br>
            <a:endParaRPr lang="en-US" sz="2600" cap="all" spc="-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310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609EE0-499F-C22D-8210-A1A2AB9B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Czym jest rolling wave planning?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88C7B5D5-02AD-CB16-2233-CAD1C550A8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88363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3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B58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D484EA93-968A-6AA1-0E8B-679553A79E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8012" y="803063"/>
            <a:ext cx="7475976" cy="525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7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EE7E08-B389-43E5-B019-1B0A8ACBB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rmuła calculus">
            <a:extLst>
              <a:ext uri="{FF2B5EF4-FFF2-40B4-BE49-F238E27FC236}">
                <a16:creationId xmlns:a16="http://schemas.microsoft.com/office/drawing/2014/main" id="{7BF5971D-CEE3-AEB9-AA1C-322B1FF157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67" r="21911" b="-1"/>
          <a:stretch>
            <a:fillRect/>
          </a:stretch>
        </p:blipFill>
        <p:spPr>
          <a:xfrm>
            <a:off x="20" y="10"/>
            <a:ext cx="6392647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60D94A5-8A09-4BAB-8F7C-69BC34C54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1267" y="255102"/>
            <a:ext cx="5342133" cy="6361598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1AE32B-3A6E-4C5E-8FEB-73861B9A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69100" y="393365"/>
            <a:ext cx="5018211" cy="603554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9526333D-6AF4-B8F7-06EC-BAA8AD41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4082" y="642594"/>
            <a:ext cx="4472921" cy="1371600"/>
          </a:xfrm>
        </p:spPr>
        <p:txBody>
          <a:bodyPr>
            <a:normAutofit/>
          </a:bodyPr>
          <a:lstStyle/>
          <a:p>
            <a:r>
              <a:rPr lang="pl-PL" sz="4000"/>
              <a:t>SZACOWANIE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7841737-072C-52CF-E11D-46101E64F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82" y="2103120"/>
            <a:ext cx="4472922" cy="3931920"/>
          </a:xfrm>
        </p:spPr>
        <p:txBody>
          <a:bodyPr>
            <a:normAutofit/>
          </a:bodyPr>
          <a:lstStyle/>
          <a:p>
            <a:r>
              <a:rPr lang="pl-PL" dirty="0"/>
              <a:t>Szacowanie deterministyczne:</a:t>
            </a:r>
            <a:br>
              <a:rPr lang="pl-PL" dirty="0"/>
            </a:br>
            <a:r>
              <a:rPr lang="pl-PL" dirty="0"/>
              <a:t>jedna konkretna wartość czasu lub kosztu</a:t>
            </a:r>
          </a:p>
          <a:p>
            <a:r>
              <a:rPr lang="pl-PL" dirty="0"/>
              <a:t>Szacowanie probabilistyczne:</a:t>
            </a:r>
            <a:br>
              <a:rPr lang="pl-PL" dirty="0"/>
            </a:br>
            <a:r>
              <a:rPr lang="pl-PL" dirty="0"/>
              <a:t>zakres wartości i prawdopodobieństwo ich wystąpienia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6765777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ABCB1B1-6FFC-CDEC-E0CA-87B9D01F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KOMPRESJA HARMONOGRAMU</a:t>
            </a:r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3C908AF6-D44F-A14C-F72A-DC8FA227D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7237851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6273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B58A187-A4B1-42EB-A4C7-8635BA507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F14E7F-3054-458C-ACF9-A8DA1757C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747C1C-97FC-4D70-A6C8-A01FBCF5A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5CDC370-AE44-4300-98BA-FE204E881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7B15501-CB9A-4642-80EE-2876EF03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AFF9525-325F-47B3-A63C-93C12253AD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071C0CD-5EFD-45A1-AAFD-61C3D4A65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03302C-20A2-4C4F-9760-E85AE1041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337" y="643464"/>
            <a:ext cx="10912338" cy="557107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00F093B-0739-4429-B30D-D72924D08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9702" y="809244"/>
            <a:ext cx="10579608" cy="5239512"/>
          </a:xfrm>
          <a:prstGeom prst="rect">
            <a:avLst/>
          </a:prstGeom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7C5397E-F639-8257-D767-4A1B26DA1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86" y="1446715"/>
            <a:ext cx="9637485" cy="32993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6800" cap="all" spc="-100" dirty="0"/>
              <a:t>SZACOWANIE RELATYWNE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BB92999-6A40-480A-8965-2F20DFB0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640856"/>
            <a:ext cx="1920240" cy="73152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573B87-7D61-460C-9ADA-EF63674E3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AAF6B7C-985D-4351-9564-8DBDF5BB0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88433F4-33AB-4CE1-9DE3-72A840365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000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077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903BF7D-C788-0B3C-58C3-C86F5F7B2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SZACOWANIE RELATYWNE</a:t>
            </a:r>
            <a:endParaRPr lang="pl-PL" dirty="0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FE45AADF-9CD8-9FEB-745B-5386C64888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3793408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939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94681D-2A4C-4A8D-B9B5-31D440D03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7E010-C712-408D-9787-0842AFC9F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3FCEF-A9BA-4991-9220-E36615FB8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4D085-C814-4D74-BCE0-2059F0DC0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67C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A5539E-D8B4-4F5A-B46F-C304F5D7A8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3C16C17E-8A30-3521-B3C1-FEBBBE77F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4428" y="803063"/>
            <a:ext cx="7423144" cy="525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61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13610C0-39B5-B6EF-0EE0-97502AF9A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pl-PL" dirty="0"/>
              <a:t>LEAD I LAG</a:t>
            </a:r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AA9966B1-CC37-E425-02F2-2C74CF4CFD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768664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5100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E95D90-50A8-BD1F-0BC8-757394A6C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dirty="0"/>
              <a:t>TYPY ZALEŻNOŚCI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7" name="Graphic 6" descr="Decision chart">
            <a:extLst>
              <a:ext uri="{FF2B5EF4-FFF2-40B4-BE49-F238E27FC236}">
                <a16:creationId xmlns:a16="http://schemas.microsoft.com/office/drawing/2014/main" id="{DB3FB0C1-53C0-899C-85D2-D0422F593E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5256" y="1230863"/>
            <a:ext cx="4414438" cy="4414438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B36ED92-FAE2-AD72-B9C6-86D440603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Zależności między zadaniami mogą być:</a:t>
            </a:r>
          </a:p>
          <a:p>
            <a:r>
              <a:rPr lang="pl-PL" dirty="0"/>
              <a:t>obowiązkowe </a:t>
            </a:r>
            <a:r>
              <a:rPr lang="en-US" dirty="0"/>
              <a:t>–</a:t>
            </a:r>
            <a:r>
              <a:rPr lang="pl-PL" dirty="0"/>
              <a:t> wynikają z natury pracy </a:t>
            </a:r>
          </a:p>
          <a:p>
            <a:r>
              <a:rPr lang="pl-PL" dirty="0"/>
              <a:t>uznaniowe </a:t>
            </a:r>
            <a:r>
              <a:rPr lang="en-US" dirty="0"/>
              <a:t>–</a:t>
            </a:r>
            <a:r>
              <a:rPr lang="pl-PL" dirty="0"/>
              <a:t> wynikają z decyzji zespołu </a:t>
            </a:r>
          </a:p>
          <a:p>
            <a:r>
              <a:rPr lang="pl-PL" dirty="0"/>
              <a:t>zewnętrzne </a:t>
            </a:r>
            <a:r>
              <a:rPr lang="en-US" dirty="0"/>
              <a:t>–</a:t>
            </a:r>
            <a:r>
              <a:rPr lang="pl-PL" dirty="0"/>
              <a:t> zależne od podmiotów spoza projektu </a:t>
            </a:r>
          </a:p>
          <a:p>
            <a:r>
              <a:rPr lang="pl-PL" dirty="0"/>
              <a:t>wewnętrzne </a:t>
            </a:r>
            <a:r>
              <a:rPr lang="en-US" dirty="0"/>
              <a:t>–</a:t>
            </a:r>
            <a:r>
              <a:rPr lang="pl-PL" dirty="0"/>
              <a:t> zależne od zespołu projektowego</a:t>
            </a:r>
          </a:p>
          <a:p>
            <a:pPr marL="0" indent="0">
              <a:buNone/>
            </a:pPr>
            <a:r>
              <a:rPr lang="pl-PL" dirty="0"/>
              <a:t>Nie wszystkie zależności są oczywiste. Niektóre wynikają z technologii, inne z decyzji zespołu, a jeszcze inne z czynników zewnętrznych</a:t>
            </a:r>
          </a:p>
        </p:txBody>
      </p:sp>
    </p:spTree>
    <p:extLst>
      <p:ext uri="{BB962C8B-B14F-4D97-AF65-F5344CB8AC3E}">
        <p14:creationId xmlns:p14="http://schemas.microsoft.com/office/powerpoint/2010/main" val="2881077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E8D93C5-28EB-42D0-86CE-D80495565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1B1E7D-F76D-4744-AF85-239E6998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B65211-00DB-45B6-A223-033B2D19C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DF524F-3FEF-4236-90C6-820E876A9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400A003-1BE9-49C2-8E57-DCD9B870F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3BF0991-F9A1-4282-99DB-92D70239F6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A4E4267-CAF0-4C38-8DC6-CD3B1A9F0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3ACC5-126D-4BA4-8B45-7F0B5B839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384"/>
            <a:ext cx="12192000" cy="6858000"/>
          </a:xfrm>
          <a:prstGeom prst="rect">
            <a:avLst/>
          </a:prstGeom>
          <a:blipFill dpi="0" rotWithShape="1">
            <a:blip r:embed="rId3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B2868F7-FE10-4289-A5BD-90763C7A2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3866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4142C-10EE-487C-A327-404FDF358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197" y="643464"/>
            <a:ext cx="4143830" cy="556630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F7FAC2D-7A74-4939-A917-A1A5AF935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1587" y="806860"/>
            <a:ext cx="3813048" cy="5239512"/>
          </a:xfrm>
          <a:prstGeom prst="rect">
            <a:avLst/>
          </a:prstGeom>
          <a:noFill/>
          <a:ln w="635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C7186E8-9D8F-F8D6-A7E4-22E8878DD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493" y="1559768"/>
            <a:ext cx="2978281" cy="31353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en-US" sz="3400" cap="all" spc="-100" dirty="0">
                <a:solidFill>
                  <a:schemeClr val="bg1"/>
                </a:solidFill>
              </a:rPr>
              <a:t>PRECYZJA VS DOKŁADNOŚĆ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53A868-C420-4BAE-9244-EC162AF05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7992" y="640856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2686EF3-81CC-419F-96C3-002A75880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D93CCA-A85E-4529-A6F0-8BB54D27B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73932" y="640855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ECFA516-C18C-41AE-AFF2-A0D0A59C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882292" y="1286150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9315F305-B6EC-1C95-775B-44A3AB4E6C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346570" y="1442722"/>
            <a:ext cx="6202238" cy="396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043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E108C0D-DBD7-C704-6700-FD8217AE3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cap="all" spc="-100"/>
              <a:t>PRECYZJA VS DOKŁADNOŚĆ</a:t>
            </a:r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5EE9DD24-8414-D465-B305-B8B1ABC74F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283552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6744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79E882-9D45-4F30-CB5B-9A0995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450" y="727627"/>
            <a:ext cx="4957553" cy="1645920"/>
          </a:xfrm>
        </p:spPr>
        <p:txBody>
          <a:bodyPr>
            <a:normAutofit/>
          </a:bodyPr>
          <a:lstStyle/>
          <a:p>
            <a:r>
              <a:rPr lang="pl-PL" dirty="0"/>
              <a:t>DEFINITION OF READY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BB6B01-5B73-410C-B70E-8CF2FA470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6" y="721224"/>
            <a:ext cx="5367164" cy="5415552"/>
          </a:xfrm>
          <a:prstGeom prst="rect">
            <a:avLst/>
          </a:prstGeom>
          <a:solidFill>
            <a:srgbClr val="FFFFFF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2F587-12D0-435C-8E3F-F44C36EE7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5217" y="892220"/>
            <a:ext cx="5054517" cy="5097085"/>
          </a:xfrm>
          <a:prstGeom prst="rect">
            <a:avLst/>
          </a:prstGeom>
          <a:noFill/>
          <a:ln w="6350" cap="sq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7888AC68-DD2C-E726-226E-7773EAB52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256" y="2529542"/>
            <a:ext cx="4414438" cy="1817081"/>
          </a:xfrm>
          <a:prstGeom prst="rect">
            <a:avLst/>
          </a:prstGeom>
        </p:spPr>
      </p:pic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9FB3A25-8A7F-EF2B-822E-24CE05CAF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9450" y="2538919"/>
            <a:ext cx="4957554" cy="3496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/>
              <a:t>Definition of </a:t>
            </a:r>
            <a:r>
              <a:rPr lang="pl-PL" dirty="0" err="1"/>
              <a:t>Ready</a:t>
            </a:r>
            <a:r>
              <a:rPr lang="pl-PL" dirty="0"/>
              <a:t> oznacza, że zadanie jest gotowe do rozpoczęcia, gdy:</a:t>
            </a:r>
          </a:p>
          <a:p>
            <a:r>
              <a:rPr lang="pl-PL" dirty="0"/>
              <a:t>ma jasno określone wymagania </a:t>
            </a:r>
          </a:p>
          <a:p>
            <a:r>
              <a:rPr lang="pl-PL" dirty="0"/>
              <a:t>jest zrozumiałe dla zespołu </a:t>
            </a:r>
          </a:p>
          <a:p>
            <a:r>
              <a:rPr lang="pl-PL" dirty="0"/>
              <a:t>posiada kryteria akceptacji </a:t>
            </a:r>
          </a:p>
          <a:p>
            <a:r>
              <a:rPr lang="pl-PL" dirty="0"/>
              <a:t>jest możliwe do zrealizowania w iteracji</a:t>
            </a:r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202661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FA4BA6E-09A7-F293-0F76-FEC9C6C0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pl-PL"/>
              <a:t>REZERWY</a:t>
            </a:r>
          </a:p>
        </p:txBody>
      </p:sp>
      <p:graphicFrame>
        <p:nvGraphicFramePr>
          <p:cNvPr id="18" name="Symbol zastępczy zawartości 2">
            <a:extLst>
              <a:ext uri="{FF2B5EF4-FFF2-40B4-BE49-F238E27FC236}">
                <a16:creationId xmlns:a16="http://schemas.microsoft.com/office/drawing/2014/main" id="{194ABB14-EE7D-48E3-D056-BC247A9A3F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6297623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79919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B72A9B-FD82-4F09-BF1E-D39311D3A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39B371-6E4E-4070-AB4E-4D788405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37DAED-8BFE-4563-BB45-B5E554D70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pl-PL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D215A2AA-D471-29C1-E8AA-98B3A0C37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PODSUMOWANIE</a:t>
            </a:r>
            <a:endParaRPr lang="pl-PL"/>
          </a:p>
        </p:txBody>
      </p:sp>
      <p:graphicFrame>
        <p:nvGraphicFramePr>
          <p:cNvPr id="5" name="Symbol zastępczy zawartości 2">
            <a:extLst>
              <a:ext uri="{FF2B5EF4-FFF2-40B4-BE49-F238E27FC236}">
                <a16:creationId xmlns:a16="http://schemas.microsoft.com/office/drawing/2014/main" id="{0D6B263C-6CD7-387E-1509-67D166B29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689264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69858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oudy Old Style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2028</Words>
  <Application>Microsoft Office PowerPoint</Application>
  <PresentationFormat>Panoramiczny</PresentationFormat>
  <Paragraphs>291</Paragraphs>
  <Slides>32</Slides>
  <Notes>31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7" baseType="lpstr">
      <vt:lpstr>Aptos</vt:lpstr>
      <vt:lpstr>Arial</vt:lpstr>
      <vt:lpstr>Garamond</vt:lpstr>
      <vt:lpstr>Goudy Old Style</vt:lpstr>
      <vt:lpstr>SavonVTI</vt:lpstr>
      <vt:lpstr>PLANOWANIE PROJEKTU INFORMATYCZNEGO </vt:lpstr>
      <vt:lpstr>Firma Oil</vt:lpstr>
      <vt:lpstr>PLAN PROJEKTU</vt:lpstr>
      <vt:lpstr>Elementy planu projektu</vt:lpstr>
      <vt:lpstr>CELE SMART</vt:lpstr>
      <vt:lpstr>Prezentacja programu PowerPoint</vt:lpstr>
      <vt:lpstr>Ciekawostka</vt:lpstr>
      <vt:lpstr>WBS (Work Breakdown Structure)</vt:lpstr>
      <vt:lpstr>Tworzenie WBS</vt:lpstr>
      <vt:lpstr>SZACOWANIE</vt:lpstr>
      <vt:lpstr>HARMONOGRAM</vt:lpstr>
      <vt:lpstr>Diagram Gantta</vt:lpstr>
      <vt:lpstr>KAMIENIE MILOWE</vt:lpstr>
      <vt:lpstr>PLANOWANIE ITERACYJNE VS SEKWENCYJNE</vt:lpstr>
      <vt:lpstr>ZALEŻNOŚCI</vt:lpstr>
      <vt:lpstr>AKTUALIZACJA PLANU</vt:lpstr>
      <vt:lpstr>STRATEGIA VS OPERACJE</vt:lpstr>
      <vt:lpstr>Strategia mówi, dokąd idziemy. Operacje mówią, jak tam dojść </vt:lpstr>
      <vt:lpstr>Czym jest rolling wave planning?</vt:lpstr>
      <vt:lpstr>Prezentacja programu PowerPoint</vt:lpstr>
      <vt:lpstr>SZACOWANIE</vt:lpstr>
      <vt:lpstr>KOMPRESJA HARMONOGRAMU</vt:lpstr>
      <vt:lpstr>SZACOWANIE RELATYWNE</vt:lpstr>
      <vt:lpstr>SZACOWANIE RELATYWNE</vt:lpstr>
      <vt:lpstr>Prezentacja programu PowerPoint</vt:lpstr>
      <vt:lpstr>LEAD I LAG</vt:lpstr>
      <vt:lpstr>TYPY ZALEŻNOŚCI</vt:lpstr>
      <vt:lpstr>PRECYZJA VS DOKŁADNOŚĆ</vt:lpstr>
      <vt:lpstr>PRECYZJA VS DOKŁADNOŚĆ</vt:lpstr>
      <vt:lpstr>DEFINITION OF READY</vt:lpstr>
      <vt:lpstr>REZERWY</vt:lpstr>
      <vt:lpstr>PODSUMOWANIE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Hałys</dc:creator>
  <cp:lastModifiedBy>Filip Hałys</cp:lastModifiedBy>
  <cp:revision>2</cp:revision>
  <dcterms:created xsi:type="dcterms:W3CDTF">2026-03-28T09:28:55Z</dcterms:created>
  <dcterms:modified xsi:type="dcterms:W3CDTF">2026-03-28T11:51:38Z</dcterms:modified>
</cp:coreProperties>
</file>