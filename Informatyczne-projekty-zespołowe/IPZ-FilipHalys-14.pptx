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8" r:id="rId1"/>
  </p:sldMasterIdLst>
  <p:notesMasterIdLst>
    <p:notesMasterId r:id="rId33"/>
  </p:notes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6797" autoAdjust="0"/>
  </p:normalViewPr>
  <p:slideViewPr>
    <p:cSldViewPr snapToGrid="0">
      <p:cViewPr varScale="1">
        <p:scale>
          <a:sx n="55" d="100"/>
          <a:sy n="55" d="100"/>
        </p:scale>
        <p:origin x="1742"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_rels/data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diagrams/_rels/data8.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image" Target="../media/image23.svg"/></Relationships>
</file>

<file path=ppt/diagrams/_rels/data9.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image" Target="../media/image26.svg"/><Relationship Id="rId1" Type="http://schemas.openxmlformats.org/officeDocument/2006/relationships/image" Target="../media/image25.svg"/><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diagrams/_rels/drawing8.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image" Target="../media/image23.svg"/></Relationships>
</file>

<file path=ppt/diagrams/_rels/drawing9.xml.rels><?xml version="1.0" encoding="UTF-8" standalone="yes"?>
<Relationships xmlns="http://schemas.openxmlformats.org/package/2006/relationships"><Relationship Id="rId3" Type="http://schemas.openxmlformats.org/officeDocument/2006/relationships/image" Target="../media/image27.svg"/><Relationship Id="rId7" Type="http://schemas.openxmlformats.org/officeDocument/2006/relationships/image" Target="../media/image31.svg"/><Relationship Id="rId2" Type="http://schemas.openxmlformats.org/officeDocument/2006/relationships/image" Target="../media/image26.svg"/><Relationship Id="rId1" Type="http://schemas.openxmlformats.org/officeDocument/2006/relationships/image" Target="../media/image25.svg"/><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1514E9F-A7D3-42CE-B3C0-7B9174B5C820}"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0758B3A0-BFC6-4A46-B4F1-A30AC8E66DEC}">
      <dgm:prSet/>
      <dgm:spPr/>
      <dgm:t>
        <a:bodyPr/>
        <a:lstStyle/>
        <a:p>
          <a:r>
            <a:rPr lang="pl-PL" b="1"/>
            <a:t>NovaStack</a:t>
          </a:r>
          <a:r>
            <a:rPr lang="pl-PL"/>
            <a:t> – firma tworząca platformy chmurowe dla sektora finansowego.</a:t>
          </a:r>
          <a:endParaRPr lang="en-US"/>
        </a:p>
      </dgm:t>
    </dgm:pt>
    <dgm:pt modelId="{D29136FC-C17F-4908-9A8A-902ABD84EE97}" type="parTrans" cxnId="{010F2E2F-D56E-4949-89C5-905E769D7879}">
      <dgm:prSet/>
      <dgm:spPr/>
      <dgm:t>
        <a:bodyPr/>
        <a:lstStyle/>
        <a:p>
          <a:endParaRPr lang="en-US"/>
        </a:p>
      </dgm:t>
    </dgm:pt>
    <dgm:pt modelId="{82700E9A-5949-49F2-B8B6-D7B4424B87A1}" type="sibTrans" cxnId="{010F2E2F-D56E-4949-89C5-905E769D7879}">
      <dgm:prSet/>
      <dgm:spPr/>
      <dgm:t>
        <a:bodyPr/>
        <a:lstStyle/>
        <a:p>
          <a:endParaRPr lang="en-US"/>
        </a:p>
      </dgm:t>
    </dgm:pt>
    <dgm:pt modelId="{C9A1C4EB-F889-40A6-AA35-800F19E6C1A4}">
      <dgm:prSet/>
      <dgm:spPr/>
      <dgm:t>
        <a:bodyPr/>
        <a:lstStyle/>
        <a:p>
          <a:r>
            <a:rPr lang="pl-PL"/>
            <a:t>NovaStack przez kilka lat działała jako klasyczna firma software’owa, ale wraz z rozwojem pracy zdalnej, AI i automatyzacji zaczęła całkowicie przebudowywać sposób pracy swoich zespołów.</a:t>
          </a:r>
          <a:endParaRPr lang="en-US"/>
        </a:p>
      </dgm:t>
    </dgm:pt>
    <dgm:pt modelId="{D617FA7B-E343-4DCC-8FE0-D90214CC0E25}" type="parTrans" cxnId="{B5CC2247-1319-44EC-84F1-DC3EF438CA53}">
      <dgm:prSet/>
      <dgm:spPr/>
      <dgm:t>
        <a:bodyPr/>
        <a:lstStyle/>
        <a:p>
          <a:endParaRPr lang="en-US"/>
        </a:p>
      </dgm:t>
    </dgm:pt>
    <dgm:pt modelId="{DF5D4FAC-544F-41C2-BB73-47866C30C36D}" type="sibTrans" cxnId="{B5CC2247-1319-44EC-84F1-DC3EF438CA53}">
      <dgm:prSet/>
      <dgm:spPr/>
      <dgm:t>
        <a:bodyPr/>
        <a:lstStyle/>
        <a:p>
          <a:endParaRPr lang="en-US"/>
        </a:p>
      </dgm:t>
    </dgm:pt>
    <dgm:pt modelId="{9D8CCE34-8822-459F-963C-45F0A29E7C5F}" type="pres">
      <dgm:prSet presAssocID="{D1514E9F-A7D3-42CE-B3C0-7B9174B5C820}" presName="Name0" presStyleCnt="0">
        <dgm:presLayoutVars>
          <dgm:dir/>
          <dgm:animLvl val="lvl"/>
          <dgm:resizeHandles val="exact"/>
        </dgm:presLayoutVars>
      </dgm:prSet>
      <dgm:spPr/>
    </dgm:pt>
    <dgm:pt modelId="{4E968633-324C-4D4D-8F54-68210D251429}" type="pres">
      <dgm:prSet presAssocID="{C9A1C4EB-F889-40A6-AA35-800F19E6C1A4}" presName="boxAndChildren" presStyleCnt="0"/>
      <dgm:spPr/>
    </dgm:pt>
    <dgm:pt modelId="{29F07509-F6ED-43FF-8C62-C85D67D841BC}" type="pres">
      <dgm:prSet presAssocID="{C9A1C4EB-F889-40A6-AA35-800F19E6C1A4}" presName="parentTextBox" presStyleLbl="node1" presStyleIdx="0" presStyleCnt="2"/>
      <dgm:spPr/>
    </dgm:pt>
    <dgm:pt modelId="{3AE471B8-7227-4CDC-B7DA-7ADE89D3E180}" type="pres">
      <dgm:prSet presAssocID="{82700E9A-5949-49F2-B8B6-D7B4424B87A1}" presName="sp" presStyleCnt="0"/>
      <dgm:spPr/>
    </dgm:pt>
    <dgm:pt modelId="{0B9C8E84-E23E-4438-9933-652701305139}" type="pres">
      <dgm:prSet presAssocID="{0758B3A0-BFC6-4A46-B4F1-A30AC8E66DEC}" presName="arrowAndChildren" presStyleCnt="0"/>
      <dgm:spPr/>
    </dgm:pt>
    <dgm:pt modelId="{3DB94961-0844-4EFA-9024-77BA283B96C6}" type="pres">
      <dgm:prSet presAssocID="{0758B3A0-BFC6-4A46-B4F1-A30AC8E66DEC}" presName="parentTextArrow" presStyleLbl="node1" presStyleIdx="1" presStyleCnt="2"/>
      <dgm:spPr/>
    </dgm:pt>
  </dgm:ptLst>
  <dgm:cxnLst>
    <dgm:cxn modelId="{010F2E2F-D56E-4949-89C5-905E769D7879}" srcId="{D1514E9F-A7D3-42CE-B3C0-7B9174B5C820}" destId="{0758B3A0-BFC6-4A46-B4F1-A30AC8E66DEC}" srcOrd="0" destOrd="0" parTransId="{D29136FC-C17F-4908-9A8A-902ABD84EE97}" sibTransId="{82700E9A-5949-49F2-B8B6-D7B4424B87A1}"/>
    <dgm:cxn modelId="{478A9C38-A45F-4F94-BA76-E9BD67FF5515}" type="presOf" srcId="{D1514E9F-A7D3-42CE-B3C0-7B9174B5C820}" destId="{9D8CCE34-8822-459F-963C-45F0A29E7C5F}" srcOrd="0" destOrd="0" presId="urn:microsoft.com/office/officeart/2005/8/layout/process4"/>
    <dgm:cxn modelId="{B5CC2247-1319-44EC-84F1-DC3EF438CA53}" srcId="{D1514E9F-A7D3-42CE-B3C0-7B9174B5C820}" destId="{C9A1C4EB-F889-40A6-AA35-800F19E6C1A4}" srcOrd="1" destOrd="0" parTransId="{D617FA7B-E343-4DCC-8FE0-D90214CC0E25}" sibTransId="{DF5D4FAC-544F-41C2-BB73-47866C30C36D}"/>
    <dgm:cxn modelId="{43F73A57-3014-4B65-9A49-5CE35EEC7C8E}" type="presOf" srcId="{0758B3A0-BFC6-4A46-B4F1-A30AC8E66DEC}" destId="{3DB94961-0844-4EFA-9024-77BA283B96C6}" srcOrd="0" destOrd="0" presId="urn:microsoft.com/office/officeart/2005/8/layout/process4"/>
    <dgm:cxn modelId="{D677B68A-A8CC-42FE-AC8F-7DD5ECB92248}" type="presOf" srcId="{C9A1C4EB-F889-40A6-AA35-800F19E6C1A4}" destId="{29F07509-F6ED-43FF-8C62-C85D67D841BC}" srcOrd="0" destOrd="0" presId="urn:microsoft.com/office/officeart/2005/8/layout/process4"/>
    <dgm:cxn modelId="{F5EA185E-B946-409A-866C-27FDB205E4AC}" type="presParOf" srcId="{9D8CCE34-8822-459F-963C-45F0A29E7C5F}" destId="{4E968633-324C-4D4D-8F54-68210D251429}" srcOrd="0" destOrd="0" presId="urn:microsoft.com/office/officeart/2005/8/layout/process4"/>
    <dgm:cxn modelId="{72FBCF5A-3B76-4DB2-89D0-E2285B169377}" type="presParOf" srcId="{4E968633-324C-4D4D-8F54-68210D251429}" destId="{29F07509-F6ED-43FF-8C62-C85D67D841BC}" srcOrd="0" destOrd="0" presId="urn:microsoft.com/office/officeart/2005/8/layout/process4"/>
    <dgm:cxn modelId="{7B5DF8F5-1B1C-4C03-B869-8B0BA22841BB}" type="presParOf" srcId="{9D8CCE34-8822-459F-963C-45F0A29E7C5F}" destId="{3AE471B8-7227-4CDC-B7DA-7ADE89D3E180}" srcOrd="1" destOrd="0" presId="urn:microsoft.com/office/officeart/2005/8/layout/process4"/>
    <dgm:cxn modelId="{2CABEC22-D1E5-43E2-ACFF-74ECD7AF8B68}" type="presParOf" srcId="{9D8CCE34-8822-459F-963C-45F0A29E7C5F}" destId="{0B9C8E84-E23E-4438-9933-652701305139}" srcOrd="2" destOrd="0" presId="urn:microsoft.com/office/officeart/2005/8/layout/process4"/>
    <dgm:cxn modelId="{AE2C821A-9AD1-4203-AE84-834C8782AF69}" type="presParOf" srcId="{0B9C8E84-E23E-4438-9933-652701305139}" destId="{3DB94961-0844-4EFA-9024-77BA283B96C6}"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0A02537-E0B9-4558-B521-00C23606D2D3}"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B9783B66-7F45-456E-8C83-0652F588B7B2}">
      <dgm:prSet/>
      <dgm:spPr/>
      <dgm:t>
        <a:bodyPr/>
        <a:lstStyle/>
        <a:p>
          <a:r>
            <a:rPr lang="pl-PL" dirty="0"/>
            <a:t>Rola lidera zespołu IT przestaje opierać się na kontroli operacyjnej i nadzorowaniu codziennej pracy. Coraz częściej lider pełni funkcję koordynatora środowiska pracy, którego zadaniem jest umożliwienie zespołowi osiągania wysokiej efektywności.</a:t>
          </a:r>
          <a:endParaRPr lang="en-US" dirty="0"/>
        </a:p>
      </dgm:t>
    </dgm:pt>
    <dgm:pt modelId="{2607A06F-82C0-4B86-9EE6-B85B8DB76925}" type="parTrans" cxnId="{E30FB652-76F3-4865-8AD8-A4DE2ED0C561}">
      <dgm:prSet/>
      <dgm:spPr/>
      <dgm:t>
        <a:bodyPr/>
        <a:lstStyle/>
        <a:p>
          <a:endParaRPr lang="en-US"/>
        </a:p>
      </dgm:t>
    </dgm:pt>
    <dgm:pt modelId="{AF310842-1083-47DB-B484-44C6186822E5}" type="sibTrans" cxnId="{E30FB652-76F3-4865-8AD8-A4DE2ED0C561}">
      <dgm:prSet/>
      <dgm:spPr/>
      <dgm:t>
        <a:bodyPr/>
        <a:lstStyle/>
        <a:p>
          <a:endParaRPr lang="en-US"/>
        </a:p>
      </dgm:t>
    </dgm:pt>
    <dgm:pt modelId="{665D9AC8-52CB-4D5F-8062-80728734CF77}">
      <dgm:prSet/>
      <dgm:spPr/>
      <dgm:t>
        <a:bodyPr/>
        <a:lstStyle/>
        <a:p>
          <a:r>
            <a:rPr lang="pl-PL"/>
            <a:t>Nowoczesny lider musi umieć:</a:t>
          </a:r>
          <a:endParaRPr lang="en-US"/>
        </a:p>
      </dgm:t>
    </dgm:pt>
    <dgm:pt modelId="{5B1F59A1-90A5-4663-A713-FA29195A88CC}" type="parTrans" cxnId="{E2C8AC3A-B371-4CE7-A917-86BAC8BC6A8E}">
      <dgm:prSet/>
      <dgm:spPr/>
      <dgm:t>
        <a:bodyPr/>
        <a:lstStyle/>
        <a:p>
          <a:endParaRPr lang="en-US"/>
        </a:p>
      </dgm:t>
    </dgm:pt>
    <dgm:pt modelId="{1989C955-503A-4F05-8B2A-DF2D3A6557A3}" type="sibTrans" cxnId="{E2C8AC3A-B371-4CE7-A917-86BAC8BC6A8E}">
      <dgm:prSet/>
      <dgm:spPr/>
      <dgm:t>
        <a:bodyPr/>
        <a:lstStyle/>
        <a:p>
          <a:endParaRPr lang="en-US"/>
        </a:p>
      </dgm:t>
    </dgm:pt>
    <dgm:pt modelId="{41BA5E5F-0002-4B12-9A5B-B657CF923E2B}">
      <dgm:prSet/>
      <dgm:spPr/>
      <dgm:t>
        <a:bodyPr/>
        <a:lstStyle/>
        <a:p>
          <a:r>
            <a:rPr lang="pl-PL"/>
            <a:t>budować zaufanie,</a:t>
          </a:r>
          <a:endParaRPr lang="en-US"/>
        </a:p>
      </dgm:t>
    </dgm:pt>
    <dgm:pt modelId="{8AD31F34-1133-4170-B1D9-568762679EF0}" type="parTrans" cxnId="{61B92A86-570B-44D9-A70E-DBD361AE6C0C}">
      <dgm:prSet/>
      <dgm:spPr/>
      <dgm:t>
        <a:bodyPr/>
        <a:lstStyle/>
        <a:p>
          <a:endParaRPr lang="en-US"/>
        </a:p>
      </dgm:t>
    </dgm:pt>
    <dgm:pt modelId="{6DBEE9C1-3F50-4C5E-8A7D-F36ED9790F90}" type="sibTrans" cxnId="{61B92A86-570B-44D9-A70E-DBD361AE6C0C}">
      <dgm:prSet/>
      <dgm:spPr/>
      <dgm:t>
        <a:bodyPr/>
        <a:lstStyle/>
        <a:p>
          <a:endParaRPr lang="en-US"/>
        </a:p>
      </dgm:t>
    </dgm:pt>
    <dgm:pt modelId="{513C426E-512E-4E70-913B-7D65E42ACA34}">
      <dgm:prSet/>
      <dgm:spPr/>
      <dgm:t>
        <a:bodyPr/>
        <a:lstStyle/>
        <a:p>
          <a:r>
            <a:rPr lang="pl-PL"/>
            <a:t>zarządzać energią zespołu,</a:t>
          </a:r>
          <a:endParaRPr lang="en-US"/>
        </a:p>
      </dgm:t>
    </dgm:pt>
    <dgm:pt modelId="{C249FFCD-53B0-4B0E-AACA-6B54F091CAB3}" type="parTrans" cxnId="{048052E0-8881-45DA-BD18-F5DAD246A6B4}">
      <dgm:prSet/>
      <dgm:spPr/>
      <dgm:t>
        <a:bodyPr/>
        <a:lstStyle/>
        <a:p>
          <a:endParaRPr lang="en-US"/>
        </a:p>
      </dgm:t>
    </dgm:pt>
    <dgm:pt modelId="{DF84D07D-8612-4F23-9346-FE070E1BBE8A}" type="sibTrans" cxnId="{048052E0-8881-45DA-BD18-F5DAD246A6B4}">
      <dgm:prSet/>
      <dgm:spPr/>
      <dgm:t>
        <a:bodyPr/>
        <a:lstStyle/>
        <a:p>
          <a:endParaRPr lang="en-US"/>
        </a:p>
      </dgm:t>
    </dgm:pt>
    <dgm:pt modelId="{4AAB24DC-88CF-44B7-BBC9-40D87A5A6666}">
      <dgm:prSet/>
      <dgm:spPr/>
      <dgm:t>
        <a:bodyPr/>
        <a:lstStyle/>
        <a:p>
          <a:r>
            <a:rPr lang="pl-PL"/>
            <a:t>wspierać rozwój kompetencji,</a:t>
          </a:r>
          <a:endParaRPr lang="en-US"/>
        </a:p>
      </dgm:t>
    </dgm:pt>
    <dgm:pt modelId="{A3991399-515E-4A9E-963E-68402BAFB692}" type="parTrans" cxnId="{60B5BF5F-2AEA-4D43-B4BD-4AE9E4E27CA7}">
      <dgm:prSet/>
      <dgm:spPr/>
      <dgm:t>
        <a:bodyPr/>
        <a:lstStyle/>
        <a:p>
          <a:endParaRPr lang="en-US"/>
        </a:p>
      </dgm:t>
    </dgm:pt>
    <dgm:pt modelId="{7C5E6330-4419-43F2-A9AC-151F632C7954}" type="sibTrans" cxnId="{60B5BF5F-2AEA-4D43-B4BD-4AE9E4E27CA7}">
      <dgm:prSet/>
      <dgm:spPr/>
      <dgm:t>
        <a:bodyPr/>
        <a:lstStyle/>
        <a:p>
          <a:endParaRPr lang="en-US"/>
        </a:p>
      </dgm:t>
    </dgm:pt>
    <dgm:pt modelId="{767E85B8-5B95-4763-AEC5-945CA1F9A77B}">
      <dgm:prSet/>
      <dgm:spPr/>
      <dgm:t>
        <a:bodyPr/>
        <a:lstStyle/>
        <a:p>
          <a:r>
            <a:rPr lang="pl-PL"/>
            <a:t>rozwiązywać konflikty,</a:t>
          </a:r>
          <a:endParaRPr lang="en-US"/>
        </a:p>
      </dgm:t>
    </dgm:pt>
    <dgm:pt modelId="{1BB58785-7F81-449C-B57B-6CD16795922C}" type="parTrans" cxnId="{5B540451-B331-4ADE-B1D6-5179F3371D6B}">
      <dgm:prSet/>
      <dgm:spPr/>
      <dgm:t>
        <a:bodyPr/>
        <a:lstStyle/>
        <a:p>
          <a:endParaRPr lang="en-US"/>
        </a:p>
      </dgm:t>
    </dgm:pt>
    <dgm:pt modelId="{4E059409-F013-4069-89AC-E3F2F34ADBB1}" type="sibTrans" cxnId="{5B540451-B331-4ADE-B1D6-5179F3371D6B}">
      <dgm:prSet/>
      <dgm:spPr/>
      <dgm:t>
        <a:bodyPr/>
        <a:lstStyle/>
        <a:p>
          <a:endParaRPr lang="en-US"/>
        </a:p>
      </dgm:t>
    </dgm:pt>
    <dgm:pt modelId="{08E9A476-3709-45D4-A15D-23DD12CCD895}">
      <dgm:prSet/>
      <dgm:spPr/>
      <dgm:t>
        <a:bodyPr/>
        <a:lstStyle/>
        <a:p>
          <a:r>
            <a:rPr lang="pl-PL"/>
            <a:t>tworzyć bezpieczne środowisko do eksperymentowania.</a:t>
          </a:r>
          <a:endParaRPr lang="en-US"/>
        </a:p>
      </dgm:t>
    </dgm:pt>
    <dgm:pt modelId="{B0015938-C3DA-48AD-9663-752420C87369}" type="parTrans" cxnId="{D02ED1F9-EE0D-4083-9479-32E2A8610D31}">
      <dgm:prSet/>
      <dgm:spPr/>
      <dgm:t>
        <a:bodyPr/>
        <a:lstStyle/>
        <a:p>
          <a:endParaRPr lang="en-US"/>
        </a:p>
      </dgm:t>
    </dgm:pt>
    <dgm:pt modelId="{86CE1806-DAAF-426A-9EDC-C91E6813EB52}" type="sibTrans" cxnId="{D02ED1F9-EE0D-4083-9479-32E2A8610D31}">
      <dgm:prSet/>
      <dgm:spPr/>
      <dgm:t>
        <a:bodyPr/>
        <a:lstStyle/>
        <a:p>
          <a:endParaRPr lang="en-US"/>
        </a:p>
      </dgm:t>
    </dgm:pt>
    <dgm:pt modelId="{635F89A8-533F-4A29-AD68-97F4DF31BB32}" type="pres">
      <dgm:prSet presAssocID="{E0A02537-E0B9-4558-B521-00C23606D2D3}" presName="Name0" presStyleCnt="0">
        <dgm:presLayoutVars>
          <dgm:dir/>
          <dgm:resizeHandles val="exact"/>
        </dgm:presLayoutVars>
      </dgm:prSet>
      <dgm:spPr/>
    </dgm:pt>
    <dgm:pt modelId="{F2FDE666-1161-434B-9B67-E4599179DF18}" type="pres">
      <dgm:prSet presAssocID="{B9783B66-7F45-456E-8C83-0652F588B7B2}" presName="node" presStyleLbl="node1" presStyleIdx="0" presStyleCnt="2">
        <dgm:presLayoutVars>
          <dgm:bulletEnabled val="1"/>
        </dgm:presLayoutVars>
      </dgm:prSet>
      <dgm:spPr/>
    </dgm:pt>
    <dgm:pt modelId="{C8786B8B-9F1A-47D8-989C-00CA4728B168}" type="pres">
      <dgm:prSet presAssocID="{AF310842-1083-47DB-B484-44C6186822E5}" presName="sibTrans" presStyleLbl="sibTrans1D1" presStyleIdx="0" presStyleCnt="1"/>
      <dgm:spPr/>
    </dgm:pt>
    <dgm:pt modelId="{15F6C74B-22E4-4410-B026-34190330E188}" type="pres">
      <dgm:prSet presAssocID="{AF310842-1083-47DB-B484-44C6186822E5}" presName="connectorText" presStyleLbl="sibTrans1D1" presStyleIdx="0" presStyleCnt="1"/>
      <dgm:spPr/>
    </dgm:pt>
    <dgm:pt modelId="{0062FAD5-D629-4BBC-A421-66893552D77B}" type="pres">
      <dgm:prSet presAssocID="{665D9AC8-52CB-4D5F-8062-80728734CF77}" presName="node" presStyleLbl="node1" presStyleIdx="1" presStyleCnt="2">
        <dgm:presLayoutVars>
          <dgm:bulletEnabled val="1"/>
        </dgm:presLayoutVars>
      </dgm:prSet>
      <dgm:spPr/>
    </dgm:pt>
  </dgm:ptLst>
  <dgm:cxnLst>
    <dgm:cxn modelId="{7FCAF301-5020-41FB-B74F-B06C0A7074C7}" type="presOf" srcId="{E0A02537-E0B9-4558-B521-00C23606D2D3}" destId="{635F89A8-533F-4A29-AD68-97F4DF31BB32}" srcOrd="0" destOrd="0" presId="urn:microsoft.com/office/officeart/2016/7/layout/RepeatingBendingProcessNew"/>
    <dgm:cxn modelId="{F9FEDA07-E297-4D6D-8282-8FCBD127E187}" type="presOf" srcId="{665D9AC8-52CB-4D5F-8062-80728734CF77}" destId="{0062FAD5-D629-4BBC-A421-66893552D77B}" srcOrd="0" destOrd="0" presId="urn:microsoft.com/office/officeart/2016/7/layout/RepeatingBendingProcessNew"/>
    <dgm:cxn modelId="{F55B8425-3E95-41DB-B14A-4FF863A08D00}" type="presOf" srcId="{AF310842-1083-47DB-B484-44C6186822E5}" destId="{15F6C74B-22E4-4410-B026-34190330E188}" srcOrd="1" destOrd="0" presId="urn:microsoft.com/office/officeart/2016/7/layout/RepeatingBendingProcessNew"/>
    <dgm:cxn modelId="{A3EF0027-C640-4D7B-B6F3-1CDEDCA04A5C}" type="presOf" srcId="{767E85B8-5B95-4763-AEC5-945CA1F9A77B}" destId="{0062FAD5-D629-4BBC-A421-66893552D77B}" srcOrd="0" destOrd="4" presId="urn:microsoft.com/office/officeart/2016/7/layout/RepeatingBendingProcessNew"/>
    <dgm:cxn modelId="{7C212533-4D3B-40C2-B5F4-05273B2FB266}" type="presOf" srcId="{4AAB24DC-88CF-44B7-BBC9-40D87A5A6666}" destId="{0062FAD5-D629-4BBC-A421-66893552D77B}" srcOrd="0" destOrd="3" presId="urn:microsoft.com/office/officeart/2016/7/layout/RepeatingBendingProcessNew"/>
    <dgm:cxn modelId="{E2C8AC3A-B371-4CE7-A917-86BAC8BC6A8E}" srcId="{E0A02537-E0B9-4558-B521-00C23606D2D3}" destId="{665D9AC8-52CB-4D5F-8062-80728734CF77}" srcOrd="1" destOrd="0" parTransId="{5B1F59A1-90A5-4663-A713-FA29195A88CC}" sibTransId="{1989C955-503A-4F05-8B2A-DF2D3A6557A3}"/>
    <dgm:cxn modelId="{60B5BF5F-2AEA-4D43-B4BD-4AE9E4E27CA7}" srcId="{665D9AC8-52CB-4D5F-8062-80728734CF77}" destId="{4AAB24DC-88CF-44B7-BBC9-40D87A5A6666}" srcOrd="2" destOrd="0" parTransId="{A3991399-515E-4A9E-963E-68402BAFB692}" sibTransId="{7C5E6330-4419-43F2-A9AC-151F632C7954}"/>
    <dgm:cxn modelId="{C7AF3A47-94E9-440C-BD82-D0D697CFD37F}" type="presOf" srcId="{AF310842-1083-47DB-B484-44C6186822E5}" destId="{C8786B8B-9F1A-47D8-989C-00CA4728B168}" srcOrd="0" destOrd="0" presId="urn:microsoft.com/office/officeart/2016/7/layout/RepeatingBendingProcessNew"/>
    <dgm:cxn modelId="{5B540451-B331-4ADE-B1D6-5179F3371D6B}" srcId="{665D9AC8-52CB-4D5F-8062-80728734CF77}" destId="{767E85B8-5B95-4763-AEC5-945CA1F9A77B}" srcOrd="3" destOrd="0" parTransId="{1BB58785-7F81-449C-B57B-6CD16795922C}" sibTransId="{4E059409-F013-4069-89AC-E3F2F34ADBB1}"/>
    <dgm:cxn modelId="{E30FB652-76F3-4865-8AD8-A4DE2ED0C561}" srcId="{E0A02537-E0B9-4558-B521-00C23606D2D3}" destId="{B9783B66-7F45-456E-8C83-0652F588B7B2}" srcOrd="0" destOrd="0" parTransId="{2607A06F-82C0-4B86-9EE6-B85B8DB76925}" sibTransId="{AF310842-1083-47DB-B484-44C6186822E5}"/>
    <dgm:cxn modelId="{61B92A86-570B-44D9-A70E-DBD361AE6C0C}" srcId="{665D9AC8-52CB-4D5F-8062-80728734CF77}" destId="{41BA5E5F-0002-4B12-9A5B-B657CF923E2B}" srcOrd="0" destOrd="0" parTransId="{8AD31F34-1133-4170-B1D9-568762679EF0}" sibTransId="{6DBEE9C1-3F50-4C5E-8A7D-F36ED9790F90}"/>
    <dgm:cxn modelId="{206BAC9D-7A80-4017-B182-B89CC34928DC}" type="presOf" srcId="{41BA5E5F-0002-4B12-9A5B-B657CF923E2B}" destId="{0062FAD5-D629-4BBC-A421-66893552D77B}" srcOrd="0" destOrd="1" presId="urn:microsoft.com/office/officeart/2016/7/layout/RepeatingBendingProcessNew"/>
    <dgm:cxn modelId="{048052E0-8881-45DA-BD18-F5DAD246A6B4}" srcId="{665D9AC8-52CB-4D5F-8062-80728734CF77}" destId="{513C426E-512E-4E70-913B-7D65E42ACA34}" srcOrd="1" destOrd="0" parTransId="{C249FFCD-53B0-4B0E-AACA-6B54F091CAB3}" sibTransId="{DF84D07D-8612-4F23-9346-FE070E1BBE8A}"/>
    <dgm:cxn modelId="{AEC850E8-071B-4388-A8AC-90FEDB1CF373}" type="presOf" srcId="{08E9A476-3709-45D4-A15D-23DD12CCD895}" destId="{0062FAD5-D629-4BBC-A421-66893552D77B}" srcOrd="0" destOrd="5" presId="urn:microsoft.com/office/officeart/2016/7/layout/RepeatingBendingProcessNew"/>
    <dgm:cxn modelId="{318AB6F7-0A00-4291-968C-1706129E2503}" type="presOf" srcId="{B9783B66-7F45-456E-8C83-0652F588B7B2}" destId="{F2FDE666-1161-434B-9B67-E4599179DF18}" srcOrd="0" destOrd="0" presId="urn:microsoft.com/office/officeart/2016/7/layout/RepeatingBendingProcessNew"/>
    <dgm:cxn modelId="{D02ED1F9-EE0D-4083-9479-32E2A8610D31}" srcId="{665D9AC8-52CB-4D5F-8062-80728734CF77}" destId="{08E9A476-3709-45D4-A15D-23DD12CCD895}" srcOrd="4" destOrd="0" parTransId="{B0015938-C3DA-48AD-9663-752420C87369}" sibTransId="{86CE1806-DAAF-426A-9EDC-C91E6813EB52}"/>
    <dgm:cxn modelId="{9449EEF9-5E29-4C20-8F9D-12D5BB6CEA47}" type="presOf" srcId="{513C426E-512E-4E70-913B-7D65E42ACA34}" destId="{0062FAD5-D629-4BBC-A421-66893552D77B}" srcOrd="0" destOrd="2" presId="urn:microsoft.com/office/officeart/2016/7/layout/RepeatingBendingProcessNew"/>
    <dgm:cxn modelId="{D11CCE82-44C6-4D1D-99A3-DF0220C0DF15}" type="presParOf" srcId="{635F89A8-533F-4A29-AD68-97F4DF31BB32}" destId="{F2FDE666-1161-434B-9B67-E4599179DF18}" srcOrd="0" destOrd="0" presId="urn:microsoft.com/office/officeart/2016/7/layout/RepeatingBendingProcessNew"/>
    <dgm:cxn modelId="{8C59487A-721F-4C06-BF92-0ED9BD4649FC}" type="presParOf" srcId="{635F89A8-533F-4A29-AD68-97F4DF31BB32}" destId="{C8786B8B-9F1A-47D8-989C-00CA4728B168}" srcOrd="1" destOrd="0" presId="urn:microsoft.com/office/officeart/2016/7/layout/RepeatingBendingProcessNew"/>
    <dgm:cxn modelId="{397CD8BC-8B4A-4C67-9501-8B02F1385636}" type="presParOf" srcId="{C8786B8B-9F1A-47D8-989C-00CA4728B168}" destId="{15F6C74B-22E4-4410-B026-34190330E188}" srcOrd="0" destOrd="0" presId="urn:microsoft.com/office/officeart/2016/7/layout/RepeatingBendingProcessNew"/>
    <dgm:cxn modelId="{B9A2F28C-10A5-4EEE-9E9D-C631B78E8946}" type="presParOf" srcId="{635F89A8-533F-4A29-AD68-97F4DF31BB32}" destId="{0062FAD5-D629-4BBC-A421-66893552D77B}" srcOrd="2"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8CE3938-9A5F-41BD-8AB8-AE3C6F70DD3B}"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AABBE8A6-8AA4-4C2F-837B-B6533995958A}">
      <dgm:prSet/>
      <dgm:spPr/>
      <dgm:t>
        <a:bodyPr/>
        <a:lstStyle/>
        <a:p>
          <a:r>
            <a:rPr lang="pl-PL"/>
            <a:t>Automatyzacja stopniowo zmienia strukturę organizacyjną zespołów IT, ponieważ wiele zadań, które wcześniej wymagały osobnych ról, może być obecnie wykonywanych przez systemy wspomagające.</a:t>
          </a:r>
          <a:endParaRPr lang="en-US"/>
        </a:p>
      </dgm:t>
    </dgm:pt>
    <dgm:pt modelId="{4EC43042-2E6D-49BF-B92D-FDE6534F766C}" type="parTrans" cxnId="{26C49609-AAB2-45A8-92B0-308D4482EC3C}">
      <dgm:prSet/>
      <dgm:spPr/>
      <dgm:t>
        <a:bodyPr/>
        <a:lstStyle/>
        <a:p>
          <a:endParaRPr lang="en-US"/>
        </a:p>
      </dgm:t>
    </dgm:pt>
    <dgm:pt modelId="{5D3C065F-0189-45E6-8484-B187DACFE347}" type="sibTrans" cxnId="{26C49609-AAB2-45A8-92B0-308D4482EC3C}">
      <dgm:prSet/>
      <dgm:spPr/>
      <dgm:t>
        <a:bodyPr/>
        <a:lstStyle/>
        <a:p>
          <a:endParaRPr lang="en-US"/>
        </a:p>
      </dgm:t>
    </dgm:pt>
    <dgm:pt modelId="{BEDFCD33-1897-40BE-B009-830AA9880B43}">
      <dgm:prSet/>
      <dgm:spPr/>
      <dgm:t>
        <a:bodyPr/>
        <a:lstStyle/>
        <a:p>
          <a:r>
            <a:rPr lang="pl-PL"/>
            <a:t>Automatyzacja nie eliminuje zespołów. Powoduje jednak, że zespoły stają się mniejsze, bardziej wyspecjalizowane i bardziej odpowiedzialne za cały proces dostarczania wartości.</a:t>
          </a:r>
          <a:endParaRPr lang="en-US"/>
        </a:p>
      </dgm:t>
    </dgm:pt>
    <dgm:pt modelId="{C84FAFD5-5433-4596-AF43-90BA6888E979}" type="parTrans" cxnId="{860C0B45-5D23-48B3-A892-EDB2E2C758BC}">
      <dgm:prSet/>
      <dgm:spPr/>
      <dgm:t>
        <a:bodyPr/>
        <a:lstStyle/>
        <a:p>
          <a:endParaRPr lang="en-US"/>
        </a:p>
      </dgm:t>
    </dgm:pt>
    <dgm:pt modelId="{FA083CDC-6F3A-4B45-9910-DA6BB411901A}" type="sibTrans" cxnId="{860C0B45-5D23-48B3-A892-EDB2E2C758BC}">
      <dgm:prSet/>
      <dgm:spPr/>
      <dgm:t>
        <a:bodyPr/>
        <a:lstStyle/>
        <a:p>
          <a:endParaRPr lang="en-US"/>
        </a:p>
      </dgm:t>
    </dgm:pt>
    <dgm:pt modelId="{CE61B73F-6C60-4D52-B81E-4C719F861A21}" type="pres">
      <dgm:prSet presAssocID="{E8CE3938-9A5F-41BD-8AB8-AE3C6F70DD3B}" presName="linear" presStyleCnt="0">
        <dgm:presLayoutVars>
          <dgm:animLvl val="lvl"/>
          <dgm:resizeHandles val="exact"/>
        </dgm:presLayoutVars>
      </dgm:prSet>
      <dgm:spPr/>
    </dgm:pt>
    <dgm:pt modelId="{1B413664-584E-4C6C-BC2A-DBD74802E12F}" type="pres">
      <dgm:prSet presAssocID="{AABBE8A6-8AA4-4C2F-837B-B6533995958A}" presName="parentText" presStyleLbl="node1" presStyleIdx="0" presStyleCnt="2">
        <dgm:presLayoutVars>
          <dgm:chMax val="0"/>
          <dgm:bulletEnabled val="1"/>
        </dgm:presLayoutVars>
      </dgm:prSet>
      <dgm:spPr/>
    </dgm:pt>
    <dgm:pt modelId="{B18D4C47-5BD7-4E02-AAAA-1C1C8862AAFD}" type="pres">
      <dgm:prSet presAssocID="{5D3C065F-0189-45E6-8484-B187DACFE347}" presName="spacer" presStyleCnt="0"/>
      <dgm:spPr/>
    </dgm:pt>
    <dgm:pt modelId="{5F40F070-500F-420B-8FA6-A231A5F50E96}" type="pres">
      <dgm:prSet presAssocID="{BEDFCD33-1897-40BE-B009-830AA9880B43}" presName="parentText" presStyleLbl="node1" presStyleIdx="1" presStyleCnt="2">
        <dgm:presLayoutVars>
          <dgm:chMax val="0"/>
          <dgm:bulletEnabled val="1"/>
        </dgm:presLayoutVars>
      </dgm:prSet>
      <dgm:spPr/>
    </dgm:pt>
  </dgm:ptLst>
  <dgm:cxnLst>
    <dgm:cxn modelId="{26C49609-AAB2-45A8-92B0-308D4482EC3C}" srcId="{E8CE3938-9A5F-41BD-8AB8-AE3C6F70DD3B}" destId="{AABBE8A6-8AA4-4C2F-837B-B6533995958A}" srcOrd="0" destOrd="0" parTransId="{4EC43042-2E6D-49BF-B92D-FDE6534F766C}" sibTransId="{5D3C065F-0189-45E6-8484-B187DACFE347}"/>
    <dgm:cxn modelId="{D6DF5C28-91AB-40CB-9E64-44A304749435}" type="presOf" srcId="{BEDFCD33-1897-40BE-B009-830AA9880B43}" destId="{5F40F070-500F-420B-8FA6-A231A5F50E96}" srcOrd="0" destOrd="0" presId="urn:microsoft.com/office/officeart/2005/8/layout/vList2"/>
    <dgm:cxn modelId="{860C0B45-5D23-48B3-A892-EDB2E2C758BC}" srcId="{E8CE3938-9A5F-41BD-8AB8-AE3C6F70DD3B}" destId="{BEDFCD33-1897-40BE-B009-830AA9880B43}" srcOrd="1" destOrd="0" parTransId="{C84FAFD5-5433-4596-AF43-90BA6888E979}" sibTransId="{FA083CDC-6F3A-4B45-9910-DA6BB411901A}"/>
    <dgm:cxn modelId="{5278E47F-F0B1-448F-A87C-2C1B4A934C03}" type="presOf" srcId="{E8CE3938-9A5F-41BD-8AB8-AE3C6F70DD3B}" destId="{CE61B73F-6C60-4D52-B81E-4C719F861A21}" srcOrd="0" destOrd="0" presId="urn:microsoft.com/office/officeart/2005/8/layout/vList2"/>
    <dgm:cxn modelId="{ABFB89E2-3C35-449F-92E3-240C495BC5F9}" type="presOf" srcId="{AABBE8A6-8AA4-4C2F-837B-B6533995958A}" destId="{1B413664-584E-4C6C-BC2A-DBD74802E12F}" srcOrd="0" destOrd="0" presId="urn:microsoft.com/office/officeart/2005/8/layout/vList2"/>
    <dgm:cxn modelId="{76C2608B-61D5-45C9-AA21-F50BCE2E1D3D}" type="presParOf" srcId="{CE61B73F-6C60-4D52-B81E-4C719F861A21}" destId="{1B413664-584E-4C6C-BC2A-DBD74802E12F}" srcOrd="0" destOrd="0" presId="urn:microsoft.com/office/officeart/2005/8/layout/vList2"/>
    <dgm:cxn modelId="{20C9ED50-6CE6-4AFD-BF61-D35DD54EE539}" type="presParOf" srcId="{CE61B73F-6C60-4D52-B81E-4C719F861A21}" destId="{B18D4C47-5BD7-4E02-AAAA-1C1C8862AAFD}" srcOrd="1" destOrd="0" presId="urn:microsoft.com/office/officeart/2005/8/layout/vList2"/>
    <dgm:cxn modelId="{0CEA3EEA-0EE2-41E7-9BC4-675C0943DF14}" type="presParOf" srcId="{CE61B73F-6C60-4D52-B81E-4C719F861A21}" destId="{5F40F070-500F-420B-8FA6-A231A5F50E96}"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878557C-7554-4BE8-B47C-27F8C8345F18}"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E9EC146-9689-4156-82BE-59E6DAC63D78}">
      <dgm:prSet/>
      <dgm:spPr/>
      <dgm:t>
        <a:bodyPr/>
        <a:lstStyle/>
        <a:p>
          <a:r>
            <a:rPr lang="pl-PL"/>
            <a:t>Możliwe kierunki zmian obejmują:</a:t>
          </a:r>
          <a:endParaRPr lang="en-US"/>
        </a:p>
      </dgm:t>
    </dgm:pt>
    <dgm:pt modelId="{D17628CA-8DAF-4713-A5FC-7564CAC9F8C7}" type="parTrans" cxnId="{9BA43AA7-C0F4-4D77-A752-4F898752C695}">
      <dgm:prSet/>
      <dgm:spPr/>
      <dgm:t>
        <a:bodyPr/>
        <a:lstStyle/>
        <a:p>
          <a:endParaRPr lang="en-US"/>
        </a:p>
      </dgm:t>
    </dgm:pt>
    <dgm:pt modelId="{A2660C7C-767E-4EFF-907A-28C7317B16EA}" type="sibTrans" cxnId="{9BA43AA7-C0F4-4D77-A752-4F898752C695}">
      <dgm:prSet/>
      <dgm:spPr/>
      <dgm:t>
        <a:bodyPr/>
        <a:lstStyle/>
        <a:p>
          <a:endParaRPr lang="en-US"/>
        </a:p>
      </dgm:t>
    </dgm:pt>
    <dgm:pt modelId="{6832C228-EF60-4C0D-BC8C-5667EE93E0DD}">
      <dgm:prSet/>
      <dgm:spPr/>
      <dgm:t>
        <a:bodyPr/>
        <a:lstStyle/>
        <a:p>
          <a:r>
            <a:rPr lang="pl-PL"/>
            <a:t>większą współpracę człowieka z AI, </a:t>
          </a:r>
          <a:endParaRPr lang="en-US"/>
        </a:p>
      </dgm:t>
    </dgm:pt>
    <dgm:pt modelId="{29AADE02-6B32-4C47-B9F2-8D825DB3F0A9}" type="parTrans" cxnId="{836A9ED3-A745-4A30-989C-6BA786CC0C0A}">
      <dgm:prSet/>
      <dgm:spPr/>
      <dgm:t>
        <a:bodyPr/>
        <a:lstStyle/>
        <a:p>
          <a:endParaRPr lang="en-US"/>
        </a:p>
      </dgm:t>
    </dgm:pt>
    <dgm:pt modelId="{85D3642B-F54D-49A1-A9C8-855B52F00839}" type="sibTrans" cxnId="{836A9ED3-A745-4A30-989C-6BA786CC0C0A}">
      <dgm:prSet/>
      <dgm:spPr/>
      <dgm:t>
        <a:bodyPr/>
        <a:lstStyle/>
        <a:p>
          <a:endParaRPr lang="en-US"/>
        </a:p>
      </dgm:t>
    </dgm:pt>
    <dgm:pt modelId="{D79A4690-DFDE-4D48-A3D9-B20DA4EA23EA}">
      <dgm:prSet/>
      <dgm:spPr/>
      <dgm:t>
        <a:bodyPr/>
        <a:lstStyle/>
        <a:p>
          <a:r>
            <a:rPr lang="pl-PL"/>
            <a:t>silniejszą automatyzację procesów, </a:t>
          </a:r>
          <a:endParaRPr lang="en-US"/>
        </a:p>
      </dgm:t>
    </dgm:pt>
    <dgm:pt modelId="{9BDED1CC-B67D-4C3F-9453-5C5658171C3E}" type="parTrans" cxnId="{C7A271EB-68C2-4C3F-9D25-3530CFC64E85}">
      <dgm:prSet/>
      <dgm:spPr/>
      <dgm:t>
        <a:bodyPr/>
        <a:lstStyle/>
        <a:p>
          <a:endParaRPr lang="en-US"/>
        </a:p>
      </dgm:t>
    </dgm:pt>
    <dgm:pt modelId="{CB8C7424-B086-417B-A07A-5EB599C90768}" type="sibTrans" cxnId="{C7A271EB-68C2-4C3F-9D25-3530CFC64E85}">
      <dgm:prSet/>
      <dgm:spPr/>
      <dgm:t>
        <a:bodyPr/>
        <a:lstStyle/>
        <a:p>
          <a:endParaRPr lang="en-US"/>
        </a:p>
      </dgm:t>
    </dgm:pt>
    <dgm:pt modelId="{48F31BC8-2C98-46C6-8201-78D7EA1E95C9}">
      <dgm:prSet/>
      <dgm:spPr/>
      <dgm:t>
        <a:bodyPr/>
        <a:lstStyle/>
        <a:p>
          <a:r>
            <a:rPr lang="pl-PL"/>
            <a:t>wzrost znaczenia kompetencji miękkich, </a:t>
          </a:r>
          <a:endParaRPr lang="en-US"/>
        </a:p>
      </dgm:t>
    </dgm:pt>
    <dgm:pt modelId="{86719A19-2352-425F-BD68-CB8C0EE22A15}" type="parTrans" cxnId="{E946494E-993D-4AF3-8D35-9E648BA6635B}">
      <dgm:prSet/>
      <dgm:spPr/>
      <dgm:t>
        <a:bodyPr/>
        <a:lstStyle/>
        <a:p>
          <a:endParaRPr lang="en-US"/>
        </a:p>
      </dgm:t>
    </dgm:pt>
    <dgm:pt modelId="{9448CE12-D715-456D-99A6-E1592DB7BEFC}" type="sibTrans" cxnId="{E946494E-993D-4AF3-8D35-9E648BA6635B}">
      <dgm:prSet/>
      <dgm:spPr/>
      <dgm:t>
        <a:bodyPr/>
        <a:lstStyle/>
        <a:p>
          <a:endParaRPr lang="en-US"/>
        </a:p>
      </dgm:t>
    </dgm:pt>
    <dgm:pt modelId="{7B421CD2-93BE-41CC-88F3-F1E77BA2DE55}">
      <dgm:prSet/>
      <dgm:spPr/>
      <dgm:t>
        <a:bodyPr/>
        <a:lstStyle/>
        <a:p>
          <a:r>
            <a:rPr lang="pl-PL"/>
            <a:t>zespoły oparte na odpowiedzialności produktowej, </a:t>
          </a:r>
          <a:endParaRPr lang="en-US"/>
        </a:p>
      </dgm:t>
    </dgm:pt>
    <dgm:pt modelId="{6121DD43-EE53-4954-87C5-90D5F73EFD05}" type="parTrans" cxnId="{747D98FE-42D9-47D3-BCA2-688EF370397F}">
      <dgm:prSet/>
      <dgm:spPr/>
      <dgm:t>
        <a:bodyPr/>
        <a:lstStyle/>
        <a:p>
          <a:endParaRPr lang="en-US"/>
        </a:p>
      </dgm:t>
    </dgm:pt>
    <dgm:pt modelId="{5C494178-82BC-4DB2-8656-4B19EE2B29F9}" type="sibTrans" cxnId="{747D98FE-42D9-47D3-BCA2-688EF370397F}">
      <dgm:prSet/>
      <dgm:spPr/>
      <dgm:t>
        <a:bodyPr/>
        <a:lstStyle/>
        <a:p>
          <a:endParaRPr lang="en-US"/>
        </a:p>
      </dgm:t>
    </dgm:pt>
    <dgm:pt modelId="{30CB010E-4579-4231-BFE0-1258E9F115AE}">
      <dgm:prSet/>
      <dgm:spPr/>
      <dgm:t>
        <a:bodyPr/>
        <a:lstStyle/>
        <a:p>
          <a:r>
            <a:rPr lang="pl-PL"/>
            <a:t>organizacje działające bez klasycznych menedżerów średniego szczebla.</a:t>
          </a:r>
          <a:endParaRPr lang="en-US"/>
        </a:p>
      </dgm:t>
    </dgm:pt>
    <dgm:pt modelId="{2CBF3085-9508-4DD7-8BBE-4F07E2A01C41}" type="parTrans" cxnId="{862BEB68-0BB6-433F-9239-E003ADC67B6D}">
      <dgm:prSet/>
      <dgm:spPr/>
      <dgm:t>
        <a:bodyPr/>
        <a:lstStyle/>
        <a:p>
          <a:endParaRPr lang="en-US"/>
        </a:p>
      </dgm:t>
    </dgm:pt>
    <dgm:pt modelId="{0CB4E47A-A0B7-4E75-8EEF-D5F517887993}" type="sibTrans" cxnId="{862BEB68-0BB6-433F-9239-E003ADC67B6D}">
      <dgm:prSet/>
      <dgm:spPr/>
      <dgm:t>
        <a:bodyPr/>
        <a:lstStyle/>
        <a:p>
          <a:endParaRPr lang="en-US"/>
        </a:p>
      </dgm:t>
    </dgm:pt>
    <dgm:pt modelId="{F89D79EF-9F5E-46EC-B71E-0272272567E4}" type="pres">
      <dgm:prSet presAssocID="{0878557C-7554-4BE8-B47C-27F8C8345F18}" presName="root" presStyleCnt="0">
        <dgm:presLayoutVars>
          <dgm:dir/>
          <dgm:resizeHandles val="exact"/>
        </dgm:presLayoutVars>
      </dgm:prSet>
      <dgm:spPr/>
    </dgm:pt>
    <dgm:pt modelId="{F50F03B7-391A-47ED-9730-A1A5D4A0B1F3}" type="pres">
      <dgm:prSet presAssocID="{DE9EC146-9689-4156-82BE-59E6DAC63D78}" presName="compNode" presStyleCnt="0"/>
      <dgm:spPr/>
    </dgm:pt>
    <dgm:pt modelId="{479C4F2A-7EAB-439E-B04F-58C7198E8D0B}" type="pres">
      <dgm:prSet presAssocID="{DE9EC146-9689-4156-82BE-59E6DAC63D78}" presName="bgRect" presStyleLbl="bgShp" presStyleIdx="0" presStyleCnt="6"/>
      <dgm:spPr/>
    </dgm:pt>
    <dgm:pt modelId="{4A32C0F7-570A-49A6-BA6B-42008A124877}" type="pres">
      <dgm:prSet presAssocID="{DE9EC146-9689-4156-82BE-59E6DAC63D78}"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okument"/>
        </a:ext>
      </dgm:extLst>
    </dgm:pt>
    <dgm:pt modelId="{C20B7CB2-A47D-4871-BBF8-75E4B82E4308}" type="pres">
      <dgm:prSet presAssocID="{DE9EC146-9689-4156-82BE-59E6DAC63D78}" presName="spaceRect" presStyleCnt="0"/>
      <dgm:spPr/>
    </dgm:pt>
    <dgm:pt modelId="{0F86CBCE-F709-4AEF-B19F-68FF633C01AB}" type="pres">
      <dgm:prSet presAssocID="{DE9EC146-9689-4156-82BE-59E6DAC63D78}" presName="parTx" presStyleLbl="revTx" presStyleIdx="0" presStyleCnt="6">
        <dgm:presLayoutVars>
          <dgm:chMax val="0"/>
          <dgm:chPref val="0"/>
        </dgm:presLayoutVars>
      </dgm:prSet>
      <dgm:spPr/>
    </dgm:pt>
    <dgm:pt modelId="{2B59002C-A088-40CC-8756-1317AB4C7297}" type="pres">
      <dgm:prSet presAssocID="{A2660C7C-767E-4EFF-907A-28C7317B16EA}" presName="sibTrans" presStyleCnt="0"/>
      <dgm:spPr/>
    </dgm:pt>
    <dgm:pt modelId="{34BB8B6B-6295-4412-8B68-72F5BB965405}" type="pres">
      <dgm:prSet presAssocID="{6832C228-EF60-4C0D-BC8C-5667EE93E0DD}" presName="compNode" presStyleCnt="0"/>
      <dgm:spPr/>
    </dgm:pt>
    <dgm:pt modelId="{1F626497-BD25-478B-9F07-97171C70F90D}" type="pres">
      <dgm:prSet presAssocID="{6832C228-EF60-4C0D-BC8C-5667EE93E0DD}" presName="bgRect" presStyleLbl="bgShp" presStyleIdx="1" presStyleCnt="6"/>
      <dgm:spPr/>
    </dgm:pt>
    <dgm:pt modelId="{AC176362-27ED-42A5-8C36-FF067802CCD5}" type="pres">
      <dgm:prSet presAssocID="{6832C228-EF60-4C0D-BC8C-5667EE93E0DD}"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ścisk dłoni"/>
        </a:ext>
      </dgm:extLst>
    </dgm:pt>
    <dgm:pt modelId="{88E94092-EE87-4146-9F4A-AD619D1A5993}" type="pres">
      <dgm:prSet presAssocID="{6832C228-EF60-4C0D-BC8C-5667EE93E0DD}" presName="spaceRect" presStyleCnt="0"/>
      <dgm:spPr/>
    </dgm:pt>
    <dgm:pt modelId="{CCDA1866-2B73-4BB6-BF68-0312B5851814}" type="pres">
      <dgm:prSet presAssocID="{6832C228-EF60-4C0D-BC8C-5667EE93E0DD}" presName="parTx" presStyleLbl="revTx" presStyleIdx="1" presStyleCnt="6">
        <dgm:presLayoutVars>
          <dgm:chMax val="0"/>
          <dgm:chPref val="0"/>
        </dgm:presLayoutVars>
      </dgm:prSet>
      <dgm:spPr/>
    </dgm:pt>
    <dgm:pt modelId="{529C50F3-2C1A-4710-8062-BC8F69DD963D}" type="pres">
      <dgm:prSet presAssocID="{85D3642B-F54D-49A1-A9C8-855B52F00839}" presName="sibTrans" presStyleCnt="0"/>
      <dgm:spPr/>
    </dgm:pt>
    <dgm:pt modelId="{819FB8E0-B7E1-4B06-B7D3-B2548F60D614}" type="pres">
      <dgm:prSet presAssocID="{D79A4690-DFDE-4D48-A3D9-B20DA4EA23EA}" presName="compNode" presStyleCnt="0"/>
      <dgm:spPr/>
    </dgm:pt>
    <dgm:pt modelId="{4FFC9AF8-11F9-484A-BBBA-8D2AF54C43D4}" type="pres">
      <dgm:prSet presAssocID="{D79A4690-DFDE-4D48-A3D9-B20DA4EA23EA}" presName="bgRect" presStyleLbl="bgShp" presStyleIdx="2" presStyleCnt="6"/>
      <dgm:spPr/>
    </dgm:pt>
    <dgm:pt modelId="{9C8C5F53-21D0-4226-BB07-74A53CFF922D}" type="pres">
      <dgm:prSet presAssocID="{D79A4690-DFDE-4D48-A3D9-B20DA4EA23EA}"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Arrow Circle"/>
        </a:ext>
      </dgm:extLst>
    </dgm:pt>
    <dgm:pt modelId="{3A469274-5C6D-4F43-8AEF-3D36C2A36350}" type="pres">
      <dgm:prSet presAssocID="{D79A4690-DFDE-4D48-A3D9-B20DA4EA23EA}" presName="spaceRect" presStyleCnt="0"/>
      <dgm:spPr/>
    </dgm:pt>
    <dgm:pt modelId="{0588F1BE-FBE5-46BA-A903-9D10235CD296}" type="pres">
      <dgm:prSet presAssocID="{D79A4690-DFDE-4D48-A3D9-B20DA4EA23EA}" presName="parTx" presStyleLbl="revTx" presStyleIdx="2" presStyleCnt="6">
        <dgm:presLayoutVars>
          <dgm:chMax val="0"/>
          <dgm:chPref val="0"/>
        </dgm:presLayoutVars>
      </dgm:prSet>
      <dgm:spPr/>
    </dgm:pt>
    <dgm:pt modelId="{C39AFD06-71A4-4727-AEEB-0A0B12E56B23}" type="pres">
      <dgm:prSet presAssocID="{CB8C7424-B086-417B-A07A-5EB599C90768}" presName="sibTrans" presStyleCnt="0"/>
      <dgm:spPr/>
    </dgm:pt>
    <dgm:pt modelId="{63CF8010-4313-42E2-9204-E91F527BC94D}" type="pres">
      <dgm:prSet presAssocID="{48F31BC8-2C98-46C6-8201-78D7EA1E95C9}" presName="compNode" presStyleCnt="0"/>
      <dgm:spPr/>
    </dgm:pt>
    <dgm:pt modelId="{45E56876-04F2-4D0F-B6E0-E49DC3FA48E0}" type="pres">
      <dgm:prSet presAssocID="{48F31BC8-2C98-46C6-8201-78D7EA1E95C9}" presName="bgRect" presStyleLbl="bgShp" presStyleIdx="3" presStyleCnt="6"/>
      <dgm:spPr/>
    </dgm:pt>
    <dgm:pt modelId="{06FF4374-7E12-4934-912C-52F655F59272}" type="pres">
      <dgm:prSet presAssocID="{48F31BC8-2C98-46C6-8201-78D7EA1E95C9}"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odium"/>
        </a:ext>
      </dgm:extLst>
    </dgm:pt>
    <dgm:pt modelId="{16C6AC00-067F-4CB7-8A23-D08EC48753B7}" type="pres">
      <dgm:prSet presAssocID="{48F31BC8-2C98-46C6-8201-78D7EA1E95C9}" presName="spaceRect" presStyleCnt="0"/>
      <dgm:spPr/>
    </dgm:pt>
    <dgm:pt modelId="{43107D9E-2707-4487-97BD-07F7F743B0C1}" type="pres">
      <dgm:prSet presAssocID="{48F31BC8-2C98-46C6-8201-78D7EA1E95C9}" presName="parTx" presStyleLbl="revTx" presStyleIdx="3" presStyleCnt="6">
        <dgm:presLayoutVars>
          <dgm:chMax val="0"/>
          <dgm:chPref val="0"/>
        </dgm:presLayoutVars>
      </dgm:prSet>
      <dgm:spPr/>
    </dgm:pt>
    <dgm:pt modelId="{ADB1BC8A-C6E4-4146-AE8D-5DC8DCD9C488}" type="pres">
      <dgm:prSet presAssocID="{9448CE12-D715-456D-99A6-E1592DB7BEFC}" presName="sibTrans" presStyleCnt="0"/>
      <dgm:spPr/>
    </dgm:pt>
    <dgm:pt modelId="{0DFD5CB3-0B5D-4841-8DF9-95F0E9D39450}" type="pres">
      <dgm:prSet presAssocID="{7B421CD2-93BE-41CC-88F3-F1E77BA2DE55}" presName="compNode" presStyleCnt="0"/>
      <dgm:spPr/>
    </dgm:pt>
    <dgm:pt modelId="{8AC41C40-3810-441F-BECD-5E969F732234}" type="pres">
      <dgm:prSet presAssocID="{7B421CD2-93BE-41CC-88F3-F1E77BA2DE55}" presName="bgRect" presStyleLbl="bgShp" presStyleIdx="4" presStyleCnt="6"/>
      <dgm:spPr/>
    </dgm:pt>
    <dgm:pt modelId="{5660E4D9-C88C-46CC-A85D-64DE21DFB9B2}" type="pres">
      <dgm:prSet presAssocID="{7B421CD2-93BE-41CC-88F3-F1E77BA2DE55}"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Group of People"/>
        </a:ext>
      </dgm:extLst>
    </dgm:pt>
    <dgm:pt modelId="{CF035C39-C443-47AC-B106-5DB40D5EF968}" type="pres">
      <dgm:prSet presAssocID="{7B421CD2-93BE-41CC-88F3-F1E77BA2DE55}" presName="spaceRect" presStyleCnt="0"/>
      <dgm:spPr/>
    </dgm:pt>
    <dgm:pt modelId="{C866F4C3-3F5E-450F-BE2C-8CA10140D699}" type="pres">
      <dgm:prSet presAssocID="{7B421CD2-93BE-41CC-88F3-F1E77BA2DE55}" presName="parTx" presStyleLbl="revTx" presStyleIdx="4" presStyleCnt="6">
        <dgm:presLayoutVars>
          <dgm:chMax val="0"/>
          <dgm:chPref val="0"/>
        </dgm:presLayoutVars>
      </dgm:prSet>
      <dgm:spPr/>
    </dgm:pt>
    <dgm:pt modelId="{5E514E53-B229-42D9-B4BF-09B096C9527C}" type="pres">
      <dgm:prSet presAssocID="{5C494178-82BC-4DB2-8656-4B19EE2B29F9}" presName="sibTrans" presStyleCnt="0"/>
      <dgm:spPr/>
    </dgm:pt>
    <dgm:pt modelId="{B870249F-6CDE-455C-AE86-435B5661CEE9}" type="pres">
      <dgm:prSet presAssocID="{30CB010E-4579-4231-BFE0-1258E9F115AE}" presName="compNode" presStyleCnt="0"/>
      <dgm:spPr/>
    </dgm:pt>
    <dgm:pt modelId="{8E235966-7F9A-4417-B8DF-A9FD8B13998C}" type="pres">
      <dgm:prSet presAssocID="{30CB010E-4579-4231-BFE0-1258E9F115AE}" presName="bgRect" presStyleLbl="bgShp" presStyleIdx="5" presStyleCnt="6"/>
      <dgm:spPr/>
    </dgm:pt>
    <dgm:pt modelId="{640C9C6A-0707-4F40-B754-CF1A593405F9}" type="pres">
      <dgm:prSet presAssocID="{30CB010E-4579-4231-BFE0-1258E9F115AE}"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ierarchia"/>
        </a:ext>
      </dgm:extLst>
    </dgm:pt>
    <dgm:pt modelId="{37D78666-6D59-473D-B985-E841D989844C}" type="pres">
      <dgm:prSet presAssocID="{30CB010E-4579-4231-BFE0-1258E9F115AE}" presName="spaceRect" presStyleCnt="0"/>
      <dgm:spPr/>
    </dgm:pt>
    <dgm:pt modelId="{E1E6E9E2-093F-41B2-8570-C9C4728C01C5}" type="pres">
      <dgm:prSet presAssocID="{30CB010E-4579-4231-BFE0-1258E9F115AE}" presName="parTx" presStyleLbl="revTx" presStyleIdx="5" presStyleCnt="6">
        <dgm:presLayoutVars>
          <dgm:chMax val="0"/>
          <dgm:chPref val="0"/>
        </dgm:presLayoutVars>
      </dgm:prSet>
      <dgm:spPr/>
    </dgm:pt>
  </dgm:ptLst>
  <dgm:cxnLst>
    <dgm:cxn modelId="{6B560E24-F416-48B6-9FB8-E8744092D3B9}" type="presOf" srcId="{DE9EC146-9689-4156-82BE-59E6DAC63D78}" destId="{0F86CBCE-F709-4AEF-B19F-68FF633C01AB}" srcOrd="0" destOrd="0" presId="urn:microsoft.com/office/officeart/2018/2/layout/IconVerticalSolidList"/>
    <dgm:cxn modelId="{650EA934-BA57-4863-A5E9-72BFDDE857EF}" type="presOf" srcId="{7B421CD2-93BE-41CC-88F3-F1E77BA2DE55}" destId="{C866F4C3-3F5E-450F-BE2C-8CA10140D699}" srcOrd="0" destOrd="0" presId="urn:microsoft.com/office/officeart/2018/2/layout/IconVerticalSolidList"/>
    <dgm:cxn modelId="{0CDC4D5E-36C1-4AA0-84B8-EEDBC23808F6}" type="presOf" srcId="{0878557C-7554-4BE8-B47C-27F8C8345F18}" destId="{F89D79EF-9F5E-46EC-B71E-0272272567E4}" srcOrd="0" destOrd="0" presId="urn:microsoft.com/office/officeart/2018/2/layout/IconVerticalSolidList"/>
    <dgm:cxn modelId="{C53B7F43-6EC3-4EFB-92A8-1E8207484886}" type="presOf" srcId="{6832C228-EF60-4C0D-BC8C-5667EE93E0DD}" destId="{CCDA1866-2B73-4BB6-BF68-0312B5851814}" srcOrd="0" destOrd="0" presId="urn:microsoft.com/office/officeart/2018/2/layout/IconVerticalSolidList"/>
    <dgm:cxn modelId="{862BEB68-0BB6-433F-9239-E003ADC67B6D}" srcId="{0878557C-7554-4BE8-B47C-27F8C8345F18}" destId="{30CB010E-4579-4231-BFE0-1258E9F115AE}" srcOrd="5" destOrd="0" parTransId="{2CBF3085-9508-4DD7-8BBE-4F07E2A01C41}" sibTransId="{0CB4E47A-A0B7-4E75-8EEF-D5F517887993}"/>
    <dgm:cxn modelId="{E946494E-993D-4AF3-8D35-9E648BA6635B}" srcId="{0878557C-7554-4BE8-B47C-27F8C8345F18}" destId="{48F31BC8-2C98-46C6-8201-78D7EA1E95C9}" srcOrd="3" destOrd="0" parTransId="{86719A19-2352-425F-BD68-CB8C0EE22A15}" sibTransId="{9448CE12-D715-456D-99A6-E1592DB7BEFC}"/>
    <dgm:cxn modelId="{74667D58-90F9-4F87-AAF0-BA2B5180CCAF}" type="presOf" srcId="{D79A4690-DFDE-4D48-A3D9-B20DA4EA23EA}" destId="{0588F1BE-FBE5-46BA-A903-9D10235CD296}" srcOrd="0" destOrd="0" presId="urn:microsoft.com/office/officeart/2018/2/layout/IconVerticalSolidList"/>
    <dgm:cxn modelId="{E40FBD8A-BE2B-4363-A7CA-F6A0D84CCBBD}" type="presOf" srcId="{48F31BC8-2C98-46C6-8201-78D7EA1E95C9}" destId="{43107D9E-2707-4487-97BD-07F7F743B0C1}" srcOrd="0" destOrd="0" presId="urn:microsoft.com/office/officeart/2018/2/layout/IconVerticalSolidList"/>
    <dgm:cxn modelId="{9BA43AA7-C0F4-4D77-A752-4F898752C695}" srcId="{0878557C-7554-4BE8-B47C-27F8C8345F18}" destId="{DE9EC146-9689-4156-82BE-59E6DAC63D78}" srcOrd="0" destOrd="0" parTransId="{D17628CA-8DAF-4713-A5FC-7564CAC9F8C7}" sibTransId="{A2660C7C-767E-4EFF-907A-28C7317B16EA}"/>
    <dgm:cxn modelId="{876F6CBF-E7A5-4918-8F7D-347969F90625}" type="presOf" srcId="{30CB010E-4579-4231-BFE0-1258E9F115AE}" destId="{E1E6E9E2-093F-41B2-8570-C9C4728C01C5}" srcOrd="0" destOrd="0" presId="urn:microsoft.com/office/officeart/2018/2/layout/IconVerticalSolidList"/>
    <dgm:cxn modelId="{836A9ED3-A745-4A30-989C-6BA786CC0C0A}" srcId="{0878557C-7554-4BE8-B47C-27F8C8345F18}" destId="{6832C228-EF60-4C0D-BC8C-5667EE93E0DD}" srcOrd="1" destOrd="0" parTransId="{29AADE02-6B32-4C47-B9F2-8D825DB3F0A9}" sibTransId="{85D3642B-F54D-49A1-A9C8-855B52F00839}"/>
    <dgm:cxn modelId="{C7A271EB-68C2-4C3F-9D25-3530CFC64E85}" srcId="{0878557C-7554-4BE8-B47C-27F8C8345F18}" destId="{D79A4690-DFDE-4D48-A3D9-B20DA4EA23EA}" srcOrd="2" destOrd="0" parTransId="{9BDED1CC-B67D-4C3F-9453-5C5658171C3E}" sibTransId="{CB8C7424-B086-417B-A07A-5EB599C90768}"/>
    <dgm:cxn modelId="{747D98FE-42D9-47D3-BCA2-688EF370397F}" srcId="{0878557C-7554-4BE8-B47C-27F8C8345F18}" destId="{7B421CD2-93BE-41CC-88F3-F1E77BA2DE55}" srcOrd="4" destOrd="0" parTransId="{6121DD43-EE53-4954-87C5-90D5F73EFD05}" sibTransId="{5C494178-82BC-4DB2-8656-4B19EE2B29F9}"/>
    <dgm:cxn modelId="{61B2FED5-61E5-47B6-AE5E-AF77DFB966CD}" type="presParOf" srcId="{F89D79EF-9F5E-46EC-B71E-0272272567E4}" destId="{F50F03B7-391A-47ED-9730-A1A5D4A0B1F3}" srcOrd="0" destOrd="0" presId="urn:microsoft.com/office/officeart/2018/2/layout/IconVerticalSolidList"/>
    <dgm:cxn modelId="{EE946B0F-45B1-4A2C-9587-4DD4F3FE1736}" type="presParOf" srcId="{F50F03B7-391A-47ED-9730-A1A5D4A0B1F3}" destId="{479C4F2A-7EAB-439E-B04F-58C7198E8D0B}" srcOrd="0" destOrd="0" presId="urn:microsoft.com/office/officeart/2018/2/layout/IconVerticalSolidList"/>
    <dgm:cxn modelId="{6C39103C-7905-4FC1-ADB3-42F3F5590F1A}" type="presParOf" srcId="{F50F03B7-391A-47ED-9730-A1A5D4A0B1F3}" destId="{4A32C0F7-570A-49A6-BA6B-42008A124877}" srcOrd="1" destOrd="0" presId="urn:microsoft.com/office/officeart/2018/2/layout/IconVerticalSolidList"/>
    <dgm:cxn modelId="{4088AAE0-9EE0-48EF-A3B7-69EBCFF7D796}" type="presParOf" srcId="{F50F03B7-391A-47ED-9730-A1A5D4A0B1F3}" destId="{C20B7CB2-A47D-4871-BBF8-75E4B82E4308}" srcOrd="2" destOrd="0" presId="urn:microsoft.com/office/officeart/2018/2/layout/IconVerticalSolidList"/>
    <dgm:cxn modelId="{A44F6D06-930B-4628-B7ED-CA8B9337ED05}" type="presParOf" srcId="{F50F03B7-391A-47ED-9730-A1A5D4A0B1F3}" destId="{0F86CBCE-F709-4AEF-B19F-68FF633C01AB}" srcOrd="3" destOrd="0" presId="urn:microsoft.com/office/officeart/2018/2/layout/IconVerticalSolidList"/>
    <dgm:cxn modelId="{3CB312B2-A356-441D-B569-D419AB30C0D6}" type="presParOf" srcId="{F89D79EF-9F5E-46EC-B71E-0272272567E4}" destId="{2B59002C-A088-40CC-8756-1317AB4C7297}" srcOrd="1" destOrd="0" presId="urn:microsoft.com/office/officeart/2018/2/layout/IconVerticalSolidList"/>
    <dgm:cxn modelId="{8AF68396-F1D7-4A09-8083-6DC3A4C1F5D4}" type="presParOf" srcId="{F89D79EF-9F5E-46EC-B71E-0272272567E4}" destId="{34BB8B6B-6295-4412-8B68-72F5BB965405}" srcOrd="2" destOrd="0" presId="urn:microsoft.com/office/officeart/2018/2/layout/IconVerticalSolidList"/>
    <dgm:cxn modelId="{1856510F-AB26-49C3-8A63-4AFC5DC1C2EA}" type="presParOf" srcId="{34BB8B6B-6295-4412-8B68-72F5BB965405}" destId="{1F626497-BD25-478B-9F07-97171C70F90D}" srcOrd="0" destOrd="0" presId="urn:microsoft.com/office/officeart/2018/2/layout/IconVerticalSolidList"/>
    <dgm:cxn modelId="{C00756D8-18D0-4C12-AA7E-5A92B2578D4A}" type="presParOf" srcId="{34BB8B6B-6295-4412-8B68-72F5BB965405}" destId="{AC176362-27ED-42A5-8C36-FF067802CCD5}" srcOrd="1" destOrd="0" presId="urn:microsoft.com/office/officeart/2018/2/layout/IconVerticalSolidList"/>
    <dgm:cxn modelId="{41327D54-E788-4F48-83EC-28C44E8CEA4E}" type="presParOf" srcId="{34BB8B6B-6295-4412-8B68-72F5BB965405}" destId="{88E94092-EE87-4146-9F4A-AD619D1A5993}" srcOrd="2" destOrd="0" presId="urn:microsoft.com/office/officeart/2018/2/layout/IconVerticalSolidList"/>
    <dgm:cxn modelId="{1F704C78-EBE8-44B3-A749-1FDC3DDFA232}" type="presParOf" srcId="{34BB8B6B-6295-4412-8B68-72F5BB965405}" destId="{CCDA1866-2B73-4BB6-BF68-0312B5851814}" srcOrd="3" destOrd="0" presId="urn:microsoft.com/office/officeart/2018/2/layout/IconVerticalSolidList"/>
    <dgm:cxn modelId="{80197892-7662-4780-A0C8-30F0893E7966}" type="presParOf" srcId="{F89D79EF-9F5E-46EC-B71E-0272272567E4}" destId="{529C50F3-2C1A-4710-8062-BC8F69DD963D}" srcOrd="3" destOrd="0" presId="urn:microsoft.com/office/officeart/2018/2/layout/IconVerticalSolidList"/>
    <dgm:cxn modelId="{97FB6A4B-E34C-4637-B6F4-6CECAB1C4807}" type="presParOf" srcId="{F89D79EF-9F5E-46EC-B71E-0272272567E4}" destId="{819FB8E0-B7E1-4B06-B7D3-B2548F60D614}" srcOrd="4" destOrd="0" presId="urn:microsoft.com/office/officeart/2018/2/layout/IconVerticalSolidList"/>
    <dgm:cxn modelId="{E7BB7E88-E733-499D-9BFA-A326FD3E9C00}" type="presParOf" srcId="{819FB8E0-B7E1-4B06-B7D3-B2548F60D614}" destId="{4FFC9AF8-11F9-484A-BBBA-8D2AF54C43D4}" srcOrd="0" destOrd="0" presId="urn:microsoft.com/office/officeart/2018/2/layout/IconVerticalSolidList"/>
    <dgm:cxn modelId="{D64E4ADF-8CBA-4923-873D-8592F8566FBF}" type="presParOf" srcId="{819FB8E0-B7E1-4B06-B7D3-B2548F60D614}" destId="{9C8C5F53-21D0-4226-BB07-74A53CFF922D}" srcOrd="1" destOrd="0" presId="urn:microsoft.com/office/officeart/2018/2/layout/IconVerticalSolidList"/>
    <dgm:cxn modelId="{34C5FD77-4190-42B8-8291-CE74A9AEC6BD}" type="presParOf" srcId="{819FB8E0-B7E1-4B06-B7D3-B2548F60D614}" destId="{3A469274-5C6D-4F43-8AEF-3D36C2A36350}" srcOrd="2" destOrd="0" presId="urn:microsoft.com/office/officeart/2018/2/layout/IconVerticalSolidList"/>
    <dgm:cxn modelId="{9EC28FEF-BA54-4FCD-AABF-42677C290E33}" type="presParOf" srcId="{819FB8E0-B7E1-4B06-B7D3-B2548F60D614}" destId="{0588F1BE-FBE5-46BA-A903-9D10235CD296}" srcOrd="3" destOrd="0" presId="urn:microsoft.com/office/officeart/2018/2/layout/IconVerticalSolidList"/>
    <dgm:cxn modelId="{8E6414B2-9F48-451F-B422-6FDB3AAB95E8}" type="presParOf" srcId="{F89D79EF-9F5E-46EC-B71E-0272272567E4}" destId="{C39AFD06-71A4-4727-AEEB-0A0B12E56B23}" srcOrd="5" destOrd="0" presId="urn:microsoft.com/office/officeart/2018/2/layout/IconVerticalSolidList"/>
    <dgm:cxn modelId="{53840DBB-E7FA-4366-95F6-0FB44BAFEF9A}" type="presParOf" srcId="{F89D79EF-9F5E-46EC-B71E-0272272567E4}" destId="{63CF8010-4313-42E2-9204-E91F527BC94D}" srcOrd="6" destOrd="0" presId="urn:microsoft.com/office/officeart/2018/2/layout/IconVerticalSolidList"/>
    <dgm:cxn modelId="{D2731771-336D-410C-9764-D4F7076AF19B}" type="presParOf" srcId="{63CF8010-4313-42E2-9204-E91F527BC94D}" destId="{45E56876-04F2-4D0F-B6E0-E49DC3FA48E0}" srcOrd="0" destOrd="0" presId="urn:microsoft.com/office/officeart/2018/2/layout/IconVerticalSolidList"/>
    <dgm:cxn modelId="{D6AE960F-FF58-4CA7-944A-9FBE6A23CFE2}" type="presParOf" srcId="{63CF8010-4313-42E2-9204-E91F527BC94D}" destId="{06FF4374-7E12-4934-912C-52F655F59272}" srcOrd="1" destOrd="0" presId="urn:microsoft.com/office/officeart/2018/2/layout/IconVerticalSolidList"/>
    <dgm:cxn modelId="{F472CB86-0E4A-413E-9914-AD3BE6360EB0}" type="presParOf" srcId="{63CF8010-4313-42E2-9204-E91F527BC94D}" destId="{16C6AC00-067F-4CB7-8A23-D08EC48753B7}" srcOrd="2" destOrd="0" presId="urn:microsoft.com/office/officeart/2018/2/layout/IconVerticalSolidList"/>
    <dgm:cxn modelId="{C41A99F9-CDE2-4E82-AA18-866A1B5FC75E}" type="presParOf" srcId="{63CF8010-4313-42E2-9204-E91F527BC94D}" destId="{43107D9E-2707-4487-97BD-07F7F743B0C1}" srcOrd="3" destOrd="0" presId="urn:microsoft.com/office/officeart/2018/2/layout/IconVerticalSolidList"/>
    <dgm:cxn modelId="{1A0702F7-F3FC-4511-ACA7-C8BC5C81DD15}" type="presParOf" srcId="{F89D79EF-9F5E-46EC-B71E-0272272567E4}" destId="{ADB1BC8A-C6E4-4146-AE8D-5DC8DCD9C488}" srcOrd="7" destOrd="0" presId="urn:microsoft.com/office/officeart/2018/2/layout/IconVerticalSolidList"/>
    <dgm:cxn modelId="{5E86FB93-13C8-4864-9606-EDEEB3664702}" type="presParOf" srcId="{F89D79EF-9F5E-46EC-B71E-0272272567E4}" destId="{0DFD5CB3-0B5D-4841-8DF9-95F0E9D39450}" srcOrd="8" destOrd="0" presId="urn:microsoft.com/office/officeart/2018/2/layout/IconVerticalSolidList"/>
    <dgm:cxn modelId="{E6869DE6-CE5C-4DD6-A865-962FE8DA120E}" type="presParOf" srcId="{0DFD5CB3-0B5D-4841-8DF9-95F0E9D39450}" destId="{8AC41C40-3810-441F-BECD-5E969F732234}" srcOrd="0" destOrd="0" presId="urn:microsoft.com/office/officeart/2018/2/layout/IconVerticalSolidList"/>
    <dgm:cxn modelId="{80515C91-3EE0-4A5A-935F-E74DB25A888F}" type="presParOf" srcId="{0DFD5CB3-0B5D-4841-8DF9-95F0E9D39450}" destId="{5660E4D9-C88C-46CC-A85D-64DE21DFB9B2}" srcOrd="1" destOrd="0" presId="urn:microsoft.com/office/officeart/2018/2/layout/IconVerticalSolidList"/>
    <dgm:cxn modelId="{FDD4F5A0-9FD0-46D1-874C-D5AC8F6FA74B}" type="presParOf" srcId="{0DFD5CB3-0B5D-4841-8DF9-95F0E9D39450}" destId="{CF035C39-C443-47AC-B106-5DB40D5EF968}" srcOrd="2" destOrd="0" presId="urn:microsoft.com/office/officeart/2018/2/layout/IconVerticalSolidList"/>
    <dgm:cxn modelId="{4B0477FB-3546-4DCB-A42A-C1E9B6634665}" type="presParOf" srcId="{0DFD5CB3-0B5D-4841-8DF9-95F0E9D39450}" destId="{C866F4C3-3F5E-450F-BE2C-8CA10140D699}" srcOrd="3" destOrd="0" presId="urn:microsoft.com/office/officeart/2018/2/layout/IconVerticalSolidList"/>
    <dgm:cxn modelId="{1749BD0C-C65B-4720-8B8A-29F28E12D1BA}" type="presParOf" srcId="{F89D79EF-9F5E-46EC-B71E-0272272567E4}" destId="{5E514E53-B229-42D9-B4BF-09B096C9527C}" srcOrd="9" destOrd="0" presId="urn:microsoft.com/office/officeart/2018/2/layout/IconVerticalSolidList"/>
    <dgm:cxn modelId="{323C71A5-8653-4BFF-92F4-08FDB33764B6}" type="presParOf" srcId="{F89D79EF-9F5E-46EC-B71E-0272272567E4}" destId="{B870249F-6CDE-455C-AE86-435B5661CEE9}" srcOrd="10" destOrd="0" presId="urn:microsoft.com/office/officeart/2018/2/layout/IconVerticalSolidList"/>
    <dgm:cxn modelId="{437C8613-5A6C-4EB5-AF5E-E4063C70CB1B}" type="presParOf" srcId="{B870249F-6CDE-455C-AE86-435B5661CEE9}" destId="{8E235966-7F9A-4417-B8DF-A9FD8B13998C}" srcOrd="0" destOrd="0" presId="urn:microsoft.com/office/officeart/2018/2/layout/IconVerticalSolidList"/>
    <dgm:cxn modelId="{07B7E04F-27DB-4581-AA73-F75BA02B995D}" type="presParOf" srcId="{B870249F-6CDE-455C-AE86-435B5661CEE9}" destId="{640C9C6A-0707-4F40-B754-CF1A593405F9}" srcOrd="1" destOrd="0" presId="urn:microsoft.com/office/officeart/2018/2/layout/IconVerticalSolidList"/>
    <dgm:cxn modelId="{F881A2E3-6837-4786-ABC9-1AC42BDC8A4B}" type="presParOf" srcId="{B870249F-6CDE-455C-AE86-435B5661CEE9}" destId="{37D78666-6D59-473D-B985-E841D989844C}" srcOrd="2" destOrd="0" presId="urn:microsoft.com/office/officeart/2018/2/layout/IconVerticalSolidList"/>
    <dgm:cxn modelId="{C3F2C6A3-8F06-4D4F-9467-FD1618A687BD}" type="presParOf" srcId="{B870249F-6CDE-455C-AE86-435B5661CEE9}" destId="{E1E6E9E2-093F-41B2-8570-C9C4728C01C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FFDA14B-D740-4227-B56B-B1468E6B6B7E}"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13F188F0-44B1-49A7-93B6-E6D2C9E5E13F}">
      <dgm:prSet/>
      <dgm:spPr/>
      <dgm:t>
        <a:bodyPr/>
        <a:lstStyle/>
        <a:p>
          <a:r>
            <a:rPr lang="pl-PL"/>
            <a:t>Przygotowanie organizacyjne obejmuje kilka kluczowych obszarów:</a:t>
          </a:r>
          <a:endParaRPr lang="en-US"/>
        </a:p>
      </dgm:t>
    </dgm:pt>
    <dgm:pt modelId="{1C169ECB-9D93-4F4E-842F-F0718437EB77}" type="parTrans" cxnId="{A4397858-62E3-4C40-B97C-019488FBFF50}">
      <dgm:prSet/>
      <dgm:spPr/>
      <dgm:t>
        <a:bodyPr/>
        <a:lstStyle/>
        <a:p>
          <a:endParaRPr lang="en-US"/>
        </a:p>
      </dgm:t>
    </dgm:pt>
    <dgm:pt modelId="{FA584C2D-FD0C-417F-9564-5F27EFED301E}" type="sibTrans" cxnId="{A4397858-62E3-4C40-B97C-019488FBFF50}">
      <dgm:prSet/>
      <dgm:spPr/>
      <dgm:t>
        <a:bodyPr/>
        <a:lstStyle/>
        <a:p>
          <a:endParaRPr lang="en-US"/>
        </a:p>
      </dgm:t>
    </dgm:pt>
    <dgm:pt modelId="{6AE0210E-4213-485E-9878-F92EBE9C875D}">
      <dgm:prSet/>
      <dgm:spPr/>
      <dgm:t>
        <a:bodyPr/>
        <a:lstStyle/>
        <a:p>
          <a:r>
            <a:rPr lang="pl-PL"/>
            <a:t>rozwój kompetencji przyszłości, </a:t>
          </a:r>
          <a:endParaRPr lang="en-US"/>
        </a:p>
      </dgm:t>
    </dgm:pt>
    <dgm:pt modelId="{B38B1EB4-AC77-44E3-9FAE-22CAF4243B70}" type="parTrans" cxnId="{546F381B-E06F-499F-A606-0F9A411DE027}">
      <dgm:prSet/>
      <dgm:spPr/>
      <dgm:t>
        <a:bodyPr/>
        <a:lstStyle/>
        <a:p>
          <a:endParaRPr lang="en-US"/>
        </a:p>
      </dgm:t>
    </dgm:pt>
    <dgm:pt modelId="{CAFAFF1E-8A19-4CE8-AF4D-2A841C16320C}" type="sibTrans" cxnId="{546F381B-E06F-499F-A606-0F9A411DE027}">
      <dgm:prSet/>
      <dgm:spPr/>
      <dgm:t>
        <a:bodyPr/>
        <a:lstStyle/>
        <a:p>
          <a:endParaRPr lang="en-US"/>
        </a:p>
      </dgm:t>
    </dgm:pt>
    <dgm:pt modelId="{3554C460-608C-4906-A60A-6FA9C471F73D}">
      <dgm:prSet/>
      <dgm:spPr/>
      <dgm:t>
        <a:bodyPr/>
        <a:lstStyle/>
        <a:p>
          <a:r>
            <a:rPr lang="pl-PL"/>
            <a:t>elastyczne struktury zespołów, </a:t>
          </a:r>
          <a:endParaRPr lang="en-US"/>
        </a:p>
      </dgm:t>
    </dgm:pt>
    <dgm:pt modelId="{135E8B78-FC98-49FC-BCD6-04F2B4E7061A}" type="parTrans" cxnId="{239BEEA1-7104-41FE-8433-3D45CCC8D2FE}">
      <dgm:prSet/>
      <dgm:spPr/>
      <dgm:t>
        <a:bodyPr/>
        <a:lstStyle/>
        <a:p>
          <a:endParaRPr lang="en-US"/>
        </a:p>
      </dgm:t>
    </dgm:pt>
    <dgm:pt modelId="{4B77C3DE-EDF5-4390-A1D5-80897EDDCAAC}" type="sibTrans" cxnId="{239BEEA1-7104-41FE-8433-3D45CCC8D2FE}">
      <dgm:prSet/>
      <dgm:spPr/>
      <dgm:t>
        <a:bodyPr/>
        <a:lstStyle/>
        <a:p>
          <a:endParaRPr lang="en-US"/>
        </a:p>
      </dgm:t>
    </dgm:pt>
    <dgm:pt modelId="{160F4B3B-5C18-45B6-A7F1-C6B2F346DC87}">
      <dgm:prSet/>
      <dgm:spPr/>
      <dgm:t>
        <a:bodyPr/>
        <a:lstStyle/>
        <a:p>
          <a:r>
            <a:rPr lang="pl-PL"/>
            <a:t>decentralizację decyzji, </a:t>
          </a:r>
          <a:endParaRPr lang="en-US"/>
        </a:p>
      </dgm:t>
    </dgm:pt>
    <dgm:pt modelId="{012E5B60-452A-4996-9CC2-61B5CDA8055F}" type="parTrans" cxnId="{E8649266-1873-4AAA-85BF-093D4404C83A}">
      <dgm:prSet/>
      <dgm:spPr/>
      <dgm:t>
        <a:bodyPr/>
        <a:lstStyle/>
        <a:p>
          <a:endParaRPr lang="en-US"/>
        </a:p>
      </dgm:t>
    </dgm:pt>
    <dgm:pt modelId="{30DD48D3-B2DD-4AD5-8396-039314E2A9A0}" type="sibTrans" cxnId="{E8649266-1873-4AAA-85BF-093D4404C83A}">
      <dgm:prSet/>
      <dgm:spPr/>
      <dgm:t>
        <a:bodyPr/>
        <a:lstStyle/>
        <a:p>
          <a:endParaRPr lang="en-US"/>
        </a:p>
      </dgm:t>
    </dgm:pt>
    <dgm:pt modelId="{11810AEA-FFB6-4F75-846A-CE3D4C52A13B}">
      <dgm:prSet/>
      <dgm:spPr/>
      <dgm:t>
        <a:bodyPr/>
        <a:lstStyle/>
        <a:p>
          <a:r>
            <a:rPr lang="pl-PL"/>
            <a:t>kulturę eksperymentowania, </a:t>
          </a:r>
          <a:endParaRPr lang="en-US"/>
        </a:p>
      </dgm:t>
    </dgm:pt>
    <dgm:pt modelId="{8214F923-E19C-4B5A-98FF-7779BF8A9F9E}" type="parTrans" cxnId="{9365D8E8-779F-4DDC-97D6-BAFCB0942DB5}">
      <dgm:prSet/>
      <dgm:spPr/>
      <dgm:t>
        <a:bodyPr/>
        <a:lstStyle/>
        <a:p>
          <a:endParaRPr lang="en-US"/>
        </a:p>
      </dgm:t>
    </dgm:pt>
    <dgm:pt modelId="{AF8E65FD-C301-4D22-BE05-ADC4ED1E5B1F}" type="sibTrans" cxnId="{9365D8E8-779F-4DDC-97D6-BAFCB0942DB5}">
      <dgm:prSet/>
      <dgm:spPr/>
      <dgm:t>
        <a:bodyPr/>
        <a:lstStyle/>
        <a:p>
          <a:endParaRPr lang="en-US"/>
        </a:p>
      </dgm:t>
    </dgm:pt>
    <dgm:pt modelId="{79B1B600-CD12-48CF-A2AB-D5CF743486F6}">
      <dgm:prSet/>
      <dgm:spPr/>
      <dgm:t>
        <a:bodyPr/>
        <a:lstStyle/>
        <a:p>
          <a:r>
            <a:rPr lang="pl-PL"/>
            <a:t>odporność na zmianę.</a:t>
          </a:r>
          <a:endParaRPr lang="en-US"/>
        </a:p>
      </dgm:t>
    </dgm:pt>
    <dgm:pt modelId="{A1198AB9-1C9F-4B14-8D13-FFB892F562D7}" type="parTrans" cxnId="{0641EA09-7FE9-40D3-9844-C90C047B2E52}">
      <dgm:prSet/>
      <dgm:spPr/>
      <dgm:t>
        <a:bodyPr/>
        <a:lstStyle/>
        <a:p>
          <a:endParaRPr lang="en-US"/>
        </a:p>
      </dgm:t>
    </dgm:pt>
    <dgm:pt modelId="{17FD0C32-4A65-4C8A-9CDF-1A2BCFF35663}" type="sibTrans" cxnId="{0641EA09-7FE9-40D3-9844-C90C047B2E52}">
      <dgm:prSet/>
      <dgm:spPr/>
      <dgm:t>
        <a:bodyPr/>
        <a:lstStyle/>
        <a:p>
          <a:endParaRPr lang="en-US"/>
        </a:p>
      </dgm:t>
    </dgm:pt>
    <dgm:pt modelId="{A6BC5C95-5CE3-451C-93B0-A9FAFF426577}" type="pres">
      <dgm:prSet presAssocID="{9FFDA14B-D740-4227-B56B-B1468E6B6B7E}" presName="Name0" presStyleCnt="0">
        <dgm:presLayoutVars>
          <dgm:dir/>
          <dgm:resizeHandles val="exact"/>
        </dgm:presLayoutVars>
      </dgm:prSet>
      <dgm:spPr/>
    </dgm:pt>
    <dgm:pt modelId="{0365AFEC-3D9D-43CC-BC98-B86B7F9975AD}" type="pres">
      <dgm:prSet presAssocID="{13F188F0-44B1-49A7-93B6-E6D2C9E5E13F}" presName="node" presStyleLbl="node1" presStyleIdx="0" presStyleCnt="6">
        <dgm:presLayoutVars>
          <dgm:bulletEnabled val="1"/>
        </dgm:presLayoutVars>
      </dgm:prSet>
      <dgm:spPr/>
    </dgm:pt>
    <dgm:pt modelId="{5FE492B5-52A6-4891-B1E2-2EA34ABFD291}" type="pres">
      <dgm:prSet presAssocID="{FA584C2D-FD0C-417F-9564-5F27EFED301E}" presName="sibTrans" presStyleLbl="sibTrans1D1" presStyleIdx="0" presStyleCnt="5"/>
      <dgm:spPr/>
    </dgm:pt>
    <dgm:pt modelId="{D15049B3-E199-4A7F-9436-CAB4A7DD66FC}" type="pres">
      <dgm:prSet presAssocID="{FA584C2D-FD0C-417F-9564-5F27EFED301E}" presName="connectorText" presStyleLbl="sibTrans1D1" presStyleIdx="0" presStyleCnt="5"/>
      <dgm:spPr/>
    </dgm:pt>
    <dgm:pt modelId="{98C89553-B655-44DE-A426-E6E02D9838B4}" type="pres">
      <dgm:prSet presAssocID="{6AE0210E-4213-485E-9878-F92EBE9C875D}" presName="node" presStyleLbl="node1" presStyleIdx="1" presStyleCnt="6">
        <dgm:presLayoutVars>
          <dgm:bulletEnabled val="1"/>
        </dgm:presLayoutVars>
      </dgm:prSet>
      <dgm:spPr/>
    </dgm:pt>
    <dgm:pt modelId="{EBC35F3E-6A29-46B4-8F3A-1A6D343D3134}" type="pres">
      <dgm:prSet presAssocID="{CAFAFF1E-8A19-4CE8-AF4D-2A841C16320C}" presName="sibTrans" presStyleLbl="sibTrans1D1" presStyleIdx="1" presStyleCnt="5"/>
      <dgm:spPr/>
    </dgm:pt>
    <dgm:pt modelId="{2DFCBE7C-4F1F-487E-8121-7C5ED43AA0F3}" type="pres">
      <dgm:prSet presAssocID="{CAFAFF1E-8A19-4CE8-AF4D-2A841C16320C}" presName="connectorText" presStyleLbl="sibTrans1D1" presStyleIdx="1" presStyleCnt="5"/>
      <dgm:spPr/>
    </dgm:pt>
    <dgm:pt modelId="{2B7B41E5-7568-40E3-AFDA-7CF1015011A5}" type="pres">
      <dgm:prSet presAssocID="{3554C460-608C-4906-A60A-6FA9C471F73D}" presName="node" presStyleLbl="node1" presStyleIdx="2" presStyleCnt="6">
        <dgm:presLayoutVars>
          <dgm:bulletEnabled val="1"/>
        </dgm:presLayoutVars>
      </dgm:prSet>
      <dgm:spPr/>
    </dgm:pt>
    <dgm:pt modelId="{0741C6BB-C7E7-4B8A-8BF8-E65F406D8A4A}" type="pres">
      <dgm:prSet presAssocID="{4B77C3DE-EDF5-4390-A1D5-80897EDDCAAC}" presName="sibTrans" presStyleLbl="sibTrans1D1" presStyleIdx="2" presStyleCnt="5"/>
      <dgm:spPr/>
    </dgm:pt>
    <dgm:pt modelId="{1D8F83BD-C69A-4D73-BE83-09DB7856A3E7}" type="pres">
      <dgm:prSet presAssocID="{4B77C3DE-EDF5-4390-A1D5-80897EDDCAAC}" presName="connectorText" presStyleLbl="sibTrans1D1" presStyleIdx="2" presStyleCnt="5"/>
      <dgm:spPr/>
    </dgm:pt>
    <dgm:pt modelId="{C3010346-CF34-4BDB-86E1-94EA0815BC12}" type="pres">
      <dgm:prSet presAssocID="{160F4B3B-5C18-45B6-A7F1-C6B2F346DC87}" presName="node" presStyleLbl="node1" presStyleIdx="3" presStyleCnt="6">
        <dgm:presLayoutVars>
          <dgm:bulletEnabled val="1"/>
        </dgm:presLayoutVars>
      </dgm:prSet>
      <dgm:spPr/>
    </dgm:pt>
    <dgm:pt modelId="{5B95A3D4-6848-48BE-BC8F-57385FAD2D37}" type="pres">
      <dgm:prSet presAssocID="{30DD48D3-B2DD-4AD5-8396-039314E2A9A0}" presName="sibTrans" presStyleLbl="sibTrans1D1" presStyleIdx="3" presStyleCnt="5"/>
      <dgm:spPr/>
    </dgm:pt>
    <dgm:pt modelId="{5FD3D618-8AA2-4E80-BB21-08D696395AFE}" type="pres">
      <dgm:prSet presAssocID="{30DD48D3-B2DD-4AD5-8396-039314E2A9A0}" presName="connectorText" presStyleLbl="sibTrans1D1" presStyleIdx="3" presStyleCnt="5"/>
      <dgm:spPr/>
    </dgm:pt>
    <dgm:pt modelId="{55975C16-D563-4ED5-A081-C65F933742C6}" type="pres">
      <dgm:prSet presAssocID="{11810AEA-FFB6-4F75-846A-CE3D4C52A13B}" presName="node" presStyleLbl="node1" presStyleIdx="4" presStyleCnt="6">
        <dgm:presLayoutVars>
          <dgm:bulletEnabled val="1"/>
        </dgm:presLayoutVars>
      </dgm:prSet>
      <dgm:spPr/>
    </dgm:pt>
    <dgm:pt modelId="{79CC6BB0-918B-47F6-83DD-9CA7A92429AE}" type="pres">
      <dgm:prSet presAssocID="{AF8E65FD-C301-4D22-BE05-ADC4ED1E5B1F}" presName="sibTrans" presStyleLbl="sibTrans1D1" presStyleIdx="4" presStyleCnt="5"/>
      <dgm:spPr/>
    </dgm:pt>
    <dgm:pt modelId="{75D9013E-27F4-4977-AF9D-599B327080A2}" type="pres">
      <dgm:prSet presAssocID="{AF8E65FD-C301-4D22-BE05-ADC4ED1E5B1F}" presName="connectorText" presStyleLbl="sibTrans1D1" presStyleIdx="4" presStyleCnt="5"/>
      <dgm:spPr/>
    </dgm:pt>
    <dgm:pt modelId="{1671FAB6-4814-4B54-914C-4E0BD5133705}" type="pres">
      <dgm:prSet presAssocID="{79B1B600-CD12-48CF-A2AB-D5CF743486F6}" presName="node" presStyleLbl="node1" presStyleIdx="5" presStyleCnt="6">
        <dgm:presLayoutVars>
          <dgm:bulletEnabled val="1"/>
        </dgm:presLayoutVars>
      </dgm:prSet>
      <dgm:spPr/>
    </dgm:pt>
  </dgm:ptLst>
  <dgm:cxnLst>
    <dgm:cxn modelId="{55E06500-0AD4-4148-B569-AF8D66CB7666}" type="presOf" srcId="{AF8E65FD-C301-4D22-BE05-ADC4ED1E5B1F}" destId="{79CC6BB0-918B-47F6-83DD-9CA7A92429AE}" srcOrd="0" destOrd="0" presId="urn:microsoft.com/office/officeart/2016/7/layout/RepeatingBendingProcessNew"/>
    <dgm:cxn modelId="{0641EA09-7FE9-40D3-9844-C90C047B2E52}" srcId="{9FFDA14B-D740-4227-B56B-B1468E6B6B7E}" destId="{79B1B600-CD12-48CF-A2AB-D5CF743486F6}" srcOrd="5" destOrd="0" parTransId="{A1198AB9-1C9F-4B14-8D13-FFB892F562D7}" sibTransId="{17FD0C32-4A65-4C8A-9CDF-1A2BCFF35663}"/>
    <dgm:cxn modelId="{E4803614-000D-421B-AC9E-B1ECF3D41B3A}" type="presOf" srcId="{13F188F0-44B1-49A7-93B6-E6D2C9E5E13F}" destId="{0365AFEC-3D9D-43CC-BC98-B86B7F9975AD}" srcOrd="0" destOrd="0" presId="urn:microsoft.com/office/officeart/2016/7/layout/RepeatingBendingProcessNew"/>
    <dgm:cxn modelId="{546F381B-E06F-499F-A606-0F9A411DE027}" srcId="{9FFDA14B-D740-4227-B56B-B1468E6B6B7E}" destId="{6AE0210E-4213-485E-9878-F92EBE9C875D}" srcOrd="1" destOrd="0" parTransId="{B38B1EB4-AC77-44E3-9FAE-22CAF4243B70}" sibTransId="{CAFAFF1E-8A19-4CE8-AF4D-2A841C16320C}"/>
    <dgm:cxn modelId="{A2B76A25-2704-4DFD-8F5E-BC7F0C29CDA0}" type="presOf" srcId="{79B1B600-CD12-48CF-A2AB-D5CF743486F6}" destId="{1671FAB6-4814-4B54-914C-4E0BD5133705}" srcOrd="0" destOrd="0" presId="urn:microsoft.com/office/officeart/2016/7/layout/RepeatingBendingProcessNew"/>
    <dgm:cxn modelId="{EC108938-8B25-4676-9B63-AC36F202E011}" type="presOf" srcId="{9FFDA14B-D740-4227-B56B-B1468E6B6B7E}" destId="{A6BC5C95-5CE3-451C-93B0-A9FAFF426577}" srcOrd="0" destOrd="0" presId="urn:microsoft.com/office/officeart/2016/7/layout/RepeatingBendingProcessNew"/>
    <dgm:cxn modelId="{E8649266-1873-4AAA-85BF-093D4404C83A}" srcId="{9FFDA14B-D740-4227-B56B-B1468E6B6B7E}" destId="{160F4B3B-5C18-45B6-A7F1-C6B2F346DC87}" srcOrd="3" destOrd="0" parTransId="{012E5B60-452A-4996-9CC2-61B5CDA8055F}" sibTransId="{30DD48D3-B2DD-4AD5-8396-039314E2A9A0}"/>
    <dgm:cxn modelId="{F817C44F-0A09-4B54-981E-A3C60A9ECAF6}" type="presOf" srcId="{4B77C3DE-EDF5-4390-A1D5-80897EDDCAAC}" destId="{0741C6BB-C7E7-4B8A-8BF8-E65F406D8A4A}" srcOrd="0" destOrd="0" presId="urn:microsoft.com/office/officeart/2016/7/layout/RepeatingBendingProcessNew"/>
    <dgm:cxn modelId="{44263651-90D2-47B8-BFA5-9E1056F13FBB}" type="presOf" srcId="{CAFAFF1E-8A19-4CE8-AF4D-2A841C16320C}" destId="{2DFCBE7C-4F1F-487E-8121-7C5ED43AA0F3}" srcOrd="1" destOrd="0" presId="urn:microsoft.com/office/officeart/2016/7/layout/RepeatingBendingProcessNew"/>
    <dgm:cxn modelId="{A4397858-62E3-4C40-B97C-019488FBFF50}" srcId="{9FFDA14B-D740-4227-B56B-B1468E6B6B7E}" destId="{13F188F0-44B1-49A7-93B6-E6D2C9E5E13F}" srcOrd="0" destOrd="0" parTransId="{1C169ECB-9D93-4F4E-842F-F0718437EB77}" sibTransId="{FA584C2D-FD0C-417F-9564-5F27EFED301E}"/>
    <dgm:cxn modelId="{A38CE082-B450-4522-A2CB-56718BE3411A}" type="presOf" srcId="{11810AEA-FFB6-4F75-846A-CE3D4C52A13B}" destId="{55975C16-D563-4ED5-A081-C65F933742C6}" srcOrd="0" destOrd="0" presId="urn:microsoft.com/office/officeart/2016/7/layout/RepeatingBendingProcessNew"/>
    <dgm:cxn modelId="{B23F8087-8C1A-40BC-AD08-D27F2D26C445}" type="presOf" srcId="{FA584C2D-FD0C-417F-9564-5F27EFED301E}" destId="{5FE492B5-52A6-4891-B1E2-2EA34ABFD291}" srcOrd="0" destOrd="0" presId="urn:microsoft.com/office/officeart/2016/7/layout/RepeatingBendingProcessNew"/>
    <dgm:cxn modelId="{9ADEC18B-F562-4197-AD0F-D731BE650C1F}" type="presOf" srcId="{4B77C3DE-EDF5-4390-A1D5-80897EDDCAAC}" destId="{1D8F83BD-C69A-4D73-BE83-09DB7856A3E7}" srcOrd="1" destOrd="0" presId="urn:microsoft.com/office/officeart/2016/7/layout/RepeatingBendingProcessNew"/>
    <dgm:cxn modelId="{36BB4B9D-27F5-4FA4-9261-78BB2E38754E}" type="presOf" srcId="{30DD48D3-B2DD-4AD5-8396-039314E2A9A0}" destId="{5FD3D618-8AA2-4E80-BB21-08D696395AFE}" srcOrd="1" destOrd="0" presId="urn:microsoft.com/office/officeart/2016/7/layout/RepeatingBendingProcessNew"/>
    <dgm:cxn modelId="{239BEEA1-7104-41FE-8433-3D45CCC8D2FE}" srcId="{9FFDA14B-D740-4227-B56B-B1468E6B6B7E}" destId="{3554C460-608C-4906-A60A-6FA9C471F73D}" srcOrd="2" destOrd="0" parTransId="{135E8B78-FC98-49FC-BCD6-04F2B4E7061A}" sibTransId="{4B77C3DE-EDF5-4390-A1D5-80897EDDCAAC}"/>
    <dgm:cxn modelId="{D1917AAB-ADFC-4C5E-96F4-0877EED92E4D}" type="presOf" srcId="{AF8E65FD-C301-4D22-BE05-ADC4ED1E5B1F}" destId="{75D9013E-27F4-4977-AF9D-599B327080A2}" srcOrd="1" destOrd="0" presId="urn:microsoft.com/office/officeart/2016/7/layout/RepeatingBendingProcessNew"/>
    <dgm:cxn modelId="{3DA1CDB4-1600-4329-856B-0C43A6FA4C0A}" type="presOf" srcId="{30DD48D3-B2DD-4AD5-8396-039314E2A9A0}" destId="{5B95A3D4-6848-48BE-BC8F-57385FAD2D37}" srcOrd="0" destOrd="0" presId="urn:microsoft.com/office/officeart/2016/7/layout/RepeatingBendingProcessNew"/>
    <dgm:cxn modelId="{0034CFE3-9338-4AE3-AF82-99796768073C}" type="presOf" srcId="{160F4B3B-5C18-45B6-A7F1-C6B2F346DC87}" destId="{C3010346-CF34-4BDB-86E1-94EA0815BC12}" srcOrd="0" destOrd="0" presId="urn:microsoft.com/office/officeart/2016/7/layout/RepeatingBendingProcessNew"/>
    <dgm:cxn modelId="{7900B0E4-B2B2-4543-8221-D451F3274E49}" type="presOf" srcId="{CAFAFF1E-8A19-4CE8-AF4D-2A841C16320C}" destId="{EBC35F3E-6A29-46B4-8F3A-1A6D343D3134}" srcOrd="0" destOrd="0" presId="urn:microsoft.com/office/officeart/2016/7/layout/RepeatingBendingProcessNew"/>
    <dgm:cxn modelId="{9365D8E8-779F-4DDC-97D6-BAFCB0942DB5}" srcId="{9FFDA14B-D740-4227-B56B-B1468E6B6B7E}" destId="{11810AEA-FFB6-4F75-846A-CE3D4C52A13B}" srcOrd="4" destOrd="0" parTransId="{8214F923-E19C-4B5A-98FF-7779BF8A9F9E}" sibTransId="{AF8E65FD-C301-4D22-BE05-ADC4ED1E5B1F}"/>
    <dgm:cxn modelId="{543372F0-CBB2-498F-89A0-97E0745CCE73}" type="presOf" srcId="{FA584C2D-FD0C-417F-9564-5F27EFED301E}" destId="{D15049B3-E199-4A7F-9436-CAB4A7DD66FC}" srcOrd="1" destOrd="0" presId="urn:microsoft.com/office/officeart/2016/7/layout/RepeatingBendingProcessNew"/>
    <dgm:cxn modelId="{2BE08EF9-94C3-402A-86C3-6F7DFC5C713F}" type="presOf" srcId="{6AE0210E-4213-485E-9878-F92EBE9C875D}" destId="{98C89553-B655-44DE-A426-E6E02D9838B4}" srcOrd="0" destOrd="0" presId="urn:microsoft.com/office/officeart/2016/7/layout/RepeatingBendingProcessNew"/>
    <dgm:cxn modelId="{2EA8EDFA-6789-4C78-89E9-45BB977B49BB}" type="presOf" srcId="{3554C460-608C-4906-A60A-6FA9C471F73D}" destId="{2B7B41E5-7568-40E3-AFDA-7CF1015011A5}" srcOrd="0" destOrd="0" presId="urn:microsoft.com/office/officeart/2016/7/layout/RepeatingBendingProcessNew"/>
    <dgm:cxn modelId="{F21C7FDF-A34B-4013-B892-5731E8179204}" type="presParOf" srcId="{A6BC5C95-5CE3-451C-93B0-A9FAFF426577}" destId="{0365AFEC-3D9D-43CC-BC98-B86B7F9975AD}" srcOrd="0" destOrd="0" presId="urn:microsoft.com/office/officeart/2016/7/layout/RepeatingBendingProcessNew"/>
    <dgm:cxn modelId="{3CB6B528-045B-4AE2-959A-D9EDD9CCB3AC}" type="presParOf" srcId="{A6BC5C95-5CE3-451C-93B0-A9FAFF426577}" destId="{5FE492B5-52A6-4891-B1E2-2EA34ABFD291}" srcOrd="1" destOrd="0" presId="urn:microsoft.com/office/officeart/2016/7/layout/RepeatingBendingProcessNew"/>
    <dgm:cxn modelId="{4576526E-4464-40B5-8871-E543658C0FEB}" type="presParOf" srcId="{5FE492B5-52A6-4891-B1E2-2EA34ABFD291}" destId="{D15049B3-E199-4A7F-9436-CAB4A7DD66FC}" srcOrd="0" destOrd="0" presId="urn:microsoft.com/office/officeart/2016/7/layout/RepeatingBendingProcessNew"/>
    <dgm:cxn modelId="{DA4CB368-EBD0-4CA5-8991-48A0D9F03496}" type="presParOf" srcId="{A6BC5C95-5CE3-451C-93B0-A9FAFF426577}" destId="{98C89553-B655-44DE-A426-E6E02D9838B4}" srcOrd="2" destOrd="0" presId="urn:microsoft.com/office/officeart/2016/7/layout/RepeatingBendingProcessNew"/>
    <dgm:cxn modelId="{083B36E9-B383-4D91-93AB-22F73D1BA828}" type="presParOf" srcId="{A6BC5C95-5CE3-451C-93B0-A9FAFF426577}" destId="{EBC35F3E-6A29-46B4-8F3A-1A6D343D3134}" srcOrd="3" destOrd="0" presId="urn:microsoft.com/office/officeart/2016/7/layout/RepeatingBendingProcessNew"/>
    <dgm:cxn modelId="{A793D702-8082-4563-97C5-7B5AD0875DFC}" type="presParOf" srcId="{EBC35F3E-6A29-46B4-8F3A-1A6D343D3134}" destId="{2DFCBE7C-4F1F-487E-8121-7C5ED43AA0F3}" srcOrd="0" destOrd="0" presId="urn:microsoft.com/office/officeart/2016/7/layout/RepeatingBendingProcessNew"/>
    <dgm:cxn modelId="{8EFBD8E1-4B42-4394-A4C1-BE73F50CB858}" type="presParOf" srcId="{A6BC5C95-5CE3-451C-93B0-A9FAFF426577}" destId="{2B7B41E5-7568-40E3-AFDA-7CF1015011A5}" srcOrd="4" destOrd="0" presId="urn:microsoft.com/office/officeart/2016/7/layout/RepeatingBendingProcessNew"/>
    <dgm:cxn modelId="{ECCC1905-CBB5-4AFA-B7E1-249C0F892D9A}" type="presParOf" srcId="{A6BC5C95-5CE3-451C-93B0-A9FAFF426577}" destId="{0741C6BB-C7E7-4B8A-8BF8-E65F406D8A4A}" srcOrd="5" destOrd="0" presId="urn:microsoft.com/office/officeart/2016/7/layout/RepeatingBendingProcessNew"/>
    <dgm:cxn modelId="{22ACF43A-7A00-4B21-84DC-51FA5012AA5B}" type="presParOf" srcId="{0741C6BB-C7E7-4B8A-8BF8-E65F406D8A4A}" destId="{1D8F83BD-C69A-4D73-BE83-09DB7856A3E7}" srcOrd="0" destOrd="0" presId="urn:microsoft.com/office/officeart/2016/7/layout/RepeatingBendingProcessNew"/>
    <dgm:cxn modelId="{1072B615-D811-411D-8179-9C579AF34C44}" type="presParOf" srcId="{A6BC5C95-5CE3-451C-93B0-A9FAFF426577}" destId="{C3010346-CF34-4BDB-86E1-94EA0815BC12}" srcOrd="6" destOrd="0" presId="urn:microsoft.com/office/officeart/2016/7/layout/RepeatingBendingProcessNew"/>
    <dgm:cxn modelId="{758584B3-4D1D-4E3C-9461-9920ACC142EF}" type="presParOf" srcId="{A6BC5C95-5CE3-451C-93B0-A9FAFF426577}" destId="{5B95A3D4-6848-48BE-BC8F-57385FAD2D37}" srcOrd="7" destOrd="0" presId="urn:microsoft.com/office/officeart/2016/7/layout/RepeatingBendingProcessNew"/>
    <dgm:cxn modelId="{134D1EDA-456E-43D2-A09A-F7DDB34FCC28}" type="presParOf" srcId="{5B95A3D4-6848-48BE-BC8F-57385FAD2D37}" destId="{5FD3D618-8AA2-4E80-BB21-08D696395AFE}" srcOrd="0" destOrd="0" presId="urn:microsoft.com/office/officeart/2016/7/layout/RepeatingBendingProcessNew"/>
    <dgm:cxn modelId="{C9BACC44-CC57-497A-AB69-1A1A9B123B14}" type="presParOf" srcId="{A6BC5C95-5CE3-451C-93B0-A9FAFF426577}" destId="{55975C16-D563-4ED5-A081-C65F933742C6}" srcOrd="8" destOrd="0" presId="urn:microsoft.com/office/officeart/2016/7/layout/RepeatingBendingProcessNew"/>
    <dgm:cxn modelId="{86509E61-C40A-4945-B133-2A8398CD6829}" type="presParOf" srcId="{A6BC5C95-5CE3-451C-93B0-A9FAFF426577}" destId="{79CC6BB0-918B-47F6-83DD-9CA7A92429AE}" srcOrd="9" destOrd="0" presId="urn:microsoft.com/office/officeart/2016/7/layout/RepeatingBendingProcessNew"/>
    <dgm:cxn modelId="{32F2DD29-3F9E-4EE7-A933-57A4D85F6A81}" type="presParOf" srcId="{79CC6BB0-918B-47F6-83DD-9CA7A92429AE}" destId="{75D9013E-27F4-4977-AF9D-599B327080A2}" srcOrd="0" destOrd="0" presId="urn:microsoft.com/office/officeart/2016/7/layout/RepeatingBendingProcessNew"/>
    <dgm:cxn modelId="{9DE299D0-DB82-4F63-AA62-2686C743360A}" type="presParOf" srcId="{A6BC5C95-5CE3-451C-93B0-A9FAFF426577}" destId="{1671FAB6-4814-4B54-914C-4E0BD5133705}"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30B52A5-4C20-4DF2-9D54-311D249A561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15664624-B43E-4C07-8D51-E514D9E79DBF}">
      <dgm:prSet/>
      <dgm:spPr/>
      <dgm:t>
        <a:bodyPr/>
        <a:lstStyle/>
        <a:p>
          <a:r>
            <a:rPr lang="pl-PL"/>
            <a:t>W podejściu </a:t>
          </a:r>
          <a:r>
            <a:rPr lang="en-US"/>
            <a:t>“żywy organizm ”</a:t>
          </a:r>
          <a:r>
            <a:rPr lang="pl-PL"/>
            <a:t>firma działa bardziej jak system biologiczny:</a:t>
          </a:r>
          <a:endParaRPr lang="en-US"/>
        </a:p>
      </dgm:t>
    </dgm:pt>
    <dgm:pt modelId="{D163B9F7-EAD2-4DB5-8E3E-BD81AEAF9039}" type="parTrans" cxnId="{F9773CA3-CF18-4E58-A457-B63FF8DCCFF6}">
      <dgm:prSet/>
      <dgm:spPr/>
      <dgm:t>
        <a:bodyPr/>
        <a:lstStyle/>
        <a:p>
          <a:endParaRPr lang="en-US"/>
        </a:p>
      </dgm:t>
    </dgm:pt>
    <dgm:pt modelId="{8835AA26-CBC5-42A8-8EFC-889317A3770A}" type="sibTrans" cxnId="{F9773CA3-CF18-4E58-A457-B63FF8DCCFF6}">
      <dgm:prSet/>
      <dgm:spPr/>
      <dgm:t>
        <a:bodyPr/>
        <a:lstStyle/>
        <a:p>
          <a:endParaRPr lang="en-US"/>
        </a:p>
      </dgm:t>
    </dgm:pt>
    <dgm:pt modelId="{6CD57F74-6792-4D86-8446-901F2FD328A6}">
      <dgm:prSet/>
      <dgm:spPr/>
      <dgm:t>
        <a:bodyPr/>
        <a:lstStyle/>
        <a:p>
          <a:r>
            <a:rPr lang="pl-PL"/>
            <a:t>uczy się z doświadczeń, </a:t>
          </a:r>
          <a:endParaRPr lang="en-US"/>
        </a:p>
      </dgm:t>
    </dgm:pt>
    <dgm:pt modelId="{CB539B45-1F8B-463C-96B2-46CE0C82247E}" type="parTrans" cxnId="{79157C0E-D8F4-45C1-B793-BC86155F25CC}">
      <dgm:prSet/>
      <dgm:spPr/>
      <dgm:t>
        <a:bodyPr/>
        <a:lstStyle/>
        <a:p>
          <a:endParaRPr lang="en-US"/>
        </a:p>
      </dgm:t>
    </dgm:pt>
    <dgm:pt modelId="{8A7D0F8C-3298-47FF-980A-88EB40E77B31}" type="sibTrans" cxnId="{79157C0E-D8F4-45C1-B793-BC86155F25CC}">
      <dgm:prSet/>
      <dgm:spPr/>
      <dgm:t>
        <a:bodyPr/>
        <a:lstStyle/>
        <a:p>
          <a:endParaRPr lang="en-US"/>
        </a:p>
      </dgm:t>
    </dgm:pt>
    <dgm:pt modelId="{8EFFD740-B3B7-4154-9B23-DA2C22478EC2}">
      <dgm:prSet/>
      <dgm:spPr/>
      <dgm:t>
        <a:bodyPr/>
        <a:lstStyle/>
        <a:p>
          <a:r>
            <a:rPr lang="pl-PL"/>
            <a:t>reaguje na otoczenie, </a:t>
          </a:r>
          <a:endParaRPr lang="en-US"/>
        </a:p>
      </dgm:t>
    </dgm:pt>
    <dgm:pt modelId="{C508B631-2A30-42B7-823F-E2E7FD48CE3D}" type="parTrans" cxnId="{B5447B80-6AB3-453F-85F6-136D1523A566}">
      <dgm:prSet/>
      <dgm:spPr/>
      <dgm:t>
        <a:bodyPr/>
        <a:lstStyle/>
        <a:p>
          <a:endParaRPr lang="en-US"/>
        </a:p>
      </dgm:t>
    </dgm:pt>
    <dgm:pt modelId="{60F39892-599E-483A-ABA1-2F284F671CF8}" type="sibTrans" cxnId="{B5447B80-6AB3-453F-85F6-136D1523A566}">
      <dgm:prSet/>
      <dgm:spPr/>
      <dgm:t>
        <a:bodyPr/>
        <a:lstStyle/>
        <a:p>
          <a:endParaRPr lang="en-US"/>
        </a:p>
      </dgm:t>
    </dgm:pt>
    <dgm:pt modelId="{2BF7B1DC-853C-4491-835E-2F11653AAAFA}">
      <dgm:prSet/>
      <dgm:spPr/>
      <dgm:t>
        <a:bodyPr/>
        <a:lstStyle/>
        <a:p>
          <a:r>
            <a:rPr lang="pl-PL"/>
            <a:t>samodzielnie się reorganizuje, </a:t>
          </a:r>
          <a:endParaRPr lang="en-US"/>
        </a:p>
      </dgm:t>
    </dgm:pt>
    <dgm:pt modelId="{40C356DC-B2D4-4620-9F26-C5370F771666}" type="parTrans" cxnId="{9215223B-8905-42C4-9D65-E3442B28AC4F}">
      <dgm:prSet/>
      <dgm:spPr/>
      <dgm:t>
        <a:bodyPr/>
        <a:lstStyle/>
        <a:p>
          <a:endParaRPr lang="en-US"/>
        </a:p>
      </dgm:t>
    </dgm:pt>
    <dgm:pt modelId="{E815A229-B0F9-454E-9BF7-A9F233BCA469}" type="sibTrans" cxnId="{9215223B-8905-42C4-9D65-E3442B28AC4F}">
      <dgm:prSet/>
      <dgm:spPr/>
      <dgm:t>
        <a:bodyPr/>
        <a:lstStyle/>
        <a:p>
          <a:endParaRPr lang="en-US"/>
        </a:p>
      </dgm:t>
    </dgm:pt>
    <dgm:pt modelId="{E574019B-8A92-4AF6-BBA6-353C50DF7C84}">
      <dgm:prSet/>
      <dgm:spPr/>
      <dgm:t>
        <a:bodyPr/>
        <a:lstStyle/>
        <a:p>
          <a:r>
            <a:rPr lang="pl-PL"/>
            <a:t>rozwija nowe kompetencje, </a:t>
          </a:r>
          <a:endParaRPr lang="en-US"/>
        </a:p>
      </dgm:t>
    </dgm:pt>
    <dgm:pt modelId="{3B0F54DE-6B67-4179-9AE9-6849C6239257}" type="parTrans" cxnId="{90D6C85C-7E97-422D-8D17-2DCE5C412923}">
      <dgm:prSet/>
      <dgm:spPr/>
      <dgm:t>
        <a:bodyPr/>
        <a:lstStyle/>
        <a:p>
          <a:endParaRPr lang="en-US"/>
        </a:p>
      </dgm:t>
    </dgm:pt>
    <dgm:pt modelId="{E93B8022-9338-4DD2-8ECA-40EFB95F4BC8}" type="sibTrans" cxnId="{90D6C85C-7E97-422D-8D17-2DCE5C412923}">
      <dgm:prSet/>
      <dgm:spPr/>
      <dgm:t>
        <a:bodyPr/>
        <a:lstStyle/>
        <a:p>
          <a:endParaRPr lang="en-US"/>
        </a:p>
      </dgm:t>
    </dgm:pt>
    <dgm:pt modelId="{F09D6554-D40E-4940-B0D9-BBA582840134}">
      <dgm:prSet/>
      <dgm:spPr/>
      <dgm:t>
        <a:bodyPr/>
        <a:lstStyle/>
        <a:p>
          <a:r>
            <a:rPr lang="pl-PL"/>
            <a:t>wzmacnia odporność.</a:t>
          </a:r>
          <a:endParaRPr lang="en-US"/>
        </a:p>
      </dgm:t>
    </dgm:pt>
    <dgm:pt modelId="{337E1A1F-3DF1-43B2-87D8-3BF4B45781EE}" type="parTrans" cxnId="{2D9BB4D1-6783-4F8D-98AF-7780EDE2098C}">
      <dgm:prSet/>
      <dgm:spPr/>
      <dgm:t>
        <a:bodyPr/>
        <a:lstStyle/>
        <a:p>
          <a:endParaRPr lang="en-US"/>
        </a:p>
      </dgm:t>
    </dgm:pt>
    <dgm:pt modelId="{C13D1B3C-C6EF-4A9E-9D5D-5F6E56983865}" type="sibTrans" cxnId="{2D9BB4D1-6783-4F8D-98AF-7780EDE2098C}">
      <dgm:prSet/>
      <dgm:spPr/>
      <dgm:t>
        <a:bodyPr/>
        <a:lstStyle/>
        <a:p>
          <a:endParaRPr lang="en-US"/>
        </a:p>
      </dgm:t>
    </dgm:pt>
    <dgm:pt modelId="{3CE356A4-61F3-4D4F-9A8B-E6332DEE39A5}" type="pres">
      <dgm:prSet presAssocID="{E30B52A5-4C20-4DF2-9D54-311D249A5619}" presName="linear" presStyleCnt="0">
        <dgm:presLayoutVars>
          <dgm:animLvl val="lvl"/>
          <dgm:resizeHandles val="exact"/>
        </dgm:presLayoutVars>
      </dgm:prSet>
      <dgm:spPr/>
    </dgm:pt>
    <dgm:pt modelId="{D9BFFAC5-B0F6-44A3-A2BE-400362569357}" type="pres">
      <dgm:prSet presAssocID="{15664624-B43E-4C07-8D51-E514D9E79DBF}" presName="parentText" presStyleLbl="node1" presStyleIdx="0" presStyleCnt="6">
        <dgm:presLayoutVars>
          <dgm:chMax val="0"/>
          <dgm:bulletEnabled val="1"/>
        </dgm:presLayoutVars>
      </dgm:prSet>
      <dgm:spPr/>
    </dgm:pt>
    <dgm:pt modelId="{675C13BA-B9F8-4681-A829-4F65281B6C43}" type="pres">
      <dgm:prSet presAssocID="{8835AA26-CBC5-42A8-8EFC-889317A3770A}" presName="spacer" presStyleCnt="0"/>
      <dgm:spPr/>
    </dgm:pt>
    <dgm:pt modelId="{A0241442-CA05-41BE-9F28-61A8F45BAEFC}" type="pres">
      <dgm:prSet presAssocID="{6CD57F74-6792-4D86-8446-901F2FD328A6}" presName="parentText" presStyleLbl="node1" presStyleIdx="1" presStyleCnt="6">
        <dgm:presLayoutVars>
          <dgm:chMax val="0"/>
          <dgm:bulletEnabled val="1"/>
        </dgm:presLayoutVars>
      </dgm:prSet>
      <dgm:spPr/>
    </dgm:pt>
    <dgm:pt modelId="{2671D6C2-73F8-4EE9-83B1-B449D3DF43B8}" type="pres">
      <dgm:prSet presAssocID="{8A7D0F8C-3298-47FF-980A-88EB40E77B31}" presName="spacer" presStyleCnt="0"/>
      <dgm:spPr/>
    </dgm:pt>
    <dgm:pt modelId="{503D4C89-EAE6-488B-9A2A-79294798D195}" type="pres">
      <dgm:prSet presAssocID="{8EFFD740-B3B7-4154-9B23-DA2C22478EC2}" presName="parentText" presStyleLbl="node1" presStyleIdx="2" presStyleCnt="6">
        <dgm:presLayoutVars>
          <dgm:chMax val="0"/>
          <dgm:bulletEnabled val="1"/>
        </dgm:presLayoutVars>
      </dgm:prSet>
      <dgm:spPr/>
    </dgm:pt>
    <dgm:pt modelId="{0668027A-4658-4E80-B774-F57F8485867B}" type="pres">
      <dgm:prSet presAssocID="{60F39892-599E-483A-ABA1-2F284F671CF8}" presName="spacer" presStyleCnt="0"/>
      <dgm:spPr/>
    </dgm:pt>
    <dgm:pt modelId="{FD3282FE-369C-43CB-A2CA-B447796234BE}" type="pres">
      <dgm:prSet presAssocID="{2BF7B1DC-853C-4491-835E-2F11653AAAFA}" presName="parentText" presStyleLbl="node1" presStyleIdx="3" presStyleCnt="6">
        <dgm:presLayoutVars>
          <dgm:chMax val="0"/>
          <dgm:bulletEnabled val="1"/>
        </dgm:presLayoutVars>
      </dgm:prSet>
      <dgm:spPr/>
    </dgm:pt>
    <dgm:pt modelId="{2E989319-08ED-437F-972E-960953185019}" type="pres">
      <dgm:prSet presAssocID="{E815A229-B0F9-454E-9BF7-A9F233BCA469}" presName="spacer" presStyleCnt="0"/>
      <dgm:spPr/>
    </dgm:pt>
    <dgm:pt modelId="{6C9E8D13-3091-42A2-9192-CF0BD02A9E74}" type="pres">
      <dgm:prSet presAssocID="{E574019B-8A92-4AF6-BBA6-353C50DF7C84}" presName="parentText" presStyleLbl="node1" presStyleIdx="4" presStyleCnt="6">
        <dgm:presLayoutVars>
          <dgm:chMax val="0"/>
          <dgm:bulletEnabled val="1"/>
        </dgm:presLayoutVars>
      </dgm:prSet>
      <dgm:spPr/>
    </dgm:pt>
    <dgm:pt modelId="{8D3BBB30-0E4B-4721-854E-537065508261}" type="pres">
      <dgm:prSet presAssocID="{E93B8022-9338-4DD2-8ECA-40EFB95F4BC8}" presName="spacer" presStyleCnt="0"/>
      <dgm:spPr/>
    </dgm:pt>
    <dgm:pt modelId="{31EF1DDE-CD38-462F-856B-37EB0807030D}" type="pres">
      <dgm:prSet presAssocID="{F09D6554-D40E-4940-B0D9-BBA582840134}" presName="parentText" presStyleLbl="node1" presStyleIdx="5" presStyleCnt="6">
        <dgm:presLayoutVars>
          <dgm:chMax val="0"/>
          <dgm:bulletEnabled val="1"/>
        </dgm:presLayoutVars>
      </dgm:prSet>
      <dgm:spPr/>
    </dgm:pt>
  </dgm:ptLst>
  <dgm:cxnLst>
    <dgm:cxn modelId="{0682D002-FE74-4D59-83C6-180D0F6AD5DD}" type="presOf" srcId="{6CD57F74-6792-4D86-8446-901F2FD328A6}" destId="{A0241442-CA05-41BE-9F28-61A8F45BAEFC}" srcOrd="0" destOrd="0" presId="urn:microsoft.com/office/officeart/2005/8/layout/vList2"/>
    <dgm:cxn modelId="{79157C0E-D8F4-45C1-B793-BC86155F25CC}" srcId="{E30B52A5-4C20-4DF2-9D54-311D249A5619}" destId="{6CD57F74-6792-4D86-8446-901F2FD328A6}" srcOrd="1" destOrd="0" parTransId="{CB539B45-1F8B-463C-96B2-46CE0C82247E}" sibTransId="{8A7D0F8C-3298-47FF-980A-88EB40E77B31}"/>
    <dgm:cxn modelId="{C3B4983A-2A35-4D9A-ACC4-13A27FD304E0}" type="presOf" srcId="{2BF7B1DC-853C-4491-835E-2F11653AAAFA}" destId="{FD3282FE-369C-43CB-A2CA-B447796234BE}" srcOrd="0" destOrd="0" presId="urn:microsoft.com/office/officeart/2005/8/layout/vList2"/>
    <dgm:cxn modelId="{9215223B-8905-42C4-9D65-E3442B28AC4F}" srcId="{E30B52A5-4C20-4DF2-9D54-311D249A5619}" destId="{2BF7B1DC-853C-4491-835E-2F11653AAAFA}" srcOrd="3" destOrd="0" parTransId="{40C356DC-B2D4-4620-9F26-C5370F771666}" sibTransId="{E815A229-B0F9-454E-9BF7-A9F233BCA469}"/>
    <dgm:cxn modelId="{90D6C85C-7E97-422D-8D17-2DCE5C412923}" srcId="{E30B52A5-4C20-4DF2-9D54-311D249A5619}" destId="{E574019B-8A92-4AF6-BBA6-353C50DF7C84}" srcOrd="4" destOrd="0" parTransId="{3B0F54DE-6B67-4179-9AE9-6849C6239257}" sibTransId="{E93B8022-9338-4DD2-8ECA-40EFB95F4BC8}"/>
    <dgm:cxn modelId="{B5447B80-6AB3-453F-85F6-136D1523A566}" srcId="{E30B52A5-4C20-4DF2-9D54-311D249A5619}" destId="{8EFFD740-B3B7-4154-9B23-DA2C22478EC2}" srcOrd="2" destOrd="0" parTransId="{C508B631-2A30-42B7-823F-E2E7FD48CE3D}" sibTransId="{60F39892-599E-483A-ABA1-2F284F671CF8}"/>
    <dgm:cxn modelId="{7AEA7B93-8DEE-467B-B99F-EDFADE8795A1}" type="presOf" srcId="{E30B52A5-4C20-4DF2-9D54-311D249A5619}" destId="{3CE356A4-61F3-4D4F-9A8B-E6332DEE39A5}" srcOrd="0" destOrd="0" presId="urn:microsoft.com/office/officeart/2005/8/layout/vList2"/>
    <dgm:cxn modelId="{DA495897-3A39-4F35-B48F-394F2C2055E3}" type="presOf" srcId="{8EFFD740-B3B7-4154-9B23-DA2C22478EC2}" destId="{503D4C89-EAE6-488B-9A2A-79294798D195}" srcOrd="0" destOrd="0" presId="urn:microsoft.com/office/officeart/2005/8/layout/vList2"/>
    <dgm:cxn modelId="{F9773CA3-CF18-4E58-A457-B63FF8DCCFF6}" srcId="{E30B52A5-4C20-4DF2-9D54-311D249A5619}" destId="{15664624-B43E-4C07-8D51-E514D9E79DBF}" srcOrd="0" destOrd="0" parTransId="{D163B9F7-EAD2-4DB5-8E3E-BD81AEAF9039}" sibTransId="{8835AA26-CBC5-42A8-8EFC-889317A3770A}"/>
    <dgm:cxn modelId="{FDD669B9-8184-4E21-B538-914F6BFE4A5E}" type="presOf" srcId="{E574019B-8A92-4AF6-BBA6-353C50DF7C84}" destId="{6C9E8D13-3091-42A2-9192-CF0BD02A9E74}" srcOrd="0" destOrd="0" presId="urn:microsoft.com/office/officeart/2005/8/layout/vList2"/>
    <dgm:cxn modelId="{4044EFC8-80B1-4416-B2AE-12BD90F86EFC}" type="presOf" srcId="{15664624-B43E-4C07-8D51-E514D9E79DBF}" destId="{D9BFFAC5-B0F6-44A3-A2BE-400362569357}" srcOrd="0" destOrd="0" presId="urn:microsoft.com/office/officeart/2005/8/layout/vList2"/>
    <dgm:cxn modelId="{2D9BB4D1-6783-4F8D-98AF-7780EDE2098C}" srcId="{E30B52A5-4C20-4DF2-9D54-311D249A5619}" destId="{F09D6554-D40E-4940-B0D9-BBA582840134}" srcOrd="5" destOrd="0" parTransId="{337E1A1F-3DF1-43B2-87D8-3BF4B45781EE}" sibTransId="{C13D1B3C-C6EF-4A9E-9D5D-5F6E56983865}"/>
    <dgm:cxn modelId="{78A425F4-BFC2-40BE-8ACA-05D2511AF032}" type="presOf" srcId="{F09D6554-D40E-4940-B0D9-BBA582840134}" destId="{31EF1DDE-CD38-462F-856B-37EB0807030D}" srcOrd="0" destOrd="0" presId="urn:microsoft.com/office/officeart/2005/8/layout/vList2"/>
    <dgm:cxn modelId="{E28FB463-21A3-42BF-8912-0CE8DE75EFB5}" type="presParOf" srcId="{3CE356A4-61F3-4D4F-9A8B-E6332DEE39A5}" destId="{D9BFFAC5-B0F6-44A3-A2BE-400362569357}" srcOrd="0" destOrd="0" presId="urn:microsoft.com/office/officeart/2005/8/layout/vList2"/>
    <dgm:cxn modelId="{C16529D0-45FF-4F74-98FA-FCF6FC7BC813}" type="presParOf" srcId="{3CE356A4-61F3-4D4F-9A8B-E6332DEE39A5}" destId="{675C13BA-B9F8-4681-A829-4F65281B6C43}" srcOrd="1" destOrd="0" presId="urn:microsoft.com/office/officeart/2005/8/layout/vList2"/>
    <dgm:cxn modelId="{C02D6927-BF45-47E5-9CAA-59C94C9FBD0D}" type="presParOf" srcId="{3CE356A4-61F3-4D4F-9A8B-E6332DEE39A5}" destId="{A0241442-CA05-41BE-9F28-61A8F45BAEFC}" srcOrd="2" destOrd="0" presId="urn:microsoft.com/office/officeart/2005/8/layout/vList2"/>
    <dgm:cxn modelId="{4F2314D4-52DC-4B46-B528-A717DFA91ECC}" type="presParOf" srcId="{3CE356A4-61F3-4D4F-9A8B-E6332DEE39A5}" destId="{2671D6C2-73F8-4EE9-83B1-B449D3DF43B8}" srcOrd="3" destOrd="0" presId="urn:microsoft.com/office/officeart/2005/8/layout/vList2"/>
    <dgm:cxn modelId="{5C0F8ACB-0B95-4D1A-8083-9F311629F781}" type="presParOf" srcId="{3CE356A4-61F3-4D4F-9A8B-E6332DEE39A5}" destId="{503D4C89-EAE6-488B-9A2A-79294798D195}" srcOrd="4" destOrd="0" presId="urn:microsoft.com/office/officeart/2005/8/layout/vList2"/>
    <dgm:cxn modelId="{74584824-F9F3-41D5-9437-C2086C2EA055}" type="presParOf" srcId="{3CE356A4-61F3-4D4F-9A8B-E6332DEE39A5}" destId="{0668027A-4658-4E80-B774-F57F8485867B}" srcOrd="5" destOrd="0" presId="urn:microsoft.com/office/officeart/2005/8/layout/vList2"/>
    <dgm:cxn modelId="{E81D7D44-FEBE-4E1F-8BBE-DA188EE6F731}" type="presParOf" srcId="{3CE356A4-61F3-4D4F-9A8B-E6332DEE39A5}" destId="{FD3282FE-369C-43CB-A2CA-B447796234BE}" srcOrd="6" destOrd="0" presId="urn:microsoft.com/office/officeart/2005/8/layout/vList2"/>
    <dgm:cxn modelId="{1C11D877-FDC8-4AA5-9284-483BEBE1053C}" type="presParOf" srcId="{3CE356A4-61F3-4D4F-9A8B-E6332DEE39A5}" destId="{2E989319-08ED-437F-972E-960953185019}" srcOrd="7" destOrd="0" presId="urn:microsoft.com/office/officeart/2005/8/layout/vList2"/>
    <dgm:cxn modelId="{5D15DBAA-3224-4899-B78B-73EF19FC9816}" type="presParOf" srcId="{3CE356A4-61F3-4D4F-9A8B-E6332DEE39A5}" destId="{6C9E8D13-3091-42A2-9192-CF0BD02A9E74}" srcOrd="8" destOrd="0" presId="urn:microsoft.com/office/officeart/2005/8/layout/vList2"/>
    <dgm:cxn modelId="{3FC35A6B-CA4D-4203-9AFC-4D89D63E3FFC}" type="presParOf" srcId="{3CE356A4-61F3-4D4F-9A8B-E6332DEE39A5}" destId="{8D3BBB30-0E4B-4721-854E-537065508261}" srcOrd="9" destOrd="0" presId="urn:microsoft.com/office/officeart/2005/8/layout/vList2"/>
    <dgm:cxn modelId="{5A0E0C44-7EDC-49BE-884E-201915EDD4ED}" type="presParOf" srcId="{3CE356A4-61F3-4D4F-9A8B-E6332DEE39A5}" destId="{31EF1DDE-CD38-462F-856B-37EB0807030D}"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F66BCA0-2907-48DC-90D4-93852EC46D49}"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4CBBAB5D-F91D-4E1B-BC8F-D00322A28DD4}">
      <dgm:prSet/>
      <dgm:spPr/>
      <dgm:t>
        <a:bodyPr/>
        <a:lstStyle/>
        <a:p>
          <a:r>
            <a:rPr lang="pl-PL"/>
            <a:t>Automatyzacja </a:t>
          </a:r>
          <a:r>
            <a:rPr lang="en-US"/>
            <a:t>CI/CD </a:t>
          </a:r>
          <a:r>
            <a:rPr lang="pl-PL"/>
            <a:t>wpływa na wydajność zespołu poprzez:</a:t>
          </a:r>
          <a:endParaRPr lang="en-US"/>
        </a:p>
      </dgm:t>
    </dgm:pt>
    <dgm:pt modelId="{B2119427-DD12-4BC9-8B9A-3AD0650C365C}" type="parTrans" cxnId="{8CE732EA-6859-4D0B-A1A0-165761E3C256}">
      <dgm:prSet/>
      <dgm:spPr/>
      <dgm:t>
        <a:bodyPr/>
        <a:lstStyle/>
        <a:p>
          <a:endParaRPr lang="en-US"/>
        </a:p>
      </dgm:t>
    </dgm:pt>
    <dgm:pt modelId="{F075D0CE-D2BC-4DD9-955C-EF724E9E5BCF}" type="sibTrans" cxnId="{8CE732EA-6859-4D0B-A1A0-165761E3C256}">
      <dgm:prSet/>
      <dgm:spPr/>
      <dgm:t>
        <a:bodyPr/>
        <a:lstStyle/>
        <a:p>
          <a:endParaRPr lang="en-US"/>
        </a:p>
      </dgm:t>
    </dgm:pt>
    <dgm:pt modelId="{A246B5EE-1488-46CF-9499-B6CDBA6D483D}">
      <dgm:prSet/>
      <dgm:spPr/>
      <dgm:t>
        <a:bodyPr/>
        <a:lstStyle/>
        <a:p>
          <a:r>
            <a:rPr lang="pl-PL" dirty="0"/>
            <a:t>skrócenie czasu dostarczania zmian, </a:t>
          </a:r>
          <a:endParaRPr lang="en-US" dirty="0"/>
        </a:p>
      </dgm:t>
    </dgm:pt>
    <dgm:pt modelId="{182CD783-8882-4517-A8E4-8966F9A59BF0}" type="parTrans" cxnId="{A637B763-EDFD-4359-83AC-AC4B116A6CBB}">
      <dgm:prSet/>
      <dgm:spPr/>
      <dgm:t>
        <a:bodyPr/>
        <a:lstStyle/>
        <a:p>
          <a:endParaRPr lang="en-US"/>
        </a:p>
      </dgm:t>
    </dgm:pt>
    <dgm:pt modelId="{EE45BE40-DF23-4381-981A-E74EAEB41BC5}" type="sibTrans" cxnId="{A637B763-EDFD-4359-83AC-AC4B116A6CBB}">
      <dgm:prSet/>
      <dgm:spPr/>
      <dgm:t>
        <a:bodyPr/>
        <a:lstStyle/>
        <a:p>
          <a:endParaRPr lang="en-US"/>
        </a:p>
      </dgm:t>
    </dgm:pt>
    <dgm:pt modelId="{9FC4620A-2819-453A-B53C-26032E946028}">
      <dgm:prSet/>
      <dgm:spPr/>
      <dgm:t>
        <a:bodyPr/>
        <a:lstStyle/>
        <a:p>
          <a:r>
            <a:rPr lang="pl-PL"/>
            <a:t>szybsze wykrywanie błędów, </a:t>
          </a:r>
          <a:endParaRPr lang="en-US"/>
        </a:p>
      </dgm:t>
    </dgm:pt>
    <dgm:pt modelId="{3EF67893-5BE9-4517-8503-A53AB35535E6}" type="parTrans" cxnId="{5F2A1EF9-4D2F-4E40-B779-018CBADED229}">
      <dgm:prSet/>
      <dgm:spPr/>
      <dgm:t>
        <a:bodyPr/>
        <a:lstStyle/>
        <a:p>
          <a:endParaRPr lang="en-US"/>
        </a:p>
      </dgm:t>
    </dgm:pt>
    <dgm:pt modelId="{B5422455-ABBD-4DD8-841D-E1F81BDAFB8C}" type="sibTrans" cxnId="{5F2A1EF9-4D2F-4E40-B779-018CBADED229}">
      <dgm:prSet/>
      <dgm:spPr/>
      <dgm:t>
        <a:bodyPr/>
        <a:lstStyle/>
        <a:p>
          <a:endParaRPr lang="en-US"/>
        </a:p>
      </dgm:t>
    </dgm:pt>
    <dgm:pt modelId="{287DDB16-DE55-4F36-B863-214EB81786AC}">
      <dgm:prSet/>
      <dgm:spPr/>
      <dgm:t>
        <a:bodyPr/>
        <a:lstStyle/>
        <a:p>
          <a:r>
            <a:rPr lang="pl-PL"/>
            <a:t>zmniejszenie liczby awarii, </a:t>
          </a:r>
          <a:endParaRPr lang="en-US"/>
        </a:p>
      </dgm:t>
    </dgm:pt>
    <dgm:pt modelId="{0D0462EF-94DB-4ACA-8D86-29AE11CD07E3}" type="parTrans" cxnId="{DA93A041-2BA4-461D-9905-6CC8DC3EFD15}">
      <dgm:prSet/>
      <dgm:spPr/>
      <dgm:t>
        <a:bodyPr/>
        <a:lstStyle/>
        <a:p>
          <a:endParaRPr lang="en-US"/>
        </a:p>
      </dgm:t>
    </dgm:pt>
    <dgm:pt modelId="{094F5CAC-F8F2-4467-846E-8D8C9473EE1D}" type="sibTrans" cxnId="{DA93A041-2BA4-461D-9905-6CC8DC3EFD15}">
      <dgm:prSet/>
      <dgm:spPr/>
      <dgm:t>
        <a:bodyPr/>
        <a:lstStyle/>
        <a:p>
          <a:endParaRPr lang="en-US"/>
        </a:p>
      </dgm:t>
    </dgm:pt>
    <dgm:pt modelId="{A2FDFEA9-31FC-43C5-BD8A-676AF986555C}">
      <dgm:prSet/>
      <dgm:spPr/>
      <dgm:t>
        <a:bodyPr/>
        <a:lstStyle/>
        <a:p>
          <a:r>
            <a:rPr lang="pl-PL"/>
            <a:t>ograniczenie pracy manualnej, </a:t>
          </a:r>
          <a:endParaRPr lang="en-US"/>
        </a:p>
      </dgm:t>
    </dgm:pt>
    <dgm:pt modelId="{1908F674-37E4-4A43-BB82-ACECA4499DA4}" type="parTrans" cxnId="{F67779EC-413E-4D54-8AB5-218E1912B082}">
      <dgm:prSet/>
      <dgm:spPr/>
      <dgm:t>
        <a:bodyPr/>
        <a:lstStyle/>
        <a:p>
          <a:endParaRPr lang="en-US"/>
        </a:p>
      </dgm:t>
    </dgm:pt>
    <dgm:pt modelId="{220C1AAE-6BA0-4296-9732-96C908C6486B}" type="sibTrans" cxnId="{F67779EC-413E-4D54-8AB5-218E1912B082}">
      <dgm:prSet/>
      <dgm:spPr/>
      <dgm:t>
        <a:bodyPr/>
        <a:lstStyle/>
        <a:p>
          <a:endParaRPr lang="en-US"/>
        </a:p>
      </dgm:t>
    </dgm:pt>
    <dgm:pt modelId="{B3D59592-11A5-4395-B2E0-AECBBC22D4E6}">
      <dgm:prSet/>
      <dgm:spPr/>
      <dgm:t>
        <a:bodyPr/>
        <a:lstStyle/>
        <a:p>
          <a:r>
            <a:rPr lang="pl-PL"/>
            <a:t>zwiększenie przewidywalności wdrożeń.</a:t>
          </a:r>
          <a:endParaRPr lang="en-US"/>
        </a:p>
      </dgm:t>
    </dgm:pt>
    <dgm:pt modelId="{9868828A-2886-4587-9A3E-6E71638EC2D4}" type="parTrans" cxnId="{3D9462E7-C5C7-4596-B3CF-4D01572C0C08}">
      <dgm:prSet/>
      <dgm:spPr/>
      <dgm:t>
        <a:bodyPr/>
        <a:lstStyle/>
        <a:p>
          <a:endParaRPr lang="en-US"/>
        </a:p>
      </dgm:t>
    </dgm:pt>
    <dgm:pt modelId="{11ED5142-6726-4087-97D8-8941D0C9C0F9}" type="sibTrans" cxnId="{3D9462E7-C5C7-4596-B3CF-4D01572C0C08}">
      <dgm:prSet/>
      <dgm:spPr/>
      <dgm:t>
        <a:bodyPr/>
        <a:lstStyle/>
        <a:p>
          <a:endParaRPr lang="en-US"/>
        </a:p>
      </dgm:t>
    </dgm:pt>
    <dgm:pt modelId="{12CBDD7C-84AD-4615-86C2-7F2B25B09032}" type="pres">
      <dgm:prSet presAssocID="{4F66BCA0-2907-48DC-90D4-93852EC46D49}" presName="vert0" presStyleCnt="0">
        <dgm:presLayoutVars>
          <dgm:dir/>
          <dgm:animOne val="branch"/>
          <dgm:animLvl val="lvl"/>
        </dgm:presLayoutVars>
      </dgm:prSet>
      <dgm:spPr/>
    </dgm:pt>
    <dgm:pt modelId="{0C667D5F-B356-409A-B779-89184E1011CE}" type="pres">
      <dgm:prSet presAssocID="{4CBBAB5D-F91D-4E1B-BC8F-D00322A28DD4}" presName="thickLine" presStyleLbl="alignNode1" presStyleIdx="0" presStyleCnt="6"/>
      <dgm:spPr/>
    </dgm:pt>
    <dgm:pt modelId="{FB9EFA63-87D6-4757-BF02-6D727FC372F5}" type="pres">
      <dgm:prSet presAssocID="{4CBBAB5D-F91D-4E1B-BC8F-D00322A28DD4}" presName="horz1" presStyleCnt="0"/>
      <dgm:spPr/>
    </dgm:pt>
    <dgm:pt modelId="{AEB00699-83AB-45A9-966F-C25907EB043D}" type="pres">
      <dgm:prSet presAssocID="{4CBBAB5D-F91D-4E1B-BC8F-D00322A28DD4}" presName="tx1" presStyleLbl="revTx" presStyleIdx="0" presStyleCnt="6"/>
      <dgm:spPr/>
    </dgm:pt>
    <dgm:pt modelId="{BFFBB397-B4BC-420E-A663-E2280DC1ECBD}" type="pres">
      <dgm:prSet presAssocID="{4CBBAB5D-F91D-4E1B-BC8F-D00322A28DD4}" presName="vert1" presStyleCnt="0"/>
      <dgm:spPr/>
    </dgm:pt>
    <dgm:pt modelId="{E0C168D7-E6C6-4FD8-881B-70718159400C}" type="pres">
      <dgm:prSet presAssocID="{A246B5EE-1488-46CF-9499-B6CDBA6D483D}" presName="thickLine" presStyleLbl="alignNode1" presStyleIdx="1" presStyleCnt="6"/>
      <dgm:spPr/>
    </dgm:pt>
    <dgm:pt modelId="{DF4F5623-381E-47B3-BE5E-7F041761A2E3}" type="pres">
      <dgm:prSet presAssocID="{A246B5EE-1488-46CF-9499-B6CDBA6D483D}" presName="horz1" presStyleCnt="0"/>
      <dgm:spPr/>
    </dgm:pt>
    <dgm:pt modelId="{2C5AAAF5-1132-4702-A202-99F450E21FFC}" type="pres">
      <dgm:prSet presAssocID="{A246B5EE-1488-46CF-9499-B6CDBA6D483D}" presName="tx1" presStyleLbl="revTx" presStyleIdx="1" presStyleCnt="6"/>
      <dgm:spPr/>
    </dgm:pt>
    <dgm:pt modelId="{F65C9F93-4DC7-4469-8995-91A1B0B36DA7}" type="pres">
      <dgm:prSet presAssocID="{A246B5EE-1488-46CF-9499-B6CDBA6D483D}" presName="vert1" presStyleCnt="0"/>
      <dgm:spPr/>
    </dgm:pt>
    <dgm:pt modelId="{904189A6-F33F-4D16-B154-5C97F910768E}" type="pres">
      <dgm:prSet presAssocID="{9FC4620A-2819-453A-B53C-26032E946028}" presName="thickLine" presStyleLbl="alignNode1" presStyleIdx="2" presStyleCnt="6"/>
      <dgm:spPr/>
    </dgm:pt>
    <dgm:pt modelId="{84B47FAA-4478-48F8-B3B8-BB75B6023C1E}" type="pres">
      <dgm:prSet presAssocID="{9FC4620A-2819-453A-B53C-26032E946028}" presName="horz1" presStyleCnt="0"/>
      <dgm:spPr/>
    </dgm:pt>
    <dgm:pt modelId="{75F10F80-D0AC-43DA-8664-6991C1791828}" type="pres">
      <dgm:prSet presAssocID="{9FC4620A-2819-453A-B53C-26032E946028}" presName="tx1" presStyleLbl="revTx" presStyleIdx="2" presStyleCnt="6"/>
      <dgm:spPr/>
    </dgm:pt>
    <dgm:pt modelId="{B68135CB-F637-436B-AB68-EA92CC17D6F3}" type="pres">
      <dgm:prSet presAssocID="{9FC4620A-2819-453A-B53C-26032E946028}" presName="vert1" presStyleCnt="0"/>
      <dgm:spPr/>
    </dgm:pt>
    <dgm:pt modelId="{E9A99AD3-B858-4183-A694-DA0728A0C729}" type="pres">
      <dgm:prSet presAssocID="{287DDB16-DE55-4F36-B863-214EB81786AC}" presName="thickLine" presStyleLbl="alignNode1" presStyleIdx="3" presStyleCnt="6"/>
      <dgm:spPr/>
    </dgm:pt>
    <dgm:pt modelId="{E476CFF2-F689-4671-B650-DC242EDC9595}" type="pres">
      <dgm:prSet presAssocID="{287DDB16-DE55-4F36-B863-214EB81786AC}" presName="horz1" presStyleCnt="0"/>
      <dgm:spPr/>
    </dgm:pt>
    <dgm:pt modelId="{156247D8-C023-4AB6-BB9F-00D68CF94226}" type="pres">
      <dgm:prSet presAssocID="{287DDB16-DE55-4F36-B863-214EB81786AC}" presName="tx1" presStyleLbl="revTx" presStyleIdx="3" presStyleCnt="6"/>
      <dgm:spPr/>
    </dgm:pt>
    <dgm:pt modelId="{E2F7B2B7-2060-473E-884A-029F16D56DD7}" type="pres">
      <dgm:prSet presAssocID="{287DDB16-DE55-4F36-B863-214EB81786AC}" presName="vert1" presStyleCnt="0"/>
      <dgm:spPr/>
    </dgm:pt>
    <dgm:pt modelId="{4655F462-7A96-423B-96D5-FD9988F4AA48}" type="pres">
      <dgm:prSet presAssocID="{A2FDFEA9-31FC-43C5-BD8A-676AF986555C}" presName="thickLine" presStyleLbl="alignNode1" presStyleIdx="4" presStyleCnt="6"/>
      <dgm:spPr/>
    </dgm:pt>
    <dgm:pt modelId="{7A3E0E24-28CF-4CA7-AD35-367FA2D142C7}" type="pres">
      <dgm:prSet presAssocID="{A2FDFEA9-31FC-43C5-BD8A-676AF986555C}" presName="horz1" presStyleCnt="0"/>
      <dgm:spPr/>
    </dgm:pt>
    <dgm:pt modelId="{BD19DC23-05C8-4DEE-86C8-3989CB5A422C}" type="pres">
      <dgm:prSet presAssocID="{A2FDFEA9-31FC-43C5-BD8A-676AF986555C}" presName="tx1" presStyleLbl="revTx" presStyleIdx="4" presStyleCnt="6"/>
      <dgm:spPr/>
    </dgm:pt>
    <dgm:pt modelId="{AEF494A6-296A-433A-BDDF-24EA5BEF379C}" type="pres">
      <dgm:prSet presAssocID="{A2FDFEA9-31FC-43C5-BD8A-676AF986555C}" presName="vert1" presStyleCnt="0"/>
      <dgm:spPr/>
    </dgm:pt>
    <dgm:pt modelId="{D575B4FD-F7D6-47C2-B09C-5256DF42B88F}" type="pres">
      <dgm:prSet presAssocID="{B3D59592-11A5-4395-B2E0-AECBBC22D4E6}" presName="thickLine" presStyleLbl="alignNode1" presStyleIdx="5" presStyleCnt="6"/>
      <dgm:spPr/>
    </dgm:pt>
    <dgm:pt modelId="{93445FC3-1AD5-41C1-AE78-6E3380C5CFE1}" type="pres">
      <dgm:prSet presAssocID="{B3D59592-11A5-4395-B2E0-AECBBC22D4E6}" presName="horz1" presStyleCnt="0"/>
      <dgm:spPr/>
    </dgm:pt>
    <dgm:pt modelId="{42ABA7F8-F0C4-4703-B533-1D7968F5D0F9}" type="pres">
      <dgm:prSet presAssocID="{B3D59592-11A5-4395-B2E0-AECBBC22D4E6}" presName="tx1" presStyleLbl="revTx" presStyleIdx="5" presStyleCnt="6"/>
      <dgm:spPr/>
    </dgm:pt>
    <dgm:pt modelId="{D1801F0A-26C5-48FB-A5B0-C3921D880A92}" type="pres">
      <dgm:prSet presAssocID="{B3D59592-11A5-4395-B2E0-AECBBC22D4E6}" presName="vert1" presStyleCnt="0"/>
      <dgm:spPr/>
    </dgm:pt>
  </dgm:ptLst>
  <dgm:cxnLst>
    <dgm:cxn modelId="{6B9F9A16-8CC2-47BE-8C7E-B2003266871A}" type="presOf" srcId="{287DDB16-DE55-4F36-B863-214EB81786AC}" destId="{156247D8-C023-4AB6-BB9F-00D68CF94226}" srcOrd="0" destOrd="0" presId="urn:microsoft.com/office/officeart/2008/layout/LinedList"/>
    <dgm:cxn modelId="{DA93A041-2BA4-461D-9905-6CC8DC3EFD15}" srcId="{4F66BCA0-2907-48DC-90D4-93852EC46D49}" destId="{287DDB16-DE55-4F36-B863-214EB81786AC}" srcOrd="3" destOrd="0" parTransId="{0D0462EF-94DB-4ACA-8D86-29AE11CD07E3}" sibTransId="{094F5CAC-F8F2-4467-846E-8D8C9473EE1D}"/>
    <dgm:cxn modelId="{A637B763-EDFD-4359-83AC-AC4B116A6CBB}" srcId="{4F66BCA0-2907-48DC-90D4-93852EC46D49}" destId="{A246B5EE-1488-46CF-9499-B6CDBA6D483D}" srcOrd="1" destOrd="0" parTransId="{182CD783-8882-4517-A8E4-8966F9A59BF0}" sibTransId="{EE45BE40-DF23-4381-981A-E74EAEB41BC5}"/>
    <dgm:cxn modelId="{1E2C5765-4CB8-4617-B20B-6E44D92881F9}" type="presOf" srcId="{B3D59592-11A5-4395-B2E0-AECBBC22D4E6}" destId="{42ABA7F8-F0C4-4703-B533-1D7968F5D0F9}" srcOrd="0" destOrd="0" presId="urn:microsoft.com/office/officeart/2008/layout/LinedList"/>
    <dgm:cxn modelId="{82BA6146-726D-4689-9A5F-B0B73FE12189}" type="presOf" srcId="{9FC4620A-2819-453A-B53C-26032E946028}" destId="{75F10F80-D0AC-43DA-8664-6991C1791828}" srcOrd="0" destOrd="0" presId="urn:microsoft.com/office/officeart/2008/layout/LinedList"/>
    <dgm:cxn modelId="{BEDD0159-EB24-48DA-A293-63876F1B1458}" type="presOf" srcId="{A246B5EE-1488-46CF-9499-B6CDBA6D483D}" destId="{2C5AAAF5-1132-4702-A202-99F450E21FFC}" srcOrd="0" destOrd="0" presId="urn:microsoft.com/office/officeart/2008/layout/LinedList"/>
    <dgm:cxn modelId="{83E15A86-549E-4429-9E37-370973F66AB6}" type="presOf" srcId="{4F66BCA0-2907-48DC-90D4-93852EC46D49}" destId="{12CBDD7C-84AD-4615-86C2-7F2B25B09032}" srcOrd="0" destOrd="0" presId="urn:microsoft.com/office/officeart/2008/layout/LinedList"/>
    <dgm:cxn modelId="{4B9743C3-3C62-426D-8D0B-FF19BE6F26C2}" type="presOf" srcId="{4CBBAB5D-F91D-4E1B-BC8F-D00322A28DD4}" destId="{AEB00699-83AB-45A9-966F-C25907EB043D}" srcOrd="0" destOrd="0" presId="urn:microsoft.com/office/officeart/2008/layout/LinedList"/>
    <dgm:cxn modelId="{EC9A64C4-11BC-4658-A866-957D4370A763}" type="presOf" srcId="{A2FDFEA9-31FC-43C5-BD8A-676AF986555C}" destId="{BD19DC23-05C8-4DEE-86C8-3989CB5A422C}" srcOrd="0" destOrd="0" presId="urn:microsoft.com/office/officeart/2008/layout/LinedList"/>
    <dgm:cxn modelId="{3D9462E7-C5C7-4596-B3CF-4D01572C0C08}" srcId="{4F66BCA0-2907-48DC-90D4-93852EC46D49}" destId="{B3D59592-11A5-4395-B2E0-AECBBC22D4E6}" srcOrd="5" destOrd="0" parTransId="{9868828A-2886-4587-9A3E-6E71638EC2D4}" sibTransId="{11ED5142-6726-4087-97D8-8941D0C9C0F9}"/>
    <dgm:cxn modelId="{8CE732EA-6859-4D0B-A1A0-165761E3C256}" srcId="{4F66BCA0-2907-48DC-90D4-93852EC46D49}" destId="{4CBBAB5D-F91D-4E1B-BC8F-D00322A28DD4}" srcOrd="0" destOrd="0" parTransId="{B2119427-DD12-4BC9-8B9A-3AD0650C365C}" sibTransId="{F075D0CE-D2BC-4DD9-955C-EF724E9E5BCF}"/>
    <dgm:cxn modelId="{F67779EC-413E-4D54-8AB5-218E1912B082}" srcId="{4F66BCA0-2907-48DC-90D4-93852EC46D49}" destId="{A2FDFEA9-31FC-43C5-BD8A-676AF986555C}" srcOrd="4" destOrd="0" parTransId="{1908F674-37E4-4A43-BB82-ACECA4499DA4}" sibTransId="{220C1AAE-6BA0-4296-9732-96C908C6486B}"/>
    <dgm:cxn modelId="{5F2A1EF9-4D2F-4E40-B779-018CBADED229}" srcId="{4F66BCA0-2907-48DC-90D4-93852EC46D49}" destId="{9FC4620A-2819-453A-B53C-26032E946028}" srcOrd="2" destOrd="0" parTransId="{3EF67893-5BE9-4517-8503-A53AB35535E6}" sibTransId="{B5422455-ABBD-4DD8-841D-E1F81BDAFB8C}"/>
    <dgm:cxn modelId="{75B56E78-D61F-4B69-97EB-BACC2A4BDAFE}" type="presParOf" srcId="{12CBDD7C-84AD-4615-86C2-7F2B25B09032}" destId="{0C667D5F-B356-409A-B779-89184E1011CE}" srcOrd="0" destOrd="0" presId="urn:microsoft.com/office/officeart/2008/layout/LinedList"/>
    <dgm:cxn modelId="{87BA4FC5-68B0-4635-9662-C801887BB8CF}" type="presParOf" srcId="{12CBDD7C-84AD-4615-86C2-7F2B25B09032}" destId="{FB9EFA63-87D6-4757-BF02-6D727FC372F5}" srcOrd="1" destOrd="0" presId="urn:microsoft.com/office/officeart/2008/layout/LinedList"/>
    <dgm:cxn modelId="{78A36E91-EC98-4822-BF7A-2E8EF9343555}" type="presParOf" srcId="{FB9EFA63-87D6-4757-BF02-6D727FC372F5}" destId="{AEB00699-83AB-45A9-966F-C25907EB043D}" srcOrd="0" destOrd="0" presId="urn:microsoft.com/office/officeart/2008/layout/LinedList"/>
    <dgm:cxn modelId="{CA0DE3E7-51FE-4E3F-BD32-8726FC29816E}" type="presParOf" srcId="{FB9EFA63-87D6-4757-BF02-6D727FC372F5}" destId="{BFFBB397-B4BC-420E-A663-E2280DC1ECBD}" srcOrd="1" destOrd="0" presId="urn:microsoft.com/office/officeart/2008/layout/LinedList"/>
    <dgm:cxn modelId="{B007EFF4-2E6E-4A27-B91A-8CCBC9E0EF8B}" type="presParOf" srcId="{12CBDD7C-84AD-4615-86C2-7F2B25B09032}" destId="{E0C168D7-E6C6-4FD8-881B-70718159400C}" srcOrd="2" destOrd="0" presId="urn:microsoft.com/office/officeart/2008/layout/LinedList"/>
    <dgm:cxn modelId="{E91791E5-6B2B-4BBE-B078-56B701A9CD94}" type="presParOf" srcId="{12CBDD7C-84AD-4615-86C2-7F2B25B09032}" destId="{DF4F5623-381E-47B3-BE5E-7F041761A2E3}" srcOrd="3" destOrd="0" presId="urn:microsoft.com/office/officeart/2008/layout/LinedList"/>
    <dgm:cxn modelId="{C2011F20-A833-47F5-89F0-18DD80A23913}" type="presParOf" srcId="{DF4F5623-381E-47B3-BE5E-7F041761A2E3}" destId="{2C5AAAF5-1132-4702-A202-99F450E21FFC}" srcOrd="0" destOrd="0" presId="urn:microsoft.com/office/officeart/2008/layout/LinedList"/>
    <dgm:cxn modelId="{8613C2A2-8FC1-4D47-820E-58FD3BE9BD54}" type="presParOf" srcId="{DF4F5623-381E-47B3-BE5E-7F041761A2E3}" destId="{F65C9F93-4DC7-4469-8995-91A1B0B36DA7}" srcOrd="1" destOrd="0" presId="urn:microsoft.com/office/officeart/2008/layout/LinedList"/>
    <dgm:cxn modelId="{E3290D88-3866-41D5-8BAA-6FA8B9468248}" type="presParOf" srcId="{12CBDD7C-84AD-4615-86C2-7F2B25B09032}" destId="{904189A6-F33F-4D16-B154-5C97F910768E}" srcOrd="4" destOrd="0" presId="urn:microsoft.com/office/officeart/2008/layout/LinedList"/>
    <dgm:cxn modelId="{DB6B9B3F-9EA2-4710-83B7-137431ECAAD6}" type="presParOf" srcId="{12CBDD7C-84AD-4615-86C2-7F2B25B09032}" destId="{84B47FAA-4478-48F8-B3B8-BB75B6023C1E}" srcOrd="5" destOrd="0" presId="urn:microsoft.com/office/officeart/2008/layout/LinedList"/>
    <dgm:cxn modelId="{8B8DF422-3346-41EF-A3B5-21FAD1F140D2}" type="presParOf" srcId="{84B47FAA-4478-48F8-B3B8-BB75B6023C1E}" destId="{75F10F80-D0AC-43DA-8664-6991C1791828}" srcOrd="0" destOrd="0" presId="urn:microsoft.com/office/officeart/2008/layout/LinedList"/>
    <dgm:cxn modelId="{F1ED1B33-2DFE-43FD-B57D-5CF6D473AAE2}" type="presParOf" srcId="{84B47FAA-4478-48F8-B3B8-BB75B6023C1E}" destId="{B68135CB-F637-436B-AB68-EA92CC17D6F3}" srcOrd="1" destOrd="0" presId="urn:microsoft.com/office/officeart/2008/layout/LinedList"/>
    <dgm:cxn modelId="{9FBC1DD3-A52F-4896-81F9-1AFAD53ED7D1}" type="presParOf" srcId="{12CBDD7C-84AD-4615-86C2-7F2B25B09032}" destId="{E9A99AD3-B858-4183-A694-DA0728A0C729}" srcOrd="6" destOrd="0" presId="urn:microsoft.com/office/officeart/2008/layout/LinedList"/>
    <dgm:cxn modelId="{F6498C87-5827-47B2-98B8-9E3599C6D8BF}" type="presParOf" srcId="{12CBDD7C-84AD-4615-86C2-7F2B25B09032}" destId="{E476CFF2-F689-4671-B650-DC242EDC9595}" srcOrd="7" destOrd="0" presId="urn:microsoft.com/office/officeart/2008/layout/LinedList"/>
    <dgm:cxn modelId="{89410838-8652-4DB5-81C2-8B362C94A762}" type="presParOf" srcId="{E476CFF2-F689-4671-B650-DC242EDC9595}" destId="{156247D8-C023-4AB6-BB9F-00D68CF94226}" srcOrd="0" destOrd="0" presId="urn:microsoft.com/office/officeart/2008/layout/LinedList"/>
    <dgm:cxn modelId="{D3884280-62A3-49DA-943A-E6E94241ED02}" type="presParOf" srcId="{E476CFF2-F689-4671-B650-DC242EDC9595}" destId="{E2F7B2B7-2060-473E-884A-029F16D56DD7}" srcOrd="1" destOrd="0" presId="urn:microsoft.com/office/officeart/2008/layout/LinedList"/>
    <dgm:cxn modelId="{4B17CF69-97BA-4EB2-8803-BAC1AE8BBA2E}" type="presParOf" srcId="{12CBDD7C-84AD-4615-86C2-7F2B25B09032}" destId="{4655F462-7A96-423B-96D5-FD9988F4AA48}" srcOrd="8" destOrd="0" presId="urn:microsoft.com/office/officeart/2008/layout/LinedList"/>
    <dgm:cxn modelId="{57515B6C-F41E-4300-9A88-233254A667F0}" type="presParOf" srcId="{12CBDD7C-84AD-4615-86C2-7F2B25B09032}" destId="{7A3E0E24-28CF-4CA7-AD35-367FA2D142C7}" srcOrd="9" destOrd="0" presId="urn:microsoft.com/office/officeart/2008/layout/LinedList"/>
    <dgm:cxn modelId="{FF3AE599-CC10-4045-8361-81E1B8973F7E}" type="presParOf" srcId="{7A3E0E24-28CF-4CA7-AD35-367FA2D142C7}" destId="{BD19DC23-05C8-4DEE-86C8-3989CB5A422C}" srcOrd="0" destOrd="0" presId="urn:microsoft.com/office/officeart/2008/layout/LinedList"/>
    <dgm:cxn modelId="{D48C7BAE-42C2-4D02-AE62-E0A9B0FA603D}" type="presParOf" srcId="{7A3E0E24-28CF-4CA7-AD35-367FA2D142C7}" destId="{AEF494A6-296A-433A-BDDF-24EA5BEF379C}" srcOrd="1" destOrd="0" presId="urn:microsoft.com/office/officeart/2008/layout/LinedList"/>
    <dgm:cxn modelId="{16E652ED-76A5-4FD0-A4A6-2BB0473E7CD9}" type="presParOf" srcId="{12CBDD7C-84AD-4615-86C2-7F2B25B09032}" destId="{D575B4FD-F7D6-47C2-B09C-5256DF42B88F}" srcOrd="10" destOrd="0" presId="urn:microsoft.com/office/officeart/2008/layout/LinedList"/>
    <dgm:cxn modelId="{0DED169F-4F13-4B54-B36F-134C0790E671}" type="presParOf" srcId="{12CBDD7C-84AD-4615-86C2-7F2B25B09032}" destId="{93445FC3-1AD5-41C1-AE78-6E3380C5CFE1}" srcOrd="11" destOrd="0" presId="urn:microsoft.com/office/officeart/2008/layout/LinedList"/>
    <dgm:cxn modelId="{0D13C503-5998-4441-8B2A-E51775D59B83}" type="presParOf" srcId="{93445FC3-1AD5-41C1-AE78-6E3380C5CFE1}" destId="{42ABA7F8-F0C4-4703-B533-1D7968F5D0F9}" srcOrd="0" destOrd="0" presId="urn:microsoft.com/office/officeart/2008/layout/LinedList"/>
    <dgm:cxn modelId="{D968D8F1-76C0-4FAF-8255-E3C0D8D0EF59}" type="presParOf" srcId="{93445FC3-1AD5-41C1-AE78-6E3380C5CFE1}" destId="{D1801F0A-26C5-48FB-A5B0-C3921D880A92}"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5A0ABC7-FFCA-4DEF-B4D6-3BCC2F921185}"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E1F48F3-A7AC-4D6F-A0E6-F5941B9E9AA1}">
      <dgm:prSet custT="1"/>
      <dgm:spPr/>
      <dgm:t>
        <a:bodyPr/>
        <a:lstStyle/>
        <a:p>
          <a:pPr>
            <a:defRPr cap="all"/>
          </a:pPr>
          <a:r>
            <a:rPr lang="pl-PL" sz="1100"/>
            <a:t>Wraz z rozwojem pracy rozproszonej narzędzia komunikacyjne przestały być jedynie dodatkiem do pracy zespołu, a stały się jednym z najważniejszych elementów infrastruktury organizacyjnej. W tradycyjnym biurze wiele problemów rozwiązywano spontanicznie podczas krótkiej rozmowy. W zespołach rozproszonych każda interakcja musi być wsparta odpowiednio dobranym kanałem komunikacji.</a:t>
          </a:r>
          <a:endParaRPr lang="en-US" sz="1100"/>
        </a:p>
      </dgm:t>
    </dgm:pt>
    <dgm:pt modelId="{BFB65C61-4FCE-48E4-B98C-C9B5D070EFAF}" type="parTrans" cxnId="{E175E756-F7DF-4125-9DF3-14936B3B9A23}">
      <dgm:prSet/>
      <dgm:spPr/>
      <dgm:t>
        <a:bodyPr/>
        <a:lstStyle/>
        <a:p>
          <a:endParaRPr lang="en-US"/>
        </a:p>
      </dgm:t>
    </dgm:pt>
    <dgm:pt modelId="{E65436DF-B556-4EFF-A0D2-13D2FF00AF31}" type="sibTrans" cxnId="{E175E756-F7DF-4125-9DF3-14936B3B9A23}">
      <dgm:prSet/>
      <dgm:spPr/>
      <dgm:t>
        <a:bodyPr/>
        <a:lstStyle/>
        <a:p>
          <a:endParaRPr lang="en-US"/>
        </a:p>
      </dgm:t>
    </dgm:pt>
    <dgm:pt modelId="{E2FF348F-50C6-4D07-A1A1-BDBB7B44531A}">
      <dgm:prSet custT="1"/>
      <dgm:spPr/>
      <dgm:t>
        <a:bodyPr/>
        <a:lstStyle/>
        <a:p>
          <a:pPr>
            <a:defRPr cap="all"/>
          </a:pPr>
          <a:r>
            <a:rPr lang="pl-PL" sz="1100"/>
            <a:t>Przyszłość zespołów rozproszonych nie polega na posiadaniu większej liczby narzędzi, ale na świadomym dopasowaniu narzędzia do rodzaju współpracy.</a:t>
          </a:r>
          <a:endParaRPr lang="en-US" sz="1100"/>
        </a:p>
      </dgm:t>
    </dgm:pt>
    <dgm:pt modelId="{6E1737EB-BBFE-4002-A46D-8BD024C404A9}" type="parTrans" cxnId="{6036CEC9-FBBB-4697-9ECE-49223B688776}">
      <dgm:prSet/>
      <dgm:spPr/>
      <dgm:t>
        <a:bodyPr/>
        <a:lstStyle/>
        <a:p>
          <a:endParaRPr lang="en-US"/>
        </a:p>
      </dgm:t>
    </dgm:pt>
    <dgm:pt modelId="{A578E4C3-2B74-450C-95A4-62C84C289DF8}" type="sibTrans" cxnId="{6036CEC9-FBBB-4697-9ECE-49223B688776}">
      <dgm:prSet/>
      <dgm:spPr/>
      <dgm:t>
        <a:bodyPr/>
        <a:lstStyle/>
        <a:p>
          <a:endParaRPr lang="en-US"/>
        </a:p>
      </dgm:t>
    </dgm:pt>
    <dgm:pt modelId="{577D0517-7EDC-45F9-B245-9476CF6CE078}" type="pres">
      <dgm:prSet presAssocID="{95A0ABC7-FFCA-4DEF-B4D6-3BCC2F921185}" presName="root" presStyleCnt="0">
        <dgm:presLayoutVars>
          <dgm:dir/>
          <dgm:resizeHandles val="exact"/>
        </dgm:presLayoutVars>
      </dgm:prSet>
      <dgm:spPr/>
    </dgm:pt>
    <dgm:pt modelId="{36A733A0-4218-40F0-8D58-C0B5B23CDA29}" type="pres">
      <dgm:prSet presAssocID="{BE1F48F3-A7AC-4D6F-A0E6-F5941B9E9AA1}" presName="compNode" presStyleCnt="0"/>
      <dgm:spPr/>
    </dgm:pt>
    <dgm:pt modelId="{EEB9CE29-062A-475F-AC7C-67B46AB0A190}" type="pres">
      <dgm:prSet presAssocID="{BE1F48F3-A7AC-4D6F-A0E6-F5941B9E9AA1}" presName="iconBgRect" presStyleLbl="bgShp" presStyleIdx="0" presStyleCnt="2"/>
      <dgm:spPr>
        <a:prstGeom prst="round2DiagRect">
          <a:avLst>
            <a:gd name="adj1" fmla="val 29727"/>
            <a:gd name="adj2" fmla="val 0"/>
          </a:avLst>
        </a:prstGeom>
      </dgm:spPr>
    </dgm:pt>
    <dgm:pt modelId="{167A7EFD-85EC-4117-9473-6E1BF35DEF9A}" type="pres">
      <dgm:prSet presAssocID="{BE1F48F3-A7AC-4D6F-A0E6-F5941B9E9AA1}"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Narzędzia"/>
        </a:ext>
      </dgm:extLst>
    </dgm:pt>
    <dgm:pt modelId="{9B891C1D-03E7-4A47-B1BD-57C57F860537}" type="pres">
      <dgm:prSet presAssocID="{BE1F48F3-A7AC-4D6F-A0E6-F5941B9E9AA1}" presName="spaceRect" presStyleCnt="0"/>
      <dgm:spPr/>
    </dgm:pt>
    <dgm:pt modelId="{575B7B76-4234-4B40-81E0-9487A7872ECF}" type="pres">
      <dgm:prSet presAssocID="{BE1F48F3-A7AC-4D6F-A0E6-F5941B9E9AA1}" presName="textRect" presStyleLbl="revTx" presStyleIdx="0" presStyleCnt="2">
        <dgm:presLayoutVars>
          <dgm:chMax val="1"/>
          <dgm:chPref val="1"/>
        </dgm:presLayoutVars>
      </dgm:prSet>
      <dgm:spPr/>
    </dgm:pt>
    <dgm:pt modelId="{2D9F157A-5EF3-49C0-BEB2-95C3073F0488}" type="pres">
      <dgm:prSet presAssocID="{E65436DF-B556-4EFF-A0D2-13D2FF00AF31}" presName="sibTrans" presStyleCnt="0"/>
      <dgm:spPr/>
    </dgm:pt>
    <dgm:pt modelId="{3AC9A1AB-E19F-4117-82E4-BE8A89C02FE7}" type="pres">
      <dgm:prSet presAssocID="{E2FF348F-50C6-4D07-A1A1-BDBB7B44531A}" presName="compNode" presStyleCnt="0"/>
      <dgm:spPr/>
    </dgm:pt>
    <dgm:pt modelId="{921306D7-FD45-49E3-A705-301598689422}" type="pres">
      <dgm:prSet presAssocID="{E2FF348F-50C6-4D07-A1A1-BDBB7B44531A}" presName="iconBgRect" presStyleLbl="bgShp" presStyleIdx="1" presStyleCnt="2"/>
      <dgm:spPr>
        <a:prstGeom prst="round2DiagRect">
          <a:avLst>
            <a:gd name="adj1" fmla="val 29727"/>
            <a:gd name="adj2" fmla="val 0"/>
          </a:avLst>
        </a:prstGeom>
      </dgm:spPr>
    </dgm:pt>
    <dgm:pt modelId="{791AD3B4-B80A-42CB-9C97-39A478415118}" type="pres">
      <dgm:prSet presAssocID="{E2FF348F-50C6-4D07-A1A1-BDBB7B44531A}"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upa"/>
        </a:ext>
      </dgm:extLst>
    </dgm:pt>
    <dgm:pt modelId="{962F0C7A-5749-4B41-BE6F-EB02019283AF}" type="pres">
      <dgm:prSet presAssocID="{E2FF348F-50C6-4D07-A1A1-BDBB7B44531A}" presName="spaceRect" presStyleCnt="0"/>
      <dgm:spPr/>
    </dgm:pt>
    <dgm:pt modelId="{DF28F68E-F68C-4866-84D0-AF24C0A905CF}" type="pres">
      <dgm:prSet presAssocID="{E2FF348F-50C6-4D07-A1A1-BDBB7B44531A}" presName="textRect" presStyleLbl="revTx" presStyleIdx="1" presStyleCnt="2">
        <dgm:presLayoutVars>
          <dgm:chMax val="1"/>
          <dgm:chPref val="1"/>
        </dgm:presLayoutVars>
      </dgm:prSet>
      <dgm:spPr/>
    </dgm:pt>
  </dgm:ptLst>
  <dgm:cxnLst>
    <dgm:cxn modelId="{DE001F28-8689-4407-8CC5-52754D432916}" type="presOf" srcId="{E2FF348F-50C6-4D07-A1A1-BDBB7B44531A}" destId="{DF28F68E-F68C-4866-84D0-AF24C0A905CF}" srcOrd="0" destOrd="0" presId="urn:microsoft.com/office/officeart/2018/5/layout/IconLeafLabelList"/>
    <dgm:cxn modelId="{E175E756-F7DF-4125-9DF3-14936B3B9A23}" srcId="{95A0ABC7-FFCA-4DEF-B4D6-3BCC2F921185}" destId="{BE1F48F3-A7AC-4D6F-A0E6-F5941B9E9AA1}" srcOrd="0" destOrd="0" parTransId="{BFB65C61-4FCE-48E4-B98C-C9B5D070EFAF}" sibTransId="{E65436DF-B556-4EFF-A0D2-13D2FF00AF31}"/>
    <dgm:cxn modelId="{B978B391-A16F-4A65-9EFB-864BFA397577}" type="presOf" srcId="{BE1F48F3-A7AC-4D6F-A0E6-F5941B9E9AA1}" destId="{575B7B76-4234-4B40-81E0-9487A7872ECF}" srcOrd="0" destOrd="0" presId="urn:microsoft.com/office/officeart/2018/5/layout/IconLeafLabelList"/>
    <dgm:cxn modelId="{6036CEC9-FBBB-4697-9ECE-49223B688776}" srcId="{95A0ABC7-FFCA-4DEF-B4D6-3BCC2F921185}" destId="{E2FF348F-50C6-4D07-A1A1-BDBB7B44531A}" srcOrd="1" destOrd="0" parTransId="{6E1737EB-BBFE-4002-A46D-8BD024C404A9}" sibTransId="{A578E4C3-2B74-450C-95A4-62C84C289DF8}"/>
    <dgm:cxn modelId="{ECE33BFD-C060-4EED-91F7-F5A765362E8F}" type="presOf" srcId="{95A0ABC7-FFCA-4DEF-B4D6-3BCC2F921185}" destId="{577D0517-7EDC-45F9-B245-9476CF6CE078}" srcOrd="0" destOrd="0" presId="urn:microsoft.com/office/officeart/2018/5/layout/IconLeafLabelList"/>
    <dgm:cxn modelId="{0E2411B2-6DC9-4756-B411-EB72E0FCE8F1}" type="presParOf" srcId="{577D0517-7EDC-45F9-B245-9476CF6CE078}" destId="{36A733A0-4218-40F0-8D58-C0B5B23CDA29}" srcOrd="0" destOrd="0" presId="urn:microsoft.com/office/officeart/2018/5/layout/IconLeafLabelList"/>
    <dgm:cxn modelId="{38EE9F22-61CF-4308-ADAC-71FECB560598}" type="presParOf" srcId="{36A733A0-4218-40F0-8D58-C0B5B23CDA29}" destId="{EEB9CE29-062A-475F-AC7C-67B46AB0A190}" srcOrd="0" destOrd="0" presId="urn:microsoft.com/office/officeart/2018/5/layout/IconLeafLabelList"/>
    <dgm:cxn modelId="{80B4B33E-3FE8-45EF-9A99-1A6FD7A684D2}" type="presParOf" srcId="{36A733A0-4218-40F0-8D58-C0B5B23CDA29}" destId="{167A7EFD-85EC-4117-9473-6E1BF35DEF9A}" srcOrd="1" destOrd="0" presId="urn:microsoft.com/office/officeart/2018/5/layout/IconLeafLabelList"/>
    <dgm:cxn modelId="{7AC01AB3-2F8C-434A-99A4-7B9CDEF74797}" type="presParOf" srcId="{36A733A0-4218-40F0-8D58-C0B5B23CDA29}" destId="{9B891C1D-03E7-4A47-B1BD-57C57F860537}" srcOrd="2" destOrd="0" presId="urn:microsoft.com/office/officeart/2018/5/layout/IconLeafLabelList"/>
    <dgm:cxn modelId="{A81E717E-BEF6-4CBC-BB6E-8A2782661D3E}" type="presParOf" srcId="{36A733A0-4218-40F0-8D58-C0B5B23CDA29}" destId="{575B7B76-4234-4B40-81E0-9487A7872ECF}" srcOrd="3" destOrd="0" presId="urn:microsoft.com/office/officeart/2018/5/layout/IconLeafLabelList"/>
    <dgm:cxn modelId="{069A7495-7260-4282-8938-854A146AE566}" type="presParOf" srcId="{577D0517-7EDC-45F9-B245-9476CF6CE078}" destId="{2D9F157A-5EF3-49C0-BEB2-95C3073F0488}" srcOrd="1" destOrd="0" presId="urn:microsoft.com/office/officeart/2018/5/layout/IconLeafLabelList"/>
    <dgm:cxn modelId="{2D55A2F9-9762-4F54-956B-AB27953F4969}" type="presParOf" srcId="{577D0517-7EDC-45F9-B245-9476CF6CE078}" destId="{3AC9A1AB-E19F-4117-82E4-BE8A89C02FE7}" srcOrd="2" destOrd="0" presId="urn:microsoft.com/office/officeart/2018/5/layout/IconLeafLabelList"/>
    <dgm:cxn modelId="{AC3823AF-F109-479C-ABF7-D656128D218D}" type="presParOf" srcId="{3AC9A1AB-E19F-4117-82E4-BE8A89C02FE7}" destId="{921306D7-FD45-49E3-A705-301598689422}" srcOrd="0" destOrd="0" presId="urn:microsoft.com/office/officeart/2018/5/layout/IconLeafLabelList"/>
    <dgm:cxn modelId="{5218423B-6747-43F8-8215-342E3DBD6896}" type="presParOf" srcId="{3AC9A1AB-E19F-4117-82E4-BE8A89C02FE7}" destId="{791AD3B4-B80A-42CB-9C97-39A478415118}" srcOrd="1" destOrd="0" presId="urn:microsoft.com/office/officeart/2018/5/layout/IconLeafLabelList"/>
    <dgm:cxn modelId="{00192860-C2FF-48F0-AD01-770DE9E91C8E}" type="presParOf" srcId="{3AC9A1AB-E19F-4117-82E4-BE8A89C02FE7}" destId="{962F0C7A-5749-4B41-BE6F-EB02019283AF}" srcOrd="2" destOrd="0" presId="urn:microsoft.com/office/officeart/2018/5/layout/IconLeafLabelList"/>
    <dgm:cxn modelId="{5FB6B236-9AE9-4B0C-B2D0-92DEEEB3EF68}" type="presParOf" srcId="{3AC9A1AB-E19F-4117-82E4-BE8A89C02FE7}" destId="{DF28F68E-F68C-4866-84D0-AF24C0A905CF}"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EA5F63A-61FF-462E-8699-196D2E7D829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2C41271-C7B4-4F64-AE3B-41B7628B508E}">
      <dgm:prSet/>
      <dgm:spPr/>
      <dgm:t>
        <a:bodyPr/>
        <a:lstStyle/>
        <a:p>
          <a:r>
            <a:rPr lang="pl-PL"/>
            <a:t>Done drift to zjawisko stopniowego rozmywania wspólnego rozumienia tego, kiedy zadanie można uznać za zakończone. Na początku projektu zespół może mieć jasną definicję ukończenia pracy, jednak wraz z upływem czasu każdy członek zespołu zaczyna interpretować ten standard nieco inaczej.</a:t>
          </a:r>
          <a:endParaRPr lang="en-US"/>
        </a:p>
      </dgm:t>
    </dgm:pt>
    <dgm:pt modelId="{04834AB2-CCD3-4EE5-9206-4389986AEB3D}" type="parTrans" cxnId="{5F1F85DA-40B2-4E57-979F-78B8BC2854F4}">
      <dgm:prSet/>
      <dgm:spPr/>
      <dgm:t>
        <a:bodyPr/>
        <a:lstStyle/>
        <a:p>
          <a:endParaRPr lang="en-US"/>
        </a:p>
      </dgm:t>
    </dgm:pt>
    <dgm:pt modelId="{341B7560-6F62-463A-9347-9BBC73B9247A}" type="sibTrans" cxnId="{5F1F85DA-40B2-4E57-979F-78B8BC2854F4}">
      <dgm:prSet/>
      <dgm:spPr/>
      <dgm:t>
        <a:bodyPr/>
        <a:lstStyle/>
        <a:p>
          <a:endParaRPr lang="en-US"/>
        </a:p>
      </dgm:t>
    </dgm:pt>
    <dgm:pt modelId="{700FB2DF-175E-4ED6-8DF0-17DF93A13959}">
      <dgm:prSet/>
      <dgm:spPr/>
      <dgm:t>
        <a:bodyPr/>
        <a:lstStyle/>
        <a:p>
          <a:r>
            <a:rPr lang="pl-PL"/>
            <a:t>Takie przesunięcie powoduje kilka problemów:</a:t>
          </a:r>
          <a:endParaRPr lang="en-US"/>
        </a:p>
      </dgm:t>
    </dgm:pt>
    <dgm:pt modelId="{393CC56F-2990-4E8D-B5E9-ED1F39D0D4A7}" type="parTrans" cxnId="{01D8F016-A019-4D99-8A67-32DB574C29A6}">
      <dgm:prSet/>
      <dgm:spPr/>
      <dgm:t>
        <a:bodyPr/>
        <a:lstStyle/>
        <a:p>
          <a:endParaRPr lang="en-US"/>
        </a:p>
      </dgm:t>
    </dgm:pt>
    <dgm:pt modelId="{AB269538-FBF8-4CAC-A130-7C0676CEFA1B}" type="sibTrans" cxnId="{01D8F016-A019-4D99-8A67-32DB574C29A6}">
      <dgm:prSet/>
      <dgm:spPr/>
      <dgm:t>
        <a:bodyPr/>
        <a:lstStyle/>
        <a:p>
          <a:endParaRPr lang="en-US"/>
        </a:p>
      </dgm:t>
    </dgm:pt>
    <dgm:pt modelId="{0099497E-4CD5-4109-BC95-27FC8FEF5461}">
      <dgm:prSet/>
      <dgm:spPr/>
      <dgm:t>
        <a:bodyPr/>
        <a:lstStyle/>
        <a:p>
          <a:r>
            <a:rPr lang="pl-PL"/>
            <a:t>spadek jakości, </a:t>
          </a:r>
          <a:endParaRPr lang="en-US"/>
        </a:p>
      </dgm:t>
    </dgm:pt>
    <dgm:pt modelId="{D4FD636D-AE7B-4BED-B913-4BC3BAC3F6CD}" type="parTrans" cxnId="{68976E92-13D0-46DB-87D1-4EBD7E631976}">
      <dgm:prSet/>
      <dgm:spPr/>
      <dgm:t>
        <a:bodyPr/>
        <a:lstStyle/>
        <a:p>
          <a:endParaRPr lang="en-US"/>
        </a:p>
      </dgm:t>
    </dgm:pt>
    <dgm:pt modelId="{E30BC904-79E0-4952-847E-C35A1F1451E4}" type="sibTrans" cxnId="{68976E92-13D0-46DB-87D1-4EBD7E631976}">
      <dgm:prSet/>
      <dgm:spPr/>
      <dgm:t>
        <a:bodyPr/>
        <a:lstStyle/>
        <a:p>
          <a:endParaRPr lang="en-US"/>
        </a:p>
      </dgm:t>
    </dgm:pt>
    <dgm:pt modelId="{1691906A-5198-47D4-9767-8C92D9F6A72A}">
      <dgm:prSet/>
      <dgm:spPr/>
      <dgm:t>
        <a:bodyPr/>
        <a:lstStyle/>
        <a:p>
          <a:r>
            <a:rPr lang="pl-PL"/>
            <a:t>nieporozumienia, </a:t>
          </a:r>
          <a:endParaRPr lang="en-US"/>
        </a:p>
      </dgm:t>
    </dgm:pt>
    <dgm:pt modelId="{17F4239E-B584-4D47-9D3A-1593178AE4C1}" type="parTrans" cxnId="{A2FAB198-BA16-404D-A4E3-BB9ECE0CABC4}">
      <dgm:prSet/>
      <dgm:spPr/>
      <dgm:t>
        <a:bodyPr/>
        <a:lstStyle/>
        <a:p>
          <a:endParaRPr lang="en-US"/>
        </a:p>
      </dgm:t>
    </dgm:pt>
    <dgm:pt modelId="{B3C9D951-7E60-419E-9CE6-233993974256}" type="sibTrans" cxnId="{A2FAB198-BA16-404D-A4E3-BB9ECE0CABC4}">
      <dgm:prSet/>
      <dgm:spPr/>
      <dgm:t>
        <a:bodyPr/>
        <a:lstStyle/>
        <a:p>
          <a:endParaRPr lang="en-US"/>
        </a:p>
      </dgm:t>
    </dgm:pt>
    <dgm:pt modelId="{979B76A5-0232-427C-9641-1C2DCEB47765}">
      <dgm:prSet/>
      <dgm:spPr/>
      <dgm:t>
        <a:bodyPr/>
        <a:lstStyle/>
        <a:p>
          <a:r>
            <a:rPr lang="pl-PL"/>
            <a:t>trudniejsze planowanie, </a:t>
          </a:r>
          <a:endParaRPr lang="en-US"/>
        </a:p>
      </dgm:t>
    </dgm:pt>
    <dgm:pt modelId="{E67AA0CA-3853-4195-A835-DB957585EA56}" type="parTrans" cxnId="{46EA9832-42AF-4D00-A0D0-1E61818770CB}">
      <dgm:prSet/>
      <dgm:spPr/>
      <dgm:t>
        <a:bodyPr/>
        <a:lstStyle/>
        <a:p>
          <a:endParaRPr lang="en-US"/>
        </a:p>
      </dgm:t>
    </dgm:pt>
    <dgm:pt modelId="{06E2DD5D-6678-4BF4-ACEA-809BC3F1705E}" type="sibTrans" cxnId="{46EA9832-42AF-4D00-A0D0-1E61818770CB}">
      <dgm:prSet/>
      <dgm:spPr/>
      <dgm:t>
        <a:bodyPr/>
        <a:lstStyle/>
        <a:p>
          <a:endParaRPr lang="en-US"/>
        </a:p>
      </dgm:t>
    </dgm:pt>
    <dgm:pt modelId="{B71F66E3-0228-4C74-80B1-7C5EB41046C0}">
      <dgm:prSet/>
      <dgm:spPr/>
      <dgm:t>
        <a:bodyPr/>
        <a:lstStyle/>
        <a:p>
          <a:r>
            <a:rPr lang="pl-PL"/>
            <a:t>utratę zaufania, </a:t>
          </a:r>
          <a:endParaRPr lang="en-US"/>
        </a:p>
      </dgm:t>
    </dgm:pt>
    <dgm:pt modelId="{C9EF9E12-7220-4976-ABD3-7B6D5B6F5785}" type="parTrans" cxnId="{09A3CA00-6C35-4C50-9B7F-81E414574572}">
      <dgm:prSet/>
      <dgm:spPr/>
      <dgm:t>
        <a:bodyPr/>
        <a:lstStyle/>
        <a:p>
          <a:endParaRPr lang="en-US"/>
        </a:p>
      </dgm:t>
    </dgm:pt>
    <dgm:pt modelId="{1DC877D8-AD13-4C31-BC9D-F1EDF006D3A6}" type="sibTrans" cxnId="{09A3CA00-6C35-4C50-9B7F-81E414574572}">
      <dgm:prSet/>
      <dgm:spPr/>
      <dgm:t>
        <a:bodyPr/>
        <a:lstStyle/>
        <a:p>
          <a:endParaRPr lang="en-US"/>
        </a:p>
      </dgm:t>
    </dgm:pt>
    <dgm:pt modelId="{C71ABBD5-F678-41FA-BD13-140F7EF6594C}">
      <dgm:prSet/>
      <dgm:spPr/>
      <dgm:t>
        <a:bodyPr/>
        <a:lstStyle/>
        <a:p>
          <a:r>
            <a:rPr lang="pl-PL"/>
            <a:t>rosnącą frustrację.</a:t>
          </a:r>
          <a:endParaRPr lang="en-US"/>
        </a:p>
      </dgm:t>
    </dgm:pt>
    <dgm:pt modelId="{78B6CF06-637F-4914-950F-91AA16B89E32}" type="parTrans" cxnId="{DD886A7B-6366-4C4E-8D5D-9E95D3D718D4}">
      <dgm:prSet/>
      <dgm:spPr/>
      <dgm:t>
        <a:bodyPr/>
        <a:lstStyle/>
        <a:p>
          <a:endParaRPr lang="en-US"/>
        </a:p>
      </dgm:t>
    </dgm:pt>
    <dgm:pt modelId="{4B9DA9B7-E6EC-45D6-99A7-1AA9547721DB}" type="sibTrans" cxnId="{DD886A7B-6366-4C4E-8D5D-9E95D3D718D4}">
      <dgm:prSet/>
      <dgm:spPr/>
      <dgm:t>
        <a:bodyPr/>
        <a:lstStyle/>
        <a:p>
          <a:endParaRPr lang="en-US"/>
        </a:p>
      </dgm:t>
    </dgm:pt>
    <dgm:pt modelId="{BF0090EC-4377-4DFB-9CAC-E60714CC8058}" type="pres">
      <dgm:prSet presAssocID="{3EA5F63A-61FF-462E-8699-196D2E7D8293}" presName="root" presStyleCnt="0">
        <dgm:presLayoutVars>
          <dgm:dir/>
          <dgm:resizeHandles val="exact"/>
        </dgm:presLayoutVars>
      </dgm:prSet>
      <dgm:spPr/>
    </dgm:pt>
    <dgm:pt modelId="{01624413-C646-4081-8682-CD5AA399D69E}" type="pres">
      <dgm:prSet presAssocID="{C2C41271-C7B4-4F64-AE3B-41B7628B508E}" presName="compNode" presStyleCnt="0"/>
      <dgm:spPr/>
    </dgm:pt>
    <dgm:pt modelId="{E02773E4-C4B6-4C60-B1B2-650AB5BB89C2}" type="pres">
      <dgm:prSet presAssocID="{C2C41271-C7B4-4F64-AE3B-41B7628B508E}" presName="bgRect" presStyleLbl="bgShp" presStyleIdx="0" presStyleCnt="7"/>
      <dgm:spPr/>
    </dgm:pt>
    <dgm:pt modelId="{C253DD2D-8A37-4514-A29F-8E73A74C6949}" type="pres">
      <dgm:prSet presAssocID="{C2C41271-C7B4-4F64-AE3B-41B7628B508E}"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ytania"/>
        </a:ext>
      </dgm:extLst>
    </dgm:pt>
    <dgm:pt modelId="{9A591709-2045-4455-A7FE-9139E4BFF01C}" type="pres">
      <dgm:prSet presAssocID="{C2C41271-C7B4-4F64-AE3B-41B7628B508E}" presName="spaceRect" presStyleCnt="0"/>
      <dgm:spPr/>
    </dgm:pt>
    <dgm:pt modelId="{1CCCB0BF-CB4F-4382-8781-6F7384A634BC}" type="pres">
      <dgm:prSet presAssocID="{C2C41271-C7B4-4F64-AE3B-41B7628B508E}" presName="parTx" presStyleLbl="revTx" presStyleIdx="0" presStyleCnt="7">
        <dgm:presLayoutVars>
          <dgm:chMax val="0"/>
          <dgm:chPref val="0"/>
        </dgm:presLayoutVars>
      </dgm:prSet>
      <dgm:spPr/>
    </dgm:pt>
    <dgm:pt modelId="{AA8E9319-4164-4A8B-9547-701AED716242}" type="pres">
      <dgm:prSet presAssocID="{341B7560-6F62-463A-9347-9BBC73B9247A}" presName="sibTrans" presStyleCnt="0"/>
      <dgm:spPr/>
    </dgm:pt>
    <dgm:pt modelId="{1F505416-50B3-4EAF-99D2-D6400FF9BC25}" type="pres">
      <dgm:prSet presAssocID="{700FB2DF-175E-4ED6-8DF0-17DF93A13959}" presName="compNode" presStyleCnt="0"/>
      <dgm:spPr/>
    </dgm:pt>
    <dgm:pt modelId="{F8C57584-EF5A-4C5B-80A7-0734BCDFCA2D}" type="pres">
      <dgm:prSet presAssocID="{700FB2DF-175E-4ED6-8DF0-17DF93A13959}" presName="bgRect" presStyleLbl="bgShp" presStyleIdx="1" presStyleCnt="7"/>
      <dgm:spPr/>
    </dgm:pt>
    <dgm:pt modelId="{2068C39E-6D4A-4172-9002-920D8DA0B614}" type="pres">
      <dgm:prSet presAssocID="{700FB2DF-175E-4ED6-8DF0-17DF93A13959}"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ubstancja drażniąca"/>
        </a:ext>
      </dgm:extLst>
    </dgm:pt>
    <dgm:pt modelId="{17908EC8-0F4E-4103-AC35-E03EA1097308}" type="pres">
      <dgm:prSet presAssocID="{700FB2DF-175E-4ED6-8DF0-17DF93A13959}" presName="spaceRect" presStyleCnt="0"/>
      <dgm:spPr/>
    </dgm:pt>
    <dgm:pt modelId="{BB16F18C-FC54-48D8-99B7-9D08FC1F57BB}" type="pres">
      <dgm:prSet presAssocID="{700FB2DF-175E-4ED6-8DF0-17DF93A13959}" presName="parTx" presStyleLbl="revTx" presStyleIdx="1" presStyleCnt="7">
        <dgm:presLayoutVars>
          <dgm:chMax val="0"/>
          <dgm:chPref val="0"/>
        </dgm:presLayoutVars>
      </dgm:prSet>
      <dgm:spPr/>
    </dgm:pt>
    <dgm:pt modelId="{9A1D175D-C49C-4183-B892-2C14113FF410}" type="pres">
      <dgm:prSet presAssocID="{AB269538-FBF8-4CAC-A130-7C0676CEFA1B}" presName="sibTrans" presStyleCnt="0"/>
      <dgm:spPr/>
    </dgm:pt>
    <dgm:pt modelId="{3A2E740E-D144-4B5B-A392-9387B273D86F}" type="pres">
      <dgm:prSet presAssocID="{0099497E-4CD5-4109-BC95-27FC8FEF5461}" presName="compNode" presStyleCnt="0"/>
      <dgm:spPr/>
    </dgm:pt>
    <dgm:pt modelId="{77D3BF5A-B25C-40EB-A584-047586CD982E}" type="pres">
      <dgm:prSet presAssocID="{0099497E-4CD5-4109-BC95-27FC8FEF5461}" presName="bgRect" presStyleLbl="bgShp" presStyleIdx="2" presStyleCnt="7"/>
      <dgm:spPr/>
    </dgm:pt>
    <dgm:pt modelId="{4FF630BD-EA7A-4A2A-8EFB-B845DBC03E93}" type="pres">
      <dgm:prSet presAssocID="{0099497E-4CD5-4109-BC95-27FC8FEF5461}"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ownward trend"/>
        </a:ext>
      </dgm:extLst>
    </dgm:pt>
    <dgm:pt modelId="{7873CAE6-84E0-46C2-ACE9-147356949E11}" type="pres">
      <dgm:prSet presAssocID="{0099497E-4CD5-4109-BC95-27FC8FEF5461}" presName="spaceRect" presStyleCnt="0"/>
      <dgm:spPr/>
    </dgm:pt>
    <dgm:pt modelId="{84BD97F9-CA7A-47E4-8972-11A85F086EC4}" type="pres">
      <dgm:prSet presAssocID="{0099497E-4CD5-4109-BC95-27FC8FEF5461}" presName="parTx" presStyleLbl="revTx" presStyleIdx="2" presStyleCnt="7">
        <dgm:presLayoutVars>
          <dgm:chMax val="0"/>
          <dgm:chPref val="0"/>
        </dgm:presLayoutVars>
      </dgm:prSet>
      <dgm:spPr/>
    </dgm:pt>
    <dgm:pt modelId="{FE15F227-4F4E-4C1A-AD93-C72F1367735B}" type="pres">
      <dgm:prSet presAssocID="{E30BC904-79E0-4952-847E-C35A1F1451E4}" presName="sibTrans" presStyleCnt="0"/>
      <dgm:spPr/>
    </dgm:pt>
    <dgm:pt modelId="{215F79B8-BEF6-408E-AFA3-82E612CFDD94}" type="pres">
      <dgm:prSet presAssocID="{1691906A-5198-47D4-9767-8C92D9F6A72A}" presName="compNode" presStyleCnt="0"/>
      <dgm:spPr/>
    </dgm:pt>
    <dgm:pt modelId="{E0ED6BDD-F303-45EB-8C0F-A2CE1A42DDCA}" type="pres">
      <dgm:prSet presAssocID="{1691906A-5198-47D4-9767-8C92D9F6A72A}" presName="bgRect" presStyleLbl="bgShp" presStyleIdx="3" presStyleCnt="7"/>
      <dgm:spPr/>
    </dgm:pt>
    <dgm:pt modelId="{B52DDCED-208C-405B-BDD6-2EBA7C23346A}" type="pres">
      <dgm:prSet presAssocID="{1691906A-5198-47D4-9767-8C92D9F6A72A}"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nfused Person"/>
        </a:ext>
      </dgm:extLst>
    </dgm:pt>
    <dgm:pt modelId="{BFA98C31-E68A-428E-BE6D-347BF29F767B}" type="pres">
      <dgm:prSet presAssocID="{1691906A-5198-47D4-9767-8C92D9F6A72A}" presName="spaceRect" presStyleCnt="0"/>
      <dgm:spPr/>
    </dgm:pt>
    <dgm:pt modelId="{E1A69321-B3CC-40D3-8375-F2B70AF10EAF}" type="pres">
      <dgm:prSet presAssocID="{1691906A-5198-47D4-9767-8C92D9F6A72A}" presName="parTx" presStyleLbl="revTx" presStyleIdx="3" presStyleCnt="7">
        <dgm:presLayoutVars>
          <dgm:chMax val="0"/>
          <dgm:chPref val="0"/>
        </dgm:presLayoutVars>
      </dgm:prSet>
      <dgm:spPr/>
    </dgm:pt>
    <dgm:pt modelId="{50716F0B-F16A-429D-A760-0857F7E821D7}" type="pres">
      <dgm:prSet presAssocID="{B3C9D951-7E60-419E-9CE6-233993974256}" presName="sibTrans" presStyleCnt="0"/>
      <dgm:spPr/>
    </dgm:pt>
    <dgm:pt modelId="{2BBA2960-F9AE-4978-B31C-18F23714919C}" type="pres">
      <dgm:prSet presAssocID="{979B76A5-0232-427C-9641-1C2DCEB47765}" presName="compNode" presStyleCnt="0"/>
      <dgm:spPr/>
    </dgm:pt>
    <dgm:pt modelId="{4EC877CF-CB87-4C71-B09A-F76FE0E7A85E}" type="pres">
      <dgm:prSet presAssocID="{979B76A5-0232-427C-9641-1C2DCEB47765}" presName="bgRect" presStyleLbl="bgShp" presStyleIdx="4" presStyleCnt="7"/>
      <dgm:spPr/>
    </dgm:pt>
    <dgm:pt modelId="{9F38C4AC-6DCB-4169-8792-FA9231D44FF8}" type="pres">
      <dgm:prSet presAssocID="{979B76A5-0232-427C-9641-1C2DCEB47765}"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Monthly calendar"/>
        </a:ext>
      </dgm:extLst>
    </dgm:pt>
    <dgm:pt modelId="{3E328E7D-4639-4F55-B0F5-CBCD822B3A65}" type="pres">
      <dgm:prSet presAssocID="{979B76A5-0232-427C-9641-1C2DCEB47765}" presName="spaceRect" presStyleCnt="0"/>
      <dgm:spPr/>
    </dgm:pt>
    <dgm:pt modelId="{0CE0AEAE-93F3-4851-8DA0-29CB1FE04BCF}" type="pres">
      <dgm:prSet presAssocID="{979B76A5-0232-427C-9641-1C2DCEB47765}" presName="parTx" presStyleLbl="revTx" presStyleIdx="4" presStyleCnt="7">
        <dgm:presLayoutVars>
          <dgm:chMax val="0"/>
          <dgm:chPref val="0"/>
        </dgm:presLayoutVars>
      </dgm:prSet>
      <dgm:spPr/>
    </dgm:pt>
    <dgm:pt modelId="{6F75575E-CA70-43B5-BF8C-B1BB890048D8}" type="pres">
      <dgm:prSet presAssocID="{06E2DD5D-6678-4BF4-ACEA-809BC3F1705E}" presName="sibTrans" presStyleCnt="0"/>
      <dgm:spPr/>
    </dgm:pt>
    <dgm:pt modelId="{BFE4084A-2A37-44D8-8DE1-AC4E2A27ADEA}" type="pres">
      <dgm:prSet presAssocID="{B71F66E3-0228-4C74-80B1-7C5EB41046C0}" presName="compNode" presStyleCnt="0"/>
      <dgm:spPr/>
    </dgm:pt>
    <dgm:pt modelId="{E3C56A6E-09EA-4163-BEFD-70E64D2C8C98}" type="pres">
      <dgm:prSet presAssocID="{B71F66E3-0228-4C74-80B1-7C5EB41046C0}" presName="bgRect" presStyleLbl="bgShp" presStyleIdx="5" presStyleCnt="7"/>
      <dgm:spPr/>
    </dgm:pt>
    <dgm:pt modelId="{2D5130FD-6AFE-41C8-AAAD-F9F91AEAD984}" type="pres">
      <dgm:prSet presAssocID="{B71F66E3-0228-4C74-80B1-7C5EB41046C0}"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Neutral Face with No Fill"/>
        </a:ext>
      </dgm:extLst>
    </dgm:pt>
    <dgm:pt modelId="{1768AAF2-EB62-42AF-B1C8-8913274D8014}" type="pres">
      <dgm:prSet presAssocID="{B71F66E3-0228-4C74-80B1-7C5EB41046C0}" presName="spaceRect" presStyleCnt="0"/>
      <dgm:spPr/>
    </dgm:pt>
    <dgm:pt modelId="{7860BB45-BFFE-442B-AAE3-3084900D9A5A}" type="pres">
      <dgm:prSet presAssocID="{B71F66E3-0228-4C74-80B1-7C5EB41046C0}" presName="parTx" presStyleLbl="revTx" presStyleIdx="5" presStyleCnt="7">
        <dgm:presLayoutVars>
          <dgm:chMax val="0"/>
          <dgm:chPref val="0"/>
        </dgm:presLayoutVars>
      </dgm:prSet>
      <dgm:spPr/>
    </dgm:pt>
    <dgm:pt modelId="{3011A035-0E87-420F-9FBC-D8318E99C5D4}" type="pres">
      <dgm:prSet presAssocID="{1DC877D8-AD13-4C31-BC9D-F1EDF006D3A6}" presName="sibTrans" presStyleCnt="0"/>
      <dgm:spPr/>
    </dgm:pt>
    <dgm:pt modelId="{3879C849-0C2E-464A-B069-FCD5E5342242}" type="pres">
      <dgm:prSet presAssocID="{C71ABBD5-F678-41FA-BD13-140F7EF6594C}" presName="compNode" presStyleCnt="0"/>
      <dgm:spPr/>
    </dgm:pt>
    <dgm:pt modelId="{04D1D0FC-0BF1-4D8F-8D2E-83ABCFC3D489}" type="pres">
      <dgm:prSet presAssocID="{C71ABBD5-F678-41FA-BD13-140F7EF6594C}" presName="bgRect" presStyleLbl="bgShp" presStyleIdx="6" presStyleCnt="7"/>
      <dgm:spPr/>
    </dgm:pt>
    <dgm:pt modelId="{B2E5E51F-78AD-4025-AC3B-FC573838050C}" type="pres">
      <dgm:prSet presAssocID="{C71ABBD5-F678-41FA-BD13-140F7EF6594C}"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Confused Face with No Fill"/>
        </a:ext>
      </dgm:extLst>
    </dgm:pt>
    <dgm:pt modelId="{D8646734-940D-4BBF-88A5-D56325EC2D31}" type="pres">
      <dgm:prSet presAssocID="{C71ABBD5-F678-41FA-BD13-140F7EF6594C}" presName="spaceRect" presStyleCnt="0"/>
      <dgm:spPr/>
    </dgm:pt>
    <dgm:pt modelId="{C326B0EE-06F8-49E9-A31E-B475A79CC063}" type="pres">
      <dgm:prSet presAssocID="{C71ABBD5-F678-41FA-BD13-140F7EF6594C}" presName="parTx" presStyleLbl="revTx" presStyleIdx="6" presStyleCnt="7">
        <dgm:presLayoutVars>
          <dgm:chMax val="0"/>
          <dgm:chPref val="0"/>
        </dgm:presLayoutVars>
      </dgm:prSet>
      <dgm:spPr/>
    </dgm:pt>
  </dgm:ptLst>
  <dgm:cxnLst>
    <dgm:cxn modelId="{09A3CA00-6C35-4C50-9B7F-81E414574572}" srcId="{3EA5F63A-61FF-462E-8699-196D2E7D8293}" destId="{B71F66E3-0228-4C74-80B1-7C5EB41046C0}" srcOrd="5" destOrd="0" parTransId="{C9EF9E12-7220-4976-ABD3-7B6D5B6F5785}" sibTransId="{1DC877D8-AD13-4C31-BC9D-F1EDF006D3A6}"/>
    <dgm:cxn modelId="{2B9E4704-72B6-4B41-A986-62C1E8228DA8}" type="presOf" srcId="{0099497E-4CD5-4109-BC95-27FC8FEF5461}" destId="{84BD97F9-CA7A-47E4-8972-11A85F086EC4}" srcOrd="0" destOrd="0" presId="urn:microsoft.com/office/officeart/2018/2/layout/IconVerticalSolidList"/>
    <dgm:cxn modelId="{01D8F016-A019-4D99-8A67-32DB574C29A6}" srcId="{3EA5F63A-61FF-462E-8699-196D2E7D8293}" destId="{700FB2DF-175E-4ED6-8DF0-17DF93A13959}" srcOrd="1" destOrd="0" parTransId="{393CC56F-2990-4E8D-B5E9-ED1F39D0D4A7}" sibTransId="{AB269538-FBF8-4CAC-A130-7C0676CEFA1B}"/>
    <dgm:cxn modelId="{81D6B619-6939-4F26-84D5-31C4E361BA0C}" type="presOf" srcId="{C2C41271-C7B4-4F64-AE3B-41B7628B508E}" destId="{1CCCB0BF-CB4F-4382-8781-6F7384A634BC}" srcOrd="0" destOrd="0" presId="urn:microsoft.com/office/officeart/2018/2/layout/IconVerticalSolidList"/>
    <dgm:cxn modelId="{46EA9832-42AF-4D00-A0D0-1E61818770CB}" srcId="{3EA5F63A-61FF-462E-8699-196D2E7D8293}" destId="{979B76A5-0232-427C-9641-1C2DCEB47765}" srcOrd="4" destOrd="0" parTransId="{E67AA0CA-3853-4195-A835-DB957585EA56}" sibTransId="{06E2DD5D-6678-4BF4-ACEA-809BC3F1705E}"/>
    <dgm:cxn modelId="{DD886A7B-6366-4C4E-8D5D-9E95D3D718D4}" srcId="{3EA5F63A-61FF-462E-8699-196D2E7D8293}" destId="{C71ABBD5-F678-41FA-BD13-140F7EF6594C}" srcOrd="6" destOrd="0" parTransId="{78B6CF06-637F-4914-950F-91AA16B89E32}" sibTransId="{4B9DA9B7-E6EC-45D6-99A7-1AA9547721DB}"/>
    <dgm:cxn modelId="{4D2EF284-26A4-4579-AF81-557B8CB18F00}" type="presOf" srcId="{C71ABBD5-F678-41FA-BD13-140F7EF6594C}" destId="{C326B0EE-06F8-49E9-A31E-B475A79CC063}" srcOrd="0" destOrd="0" presId="urn:microsoft.com/office/officeart/2018/2/layout/IconVerticalSolidList"/>
    <dgm:cxn modelId="{68976E92-13D0-46DB-87D1-4EBD7E631976}" srcId="{3EA5F63A-61FF-462E-8699-196D2E7D8293}" destId="{0099497E-4CD5-4109-BC95-27FC8FEF5461}" srcOrd="2" destOrd="0" parTransId="{D4FD636D-AE7B-4BED-B913-4BC3BAC3F6CD}" sibTransId="{E30BC904-79E0-4952-847E-C35A1F1451E4}"/>
    <dgm:cxn modelId="{A2FAB198-BA16-404D-A4E3-BB9ECE0CABC4}" srcId="{3EA5F63A-61FF-462E-8699-196D2E7D8293}" destId="{1691906A-5198-47D4-9767-8C92D9F6A72A}" srcOrd="3" destOrd="0" parTransId="{17F4239E-B584-4D47-9D3A-1593178AE4C1}" sibTransId="{B3C9D951-7E60-419E-9CE6-233993974256}"/>
    <dgm:cxn modelId="{9561DDB6-0C29-4E4E-A415-6E5A9CEF8E15}" type="presOf" srcId="{700FB2DF-175E-4ED6-8DF0-17DF93A13959}" destId="{BB16F18C-FC54-48D8-99B7-9D08FC1F57BB}" srcOrd="0" destOrd="0" presId="urn:microsoft.com/office/officeart/2018/2/layout/IconVerticalSolidList"/>
    <dgm:cxn modelId="{3979FFB6-CFDC-4192-9E78-890541A24FFF}" type="presOf" srcId="{1691906A-5198-47D4-9767-8C92D9F6A72A}" destId="{E1A69321-B3CC-40D3-8375-F2B70AF10EAF}" srcOrd="0" destOrd="0" presId="urn:microsoft.com/office/officeart/2018/2/layout/IconVerticalSolidList"/>
    <dgm:cxn modelId="{F86266BF-78DB-4F87-8443-DABD3A6250A5}" type="presOf" srcId="{B71F66E3-0228-4C74-80B1-7C5EB41046C0}" destId="{7860BB45-BFFE-442B-AAE3-3084900D9A5A}" srcOrd="0" destOrd="0" presId="urn:microsoft.com/office/officeart/2018/2/layout/IconVerticalSolidList"/>
    <dgm:cxn modelId="{30AEF0D3-FF9D-45A1-BB31-E069BBF644B2}" type="presOf" srcId="{3EA5F63A-61FF-462E-8699-196D2E7D8293}" destId="{BF0090EC-4377-4DFB-9CAC-E60714CC8058}" srcOrd="0" destOrd="0" presId="urn:microsoft.com/office/officeart/2018/2/layout/IconVerticalSolidList"/>
    <dgm:cxn modelId="{5F1F85DA-40B2-4E57-979F-78B8BC2854F4}" srcId="{3EA5F63A-61FF-462E-8699-196D2E7D8293}" destId="{C2C41271-C7B4-4F64-AE3B-41B7628B508E}" srcOrd="0" destOrd="0" parTransId="{04834AB2-CCD3-4EE5-9206-4389986AEB3D}" sibTransId="{341B7560-6F62-463A-9347-9BBC73B9247A}"/>
    <dgm:cxn modelId="{654D1FEF-6F3F-4E17-9664-84D9A4CEE42B}" type="presOf" srcId="{979B76A5-0232-427C-9641-1C2DCEB47765}" destId="{0CE0AEAE-93F3-4851-8DA0-29CB1FE04BCF}" srcOrd="0" destOrd="0" presId="urn:microsoft.com/office/officeart/2018/2/layout/IconVerticalSolidList"/>
    <dgm:cxn modelId="{14E4467B-0D30-4529-881A-C08917844B14}" type="presParOf" srcId="{BF0090EC-4377-4DFB-9CAC-E60714CC8058}" destId="{01624413-C646-4081-8682-CD5AA399D69E}" srcOrd="0" destOrd="0" presId="urn:microsoft.com/office/officeart/2018/2/layout/IconVerticalSolidList"/>
    <dgm:cxn modelId="{89432C4C-2C3F-4196-9155-7D720F222C08}" type="presParOf" srcId="{01624413-C646-4081-8682-CD5AA399D69E}" destId="{E02773E4-C4B6-4C60-B1B2-650AB5BB89C2}" srcOrd="0" destOrd="0" presId="urn:microsoft.com/office/officeart/2018/2/layout/IconVerticalSolidList"/>
    <dgm:cxn modelId="{013E6870-B5CE-4A3E-9574-97CDCB4B2B3A}" type="presParOf" srcId="{01624413-C646-4081-8682-CD5AA399D69E}" destId="{C253DD2D-8A37-4514-A29F-8E73A74C6949}" srcOrd="1" destOrd="0" presId="urn:microsoft.com/office/officeart/2018/2/layout/IconVerticalSolidList"/>
    <dgm:cxn modelId="{4B46236F-4169-4C4C-98EE-DC45A63EA532}" type="presParOf" srcId="{01624413-C646-4081-8682-CD5AA399D69E}" destId="{9A591709-2045-4455-A7FE-9139E4BFF01C}" srcOrd="2" destOrd="0" presId="urn:microsoft.com/office/officeart/2018/2/layout/IconVerticalSolidList"/>
    <dgm:cxn modelId="{D7995468-E1B4-42D0-8A13-65A863BB444C}" type="presParOf" srcId="{01624413-C646-4081-8682-CD5AA399D69E}" destId="{1CCCB0BF-CB4F-4382-8781-6F7384A634BC}" srcOrd="3" destOrd="0" presId="urn:microsoft.com/office/officeart/2018/2/layout/IconVerticalSolidList"/>
    <dgm:cxn modelId="{DB2A6B26-6B7C-43E9-8BE6-2EEA9ACBA3CF}" type="presParOf" srcId="{BF0090EC-4377-4DFB-9CAC-E60714CC8058}" destId="{AA8E9319-4164-4A8B-9547-701AED716242}" srcOrd="1" destOrd="0" presId="urn:microsoft.com/office/officeart/2018/2/layout/IconVerticalSolidList"/>
    <dgm:cxn modelId="{8B08B59B-FDAA-4713-A1ED-E4A6E868F53F}" type="presParOf" srcId="{BF0090EC-4377-4DFB-9CAC-E60714CC8058}" destId="{1F505416-50B3-4EAF-99D2-D6400FF9BC25}" srcOrd="2" destOrd="0" presId="urn:microsoft.com/office/officeart/2018/2/layout/IconVerticalSolidList"/>
    <dgm:cxn modelId="{E6503014-CDC6-4EB3-BD78-C57BB57C06C6}" type="presParOf" srcId="{1F505416-50B3-4EAF-99D2-D6400FF9BC25}" destId="{F8C57584-EF5A-4C5B-80A7-0734BCDFCA2D}" srcOrd="0" destOrd="0" presId="urn:microsoft.com/office/officeart/2018/2/layout/IconVerticalSolidList"/>
    <dgm:cxn modelId="{23019015-503D-4C0A-AC00-2C0B02577920}" type="presParOf" srcId="{1F505416-50B3-4EAF-99D2-D6400FF9BC25}" destId="{2068C39E-6D4A-4172-9002-920D8DA0B614}" srcOrd="1" destOrd="0" presId="urn:microsoft.com/office/officeart/2018/2/layout/IconVerticalSolidList"/>
    <dgm:cxn modelId="{2F727809-E8BB-4027-B153-EB49C56B0C3A}" type="presParOf" srcId="{1F505416-50B3-4EAF-99D2-D6400FF9BC25}" destId="{17908EC8-0F4E-4103-AC35-E03EA1097308}" srcOrd="2" destOrd="0" presId="urn:microsoft.com/office/officeart/2018/2/layout/IconVerticalSolidList"/>
    <dgm:cxn modelId="{7C364381-6ED9-4274-AF51-BD8B10D8FE6E}" type="presParOf" srcId="{1F505416-50B3-4EAF-99D2-D6400FF9BC25}" destId="{BB16F18C-FC54-48D8-99B7-9D08FC1F57BB}" srcOrd="3" destOrd="0" presId="urn:microsoft.com/office/officeart/2018/2/layout/IconVerticalSolidList"/>
    <dgm:cxn modelId="{04F3577F-7C09-47A0-A312-63EA84016610}" type="presParOf" srcId="{BF0090EC-4377-4DFB-9CAC-E60714CC8058}" destId="{9A1D175D-C49C-4183-B892-2C14113FF410}" srcOrd="3" destOrd="0" presId="urn:microsoft.com/office/officeart/2018/2/layout/IconVerticalSolidList"/>
    <dgm:cxn modelId="{1B30C90A-D011-48EE-8C4E-46F1686B82A6}" type="presParOf" srcId="{BF0090EC-4377-4DFB-9CAC-E60714CC8058}" destId="{3A2E740E-D144-4B5B-A392-9387B273D86F}" srcOrd="4" destOrd="0" presId="urn:microsoft.com/office/officeart/2018/2/layout/IconVerticalSolidList"/>
    <dgm:cxn modelId="{391438A0-93A6-430D-B6F0-805B594ACACB}" type="presParOf" srcId="{3A2E740E-D144-4B5B-A392-9387B273D86F}" destId="{77D3BF5A-B25C-40EB-A584-047586CD982E}" srcOrd="0" destOrd="0" presId="urn:microsoft.com/office/officeart/2018/2/layout/IconVerticalSolidList"/>
    <dgm:cxn modelId="{2241ACEF-576A-4329-BB40-0FC7164101B5}" type="presParOf" srcId="{3A2E740E-D144-4B5B-A392-9387B273D86F}" destId="{4FF630BD-EA7A-4A2A-8EFB-B845DBC03E93}" srcOrd="1" destOrd="0" presId="urn:microsoft.com/office/officeart/2018/2/layout/IconVerticalSolidList"/>
    <dgm:cxn modelId="{482B3ABB-5F00-4AE0-9A9B-B5A90A14CBC6}" type="presParOf" srcId="{3A2E740E-D144-4B5B-A392-9387B273D86F}" destId="{7873CAE6-84E0-46C2-ACE9-147356949E11}" srcOrd="2" destOrd="0" presId="urn:microsoft.com/office/officeart/2018/2/layout/IconVerticalSolidList"/>
    <dgm:cxn modelId="{8E45D216-C2E8-4242-B138-A71A4DD45277}" type="presParOf" srcId="{3A2E740E-D144-4B5B-A392-9387B273D86F}" destId="{84BD97F9-CA7A-47E4-8972-11A85F086EC4}" srcOrd="3" destOrd="0" presId="urn:microsoft.com/office/officeart/2018/2/layout/IconVerticalSolidList"/>
    <dgm:cxn modelId="{741BA055-85BE-4EE0-95D2-433DB5F38EB7}" type="presParOf" srcId="{BF0090EC-4377-4DFB-9CAC-E60714CC8058}" destId="{FE15F227-4F4E-4C1A-AD93-C72F1367735B}" srcOrd="5" destOrd="0" presId="urn:microsoft.com/office/officeart/2018/2/layout/IconVerticalSolidList"/>
    <dgm:cxn modelId="{25421166-948E-4514-BEBA-A4292953CEED}" type="presParOf" srcId="{BF0090EC-4377-4DFB-9CAC-E60714CC8058}" destId="{215F79B8-BEF6-408E-AFA3-82E612CFDD94}" srcOrd="6" destOrd="0" presId="urn:microsoft.com/office/officeart/2018/2/layout/IconVerticalSolidList"/>
    <dgm:cxn modelId="{6C1270C1-70F1-484D-BB25-6889FFBF472B}" type="presParOf" srcId="{215F79B8-BEF6-408E-AFA3-82E612CFDD94}" destId="{E0ED6BDD-F303-45EB-8C0F-A2CE1A42DDCA}" srcOrd="0" destOrd="0" presId="urn:microsoft.com/office/officeart/2018/2/layout/IconVerticalSolidList"/>
    <dgm:cxn modelId="{C7F09D0F-75F2-4890-A448-CFFFDFDA8137}" type="presParOf" srcId="{215F79B8-BEF6-408E-AFA3-82E612CFDD94}" destId="{B52DDCED-208C-405B-BDD6-2EBA7C23346A}" srcOrd="1" destOrd="0" presId="urn:microsoft.com/office/officeart/2018/2/layout/IconVerticalSolidList"/>
    <dgm:cxn modelId="{BE067650-9C95-4AEC-9DFB-CC8280F78DAF}" type="presParOf" srcId="{215F79B8-BEF6-408E-AFA3-82E612CFDD94}" destId="{BFA98C31-E68A-428E-BE6D-347BF29F767B}" srcOrd="2" destOrd="0" presId="urn:microsoft.com/office/officeart/2018/2/layout/IconVerticalSolidList"/>
    <dgm:cxn modelId="{2C14F309-ADA2-4BE5-9CBC-B64FABBEC28A}" type="presParOf" srcId="{215F79B8-BEF6-408E-AFA3-82E612CFDD94}" destId="{E1A69321-B3CC-40D3-8375-F2B70AF10EAF}" srcOrd="3" destOrd="0" presId="urn:microsoft.com/office/officeart/2018/2/layout/IconVerticalSolidList"/>
    <dgm:cxn modelId="{3674978D-D176-44CD-8296-8A85436E40CC}" type="presParOf" srcId="{BF0090EC-4377-4DFB-9CAC-E60714CC8058}" destId="{50716F0B-F16A-429D-A760-0857F7E821D7}" srcOrd="7" destOrd="0" presId="urn:microsoft.com/office/officeart/2018/2/layout/IconVerticalSolidList"/>
    <dgm:cxn modelId="{73966E5B-9A64-436F-A53D-5367460BCEEB}" type="presParOf" srcId="{BF0090EC-4377-4DFB-9CAC-E60714CC8058}" destId="{2BBA2960-F9AE-4978-B31C-18F23714919C}" srcOrd="8" destOrd="0" presId="urn:microsoft.com/office/officeart/2018/2/layout/IconVerticalSolidList"/>
    <dgm:cxn modelId="{E3BA06BE-72FD-4433-A533-620DE4993D60}" type="presParOf" srcId="{2BBA2960-F9AE-4978-B31C-18F23714919C}" destId="{4EC877CF-CB87-4C71-B09A-F76FE0E7A85E}" srcOrd="0" destOrd="0" presId="urn:microsoft.com/office/officeart/2018/2/layout/IconVerticalSolidList"/>
    <dgm:cxn modelId="{AAA9611E-809F-4AD2-B989-C0C26DC97E23}" type="presParOf" srcId="{2BBA2960-F9AE-4978-B31C-18F23714919C}" destId="{9F38C4AC-6DCB-4169-8792-FA9231D44FF8}" srcOrd="1" destOrd="0" presId="urn:microsoft.com/office/officeart/2018/2/layout/IconVerticalSolidList"/>
    <dgm:cxn modelId="{81BC2E67-06E4-420A-A45A-49D762C09D5B}" type="presParOf" srcId="{2BBA2960-F9AE-4978-B31C-18F23714919C}" destId="{3E328E7D-4639-4F55-B0F5-CBCD822B3A65}" srcOrd="2" destOrd="0" presId="urn:microsoft.com/office/officeart/2018/2/layout/IconVerticalSolidList"/>
    <dgm:cxn modelId="{B9A7CE70-82E9-4B96-9341-1D3049463D43}" type="presParOf" srcId="{2BBA2960-F9AE-4978-B31C-18F23714919C}" destId="{0CE0AEAE-93F3-4851-8DA0-29CB1FE04BCF}" srcOrd="3" destOrd="0" presId="urn:microsoft.com/office/officeart/2018/2/layout/IconVerticalSolidList"/>
    <dgm:cxn modelId="{DE76D065-9DC4-44F8-A399-9678A62DC4BF}" type="presParOf" srcId="{BF0090EC-4377-4DFB-9CAC-E60714CC8058}" destId="{6F75575E-CA70-43B5-BF8C-B1BB890048D8}" srcOrd="9" destOrd="0" presId="urn:microsoft.com/office/officeart/2018/2/layout/IconVerticalSolidList"/>
    <dgm:cxn modelId="{338F4FB6-3582-42B7-915F-CE3DA6D3AA8D}" type="presParOf" srcId="{BF0090EC-4377-4DFB-9CAC-E60714CC8058}" destId="{BFE4084A-2A37-44D8-8DE1-AC4E2A27ADEA}" srcOrd="10" destOrd="0" presId="urn:microsoft.com/office/officeart/2018/2/layout/IconVerticalSolidList"/>
    <dgm:cxn modelId="{D578D5A1-2845-460D-AF46-A1FAA10148F1}" type="presParOf" srcId="{BFE4084A-2A37-44D8-8DE1-AC4E2A27ADEA}" destId="{E3C56A6E-09EA-4163-BEFD-70E64D2C8C98}" srcOrd="0" destOrd="0" presId="urn:microsoft.com/office/officeart/2018/2/layout/IconVerticalSolidList"/>
    <dgm:cxn modelId="{9F9A0678-8EE8-4747-969A-9083D57ADC51}" type="presParOf" srcId="{BFE4084A-2A37-44D8-8DE1-AC4E2A27ADEA}" destId="{2D5130FD-6AFE-41C8-AAAD-F9F91AEAD984}" srcOrd="1" destOrd="0" presId="urn:microsoft.com/office/officeart/2018/2/layout/IconVerticalSolidList"/>
    <dgm:cxn modelId="{2F42C038-C933-457B-B5C9-6085E641513B}" type="presParOf" srcId="{BFE4084A-2A37-44D8-8DE1-AC4E2A27ADEA}" destId="{1768AAF2-EB62-42AF-B1C8-8913274D8014}" srcOrd="2" destOrd="0" presId="urn:microsoft.com/office/officeart/2018/2/layout/IconVerticalSolidList"/>
    <dgm:cxn modelId="{98576DBA-6534-4518-ACEC-8D77BD950988}" type="presParOf" srcId="{BFE4084A-2A37-44D8-8DE1-AC4E2A27ADEA}" destId="{7860BB45-BFFE-442B-AAE3-3084900D9A5A}" srcOrd="3" destOrd="0" presId="urn:microsoft.com/office/officeart/2018/2/layout/IconVerticalSolidList"/>
    <dgm:cxn modelId="{EBC9BCF1-516D-4002-9663-16A38FAE5F51}" type="presParOf" srcId="{BF0090EC-4377-4DFB-9CAC-E60714CC8058}" destId="{3011A035-0E87-420F-9FBC-D8318E99C5D4}" srcOrd="11" destOrd="0" presId="urn:microsoft.com/office/officeart/2018/2/layout/IconVerticalSolidList"/>
    <dgm:cxn modelId="{007D368D-E00F-45D6-8A3E-A8280EE5BABB}" type="presParOf" srcId="{BF0090EC-4377-4DFB-9CAC-E60714CC8058}" destId="{3879C849-0C2E-464A-B069-FCD5E5342242}" srcOrd="12" destOrd="0" presId="urn:microsoft.com/office/officeart/2018/2/layout/IconVerticalSolidList"/>
    <dgm:cxn modelId="{DFE0B997-BE54-46FB-99C4-6314053AA48D}" type="presParOf" srcId="{3879C849-0C2E-464A-B069-FCD5E5342242}" destId="{04D1D0FC-0BF1-4D8F-8D2E-83ABCFC3D489}" srcOrd="0" destOrd="0" presId="urn:microsoft.com/office/officeart/2018/2/layout/IconVerticalSolidList"/>
    <dgm:cxn modelId="{9F0A4487-1C87-4248-AA4F-F16999772623}" type="presParOf" srcId="{3879C849-0C2E-464A-B069-FCD5E5342242}" destId="{B2E5E51F-78AD-4025-AC3B-FC573838050C}" srcOrd="1" destOrd="0" presId="urn:microsoft.com/office/officeart/2018/2/layout/IconVerticalSolidList"/>
    <dgm:cxn modelId="{9EBB59A2-8B30-40AD-85F6-227A12517E98}" type="presParOf" srcId="{3879C849-0C2E-464A-B069-FCD5E5342242}" destId="{D8646734-940D-4BBF-88A5-D56325EC2D31}" srcOrd="2" destOrd="0" presId="urn:microsoft.com/office/officeart/2018/2/layout/IconVerticalSolidList"/>
    <dgm:cxn modelId="{CC7F24A0-0D9E-4A33-A44E-5A9B9B6619E4}" type="presParOf" srcId="{3879C849-0C2E-464A-B069-FCD5E5342242}" destId="{C326B0EE-06F8-49E9-A31E-B475A79CC06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9B37FB2-766C-45D1-9DAE-922BB82DB2A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0695778-9A61-46A5-8E44-CFDB69151A30}">
      <dgm:prSet/>
      <dgm:spPr/>
      <dgm:t>
        <a:bodyPr/>
        <a:lstStyle/>
        <a:p>
          <a:r>
            <a:rPr lang="pl-PL"/>
            <a:t>Nowe wymagania jakościowe obejmują:</a:t>
          </a:r>
          <a:endParaRPr lang="en-US"/>
        </a:p>
      </dgm:t>
    </dgm:pt>
    <dgm:pt modelId="{4C1C9A7A-8AC1-4A65-A71A-4D5DF0957AC2}" type="parTrans" cxnId="{97AB92EA-03F2-48BC-88C9-D448C8FFEE18}">
      <dgm:prSet/>
      <dgm:spPr/>
      <dgm:t>
        <a:bodyPr/>
        <a:lstStyle/>
        <a:p>
          <a:endParaRPr lang="en-US"/>
        </a:p>
      </dgm:t>
    </dgm:pt>
    <dgm:pt modelId="{3CA2424A-E605-4664-A2B7-B9FCA7DFCBC0}" type="sibTrans" cxnId="{97AB92EA-03F2-48BC-88C9-D448C8FFEE18}">
      <dgm:prSet/>
      <dgm:spPr/>
      <dgm:t>
        <a:bodyPr/>
        <a:lstStyle/>
        <a:p>
          <a:endParaRPr lang="en-US"/>
        </a:p>
      </dgm:t>
    </dgm:pt>
    <dgm:pt modelId="{2F9F3442-BC00-4877-AB3A-F3B812B56415}">
      <dgm:prSet/>
      <dgm:spPr/>
      <dgm:t>
        <a:bodyPr/>
        <a:lstStyle/>
        <a:p>
          <a:r>
            <a:rPr lang="pl-PL"/>
            <a:t>przejrzystość działania algorytmu, </a:t>
          </a:r>
          <a:endParaRPr lang="en-US"/>
        </a:p>
      </dgm:t>
    </dgm:pt>
    <dgm:pt modelId="{A6A26996-1A45-4D20-AF3E-B1700A34C54C}" type="parTrans" cxnId="{9DBE3981-4E7D-49DA-B50D-9E1D766A2E84}">
      <dgm:prSet/>
      <dgm:spPr/>
      <dgm:t>
        <a:bodyPr/>
        <a:lstStyle/>
        <a:p>
          <a:endParaRPr lang="en-US"/>
        </a:p>
      </dgm:t>
    </dgm:pt>
    <dgm:pt modelId="{906B28B5-BDB2-4036-AA07-82B5C3324F9B}" type="sibTrans" cxnId="{9DBE3981-4E7D-49DA-B50D-9E1D766A2E84}">
      <dgm:prSet/>
      <dgm:spPr/>
      <dgm:t>
        <a:bodyPr/>
        <a:lstStyle/>
        <a:p>
          <a:endParaRPr lang="en-US"/>
        </a:p>
      </dgm:t>
    </dgm:pt>
    <dgm:pt modelId="{564A815F-09BE-4557-85E8-F2547DF7DEB2}">
      <dgm:prSet/>
      <dgm:spPr/>
      <dgm:t>
        <a:bodyPr/>
        <a:lstStyle/>
        <a:p>
          <a:r>
            <a:rPr lang="pl-PL"/>
            <a:t>ograniczanie uprzedzeń danych, </a:t>
          </a:r>
          <a:endParaRPr lang="en-US"/>
        </a:p>
      </dgm:t>
    </dgm:pt>
    <dgm:pt modelId="{E3E7E2CB-B2C5-4D43-AC9F-866F2846C9D6}" type="parTrans" cxnId="{2D435333-B326-4E3A-B0D5-21D2693AD5DD}">
      <dgm:prSet/>
      <dgm:spPr/>
      <dgm:t>
        <a:bodyPr/>
        <a:lstStyle/>
        <a:p>
          <a:endParaRPr lang="en-US"/>
        </a:p>
      </dgm:t>
    </dgm:pt>
    <dgm:pt modelId="{3C913A15-EF1F-4493-B653-769768521B24}" type="sibTrans" cxnId="{2D435333-B326-4E3A-B0D5-21D2693AD5DD}">
      <dgm:prSet/>
      <dgm:spPr/>
      <dgm:t>
        <a:bodyPr/>
        <a:lstStyle/>
        <a:p>
          <a:endParaRPr lang="en-US"/>
        </a:p>
      </dgm:t>
    </dgm:pt>
    <dgm:pt modelId="{906EFDF6-D519-41C8-B95A-2E5898BC8C0B}">
      <dgm:prSet/>
      <dgm:spPr/>
      <dgm:t>
        <a:bodyPr/>
        <a:lstStyle/>
        <a:p>
          <a:r>
            <a:rPr lang="pl-PL"/>
            <a:t>sprawiedliwe traktowanie użytkowników, </a:t>
          </a:r>
          <a:endParaRPr lang="en-US"/>
        </a:p>
      </dgm:t>
    </dgm:pt>
    <dgm:pt modelId="{C1E1DCBD-6287-4239-9DF1-A727085AA658}" type="parTrans" cxnId="{A06BB1CF-C258-4588-8B19-B77AFB237D35}">
      <dgm:prSet/>
      <dgm:spPr/>
      <dgm:t>
        <a:bodyPr/>
        <a:lstStyle/>
        <a:p>
          <a:endParaRPr lang="en-US"/>
        </a:p>
      </dgm:t>
    </dgm:pt>
    <dgm:pt modelId="{78D8EA58-0DF6-4BEF-B21B-C72B395D96DB}" type="sibTrans" cxnId="{A06BB1CF-C258-4588-8B19-B77AFB237D35}">
      <dgm:prSet/>
      <dgm:spPr/>
      <dgm:t>
        <a:bodyPr/>
        <a:lstStyle/>
        <a:p>
          <a:endParaRPr lang="en-US"/>
        </a:p>
      </dgm:t>
    </dgm:pt>
    <dgm:pt modelId="{D77B8EE4-AF87-4872-AB23-0381C3FBCBF4}">
      <dgm:prSet/>
      <dgm:spPr/>
      <dgm:t>
        <a:bodyPr/>
        <a:lstStyle/>
        <a:p>
          <a:r>
            <a:rPr lang="pl-PL"/>
            <a:t>możliwość wyjaśnienia decyzji, </a:t>
          </a:r>
          <a:endParaRPr lang="en-US"/>
        </a:p>
      </dgm:t>
    </dgm:pt>
    <dgm:pt modelId="{4BC32A58-D313-486E-B5BB-0FC29ACBC33E}" type="parTrans" cxnId="{A3860690-9916-4D96-9D27-54F089F71ECC}">
      <dgm:prSet/>
      <dgm:spPr/>
      <dgm:t>
        <a:bodyPr/>
        <a:lstStyle/>
        <a:p>
          <a:endParaRPr lang="en-US"/>
        </a:p>
      </dgm:t>
    </dgm:pt>
    <dgm:pt modelId="{89AB6CF6-678E-4C1E-A8A1-99E12B74BC5B}" type="sibTrans" cxnId="{A3860690-9916-4D96-9D27-54F089F71ECC}">
      <dgm:prSet/>
      <dgm:spPr/>
      <dgm:t>
        <a:bodyPr/>
        <a:lstStyle/>
        <a:p>
          <a:endParaRPr lang="en-US"/>
        </a:p>
      </dgm:t>
    </dgm:pt>
    <dgm:pt modelId="{718F7479-ABBC-4AC7-9CDB-DA6575BD4EE4}">
      <dgm:prSet/>
      <dgm:spPr/>
      <dgm:t>
        <a:bodyPr/>
        <a:lstStyle/>
        <a:p>
          <a:r>
            <a:rPr lang="pl-PL"/>
            <a:t>odpowiedzialność za skutki automatyzacji.</a:t>
          </a:r>
          <a:endParaRPr lang="en-US"/>
        </a:p>
      </dgm:t>
    </dgm:pt>
    <dgm:pt modelId="{D223B525-5742-49B8-9F58-3EEC2D5E69F8}" type="parTrans" cxnId="{BD21EDB8-B3FB-4839-B35B-FCD704E3FF67}">
      <dgm:prSet/>
      <dgm:spPr/>
      <dgm:t>
        <a:bodyPr/>
        <a:lstStyle/>
        <a:p>
          <a:endParaRPr lang="en-US"/>
        </a:p>
      </dgm:t>
    </dgm:pt>
    <dgm:pt modelId="{3C1D8755-5F58-46EF-A7F0-DCD11B8CDB8F}" type="sibTrans" cxnId="{BD21EDB8-B3FB-4839-B35B-FCD704E3FF67}">
      <dgm:prSet/>
      <dgm:spPr/>
      <dgm:t>
        <a:bodyPr/>
        <a:lstStyle/>
        <a:p>
          <a:endParaRPr lang="en-US"/>
        </a:p>
      </dgm:t>
    </dgm:pt>
    <dgm:pt modelId="{273E1D6A-6A4A-494D-89EC-B81D137437A9}" type="pres">
      <dgm:prSet presAssocID="{39B37FB2-766C-45D1-9DAE-922BB82DB2AC}" presName="linear" presStyleCnt="0">
        <dgm:presLayoutVars>
          <dgm:animLvl val="lvl"/>
          <dgm:resizeHandles val="exact"/>
        </dgm:presLayoutVars>
      </dgm:prSet>
      <dgm:spPr/>
    </dgm:pt>
    <dgm:pt modelId="{05825056-A07A-4151-B424-2F6E8D74908C}" type="pres">
      <dgm:prSet presAssocID="{60695778-9A61-46A5-8E44-CFDB69151A30}" presName="parentText" presStyleLbl="node1" presStyleIdx="0" presStyleCnt="6">
        <dgm:presLayoutVars>
          <dgm:chMax val="0"/>
          <dgm:bulletEnabled val="1"/>
        </dgm:presLayoutVars>
      </dgm:prSet>
      <dgm:spPr/>
    </dgm:pt>
    <dgm:pt modelId="{32919DFA-CF1D-42CF-B5CA-5A9C1D8CC6D8}" type="pres">
      <dgm:prSet presAssocID="{3CA2424A-E605-4664-A2B7-B9FCA7DFCBC0}" presName="spacer" presStyleCnt="0"/>
      <dgm:spPr/>
    </dgm:pt>
    <dgm:pt modelId="{25098F91-AFC3-481C-93DC-C7A70203AC76}" type="pres">
      <dgm:prSet presAssocID="{2F9F3442-BC00-4877-AB3A-F3B812B56415}" presName="parentText" presStyleLbl="node1" presStyleIdx="1" presStyleCnt="6">
        <dgm:presLayoutVars>
          <dgm:chMax val="0"/>
          <dgm:bulletEnabled val="1"/>
        </dgm:presLayoutVars>
      </dgm:prSet>
      <dgm:spPr/>
    </dgm:pt>
    <dgm:pt modelId="{0A4A3F40-BD09-4455-97DD-827F780EAB42}" type="pres">
      <dgm:prSet presAssocID="{906B28B5-BDB2-4036-AA07-82B5C3324F9B}" presName="spacer" presStyleCnt="0"/>
      <dgm:spPr/>
    </dgm:pt>
    <dgm:pt modelId="{D47B2435-12AA-449A-89D2-32B4E1329F03}" type="pres">
      <dgm:prSet presAssocID="{564A815F-09BE-4557-85E8-F2547DF7DEB2}" presName="parentText" presStyleLbl="node1" presStyleIdx="2" presStyleCnt="6">
        <dgm:presLayoutVars>
          <dgm:chMax val="0"/>
          <dgm:bulletEnabled val="1"/>
        </dgm:presLayoutVars>
      </dgm:prSet>
      <dgm:spPr/>
    </dgm:pt>
    <dgm:pt modelId="{40857432-4D2B-49AF-B41C-FB1E88378ADC}" type="pres">
      <dgm:prSet presAssocID="{3C913A15-EF1F-4493-B653-769768521B24}" presName="spacer" presStyleCnt="0"/>
      <dgm:spPr/>
    </dgm:pt>
    <dgm:pt modelId="{475BB091-7249-4390-A153-7A4AB4942177}" type="pres">
      <dgm:prSet presAssocID="{906EFDF6-D519-41C8-B95A-2E5898BC8C0B}" presName="parentText" presStyleLbl="node1" presStyleIdx="3" presStyleCnt="6">
        <dgm:presLayoutVars>
          <dgm:chMax val="0"/>
          <dgm:bulletEnabled val="1"/>
        </dgm:presLayoutVars>
      </dgm:prSet>
      <dgm:spPr/>
    </dgm:pt>
    <dgm:pt modelId="{8820152E-9728-4E4A-8937-394AA33DA6AA}" type="pres">
      <dgm:prSet presAssocID="{78D8EA58-0DF6-4BEF-B21B-C72B395D96DB}" presName="spacer" presStyleCnt="0"/>
      <dgm:spPr/>
    </dgm:pt>
    <dgm:pt modelId="{D47F4826-0D0A-41A1-94F0-5BF4E4D5DE80}" type="pres">
      <dgm:prSet presAssocID="{D77B8EE4-AF87-4872-AB23-0381C3FBCBF4}" presName="parentText" presStyleLbl="node1" presStyleIdx="4" presStyleCnt="6">
        <dgm:presLayoutVars>
          <dgm:chMax val="0"/>
          <dgm:bulletEnabled val="1"/>
        </dgm:presLayoutVars>
      </dgm:prSet>
      <dgm:spPr/>
    </dgm:pt>
    <dgm:pt modelId="{2ACAD9BB-A837-48F7-A2A7-B275F6EC119F}" type="pres">
      <dgm:prSet presAssocID="{89AB6CF6-678E-4C1E-A8A1-99E12B74BC5B}" presName="spacer" presStyleCnt="0"/>
      <dgm:spPr/>
    </dgm:pt>
    <dgm:pt modelId="{DD3C3219-1726-4B8A-9862-6BD3311E92EE}" type="pres">
      <dgm:prSet presAssocID="{718F7479-ABBC-4AC7-9CDB-DA6575BD4EE4}" presName="parentText" presStyleLbl="node1" presStyleIdx="5" presStyleCnt="6">
        <dgm:presLayoutVars>
          <dgm:chMax val="0"/>
          <dgm:bulletEnabled val="1"/>
        </dgm:presLayoutVars>
      </dgm:prSet>
      <dgm:spPr/>
    </dgm:pt>
  </dgm:ptLst>
  <dgm:cxnLst>
    <dgm:cxn modelId="{2D435333-B326-4E3A-B0D5-21D2693AD5DD}" srcId="{39B37FB2-766C-45D1-9DAE-922BB82DB2AC}" destId="{564A815F-09BE-4557-85E8-F2547DF7DEB2}" srcOrd="2" destOrd="0" parTransId="{E3E7E2CB-B2C5-4D43-AC9F-866F2846C9D6}" sibTransId="{3C913A15-EF1F-4493-B653-769768521B24}"/>
    <dgm:cxn modelId="{E8373569-775D-4020-93BA-E897D34A9D2D}" type="presOf" srcId="{906EFDF6-D519-41C8-B95A-2E5898BC8C0B}" destId="{475BB091-7249-4390-A153-7A4AB4942177}" srcOrd="0" destOrd="0" presId="urn:microsoft.com/office/officeart/2005/8/layout/vList2"/>
    <dgm:cxn modelId="{4609E273-94D2-41FD-B35D-6B120830D661}" type="presOf" srcId="{718F7479-ABBC-4AC7-9CDB-DA6575BD4EE4}" destId="{DD3C3219-1726-4B8A-9862-6BD3311E92EE}" srcOrd="0" destOrd="0" presId="urn:microsoft.com/office/officeart/2005/8/layout/vList2"/>
    <dgm:cxn modelId="{9DBE3981-4E7D-49DA-B50D-9E1D766A2E84}" srcId="{39B37FB2-766C-45D1-9DAE-922BB82DB2AC}" destId="{2F9F3442-BC00-4877-AB3A-F3B812B56415}" srcOrd="1" destOrd="0" parTransId="{A6A26996-1A45-4D20-AF3E-B1700A34C54C}" sibTransId="{906B28B5-BDB2-4036-AA07-82B5C3324F9B}"/>
    <dgm:cxn modelId="{A3860690-9916-4D96-9D27-54F089F71ECC}" srcId="{39B37FB2-766C-45D1-9DAE-922BB82DB2AC}" destId="{D77B8EE4-AF87-4872-AB23-0381C3FBCBF4}" srcOrd="4" destOrd="0" parTransId="{4BC32A58-D313-486E-B5BB-0FC29ACBC33E}" sibTransId="{89AB6CF6-678E-4C1E-A8A1-99E12B74BC5B}"/>
    <dgm:cxn modelId="{1A12AEB7-3889-4734-ACCB-00DB27274865}" type="presOf" srcId="{564A815F-09BE-4557-85E8-F2547DF7DEB2}" destId="{D47B2435-12AA-449A-89D2-32B4E1329F03}" srcOrd="0" destOrd="0" presId="urn:microsoft.com/office/officeart/2005/8/layout/vList2"/>
    <dgm:cxn modelId="{BD21EDB8-B3FB-4839-B35B-FCD704E3FF67}" srcId="{39B37FB2-766C-45D1-9DAE-922BB82DB2AC}" destId="{718F7479-ABBC-4AC7-9CDB-DA6575BD4EE4}" srcOrd="5" destOrd="0" parTransId="{D223B525-5742-49B8-9F58-3EEC2D5E69F8}" sibTransId="{3C1D8755-5F58-46EF-A7F0-DCD11B8CDB8F}"/>
    <dgm:cxn modelId="{639F7CBE-4890-4822-9223-64C1544D1895}" type="presOf" srcId="{39B37FB2-766C-45D1-9DAE-922BB82DB2AC}" destId="{273E1D6A-6A4A-494D-89EC-B81D137437A9}" srcOrd="0" destOrd="0" presId="urn:microsoft.com/office/officeart/2005/8/layout/vList2"/>
    <dgm:cxn modelId="{7BB0E6CB-4C74-446A-BD63-331056DC04E5}" type="presOf" srcId="{D77B8EE4-AF87-4872-AB23-0381C3FBCBF4}" destId="{D47F4826-0D0A-41A1-94F0-5BF4E4D5DE80}" srcOrd="0" destOrd="0" presId="urn:microsoft.com/office/officeart/2005/8/layout/vList2"/>
    <dgm:cxn modelId="{A06BB1CF-C258-4588-8B19-B77AFB237D35}" srcId="{39B37FB2-766C-45D1-9DAE-922BB82DB2AC}" destId="{906EFDF6-D519-41C8-B95A-2E5898BC8C0B}" srcOrd="3" destOrd="0" parTransId="{C1E1DCBD-6287-4239-9DF1-A727085AA658}" sibTransId="{78D8EA58-0DF6-4BEF-B21B-C72B395D96DB}"/>
    <dgm:cxn modelId="{E5BE3FD0-CA7E-46F6-8DF4-CD5D840D53CF}" type="presOf" srcId="{2F9F3442-BC00-4877-AB3A-F3B812B56415}" destId="{25098F91-AFC3-481C-93DC-C7A70203AC76}" srcOrd="0" destOrd="0" presId="urn:microsoft.com/office/officeart/2005/8/layout/vList2"/>
    <dgm:cxn modelId="{97AB92EA-03F2-48BC-88C9-D448C8FFEE18}" srcId="{39B37FB2-766C-45D1-9DAE-922BB82DB2AC}" destId="{60695778-9A61-46A5-8E44-CFDB69151A30}" srcOrd="0" destOrd="0" parTransId="{4C1C9A7A-8AC1-4A65-A71A-4D5DF0957AC2}" sibTransId="{3CA2424A-E605-4664-A2B7-B9FCA7DFCBC0}"/>
    <dgm:cxn modelId="{401FA2F4-A79C-4944-99F6-FD29F2028ABE}" type="presOf" srcId="{60695778-9A61-46A5-8E44-CFDB69151A30}" destId="{05825056-A07A-4151-B424-2F6E8D74908C}" srcOrd="0" destOrd="0" presId="urn:microsoft.com/office/officeart/2005/8/layout/vList2"/>
    <dgm:cxn modelId="{2B764CAA-FF0A-44A2-83AF-196C163A401B}" type="presParOf" srcId="{273E1D6A-6A4A-494D-89EC-B81D137437A9}" destId="{05825056-A07A-4151-B424-2F6E8D74908C}" srcOrd="0" destOrd="0" presId="urn:microsoft.com/office/officeart/2005/8/layout/vList2"/>
    <dgm:cxn modelId="{D2DC3A07-239C-4CE8-9791-DD1D7281074C}" type="presParOf" srcId="{273E1D6A-6A4A-494D-89EC-B81D137437A9}" destId="{32919DFA-CF1D-42CF-B5CA-5A9C1D8CC6D8}" srcOrd="1" destOrd="0" presId="urn:microsoft.com/office/officeart/2005/8/layout/vList2"/>
    <dgm:cxn modelId="{8E4ECCCE-2573-4C7F-841F-87F031CE44DD}" type="presParOf" srcId="{273E1D6A-6A4A-494D-89EC-B81D137437A9}" destId="{25098F91-AFC3-481C-93DC-C7A70203AC76}" srcOrd="2" destOrd="0" presId="urn:microsoft.com/office/officeart/2005/8/layout/vList2"/>
    <dgm:cxn modelId="{ED34D9D1-1307-4F1A-9FF4-FF544A08170D}" type="presParOf" srcId="{273E1D6A-6A4A-494D-89EC-B81D137437A9}" destId="{0A4A3F40-BD09-4455-97DD-827F780EAB42}" srcOrd="3" destOrd="0" presId="urn:microsoft.com/office/officeart/2005/8/layout/vList2"/>
    <dgm:cxn modelId="{28FBA49E-93A2-4444-85B8-27CC3A32C646}" type="presParOf" srcId="{273E1D6A-6A4A-494D-89EC-B81D137437A9}" destId="{D47B2435-12AA-449A-89D2-32B4E1329F03}" srcOrd="4" destOrd="0" presId="urn:microsoft.com/office/officeart/2005/8/layout/vList2"/>
    <dgm:cxn modelId="{540DBE92-5950-4256-A2AA-76964855E539}" type="presParOf" srcId="{273E1D6A-6A4A-494D-89EC-B81D137437A9}" destId="{40857432-4D2B-49AF-B41C-FB1E88378ADC}" srcOrd="5" destOrd="0" presId="urn:microsoft.com/office/officeart/2005/8/layout/vList2"/>
    <dgm:cxn modelId="{7B36B29E-23D9-4193-8840-0392DC1F87F8}" type="presParOf" srcId="{273E1D6A-6A4A-494D-89EC-B81D137437A9}" destId="{475BB091-7249-4390-A153-7A4AB4942177}" srcOrd="6" destOrd="0" presId="urn:microsoft.com/office/officeart/2005/8/layout/vList2"/>
    <dgm:cxn modelId="{8AE8FF52-C4AB-45B8-8F9F-E6EB66D55507}" type="presParOf" srcId="{273E1D6A-6A4A-494D-89EC-B81D137437A9}" destId="{8820152E-9728-4E4A-8937-394AA33DA6AA}" srcOrd="7" destOrd="0" presId="urn:microsoft.com/office/officeart/2005/8/layout/vList2"/>
    <dgm:cxn modelId="{2CFF0B45-1B6B-44A4-9961-96D62E5EE519}" type="presParOf" srcId="{273E1D6A-6A4A-494D-89EC-B81D137437A9}" destId="{D47F4826-0D0A-41A1-94F0-5BF4E4D5DE80}" srcOrd="8" destOrd="0" presId="urn:microsoft.com/office/officeart/2005/8/layout/vList2"/>
    <dgm:cxn modelId="{B0001412-2628-40E3-AFCC-8ED7BD9A2834}" type="presParOf" srcId="{273E1D6A-6A4A-494D-89EC-B81D137437A9}" destId="{2ACAD9BB-A837-48F7-A2A7-B275F6EC119F}" srcOrd="9" destOrd="0" presId="urn:microsoft.com/office/officeart/2005/8/layout/vList2"/>
    <dgm:cxn modelId="{4CC4F4CF-22C6-4AB2-93C4-7B8E31C891B3}" type="presParOf" srcId="{273E1D6A-6A4A-494D-89EC-B81D137437A9}" destId="{DD3C3219-1726-4B8A-9862-6BD3311E92EE}"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F07509-F6ED-43FF-8C62-C85D67D841BC}">
      <dsp:nvSpPr>
        <dsp:cNvPr id="0" name=""/>
        <dsp:cNvSpPr/>
      </dsp:nvSpPr>
      <dsp:spPr>
        <a:xfrm>
          <a:off x="0" y="3219351"/>
          <a:ext cx="6096000" cy="211224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pl-PL" sz="2300" kern="1200"/>
            <a:t>NovaStack przez kilka lat działała jako klasyczna firma software’owa, ale wraz z rozwojem pracy zdalnej, AI i automatyzacji zaczęła całkowicie przebudowywać sposób pracy swoich zespołów.</a:t>
          </a:r>
          <a:endParaRPr lang="en-US" sz="2300" kern="1200"/>
        </a:p>
      </dsp:txBody>
      <dsp:txXfrm>
        <a:off x="0" y="3219351"/>
        <a:ext cx="6096000" cy="2112243"/>
      </dsp:txXfrm>
    </dsp:sp>
    <dsp:sp modelId="{3DB94961-0844-4EFA-9024-77BA283B96C6}">
      <dsp:nvSpPr>
        <dsp:cNvPr id="0" name=""/>
        <dsp:cNvSpPr/>
      </dsp:nvSpPr>
      <dsp:spPr>
        <a:xfrm rot="10800000">
          <a:off x="0" y="2405"/>
          <a:ext cx="6096000" cy="3248629"/>
        </a:xfrm>
        <a:prstGeom prst="upArrowCallout">
          <a:avLst/>
        </a:prstGeom>
        <a:solidFill>
          <a:schemeClr val="accent2">
            <a:hueOff val="7321072"/>
            <a:satOff val="-57942"/>
            <a:lumOff val="4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pl-PL" sz="2300" b="1" kern="1200"/>
            <a:t>NovaStack</a:t>
          </a:r>
          <a:r>
            <a:rPr lang="pl-PL" sz="2300" kern="1200"/>
            <a:t> – firma tworząca platformy chmurowe dla sektora finansowego.</a:t>
          </a:r>
          <a:endParaRPr lang="en-US" sz="2300" kern="1200"/>
        </a:p>
      </dsp:txBody>
      <dsp:txXfrm rot="10800000">
        <a:off x="0" y="2405"/>
        <a:ext cx="6096000" cy="21108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786B8B-9F1A-47D8-989C-00CA4728B168}">
      <dsp:nvSpPr>
        <dsp:cNvPr id="0" name=""/>
        <dsp:cNvSpPr/>
      </dsp:nvSpPr>
      <dsp:spPr>
        <a:xfrm>
          <a:off x="3002280" y="2236634"/>
          <a:ext cx="91440" cy="826530"/>
        </a:xfrm>
        <a:custGeom>
          <a:avLst/>
          <a:gdLst/>
          <a:ahLst/>
          <a:cxnLst/>
          <a:rect l="0" t="0" r="0" b="0"/>
          <a:pathLst>
            <a:path>
              <a:moveTo>
                <a:pt x="45720" y="0"/>
              </a:moveTo>
              <a:lnTo>
                <a:pt x="45720" y="82653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26571" y="2645614"/>
        <a:ext cx="42856" cy="8571"/>
      </dsp:txXfrm>
    </dsp:sp>
    <dsp:sp modelId="{F2FDE666-1161-434B-9B67-E4599179DF18}">
      <dsp:nvSpPr>
        <dsp:cNvPr id="0" name=""/>
        <dsp:cNvSpPr/>
      </dsp:nvSpPr>
      <dsp:spPr>
        <a:xfrm>
          <a:off x="1184671" y="2440"/>
          <a:ext cx="3726656" cy="2235993"/>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609" tIns="191681" rIns="182609" bIns="191681" numCol="1" spcCol="1270" anchor="ctr" anchorCtr="0">
          <a:noAutofit/>
        </a:bodyPr>
        <a:lstStyle/>
        <a:p>
          <a:pPr marL="0" lvl="0" indent="0" algn="ctr" defTabSz="711200">
            <a:lnSpc>
              <a:spcPct val="90000"/>
            </a:lnSpc>
            <a:spcBef>
              <a:spcPct val="0"/>
            </a:spcBef>
            <a:spcAft>
              <a:spcPct val="35000"/>
            </a:spcAft>
            <a:buNone/>
          </a:pPr>
          <a:r>
            <a:rPr lang="pl-PL" sz="1600" kern="1200" dirty="0"/>
            <a:t>Rola lidera zespołu IT przestaje opierać się na kontroli operacyjnej i nadzorowaniu codziennej pracy. Coraz częściej lider pełni funkcję koordynatora środowiska pracy, którego zadaniem jest umożliwienie zespołowi osiągania wysokiej efektywności.</a:t>
          </a:r>
          <a:endParaRPr lang="en-US" sz="1600" kern="1200" dirty="0"/>
        </a:p>
      </dsp:txBody>
      <dsp:txXfrm>
        <a:off x="1184671" y="2440"/>
        <a:ext cx="3726656" cy="2235993"/>
      </dsp:txXfrm>
    </dsp:sp>
    <dsp:sp modelId="{0062FAD5-D629-4BBC-A421-66893552D77B}">
      <dsp:nvSpPr>
        <dsp:cNvPr id="0" name=""/>
        <dsp:cNvSpPr/>
      </dsp:nvSpPr>
      <dsp:spPr>
        <a:xfrm>
          <a:off x="1184671" y="3095565"/>
          <a:ext cx="3726656" cy="223599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609" tIns="191681" rIns="182609" bIns="191681" numCol="1" spcCol="1270" anchor="t" anchorCtr="0">
          <a:noAutofit/>
        </a:bodyPr>
        <a:lstStyle/>
        <a:p>
          <a:pPr marL="0" lvl="0" indent="0" algn="l" defTabSz="711200">
            <a:lnSpc>
              <a:spcPct val="90000"/>
            </a:lnSpc>
            <a:spcBef>
              <a:spcPct val="0"/>
            </a:spcBef>
            <a:spcAft>
              <a:spcPct val="35000"/>
            </a:spcAft>
            <a:buNone/>
          </a:pPr>
          <a:r>
            <a:rPr lang="pl-PL" sz="1600" kern="1200"/>
            <a:t>Nowoczesny lider musi umieć:</a:t>
          </a:r>
          <a:endParaRPr lang="en-US" sz="1600" kern="1200"/>
        </a:p>
        <a:p>
          <a:pPr marL="114300" lvl="1" indent="-114300" algn="l" defTabSz="533400">
            <a:lnSpc>
              <a:spcPct val="90000"/>
            </a:lnSpc>
            <a:spcBef>
              <a:spcPct val="0"/>
            </a:spcBef>
            <a:spcAft>
              <a:spcPct val="15000"/>
            </a:spcAft>
            <a:buChar char="•"/>
          </a:pPr>
          <a:r>
            <a:rPr lang="pl-PL" sz="1200" kern="1200"/>
            <a:t>budować zaufanie,</a:t>
          </a:r>
          <a:endParaRPr lang="en-US" sz="1200" kern="1200"/>
        </a:p>
        <a:p>
          <a:pPr marL="114300" lvl="1" indent="-114300" algn="l" defTabSz="533400">
            <a:lnSpc>
              <a:spcPct val="90000"/>
            </a:lnSpc>
            <a:spcBef>
              <a:spcPct val="0"/>
            </a:spcBef>
            <a:spcAft>
              <a:spcPct val="15000"/>
            </a:spcAft>
            <a:buChar char="•"/>
          </a:pPr>
          <a:r>
            <a:rPr lang="pl-PL" sz="1200" kern="1200"/>
            <a:t>zarządzać energią zespołu,</a:t>
          </a:r>
          <a:endParaRPr lang="en-US" sz="1200" kern="1200"/>
        </a:p>
        <a:p>
          <a:pPr marL="114300" lvl="1" indent="-114300" algn="l" defTabSz="533400">
            <a:lnSpc>
              <a:spcPct val="90000"/>
            </a:lnSpc>
            <a:spcBef>
              <a:spcPct val="0"/>
            </a:spcBef>
            <a:spcAft>
              <a:spcPct val="15000"/>
            </a:spcAft>
            <a:buChar char="•"/>
          </a:pPr>
          <a:r>
            <a:rPr lang="pl-PL" sz="1200" kern="1200"/>
            <a:t>wspierać rozwój kompetencji,</a:t>
          </a:r>
          <a:endParaRPr lang="en-US" sz="1200" kern="1200"/>
        </a:p>
        <a:p>
          <a:pPr marL="114300" lvl="1" indent="-114300" algn="l" defTabSz="533400">
            <a:lnSpc>
              <a:spcPct val="90000"/>
            </a:lnSpc>
            <a:spcBef>
              <a:spcPct val="0"/>
            </a:spcBef>
            <a:spcAft>
              <a:spcPct val="15000"/>
            </a:spcAft>
            <a:buChar char="•"/>
          </a:pPr>
          <a:r>
            <a:rPr lang="pl-PL" sz="1200" kern="1200"/>
            <a:t>rozwiązywać konflikty,</a:t>
          </a:r>
          <a:endParaRPr lang="en-US" sz="1200" kern="1200"/>
        </a:p>
        <a:p>
          <a:pPr marL="114300" lvl="1" indent="-114300" algn="l" defTabSz="533400">
            <a:lnSpc>
              <a:spcPct val="90000"/>
            </a:lnSpc>
            <a:spcBef>
              <a:spcPct val="0"/>
            </a:spcBef>
            <a:spcAft>
              <a:spcPct val="15000"/>
            </a:spcAft>
            <a:buChar char="•"/>
          </a:pPr>
          <a:r>
            <a:rPr lang="pl-PL" sz="1200" kern="1200"/>
            <a:t>tworzyć bezpieczne środowisko do eksperymentowania.</a:t>
          </a:r>
          <a:endParaRPr lang="en-US" sz="1200" kern="1200"/>
        </a:p>
      </dsp:txBody>
      <dsp:txXfrm>
        <a:off x="1184671" y="3095565"/>
        <a:ext cx="3726656" cy="22359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413664-584E-4C6C-BC2A-DBD74802E12F}">
      <dsp:nvSpPr>
        <dsp:cNvPr id="0" name=""/>
        <dsp:cNvSpPr/>
      </dsp:nvSpPr>
      <dsp:spPr>
        <a:xfrm>
          <a:off x="0" y="13439"/>
          <a:ext cx="6096000" cy="261612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pl-PL" sz="2600" kern="1200"/>
            <a:t>Automatyzacja stopniowo zmienia strukturę organizacyjną zespołów IT, ponieważ wiele zadań, które wcześniej wymagały osobnych ról, może być obecnie wykonywanych przez systemy wspomagające.</a:t>
          </a:r>
          <a:endParaRPr lang="en-US" sz="2600" kern="1200"/>
        </a:p>
      </dsp:txBody>
      <dsp:txXfrm>
        <a:off x="127708" y="141147"/>
        <a:ext cx="5840584" cy="2360704"/>
      </dsp:txXfrm>
    </dsp:sp>
    <dsp:sp modelId="{5F40F070-500F-420B-8FA6-A231A5F50E96}">
      <dsp:nvSpPr>
        <dsp:cNvPr id="0" name=""/>
        <dsp:cNvSpPr/>
      </dsp:nvSpPr>
      <dsp:spPr>
        <a:xfrm>
          <a:off x="0" y="2704440"/>
          <a:ext cx="6096000" cy="2616120"/>
        </a:xfrm>
        <a:prstGeom prst="roundRect">
          <a:avLst/>
        </a:prstGeom>
        <a:solidFill>
          <a:schemeClr val="accent5">
            <a:hueOff val="-80521"/>
            <a:satOff val="-17"/>
            <a:lumOff val="-1999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pl-PL" sz="2600" kern="1200"/>
            <a:t>Automatyzacja nie eliminuje zespołów. Powoduje jednak, że zespoły stają się mniejsze, bardziej wyspecjalizowane i bardziej odpowiedzialne za cały proces dostarczania wartości.</a:t>
          </a:r>
          <a:endParaRPr lang="en-US" sz="2600" kern="1200"/>
        </a:p>
      </dsp:txBody>
      <dsp:txXfrm>
        <a:off x="127708" y="2832148"/>
        <a:ext cx="5840584" cy="236070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9C4F2A-7EAB-439E-B04F-58C7198E8D0B}">
      <dsp:nvSpPr>
        <dsp:cNvPr id="0" name=""/>
        <dsp:cNvSpPr/>
      </dsp:nvSpPr>
      <dsp:spPr>
        <a:xfrm>
          <a:off x="0" y="1475"/>
          <a:ext cx="6858000" cy="6288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32C0F7-570A-49A6-BA6B-42008A124877}">
      <dsp:nvSpPr>
        <dsp:cNvPr id="0" name=""/>
        <dsp:cNvSpPr/>
      </dsp:nvSpPr>
      <dsp:spPr>
        <a:xfrm>
          <a:off x="190233" y="142972"/>
          <a:ext cx="345879" cy="34587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86CBCE-F709-4AEF-B19F-68FF633C01AB}">
      <dsp:nvSpPr>
        <dsp:cNvPr id="0" name=""/>
        <dsp:cNvSpPr/>
      </dsp:nvSpPr>
      <dsp:spPr>
        <a:xfrm>
          <a:off x="726347" y="1475"/>
          <a:ext cx="6131652" cy="6288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556" tIns="66556" rIns="66556" bIns="66556" numCol="1" spcCol="1270" anchor="ctr" anchorCtr="0">
          <a:noAutofit/>
        </a:bodyPr>
        <a:lstStyle/>
        <a:p>
          <a:pPr marL="0" lvl="0" indent="0" algn="l" defTabSz="755650">
            <a:lnSpc>
              <a:spcPct val="90000"/>
            </a:lnSpc>
            <a:spcBef>
              <a:spcPct val="0"/>
            </a:spcBef>
            <a:spcAft>
              <a:spcPct val="35000"/>
            </a:spcAft>
            <a:buNone/>
          </a:pPr>
          <a:r>
            <a:rPr lang="pl-PL" sz="1700" kern="1200"/>
            <a:t>Możliwe kierunki zmian obejmują:</a:t>
          </a:r>
          <a:endParaRPr lang="en-US" sz="1700" kern="1200"/>
        </a:p>
      </dsp:txBody>
      <dsp:txXfrm>
        <a:off x="726347" y="1475"/>
        <a:ext cx="6131652" cy="628872"/>
      </dsp:txXfrm>
    </dsp:sp>
    <dsp:sp modelId="{1F626497-BD25-478B-9F07-97171C70F90D}">
      <dsp:nvSpPr>
        <dsp:cNvPr id="0" name=""/>
        <dsp:cNvSpPr/>
      </dsp:nvSpPr>
      <dsp:spPr>
        <a:xfrm>
          <a:off x="0" y="787565"/>
          <a:ext cx="6858000" cy="6288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176362-27ED-42A5-8C36-FF067802CCD5}">
      <dsp:nvSpPr>
        <dsp:cNvPr id="0" name=""/>
        <dsp:cNvSpPr/>
      </dsp:nvSpPr>
      <dsp:spPr>
        <a:xfrm>
          <a:off x="190233" y="929062"/>
          <a:ext cx="345879" cy="34587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CDA1866-2B73-4BB6-BF68-0312B5851814}">
      <dsp:nvSpPr>
        <dsp:cNvPr id="0" name=""/>
        <dsp:cNvSpPr/>
      </dsp:nvSpPr>
      <dsp:spPr>
        <a:xfrm>
          <a:off x="726347" y="787565"/>
          <a:ext cx="6131652" cy="6288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556" tIns="66556" rIns="66556" bIns="66556" numCol="1" spcCol="1270" anchor="ctr" anchorCtr="0">
          <a:noAutofit/>
        </a:bodyPr>
        <a:lstStyle/>
        <a:p>
          <a:pPr marL="0" lvl="0" indent="0" algn="l" defTabSz="755650">
            <a:lnSpc>
              <a:spcPct val="90000"/>
            </a:lnSpc>
            <a:spcBef>
              <a:spcPct val="0"/>
            </a:spcBef>
            <a:spcAft>
              <a:spcPct val="35000"/>
            </a:spcAft>
            <a:buNone/>
          </a:pPr>
          <a:r>
            <a:rPr lang="pl-PL" sz="1700" kern="1200"/>
            <a:t>większą współpracę człowieka z AI, </a:t>
          </a:r>
          <a:endParaRPr lang="en-US" sz="1700" kern="1200"/>
        </a:p>
      </dsp:txBody>
      <dsp:txXfrm>
        <a:off x="726347" y="787565"/>
        <a:ext cx="6131652" cy="628872"/>
      </dsp:txXfrm>
    </dsp:sp>
    <dsp:sp modelId="{4FFC9AF8-11F9-484A-BBBA-8D2AF54C43D4}">
      <dsp:nvSpPr>
        <dsp:cNvPr id="0" name=""/>
        <dsp:cNvSpPr/>
      </dsp:nvSpPr>
      <dsp:spPr>
        <a:xfrm>
          <a:off x="0" y="1573655"/>
          <a:ext cx="6858000" cy="6288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8C5F53-21D0-4226-BB07-74A53CFF922D}">
      <dsp:nvSpPr>
        <dsp:cNvPr id="0" name=""/>
        <dsp:cNvSpPr/>
      </dsp:nvSpPr>
      <dsp:spPr>
        <a:xfrm>
          <a:off x="190233" y="1715152"/>
          <a:ext cx="345879" cy="34587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88F1BE-FBE5-46BA-A903-9D10235CD296}">
      <dsp:nvSpPr>
        <dsp:cNvPr id="0" name=""/>
        <dsp:cNvSpPr/>
      </dsp:nvSpPr>
      <dsp:spPr>
        <a:xfrm>
          <a:off x="726347" y="1573655"/>
          <a:ext cx="6131652" cy="6288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556" tIns="66556" rIns="66556" bIns="66556" numCol="1" spcCol="1270" anchor="ctr" anchorCtr="0">
          <a:noAutofit/>
        </a:bodyPr>
        <a:lstStyle/>
        <a:p>
          <a:pPr marL="0" lvl="0" indent="0" algn="l" defTabSz="755650">
            <a:lnSpc>
              <a:spcPct val="90000"/>
            </a:lnSpc>
            <a:spcBef>
              <a:spcPct val="0"/>
            </a:spcBef>
            <a:spcAft>
              <a:spcPct val="35000"/>
            </a:spcAft>
            <a:buNone/>
          </a:pPr>
          <a:r>
            <a:rPr lang="pl-PL" sz="1700" kern="1200"/>
            <a:t>silniejszą automatyzację procesów, </a:t>
          </a:r>
          <a:endParaRPr lang="en-US" sz="1700" kern="1200"/>
        </a:p>
      </dsp:txBody>
      <dsp:txXfrm>
        <a:off x="726347" y="1573655"/>
        <a:ext cx="6131652" cy="628872"/>
      </dsp:txXfrm>
    </dsp:sp>
    <dsp:sp modelId="{45E56876-04F2-4D0F-B6E0-E49DC3FA48E0}">
      <dsp:nvSpPr>
        <dsp:cNvPr id="0" name=""/>
        <dsp:cNvSpPr/>
      </dsp:nvSpPr>
      <dsp:spPr>
        <a:xfrm>
          <a:off x="0" y="2359746"/>
          <a:ext cx="6858000" cy="6288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FF4374-7E12-4934-912C-52F655F59272}">
      <dsp:nvSpPr>
        <dsp:cNvPr id="0" name=""/>
        <dsp:cNvSpPr/>
      </dsp:nvSpPr>
      <dsp:spPr>
        <a:xfrm>
          <a:off x="190233" y="2501242"/>
          <a:ext cx="345879" cy="34587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107D9E-2707-4487-97BD-07F7F743B0C1}">
      <dsp:nvSpPr>
        <dsp:cNvPr id="0" name=""/>
        <dsp:cNvSpPr/>
      </dsp:nvSpPr>
      <dsp:spPr>
        <a:xfrm>
          <a:off x="726347" y="2359746"/>
          <a:ext cx="6131652" cy="6288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556" tIns="66556" rIns="66556" bIns="66556" numCol="1" spcCol="1270" anchor="ctr" anchorCtr="0">
          <a:noAutofit/>
        </a:bodyPr>
        <a:lstStyle/>
        <a:p>
          <a:pPr marL="0" lvl="0" indent="0" algn="l" defTabSz="755650">
            <a:lnSpc>
              <a:spcPct val="90000"/>
            </a:lnSpc>
            <a:spcBef>
              <a:spcPct val="0"/>
            </a:spcBef>
            <a:spcAft>
              <a:spcPct val="35000"/>
            </a:spcAft>
            <a:buNone/>
          </a:pPr>
          <a:r>
            <a:rPr lang="pl-PL" sz="1700" kern="1200"/>
            <a:t>wzrost znaczenia kompetencji miękkich, </a:t>
          </a:r>
          <a:endParaRPr lang="en-US" sz="1700" kern="1200"/>
        </a:p>
      </dsp:txBody>
      <dsp:txXfrm>
        <a:off x="726347" y="2359746"/>
        <a:ext cx="6131652" cy="628872"/>
      </dsp:txXfrm>
    </dsp:sp>
    <dsp:sp modelId="{8AC41C40-3810-441F-BECD-5E969F732234}">
      <dsp:nvSpPr>
        <dsp:cNvPr id="0" name=""/>
        <dsp:cNvSpPr/>
      </dsp:nvSpPr>
      <dsp:spPr>
        <a:xfrm>
          <a:off x="0" y="3145836"/>
          <a:ext cx="6858000" cy="6288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60E4D9-C88C-46CC-A85D-64DE21DFB9B2}">
      <dsp:nvSpPr>
        <dsp:cNvPr id="0" name=""/>
        <dsp:cNvSpPr/>
      </dsp:nvSpPr>
      <dsp:spPr>
        <a:xfrm>
          <a:off x="190233" y="3287332"/>
          <a:ext cx="345879" cy="34587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66F4C3-3F5E-450F-BE2C-8CA10140D699}">
      <dsp:nvSpPr>
        <dsp:cNvPr id="0" name=""/>
        <dsp:cNvSpPr/>
      </dsp:nvSpPr>
      <dsp:spPr>
        <a:xfrm>
          <a:off x="726347" y="3145836"/>
          <a:ext cx="6131652" cy="6288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556" tIns="66556" rIns="66556" bIns="66556" numCol="1" spcCol="1270" anchor="ctr" anchorCtr="0">
          <a:noAutofit/>
        </a:bodyPr>
        <a:lstStyle/>
        <a:p>
          <a:pPr marL="0" lvl="0" indent="0" algn="l" defTabSz="755650">
            <a:lnSpc>
              <a:spcPct val="90000"/>
            </a:lnSpc>
            <a:spcBef>
              <a:spcPct val="0"/>
            </a:spcBef>
            <a:spcAft>
              <a:spcPct val="35000"/>
            </a:spcAft>
            <a:buNone/>
          </a:pPr>
          <a:r>
            <a:rPr lang="pl-PL" sz="1700" kern="1200"/>
            <a:t>zespoły oparte na odpowiedzialności produktowej, </a:t>
          </a:r>
          <a:endParaRPr lang="en-US" sz="1700" kern="1200"/>
        </a:p>
      </dsp:txBody>
      <dsp:txXfrm>
        <a:off x="726347" y="3145836"/>
        <a:ext cx="6131652" cy="628872"/>
      </dsp:txXfrm>
    </dsp:sp>
    <dsp:sp modelId="{8E235966-7F9A-4417-B8DF-A9FD8B13998C}">
      <dsp:nvSpPr>
        <dsp:cNvPr id="0" name=""/>
        <dsp:cNvSpPr/>
      </dsp:nvSpPr>
      <dsp:spPr>
        <a:xfrm>
          <a:off x="0" y="3931926"/>
          <a:ext cx="6858000" cy="62887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0C9C6A-0707-4F40-B754-CF1A593405F9}">
      <dsp:nvSpPr>
        <dsp:cNvPr id="0" name=""/>
        <dsp:cNvSpPr/>
      </dsp:nvSpPr>
      <dsp:spPr>
        <a:xfrm>
          <a:off x="190233" y="4073422"/>
          <a:ext cx="345879" cy="34587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E6E9E2-093F-41B2-8570-C9C4728C01C5}">
      <dsp:nvSpPr>
        <dsp:cNvPr id="0" name=""/>
        <dsp:cNvSpPr/>
      </dsp:nvSpPr>
      <dsp:spPr>
        <a:xfrm>
          <a:off x="726347" y="3931926"/>
          <a:ext cx="6131652" cy="6288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556" tIns="66556" rIns="66556" bIns="66556" numCol="1" spcCol="1270" anchor="ctr" anchorCtr="0">
          <a:noAutofit/>
        </a:bodyPr>
        <a:lstStyle/>
        <a:p>
          <a:pPr marL="0" lvl="0" indent="0" algn="l" defTabSz="755650">
            <a:lnSpc>
              <a:spcPct val="90000"/>
            </a:lnSpc>
            <a:spcBef>
              <a:spcPct val="0"/>
            </a:spcBef>
            <a:spcAft>
              <a:spcPct val="35000"/>
            </a:spcAft>
            <a:buNone/>
          </a:pPr>
          <a:r>
            <a:rPr lang="pl-PL" sz="1700" kern="1200"/>
            <a:t>organizacje działające bez klasycznych menedżerów średniego szczebla.</a:t>
          </a:r>
          <a:endParaRPr lang="en-US" sz="1700" kern="1200"/>
        </a:p>
      </dsp:txBody>
      <dsp:txXfrm>
        <a:off x="726347" y="3931926"/>
        <a:ext cx="6131652" cy="62887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E492B5-52A6-4891-B1E2-2EA34ABFD291}">
      <dsp:nvSpPr>
        <dsp:cNvPr id="0" name=""/>
        <dsp:cNvSpPr/>
      </dsp:nvSpPr>
      <dsp:spPr>
        <a:xfrm>
          <a:off x="3195374" y="562239"/>
          <a:ext cx="433051" cy="91440"/>
        </a:xfrm>
        <a:custGeom>
          <a:avLst/>
          <a:gdLst/>
          <a:ahLst/>
          <a:cxnLst/>
          <a:rect l="0" t="0" r="0" b="0"/>
          <a:pathLst>
            <a:path>
              <a:moveTo>
                <a:pt x="0" y="45720"/>
              </a:moveTo>
              <a:lnTo>
                <a:pt x="43305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400308" y="605640"/>
        <a:ext cx="23182" cy="4636"/>
      </dsp:txXfrm>
    </dsp:sp>
    <dsp:sp modelId="{0365AFEC-3D9D-43CC-BC98-B86B7F9975AD}">
      <dsp:nvSpPr>
        <dsp:cNvPr id="0" name=""/>
        <dsp:cNvSpPr/>
      </dsp:nvSpPr>
      <dsp:spPr>
        <a:xfrm>
          <a:off x="1181297" y="3196"/>
          <a:ext cx="2015876" cy="120952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780" tIns="103687" rIns="98780" bIns="103687" numCol="1" spcCol="1270" anchor="ctr" anchorCtr="0">
          <a:noAutofit/>
        </a:bodyPr>
        <a:lstStyle/>
        <a:p>
          <a:pPr marL="0" lvl="0" indent="0" algn="ctr" defTabSz="622300">
            <a:lnSpc>
              <a:spcPct val="90000"/>
            </a:lnSpc>
            <a:spcBef>
              <a:spcPct val="0"/>
            </a:spcBef>
            <a:spcAft>
              <a:spcPct val="35000"/>
            </a:spcAft>
            <a:buNone/>
          </a:pPr>
          <a:r>
            <a:rPr lang="pl-PL" sz="1400" kern="1200"/>
            <a:t>Przygotowanie organizacyjne obejmuje kilka kluczowych obszarów:</a:t>
          </a:r>
          <a:endParaRPr lang="en-US" sz="1400" kern="1200"/>
        </a:p>
      </dsp:txBody>
      <dsp:txXfrm>
        <a:off x="1181297" y="3196"/>
        <a:ext cx="2015876" cy="1209526"/>
      </dsp:txXfrm>
    </dsp:sp>
    <dsp:sp modelId="{EBC35F3E-6A29-46B4-8F3A-1A6D343D3134}">
      <dsp:nvSpPr>
        <dsp:cNvPr id="0" name=""/>
        <dsp:cNvSpPr/>
      </dsp:nvSpPr>
      <dsp:spPr>
        <a:xfrm>
          <a:off x="2189235" y="1210922"/>
          <a:ext cx="2479528" cy="433051"/>
        </a:xfrm>
        <a:custGeom>
          <a:avLst/>
          <a:gdLst/>
          <a:ahLst/>
          <a:cxnLst/>
          <a:rect l="0" t="0" r="0" b="0"/>
          <a:pathLst>
            <a:path>
              <a:moveTo>
                <a:pt x="2479528" y="0"/>
              </a:moveTo>
              <a:lnTo>
                <a:pt x="2479528" y="233625"/>
              </a:lnTo>
              <a:lnTo>
                <a:pt x="0" y="233625"/>
              </a:lnTo>
              <a:lnTo>
                <a:pt x="0" y="433051"/>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65937" y="1425129"/>
        <a:ext cx="126125" cy="4636"/>
      </dsp:txXfrm>
    </dsp:sp>
    <dsp:sp modelId="{98C89553-B655-44DE-A426-E6E02D9838B4}">
      <dsp:nvSpPr>
        <dsp:cNvPr id="0" name=""/>
        <dsp:cNvSpPr/>
      </dsp:nvSpPr>
      <dsp:spPr>
        <a:xfrm>
          <a:off x="3660825" y="3196"/>
          <a:ext cx="2015876" cy="120952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780" tIns="103687" rIns="98780" bIns="103687" numCol="1" spcCol="1270" anchor="ctr" anchorCtr="0">
          <a:noAutofit/>
        </a:bodyPr>
        <a:lstStyle/>
        <a:p>
          <a:pPr marL="0" lvl="0" indent="0" algn="ctr" defTabSz="622300">
            <a:lnSpc>
              <a:spcPct val="90000"/>
            </a:lnSpc>
            <a:spcBef>
              <a:spcPct val="0"/>
            </a:spcBef>
            <a:spcAft>
              <a:spcPct val="35000"/>
            </a:spcAft>
            <a:buNone/>
          </a:pPr>
          <a:r>
            <a:rPr lang="pl-PL" sz="1400" kern="1200"/>
            <a:t>rozwój kompetencji przyszłości, </a:t>
          </a:r>
          <a:endParaRPr lang="en-US" sz="1400" kern="1200"/>
        </a:p>
      </dsp:txBody>
      <dsp:txXfrm>
        <a:off x="3660825" y="3196"/>
        <a:ext cx="2015876" cy="1209526"/>
      </dsp:txXfrm>
    </dsp:sp>
    <dsp:sp modelId="{0741C6BB-C7E7-4B8A-8BF8-E65F406D8A4A}">
      <dsp:nvSpPr>
        <dsp:cNvPr id="0" name=""/>
        <dsp:cNvSpPr/>
      </dsp:nvSpPr>
      <dsp:spPr>
        <a:xfrm>
          <a:off x="3195374" y="2235417"/>
          <a:ext cx="433051" cy="91440"/>
        </a:xfrm>
        <a:custGeom>
          <a:avLst/>
          <a:gdLst/>
          <a:ahLst/>
          <a:cxnLst/>
          <a:rect l="0" t="0" r="0" b="0"/>
          <a:pathLst>
            <a:path>
              <a:moveTo>
                <a:pt x="0" y="45720"/>
              </a:moveTo>
              <a:lnTo>
                <a:pt x="43305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400308" y="2278818"/>
        <a:ext cx="23182" cy="4636"/>
      </dsp:txXfrm>
    </dsp:sp>
    <dsp:sp modelId="{2B7B41E5-7568-40E3-AFDA-7CF1015011A5}">
      <dsp:nvSpPr>
        <dsp:cNvPr id="0" name=""/>
        <dsp:cNvSpPr/>
      </dsp:nvSpPr>
      <dsp:spPr>
        <a:xfrm>
          <a:off x="1181297" y="1676373"/>
          <a:ext cx="2015876" cy="120952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780" tIns="103687" rIns="98780" bIns="103687" numCol="1" spcCol="1270" anchor="ctr" anchorCtr="0">
          <a:noAutofit/>
        </a:bodyPr>
        <a:lstStyle/>
        <a:p>
          <a:pPr marL="0" lvl="0" indent="0" algn="ctr" defTabSz="622300">
            <a:lnSpc>
              <a:spcPct val="90000"/>
            </a:lnSpc>
            <a:spcBef>
              <a:spcPct val="0"/>
            </a:spcBef>
            <a:spcAft>
              <a:spcPct val="35000"/>
            </a:spcAft>
            <a:buNone/>
          </a:pPr>
          <a:r>
            <a:rPr lang="pl-PL" sz="1400" kern="1200"/>
            <a:t>elastyczne struktury zespołów, </a:t>
          </a:r>
          <a:endParaRPr lang="en-US" sz="1400" kern="1200"/>
        </a:p>
      </dsp:txBody>
      <dsp:txXfrm>
        <a:off x="1181297" y="1676373"/>
        <a:ext cx="2015876" cy="1209526"/>
      </dsp:txXfrm>
    </dsp:sp>
    <dsp:sp modelId="{5B95A3D4-6848-48BE-BC8F-57385FAD2D37}">
      <dsp:nvSpPr>
        <dsp:cNvPr id="0" name=""/>
        <dsp:cNvSpPr/>
      </dsp:nvSpPr>
      <dsp:spPr>
        <a:xfrm>
          <a:off x="2189235" y="2884100"/>
          <a:ext cx="2479528" cy="433051"/>
        </a:xfrm>
        <a:custGeom>
          <a:avLst/>
          <a:gdLst/>
          <a:ahLst/>
          <a:cxnLst/>
          <a:rect l="0" t="0" r="0" b="0"/>
          <a:pathLst>
            <a:path>
              <a:moveTo>
                <a:pt x="2479528" y="0"/>
              </a:moveTo>
              <a:lnTo>
                <a:pt x="2479528" y="233625"/>
              </a:lnTo>
              <a:lnTo>
                <a:pt x="0" y="233625"/>
              </a:lnTo>
              <a:lnTo>
                <a:pt x="0" y="433051"/>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65937" y="3098307"/>
        <a:ext cx="126125" cy="4636"/>
      </dsp:txXfrm>
    </dsp:sp>
    <dsp:sp modelId="{C3010346-CF34-4BDB-86E1-94EA0815BC12}">
      <dsp:nvSpPr>
        <dsp:cNvPr id="0" name=""/>
        <dsp:cNvSpPr/>
      </dsp:nvSpPr>
      <dsp:spPr>
        <a:xfrm>
          <a:off x="3660825" y="1676373"/>
          <a:ext cx="2015876" cy="120952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780" tIns="103687" rIns="98780" bIns="103687" numCol="1" spcCol="1270" anchor="ctr" anchorCtr="0">
          <a:noAutofit/>
        </a:bodyPr>
        <a:lstStyle/>
        <a:p>
          <a:pPr marL="0" lvl="0" indent="0" algn="ctr" defTabSz="622300">
            <a:lnSpc>
              <a:spcPct val="90000"/>
            </a:lnSpc>
            <a:spcBef>
              <a:spcPct val="0"/>
            </a:spcBef>
            <a:spcAft>
              <a:spcPct val="35000"/>
            </a:spcAft>
            <a:buNone/>
          </a:pPr>
          <a:r>
            <a:rPr lang="pl-PL" sz="1400" kern="1200"/>
            <a:t>decentralizację decyzji, </a:t>
          </a:r>
          <a:endParaRPr lang="en-US" sz="1400" kern="1200"/>
        </a:p>
      </dsp:txBody>
      <dsp:txXfrm>
        <a:off x="3660825" y="1676373"/>
        <a:ext cx="2015876" cy="1209526"/>
      </dsp:txXfrm>
    </dsp:sp>
    <dsp:sp modelId="{79CC6BB0-918B-47F6-83DD-9CA7A92429AE}">
      <dsp:nvSpPr>
        <dsp:cNvPr id="0" name=""/>
        <dsp:cNvSpPr/>
      </dsp:nvSpPr>
      <dsp:spPr>
        <a:xfrm>
          <a:off x="3195374" y="3908594"/>
          <a:ext cx="433051" cy="91440"/>
        </a:xfrm>
        <a:custGeom>
          <a:avLst/>
          <a:gdLst/>
          <a:ahLst/>
          <a:cxnLst/>
          <a:rect l="0" t="0" r="0" b="0"/>
          <a:pathLst>
            <a:path>
              <a:moveTo>
                <a:pt x="0" y="45720"/>
              </a:moveTo>
              <a:lnTo>
                <a:pt x="43305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400308" y="3951996"/>
        <a:ext cx="23182" cy="4636"/>
      </dsp:txXfrm>
    </dsp:sp>
    <dsp:sp modelId="{55975C16-D563-4ED5-A081-C65F933742C6}">
      <dsp:nvSpPr>
        <dsp:cNvPr id="0" name=""/>
        <dsp:cNvSpPr/>
      </dsp:nvSpPr>
      <dsp:spPr>
        <a:xfrm>
          <a:off x="1181297" y="3349551"/>
          <a:ext cx="2015876" cy="120952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780" tIns="103687" rIns="98780" bIns="103687" numCol="1" spcCol="1270" anchor="ctr" anchorCtr="0">
          <a:noAutofit/>
        </a:bodyPr>
        <a:lstStyle/>
        <a:p>
          <a:pPr marL="0" lvl="0" indent="0" algn="ctr" defTabSz="622300">
            <a:lnSpc>
              <a:spcPct val="90000"/>
            </a:lnSpc>
            <a:spcBef>
              <a:spcPct val="0"/>
            </a:spcBef>
            <a:spcAft>
              <a:spcPct val="35000"/>
            </a:spcAft>
            <a:buNone/>
          </a:pPr>
          <a:r>
            <a:rPr lang="pl-PL" sz="1400" kern="1200"/>
            <a:t>kulturę eksperymentowania, </a:t>
          </a:r>
          <a:endParaRPr lang="en-US" sz="1400" kern="1200"/>
        </a:p>
      </dsp:txBody>
      <dsp:txXfrm>
        <a:off x="1181297" y="3349551"/>
        <a:ext cx="2015876" cy="1209526"/>
      </dsp:txXfrm>
    </dsp:sp>
    <dsp:sp modelId="{1671FAB6-4814-4B54-914C-4E0BD5133705}">
      <dsp:nvSpPr>
        <dsp:cNvPr id="0" name=""/>
        <dsp:cNvSpPr/>
      </dsp:nvSpPr>
      <dsp:spPr>
        <a:xfrm>
          <a:off x="3660825" y="3349551"/>
          <a:ext cx="2015876" cy="120952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8780" tIns="103687" rIns="98780" bIns="103687" numCol="1" spcCol="1270" anchor="ctr" anchorCtr="0">
          <a:noAutofit/>
        </a:bodyPr>
        <a:lstStyle/>
        <a:p>
          <a:pPr marL="0" lvl="0" indent="0" algn="ctr" defTabSz="622300">
            <a:lnSpc>
              <a:spcPct val="90000"/>
            </a:lnSpc>
            <a:spcBef>
              <a:spcPct val="0"/>
            </a:spcBef>
            <a:spcAft>
              <a:spcPct val="35000"/>
            </a:spcAft>
            <a:buNone/>
          </a:pPr>
          <a:r>
            <a:rPr lang="pl-PL" sz="1400" kern="1200"/>
            <a:t>odporność na zmianę.</a:t>
          </a:r>
          <a:endParaRPr lang="en-US" sz="1400" kern="1200"/>
        </a:p>
      </dsp:txBody>
      <dsp:txXfrm>
        <a:off x="3660825" y="3349551"/>
        <a:ext cx="2015876" cy="120952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BFFAC5-B0F6-44A3-A2BE-400362569357}">
      <dsp:nvSpPr>
        <dsp:cNvPr id="0" name=""/>
        <dsp:cNvSpPr/>
      </dsp:nvSpPr>
      <dsp:spPr>
        <a:xfrm>
          <a:off x="0" y="9321"/>
          <a:ext cx="10668000" cy="5756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pl-PL" sz="2400" kern="1200"/>
            <a:t>W podejściu </a:t>
          </a:r>
          <a:r>
            <a:rPr lang="en-US" sz="2400" kern="1200"/>
            <a:t>“żywy organizm ”</a:t>
          </a:r>
          <a:r>
            <a:rPr lang="pl-PL" sz="2400" kern="1200"/>
            <a:t>firma działa bardziej jak system biologiczny:</a:t>
          </a:r>
          <a:endParaRPr lang="en-US" sz="2400" kern="1200"/>
        </a:p>
      </dsp:txBody>
      <dsp:txXfrm>
        <a:off x="28100" y="37421"/>
        <a:ext cx="10611800" cy="519439"/>
      </dsp:txXfrm>
    </dsp:sp>
    <dsp:sp modelId="{A0241442-CA05-41BE-9F28-61A8F45BAEFC}">
      <dsp:nvSpPr>
        <dsp:cNvPr id="0" name=""/>
        <dsp:cNvSpPr/>
      </dsp:nvSpPr>
      <dsp:spPr>
        <a:xfrm>
          <a:off x="0" y="654081"/>
          <a:ext cx="10668000" cy="5756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pl-PL" sz="2400" kern="1200"/>
            <a:t>uczy się z doświadczeń, </a:t>
          </a:r>
          <a:endParaRPr lang="en-US" sz="2400" kern="1200"/>
        </a:p>
      </dsp:txBody>
      <dsp:txXfrm>
        <a:off x="28100" y="682181"/>
        <a:ext cx="10611800" cy="519439"/>
      </dsp:txXfrm>
    </dsp:sp>
    <dsp:sp modelId="{503D4C89-EAE6-488B-9A2A-79294798D195}">
      <dsp:nvSpPr>
        <dsp:cNvPr id="0" name=""/>
        <dsp:cNvSpPr/>
      </dsp:nvSpPr>
      <dsp:spPr>
        <a:xfrm>
          <a:off x="0" y="1298841"/>
          <a:ext cx="10668000" cy="5756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pl-PL" sz="2400" kern="1200"/>
            <a:t>reaguje na otoczenie, </a:t>
          </a:r>
          <a:endParaRPr lang="en-US" sz="2400" kern="1200"/>
        </a:p>
      </dsp:txBody>
      <dsp:txXfrm>
        <a:off x="28100" y="1326941"/>
        <a:ext cx="10611800" cy="519439"/>
      </dsp:txXfrm>
    </dsp:sp>
    <dsp:sp modelId="{FD3282FE-369C-43CB-A2CA-B447796234BE}">
      <dsp:nvSpPr>
        <dsp:cNvPr id="0" name=""/>
        <dsp:cNvSpPr/>
      </dsp:nvSpPr>
      <dsp:spPr>
        <a:xfrm>
          <a:off x="0" y="1943601"/>
          <a:ext cx="10668000" cy="5756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pl-PL" sz="2400" kern="1200"/>
            <a:t>samodzielnie się reorganizuje, </a:t>
          </a:r>
          <a:endParaRPr lang="en-US" sz="2400" kern="1200"/>
        </a:p>
      </dsp:txBody>
      <dsp:txXfrm>
        <a:off x="28100" y="1971701"/>
        <a:ext cx="10611800" cy="519439"/>
      </dsp:txXfrm>
    </dsp:sp>
    <dsp:sp modelId="{6C9E8D13-3091-42A2-9192-CF0BD02A9E74}">
      <dsp:nvSpPr>
        <dsp:cNvPr id="0" name=""/>
        <dsp:cNvSpPr/>
      </dsp:nvSpPr>
      <dsp:spPr>
        <a:xfrm>
          <a:off x="0" y="2588361"/>
          <a:ext cx="10668000" cy="5756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pl-PL" sz="2400" kern="1200"/>
            <a:t>rozwija nowe kompetencje, </a:t>
          </a:r>
          <a:endParaRPr lang="en-US" sz="2400" kern="1200"/>
        </a:p>
      </dsp:txBody>
      <dsp:txXfrm>
        <a:off x="28100" y="2616461"/>
        <a:ext cx="10611800" cy="519439"/>
      </dsp:txXfrm>
    </dsp:sp>
    <dsp:sp modelId="{31EF1DDE-CD38-462F-856B-37EB0807030D}">
      <dsp:nvSpPr>
        <dsp:cNvPr id="0" name=""/>
        <dsp:cNvSpPr/>
      </dsp:nvSpPr>
      <dsp:spPr>
        <a:xfrm>
          <a:off x="0" y="3233121"/>
          <a:ext cx="10668000" cy="5756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pl-PL" sz="2400" kern="1200"/>
            <a:t>wzmacnia odporność.</a:t>
          </a:r>
          <a:endParaRPr lang="en-US" sz="2400" kern="1200"/>
        </a:p>
      </dsp:txBody>
      <dsp:txXfrm>
        <a:off x="28100" y="3261221"/>
        <a:ext cx="10611800" cy="51943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667D5F-B356-409A-B779-89184E1011CE}">
      <dsp:nvSpPr>
        <dsp:cNvPr id="0" name=""/>
        <dsp:cNvSpPr/>
      </dsp:nvSpPr>
      <dsp:spPr>
        <a:xfrm>
          <a:off x="0" y="1864"/>
          <a:ext cx="1066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B00699-83AB-45A9-966F-C25907EB043D}">
      <dsp:nvSpPr>
        <dsp:cNvPr id="0" name=""/>
        <dsp:cNvSpPr/>
      </dsp:nvSpPr>
      <dsp:spPr>
        <a:xfrm>
          <a:off x="0" y="1864"/>
          <a:ext cx="10668000" cy="635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pl-PL" sz="2900" kern="1200"/>
            <a:t>Automatyzacja </a:t>
          </a:r>
          <a:r>
            <a:rPr lang="en-US" sz="2900" kern="1200"/>
            <a:t>CI/CD </a:t>
          </a:r>
          <a:r>
            <a:rPr lang="pl-PL" sz="2900" kern="1200"/>
            <a:t>wpływa na wydajność zespołu poprzez:</a:t>
          </a:r>
          <a:endParaRPr lang="en-US" sz="2900" kern="1200"/>
        </a:p>
      </dsp:txBody>
      <dsp:txXfrm>
        <a:off x="0" y="1864"/>
        <a:ext cx="10668000" cy="635725"/>
      </dsp:txXfrm>
    </dsp:sp>
    <dsp:sp modelId="{E0C168D7-E6C6-4FD8-881B-70718159400C}">
      <dsp:nvSpPr>
        <dsp:cNvPr id="0" name=""/>
        <dsp:cNvSpPr/>
      </dsp:nvSpPr>
      <dsp:spPr>
        <a:xfrm>
          <a:off x="0" y="637590"/>
          <a:ext cx="1066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5AAAF5-1132-4702-A202-99F450E21FFC}">
      <dsp:nvSpPr>
        <dsp:cNvPr id="0" name=""/>
        <dsp:cNvSpPr/>
      </dsp:nvSpPr>
      <dsp:spPr>
        <a:xfrm>
          <a:off x="0" y="637590"/>
          <a:ext cx="10668000" cy="635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pl-PL" sz="2900" kern="1200" dirty="0"/>
            <a:t>skrócenie czasu dostarczania zmian, </a:t>
          </a:r>
          <a:endParaRPr lang="en-US" sz="2900" kern="1200" dirty="0"/>
        </a:p>
      </dsp:txBody>
      <dsp:txXfrm>
        <a:off x="0" y="637590"/>
        <a:ext cx="10668000" cy="635725"/>
      </dsp:txXfrm>
    </dsp:sp>
    <dsp:sp modelId="{904189A6-F33F-4D16-B154-5C97F910768E}">
      <dsp:nvSpPr>
        <dsp:cNvPr id="0" name=""/>
        <dsp:cNvSpPr/>
      </dsp:nvSpPr>
      <dsp:spPr>
        <a:xfrm>
          <a:off x="0" y="1273315"/>
          <a:ext cx="1066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F10F80-D0AC-43DA-8664-6991C1791828}">
      <dsp:nvSpPr>
        <dsp:cNvPr id="0" name=""/>
        <dsp:cNvSpPr/>
      </dsp:nvSpPr>
      <dsp:spPr>
        <a:xfrm>
          <a:off x="0" y="1273315"/>
          <a:ext cx="10668000" cy="635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pl-PL" sz="2900" kern="1200"/>
            <a:t>szybsze wykrywanie błędów, </a:t>
          </a:r>
          <a:endParaRPr lang="en-US" sz="2900" kern="1200"/>
        </a:p>
      </dsp:txBody>
      <dsp:txXfrm>
        <a:off x="0" y="1273315"/>
        <a:ext cx="10668000" cy="635725"/>
      </dsp:txXfrm>
    </dsp:sp>
    <dsp:sp modelId="{E9A99AD3-B858-4183-A694-DA0728A0C729}">
      <dsp:nvSpPr>
        <dsp:cNvPr id="0" name=""/>
        <dsp:cNvSpPr/>
      </dsp:nvSpPr>
      <dsp:spPr>
        <a:xfrm>
          <a:off x="0" y="1909041"/>
          <a:ext cx="1066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6247D8-C023-4AB6-BB9F-00D68CF94226}">
      <dsp:nvSpPr>
        <dsp:cNvPr id="0" name=""/>
        <dsp:cNvSpPr/>
      </dsp:nvSpPr>
      <dsp:spPr>
        <a:xfrm>
          <a:off x="0" y="1909041"/>
          <a:ext cx="10668000" cy="635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pl-PL" sz="2900" kern="1200"/>
            <a:t>zmniejszenie liczby awarii, </a:t>
          </a:r>
          <a:endParaRPr lang="en-US" sz="2900" kern="1200"/>
        </a:p>
      </dsp:txBody>
      <dsp:txXfrm>
        <a:off x="0" y="1909041"/>
        <a:ext cx="10668000" cy="635725"/>
      </dsp:txXfrm>
    </dsp:sp>
    <dsp:sp modelId="{4655F462-7A96-423B-96D5-FD9988F4AA48}">
      <dsp:nvSpPr>
        <dsp:cNvPr id="0" name=""/>
        <dsp:cNvSpPr/>
      </dsp:nvSpPr>
      <dsp:spPr>
        <a:xfrm>
          <a:off x="0" y="2544767"/>
          <a:ext cx="1066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19DC23-05C8-4DEE-86C8-3989CB5A422C}">
      <dsp:nvSpPr>
        <dsp:cNvPr id="0" name=""/>
        <dsp:cNvSpPr/>
      </dsp:nvSpPr>
      <dsp:spPr>
        <a:xfrm>
          <a:off x="0" y="2544767"/>
          <a:ext cx="10668000" cy="635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pl-PL" sz="2900" kern="1200"/>
            <a:t>ograniczenie pracy manualnej, </a:t>
          </a:r>
          <a:endParaRPr lang="en-US" sz="2900" kern="1200"/>
        </a:p>
      </dsp:txBody>
      <dsp:txXfrm>
        <a:off x="0" y="2544767"/>
        <a:ext cx="10668000" cy="635725"/>
      </dsp:txXfrm>
    </dsp:sp>
    <dsp:sp modelId="{D575B4FD-F7D6-47C2-B09C-5256DF42B88F}">
      <dsp:nvSpPr>
        <dsp:cNvPr id="0" name=""/>
        <dsp:cNvSpPr/>
      </dsp:nvSpPr>
      <dsp:spPr>
        <a:xfrm>
          <a:off x="0" y="3180492"/>
          <a:ext cx="106680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ABA7F8-F0C4-4703-B533-1D7968F5D0F9}">
      <dsp:nvSpPr>
        <dsp:cNvPr id="0" name=""/>
        <dsp:cNvSpPr/>
      </dsp:nvSpPr>
      <dsp:spPr>
        <a:xfrm>
          <a:off x="0" y="3180492"/>
          <a:ext cx="10668000" cy="635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pl-PL" sz="2900" kern="1200"/>
            <a:t>zwiększenie przewidywalności wdrożeń.</a:t>
          </a:r>
          <a:endParaRPr lang="en-US" sz="2900" kern="1200"/>
        </a:p>
      </dsp:txBody>
      <dsp:txXfrm>
        <a:off x="0" y="3180492"/>
        <a:ext cx="10668000" cy="63572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B9CE29-062A-475F-AC7C-67B46AB0A190}">
      <dsp:nvSpPr>
        <dsp:cNvPr id="0" name=""/>
        <dsp:cNvSpPr/>
      </dsp:nvSpPr>
      <dsp:spPr>
        <a:xfrm>
          <a:off x="559469" y="468387"/>
          <a:ext cx="1715625" cy="1715625"/>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7A7EFD-85EC-4117-9473-6E1BF35DEF9A}">
      <dsp:nvSpPr>
        <dsp:cNvPr id="0" name=""/>
        <dsp:cNvSpPr/>
      </dsp:nvSpPr>
      <dsp:spPr>
        <a:xfrm>
          <a:off x="925094" y="834012"/>
          <a:ext cx="984375" cy="9843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5B7B76-4234-4B40-81E0-9487A7872ECF}">
      <dsp:nvSpPr>
        <dsp:cNvPr id="0" name=""/>
        <dsp:cNvSpPr/>
      </dsp:nvSpPr>
      <dsp:spPr>
        <a:xfrm>
          <a:off x="11032" y="2718387"/>
          <a:ext cx="2812500" cy="213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pl-PL" sz="1100" kern="1200"/>
            <a:t>Wraz z rozwojem pracy rozproszonej narzędzia komunikacyjne przestały być jedynie dodatkiem do pracy zespołu, a stały się jednym z najważniejszych elementów infrastruktury organizacyjnej. W tradycyjnym biurze wiele problemów rozwiązywano spontanicznie podczas krótkiej rozmowy. W zespołach rozproszonych każda interakcja musi być wsparta odpowiednio dobranym kanałem komunikacji.</a:t>
          </a:r>
          <a:endParaRPr lang="en-US" sz="1100" kern="1200"/>
        </a:p>
      </dsp:txBody>
      <dsp:txXfrm>
        <a:off x="11032" y="2718387"/>
        <a:ext cx="2812500" cy="2137500"/>
      </dsp:txXfrm>
    </dsp:sp>
    <dsp:sp modelId="{921306D7-FD45-49E3-A705-301598689422}">
      <dsp:nvSpPr>
        <dsp:cNvPr id="0" name=""/>
        <dsp:cNvSpPr/>
      </dsp:nvSpPr>
      <dsp:spPr>
        <a:xfrm>
          <a:off x="3864157" y="468387"/>
          <a:ext cx="1715625" cy="1715625"/>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1AD3B4-B80A-42CB-9C97-39A478415118}">
      <dsp:nvSpPr>
        <dsp:cNvPr id="0" name=""/>
        <dsp:cNvSpPr/>
      </dsp:nvSpPr>
      <dsp:spPr>
        <a:xfrm>
          <a:off x="4229782" y="834012"/>
          <a:ext cx="984375" cy="9843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28F68E-F68C-4866-84D0-AF24C0A905CF}">
      <dsp:nvSpPr>
        <dsp:cNvPr id="0" name=""/>
        <dsp:cNvSpPr/>
      </dsp:nvSpPr>
      <dsp:spPr>
        <a:xfrm>
          <a:off x="3315719" y="2718387"/>
          <a:ext cx="2812500" cy="213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pl-PL" sz="1100" kern="1200"/>
            <a:t>Przyszłość zespołów rozproszonych nie polega na posiadaniu większej liczby narzędzi, ale na świadomym dopasowaniu narzędzia do rodzaju współpracy.</a:t>
          </a:r>
          <a:endParaRPr lang="en-US" sz="1100" kern="1200"/>
        </a:p>
      </dsp:txBody>
      <dsp:txXfrm>
        <a:off x="3315719" y="2718387"/>
        <a:ext cx="2812500" cy="21375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2773E4-C4B6-4C60-B1B2-650AB5BB89C2}">
      <dsp:nvSpPr>
        <dsp:cNvPr id="0" name=""/>
        <dsp:cNvSpPr/>
      </dsp:nvSpPr>
      <dsp:spPr>
        <a:xfrm>
          <a:off x="0" y="3983"/>
          <a:ext cx="6858000" cy="54349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53DD2D-8A37-4514-A29F-8E73A74C6949}">
      <dsp:nvSpPr>
        <dsp:cNvPr id="0" name=""/>
        <dsp:cNvSpPr/>
      </dsp:nvSpPr>
      <dsp:spPr>
        <a:xfrm>
          <a:off x="164408" y="126270"/>
          <a:ext cx="299216" cy="2989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CCCB0BF-CB4F-4382-8781-6F7384A634BC}">
      <dsp:nvSpPr>
        <dsp:cNvPr id="0" name=""/>
        <dsp:cNvSpPr/>
      </dsp:nvSpPr>
      <dsp:spPr>
        <a:xfrm>
          <a:off x="628032" y="3983"/>
          <a:ext cx="5705192" cy="544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576" tIns="57576" rIns="57576" bIns="57576" numCol="1" spcCol="1270" anchor="ctr" anchorCtr="0">
          <a:noAutofit/>
        </a:bodyPr>
        <a:lstStyle/>
        <a:p>
          <a:pPr marL="0" lvl="0" indent="0" algn="l" defTabSz="622300">
            <a:lnSpc>
              <a:spcPct val="90000"/>
            </a:lnSpc>
            <a:spcBef>
              <a:spcPct val="0"/>
            </a:spcBef>
            <a:spcAft>
              <a:spcPct val="35000"/>
            </a:spcAft>
            <a:buNone/>
          </a:pPr>
          <a:r>
            <a:rPr lang="pl-PL" sz="1400" kern="1200"/>
            <a:t>Done drift to zjawisko stopniowego rozmywania wspólnego rozumienia tego, kiedy zadanie można uznać za zakończone. Na początku projektu zespół może mieć jasną definicję ukończenia pracy, jednak wraz z upływem czasu każdy członek zespołu zaczyna interpretować ten standard nieco inaczej.</a:t>
          </a:r>
          <a:endParaRPr lang="en-US" sz="1400" kern="1200"/>
        </a:p>
      </dsp:txBody>
      <dsp:txXfrm>
        <a:off x="628032" y="3983"/>
        <a:ext cx="5705192" cy="544029"/>
      </dsp:txXfrm>
    </dsp:sp>
    <dsp:sp modelId="{F8C57584-EF5A-4C5B-80A7-0734BCDFCA2D}">
      <dsp:nvSpPr>
        <dsp:cNvPr id="0" name=""/>
        <dsp:cNvSpPr/>
      </dsp:nvSpPr>
      <dsp:spPr>
        <a:xfrm>
          <a:off x="0" y="672363"/>
          <a:ext cx="6858000" cy="54349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68C39E-6D4A-4172-9002-920D8DA0B614}">
      <dsp:nvSpPr>
        <dsp:cNvPr id="0" name=""/>
        <dsp:cNvSpPr/>
      </dsp:nvSpPr>
      <dsp:spPr>
        <a:xfrm>
          <a:off x="164408" y="794650"/>
          <a:ext cx="299216" cy="2989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16F18C-FC54-48D8-99B7-9D08FC1F57BB}">
      <dsp:nvSpPr>
        <dsp:cNvPr id="0" name=""/>
        <dsp:cNvSpPr/>
      </dsp:nvSpPr>
      <dsp:spPr>
        <a:xfrm>
          <a:off x="628032" y="672363"/>
          <a:ext cx="5705192" cy="544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576" tIns="57576" rIns="57576" bIns="57576" numCol="1" spcCol="1270" anchor="ctr" anchorCtr="0">
          <a:noAutofit/>
        </a:bodyPr>
        <a:lstStyle/>
        <a:p>
          <a:pPr marL="0" lvl="0" indent="0" algn="l" defTabSz="622300">
            <a:lnSpc>
              <a:spcPct val="90000"/>
            </a:lnSpc>
            <a:spcBef>
              <a:spcPct val="0"/>
            </a:spcBef>
            <a:spcAft>
              <a:spcPct val="35000"/>
            </a:spcAft>
            <a:buNone/>
          </a:pPr>
          <a:r>
            <a:rPr lang="pl-PL" sz="1400" kern="1200"/>
            <a:t>Takie przesunięcie powoduje kilka problemów:</a:t>
          </a:r>
          <a:endParaRPr lang="en-US" sz="1400" kern="1200"/>
        </a:p>
      </dsp:txBody>
      <dsp:txXfrm>
        <a:off x="628032" y="672363"/>
        <a:ext cx="5705192" cy="544029"/>
      </dsp:txXfrm>
    </dsp:sp>
    <dsp:sp modelId="{77D3BF5A-B25C-40EB-A584-047586CD982E}">
      <dsp:nvSpPr>
        <dsp:cNvPr id="0" name=""/>
        <dsp:cNvSpPr/>
      </dsp:nvSpPr>
      <dsp:spPr>
        <a:xfrm>
          <a:off x="0" y="1340742"/>
          <a:ext cx="6858000" cy="54349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F630BD-EA7A-4A2A-8EFB-B845DBC03E93}">
      <dsp:nvSpPr>
        <dsp:cNvPr id="0" name=""/>
        <dsp:cNvSpPr/>
      </dsp:nvSpPr>
      <dsp:spPr>
        <a:xfrm>
          <a:off x="164408" y="1463029"/>
          <a:ext cx="299216" cy="2989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BD97F9-CA7A-47E4-8972-11A85F086EC4}">
      <dsp:nvSpPr>
        <dsp:cNvPr id="0" name=""/>
        <dsp:cNvSpPr/>
      </dsp:nvSpPr>
      <dsp:spPr>
        <a:xfrm>
          <a:off x="628032" y="1340742"/>
          <a:ext cx="5705192" cy="544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576" tIns="57576" rIns="57576" bIns="57576" numCol="1" spcCol="1270" anchor="ctr" anchorCtr="0">
          <a:noAutofit/>
        </a:bodyPr>
        <a:lstStyle/>
        <a:p>
          <a:pPr marL="0" lvl="0" indent="0" algn="l" defTabSz="622300">
            <a:lnSpc>
              <a:spcPct val="90000"/>
            </a:lnSpc>
            <a:spcBef>
              <a:spcPct val="0"/>
            </a:spcBef>
            <a:spcAft>
              <a:spcPct val="35000"/>
            </a:spcAft>
            <a:buNone/>
          </a:pPr>
          <a:r>
            <a:rPr lang="pl-PL" sz="1400" kern="1200"/>
            <a:t>spadek jakości, </a:t>
          </a:r>
          <a:endParaRPr lang="en-US" sz="1400" kern="1200"/>
        </a:p>
      </dsp:txBody>
      <dsp:txXfrm>
        <a:off x="628032" y="1340742"/>
        <a:ext cx="5705192" cy="544029"/>
      </dsp:txXfrm>
    </dsp:sp>
    <dsp:sp modelId="{E0ED6BDD-F303-45EB-8C0F-A2CE1A42DDCA}">
      <dsp:nvSpPr>
        <dsp:cNvPr id="0" name=""/>
        <dsp:cNvSpPr/>
      </dsp:nvSpPr>
      <dsp:spPr>
        <a:xfrm>
          <a:off x="0" y="2009122"/>
          <a:ext cx="6858000" cy="543498"/>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2DDCED-208C-405B-BDD6-2EBA7C23346A}">
      <dsp:nvSpPr>
        <dsp:cNvPr id="0" name=""/>
        <dsp:cNvSpPr/>
      </dsp:nvSpPr>
      <dsp:spPr>
        <a:xfrm>
          <a:off x="164408" y="2131409"/>
          <a:ext cx="299216" cy="2989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A69321-B3CC-40D3-8375-F2B70AF10EAF}">
      <dsp:nvSpPr>
        <dsp:cNvPr id="0" name=""/>
        <dsp:cNvSpPr/>
      </dsp:nvSpPr>
      <dsp:spPr>
        <a:xfrm>
          <a:off x="628032" y="2009122"/>
          <a:ext cx="5705192" cy="544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576" tIns="57576" rIns="57576" bIns="57576" numCol="1" spcCol="1270" anchor="ctr" anchorCtr="0">
          <a:noAutofit/>
        </a:bodyPr>
        <a:lstStyle/>
        <a:p>
          <a:pPr marL="0" lvl="0" indent="0" algn="l" defTabSz="622300">
            <a:lnSpc>
              <a:spcPct val="90000"/>
            </a:lnSpc>
            <a:spcBef>
              <a:spcPct val="0"/>
            </a:spcBef>
            <a:spcAft>
              <a:spcPct val="35000"/>
            </a:spcAft>
            <a:buNone/>
          </a:pPr>
          <a:r>
            <a:rPr lang="pl-PL" sz="1400" kern="1200"/>
            <a:t>nieporozumienia, </a:t>
          </a:r>
          <a:endParaRPr lang="en-US" sz="1400" kern="1200"/>
        </a:p>
      </dsp:txBody>
      <dsp:txXfrm>
        <a:off x="628032" y="2009122"/>
        <a:ext cx="5705192" cy="544029"/>
      </dsp:txXfrm>
    </dsp:sp>
    <dsp:sp modelId="{4EC877CF-CB87-4C71-B09A-F76FE0E7A85E}">
      <dsp:nvSpPr>
        <dsp:cNvPr id="0" name=""/>
        <dsp:cNvSpPr/>
      </dsp:nvSpPr>
      <dsp:spPr>
        <a:xfrm>
          <a:off x="0" y="2677501"/>
          <a:ext cx="6858000" cy="543498"/>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38C4AC-6DCB-4169-8792-FA9231D44FF8}">
      <dsp:nvSpPr>
        <dsp:cNvPr id="0" name=""/>
        <dsp:cNvSpPr/>
      </dsp:nvSpPr>
      <dsp:spPr>
        <a:xfrm>
          <a:off x="164408" y="2799788"/>
          <a:ext cx="299216" cy="2989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CE0AEAE-93F3-4851-8DA0-29CB1FE04BCF}">
      <dsp:nvSpPr>
        <dsp:cNvPr id="0" name=""/>
        <dsp:cNvSpPr/>
      </dsp:nvSpPr>
      <dsp:spPr>
        <a:xfrm>
          <a:off x="628032" y="2677501"/>
          <a:ext cx="5705192" cy="544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576" tIns="57576" rIns="57576" bIns="57576" numCol="1" spcCol="1270" anchor="ctr" anchorCtr="0">
          <a:noAutofit/>
        </a:bodyPr>
        <a:lstStyle/>
        <a:p>
          <a:pPr marL="0" lvl="0" indent="0" algn="l" defTabSz="622300">
            <a:lnSpc>
              <a:spcPct val="90000"/>
            </a:lnSpc>
            <a:spcBef>
              <a:spcPct val="0"/>
            </a:spcBef>
            <a:spcAft>
              <a:spcPct val="35000"/>
            </a:spcAft>
            <a:buNone/>
          </a:pPr>
          <a:r>
            <a:rPr lang="pl-PL" sz="1400" kern="1200"/>
            <a:t>trudniejsze planowanie, </a:t>
          </a:r>
          <a:endParaRPr lang="en-US" sz="1400" kern="1200"/>
        </a:p>
      </dsp:txBody>
      <dsp:txXfrm>
        <a:off x="628032" y="2677501"/>
        <a:ext cx="5705192" cy="544029"/>
      </dsp:txXfrm>
    </dsp:sp>
    <dsp:sp modelId="{E3C56A6E-09EA-4163-BEFD-70E64D2C8C98}">
      <dsp:nvSpPr>
        <dsp:cNvPr id="0" name=""/>
        <dsp:cNvSpPr/>
      </dsp:nvSpPr>
      <dsp:spPr>
        <a:xfrm>
          <a:off x="0" y="3345881"/>
          <a:ext cx="6858000" cy="54349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5130FD-6AFE-41C8-AAAD-F9F91AEAD984}">
      <dsp:nvSpPr>
        <dsp:cNvPr id="0" name=""/>
        <dsp:cNvSpPr/>
      </dsp:nvSpPr>
      <dsp:spPr>
        <a:xfrm>
          <a:off x="164408" y="3468168"/>
          <a:ext cx="299216" cy="2989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860BB45-BFFE-442B-AAE3-3084900D9A5A}">
      <dsp:nvSpPr>
        <dsp:cNvPr id="0" name=""/>
        <dsp:cNvSpPr/>
      </dsp:nvSpPr>
      <dsp:spPr>
        <a:xfrm>
          <a:off x="628032" y="3345881"/>
          <a:ext cx="5705192" cy="544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576" tIns="57576" rIns="57576" bIns="57576" numCol="1" spcCol="1270" anchor="ctr" anchorCtr="0">
          <a:noAutofit/>
        </a:bodyPr>
        <a:lstStyle/>
        <a:p>
          <a:pPr marL="0" lvl="0" indent="0" algn="l" defTabSz="622300">
            <a:lnSpc>
              <a:spcPct val="90000"/>
            </a:lnSpc>
            <a:spcBef>
              <a:spcPct val="0"/>
            </a:spcBef>
            <a:spcAft>
              <a:spcPct val="35000"/>
            </a:spcAft>
            <a:buNone/>
          </a:pPr>
          <a:r>
            <a:rPr lang="pl-PL" sz="1400" kern="1200"/>
            <a:t>utratę zaufania, </a:t>
          </a:r>
          <a:endParaRPr lang="en-US" sz="1400" kern="1200"/>
        </a:p>
      </dsp:txBody>
      <dsp:txXfrm>
        <a:off x="628032" y="3345881"/>
        <a:ext cx="5705192" cy="544029"/>
      </dsp:txXfrm>
    </dsp:sp>
    <dsp:sp modelId="{04D1D0FC-0BF1-4D8F-8D2E-83ABCFC3D489}">
      <dsp:nvSpPr>
        <dsp:cNvPr id="0" name=""/>
        <dsp:cNvSpPr/>
      </dsp:nvSpPr>
      <dsp:spPr>
        <a:xfrm>
          <a:off x="0" y="4014260"/>
          <a:ext cx="6858000" cy="54349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E5E51F-78AD-4025-AC3B-FC573838050C}">
      <dsp:nvSpPr>
        <dsp:cNvPr id="0" name=""/>
        <dsp:cNvSpPr/>
      </dsp:nvSpPr>
      <dsp:spPr>
        <a:xfrm>
          <a:off x="164408" y="4136547"/>
          <a:ext cx="299216" cy="2989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326B0EE-06F8-49E9-A31E-B475A79CC063}">
      <dsp:nvSpPr>
        <dsp:cNvPr id="0" name=""/>
        <dsp:cNvSpPr/>
      </dsp:nvSpPr>
      <dsp:spPr>
        <a:xfrm>
          <a:off x="628032" y="4014260"/>
          <a:ext cx="5705192" cy="544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576" tIns="57576" rIns="57576" bIns="57576" numCol="1" spcCol="1270" anchor="ctr" anchorCtr="0">
          <a:noAutofit/>
        </a:bodyPr>
        <a:lstStyle/>
        <a:p>
          <a:pPr marL="0" lvl="0" indent="0" algn="l" defTabSz="622300">
            <a:lnSpc>
              <a:spcPct val="90000"/>
            </a:lnSpc>
            <a:spcBef>
              <a:spcPct val="0"/>
            </a:spcBef>
            <a:spcAft>
              <a:spcPct val="35000"/>
            </a:spcAft>
            <a:buNone/>
          </a:pPr>
          <a:r>
            <a:rPr lang="pl-PL" sz="1400" kern="1200"/>
            <a:t>rosnącą frustrację.</a:t>
          </a:r>
          <a:endParaRPr lang="en-US" sz="1400" kern="1200"/>
        </a:p>
      </dsp:txBody>
      <dsp:txXfrm>
        <a:off x="628032" y="4014260"/>
        <a:ext cx="5705192" cy="54402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825056-A07A-4151-B424-2F6E8D74908C}">
      <dsp:nvSpPr>
        <dsp:cNvPr id="0" name=""/>
        <dsp:cNvSpPr/>
      </dsp:nvSpPr>
      <dsp:spPr>
        <a:xfrm>
          <a:off x="0" y="9321"/>
          <a:ext cx="10668000" cy="5756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pl-PL" sz="2400" kern="1200"/>
            <a:t>Nowe wymagania jakościowe obejmują:</a:t>
          </a:r>
          <a:endParaRPr lang="en-US" sz="2400" kern="1200"/>
        </a:p>
      </dsp:txBody>
      <dsp:txXfrm>
        <a:off x="28100" y="37421"/>
        <a:ext cx="10611800" cy="519439"/>
      </dsp:txXfrm>
    </dsp:sp>
    <dsp:sp modelId="{25098F91-AFC3-481C-93DC-C7A70203AC76}">
      <dsp:nvSpPr>
        <dsp:cNvPr id="0" name=""/>
        <dsp:cNvSpPr/>
      </dsp:nvSpPr>
      <dsp:spPr>
        <a:xfrm>
          <a:off x="0" y="654081"/>
          <a:ext cx="10668000" cy="5756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pl-PL" sz="2400" kern="1200"/>
            <a:t>przejrzystość działania algorytmu, </a:t>
          </a:r>
          <a:endParaRPr lang="en-US" sz="2400" kern="1200"/>
        </a:p>
      </dsp:txBody>
      <dsp:txXfrm>
        <a:off x="28100" y="682181"/>
        <a:ext cx="10611800" cy="519439"/>
      </dsp:txXfrm>
    </dsp:sp>
    <dsp:sp modelId="{D47B2435-12AA-449A-89D2-32B4E1329F03}">
      <dsp:nvSpPr>
        <dsp:cNvPr id="0" name=""/>
        <dsp:cNvSpPr/>
      </dsp:nvSpPr>
      <dsp:spPr>
        <a:xfrm>
          <a:off x="0" y="1298841"/>
          <a:ext cx="10668000" cy="5756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pl-PL" sz="2400" kern="1200"/>
            <a:t>ograniczanie uprzedzeń danych, </a:t>
          </a:r>
          <a:endParaRPr lang="en-US" sz="2400" kern="1200"/>
        </a:p>
      </dsp:txBody>
      <dsp:txXfrm>
        <a:off x="28100" y="1326941"/>
        <a:ext cx="10611800" cy="519439"/>
      </dsp:txXfrm>
    </dsp:sp>
    <dsp:sp modelId="{475BB091-7249-4390-A153-7A4AB4942177}">
      <dsp:nvSpPr>
        <dsp:cNvPr id="0" name=""/>
        <dsp:cNvSpPr/>
      </dsp:nvSpPr>
      <dsp:spPr>
        <a:xfrm>
          <a:off x="0" y="1943601"/>
          <a:ext cx="10668000" cy="5756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pl-PL" sz="2400" kern="1200"/>
            <a:t>sprawiedliwe traktowanie użytkowników, </a:t>
          </a:r>
          <a:endParaRPr lang="en-US" sz="2400" kern="1200"/>
        </a:p>
      </dsp:txBody>
      <dsp:txXfrm>
        <a:off x="28100" y="1971701"/>
        <a:ext cx="10611800" cy="519439"/>
      </dsp:txXfrm>
    </dsp:sp>
    <dsp:sp modelId="{D47F4826-0D0A-41A1-94F0-5BF4E4D5DE80}">
      <dsp:nvSpPr>
        <dsp:cNvPr id="0" name=""/>
        <dsp:cNvSpPr/>
      </dsp:nvSpPr>
      <dsp:spPr>
        <a:xfrm>
          <a:off x="0" y="2588361"/>
          <a:ext cx="10668000" cy="5756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pl-PL" sz="2400" kern="1200"/>
            <a:t>możliwość wyjaśnienia decyzji, </a:t>
          </a:r>
          <a:endParaRPr lang="en-US" sz="2400" kern="1200"/>
        </a:p>
      </dsp:txBody>
      <dsp:txXfrm>
        <a:off x="28100" y="2616461"/>
        <a:ext cx="10611800" cy="519439"/>
      </dsp:txXfrm>
    </dsp:sp>
    <dsp:sp modelId="{DD3C3219-1726-4B8A-9862-6BD3311E92EE}">
      <dsp:nvSpPr>
        <dsp:cNvPr id="0" name=""/>
        <dsp:cNvSpPr/>
      </dsp:nvSpPr>
      <dsp:spPr>
        <a:xfrm>
          <a:off x="0" y="3233121"/>
          <a:ext cx="10668000" cy="5756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pl-PL" sz="2400" kern="1200"/>
            <a:t>odpowiedzialność za skutki automatyzacji.</a:t>
          </a:r>
          <a:endParaRPr lang="en-US" sz="2400" kern="1200"/>
        </a:p>
      </dsp:txBody>
      <dsp:txXfrm>
        <a:off x="28100" y="3261221"/>
        <a:ext cx="10611800" cy="519439"/>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C4A93E-F9D3-42AC-9FC7-4A9396776AD2}" type="datetimeFigureOut">
              <a:rPr lang="pl-PL" smtClean="0"/>
              <a:t>18.04.2026</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DB668A-0072-483E-BAB3-71BB4A8EDC94}" type="slidenum">
              <a:rPr lang="pl-PL" smtClean="0"/>
              <a:t>‹#›</a:t>
            </a:fld>
            <a:endParaRPr lang="pl-PL"/>
          </a:p>
        </p:txBody>
      </p:sp>
    </p:spTree>
    <p:extLst>
      <p:ext uri="{BB962C8B-B14F-4D97-AF65-F5344CB8AC3E}">
        <p14:creationId xmlns:p14="http://schemas.microsoft.com/office/powerpoint/2010/main" val="3961904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firmie </a:t>
            </a:r>
            <a:r>
              <a:rPr lang="pl-PL" dirty="0" err="1"/>
              <a:t>NovaStack</a:t>
            </a:r>
            <a:r>
              <a:rPr lang="pl-PL" dirty="0"/>
              <a:t> pierwszym zauważalnym efektem pracy zdalnej było zwiększenie elastyczności. Programiści mogli pracować z różnych miast i krajów, co pozwoliło firmie zatrudniać specjalistów niezależnie od lokalizacji. Jednocześnie pojawił się nowy problem</a:t>
            </a:r>
            <a:r>
              <a:rPr lang="en-US" dirty="0"/>
              <a:t>:</a:t>
            </a:r>
            <a:r>
              <a:rPr lang="pl-PL" dirty="0"/>
              <a:t> utrzymanie spójności zespołu. Spotkania, które wcześniej odbywały się naturalnie, zaczęły wymagać planowania, a wiedza przestała przepływać spontanicznie.</a:t>
            </a:r>
            <a:endParaRPr lang="en-US" dirty="0"/>
          </a:p>
          <a:p>
            <a:r>
              <a:rPr lang="pl-PL" dirty="0"/>
              <a:t>Zmianie uległo również podejście do oceny pracy. W modelu stacjonarnym menedżer często oceniał aktywność poprzez obserwację obecności. W modelu zdalnym znaczenie zaczęły mieć rezultaty, przejrzystość komunikacji i samodzielność pracownika. Zespoły IT zaczęły więc działać bardziej zadaniowo, a mniej godzinowo.</a:t>
            </a:r>
            <a:endParaRPr lang="en-US" dirty="0"/>
          </a:p>
          <a:p>
            <a:endParaRPr lang="en-US" dirty="0"/>
          </a:p>
          <a:p>
            <a:r>
              <a:rPr lang="pl-PL" dirty="0"/>
              <a:t>https://justjoin.it/blog/remote-work-nie-zwalnia-tempa-praca-zdalna-dominuje-rynek-it</a:t>
            </a:r>
          </a:p>
        </p:txBody>
      </p:sp>
      <p:sp>
        <p:nvSpPr>
          <p:cNvPr id="4" name="Symbol zastępczy numeru slajdu 3"/>
          <p:cNvSpPr>
            <a:spLocks noGrp="1"/>
          </p:cNvSpPr>
          <p:nvPr>
            <p:ph type="sldNum" sz="quarter" idx="5"/>
          </p:nvPr>
        </p:nvSpPr>
        <p:spPr/>
        <p:txBody>
          <a:bodyPr/>
          <a:lstStyle/>
          <a:p>
            <a:fld id="{DEDB668A-0072-483E-BAB3-71BB4A8EDC94}" type="slidenum">
              <a:rPr lang="pl-PL" smtClean="0"/>
              <a:t>3</a:t>
            </a:fld>
            <a:endParaRPr lang="pl-PL"/>
          </a:p>
        </p:txBody>
      </p:sp>
    </p:spTree>
    <p:extLst>
      <p:ext uri="{BB962C8B-B14F-4D97-AF65-F5344CB8AC3E}">
        <p14:creationId xmlns:p14="http://schemas.microsoft.com/office/powerpoint/2010/main" val="21792974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NovaStack</a:t>
            </a:r>
            <a:r>
              <a:rPr lang="pl-PL" dirty="0"/>
              <a:t> narzędzia AI zaczęły pomagać programistom w generowaniu fragmentów kodu, wyszukiwaniu błędów oraz proponowaniu dokumentacji technicznej. Dzięki temu część prostych i powtarzalnych zadań przestała wymagać pełnego zaangażowania człowieka. Zespół mógł skupić się bardziej na rozwiązywaniu problemów biznesowych niż na wykonywaniu rutynowych czynności.</a:t>
            </a:r>
          </a:p>
          <a:p>
            <a:r>
              <a:rPr lang="pl-PL" dirty="0"/>
              <a:t>AI wspiera także zarządzanie projektami poprzez analizowanie harmonogramów, wykrywanie </a:t>
            </a:r>
            <a:r>
              <a:rPr lang="pl-PL" dirty="0" err="1"/>
              <a:t>ryzyk</a:t>
            </a:r>
            <a:r>
              <a:rPr lang="pl-PL" dirty="0"/>
              <a:t> oraz identyfikowanie przeciążeń zespołu. System może wcześniej zauważyć, że określony projekt zaczyna tracić tempo lub że konkretna osoba jest przeciążona zadaniami.</a:t>
            </a:r>
            <a:endParaRPr lang="en-US" dirty="0"/>
          </a:p>
          <a:p>
            <a:endParaRPr lang="en-US" dirty="0"/>
          </a:p>
          <a:p>
            <a:r>
              <a:rPr lang="pl-PL" dirty="0"/>
              <a:t>https://www.pwc.pl/pl/artykuly/ewoluujaca-rola-ai-w-zarzadzaniu-projektami.html</a:t>
            </a:r>
          </a:p>
        </p:txBody>
      </p:sp>
      <p:sp>
        <p:nvSpPr>
          <p:cNvPr id="4" name="Symbol zastępczy numeru slajdu 3"/>
          <p:cNvSpPr>
            <a:spLocks noGrp="1"/>
          </p:cNvSpPr>
          <p:nvPr>
            <p:ph type="sldNum" sz="quarter" idx="5"/>
          </p:nvPr>
        </p:nvSpPr>
        <p:spPr/>
        <p:txBody>
          <a:bodyPr/>
          <a:lstStyle/>
          <a:p>
            <a:fld id="{DEDB668A-0072-483E-BAB3-71BB4A8EDC94}" type="slidenum">
              <a:rPr lang="pl-PL" smtClean="0"/>
              <a:t>4</a:t>
            </a:fld>
            <a:endParaRPr lang="pl-PL"/>
          </a:p>
        </p:txBody>
      </p:sp>
    </p:spTree>
    <p:extLst>
      <p:ext uri="{BB962C8B-B14F-4D97-AF65-F5344CB8AC3E}">
        <p14:creationId xmlns:p14="http://schemas.microsoft.com/office/powerpoint/2010/main" val="1275530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Wraz z rozwojem technologii zmienia się również profil kompetencji cenionych w zespołach IT. Coraz mniej wystarcza sama wiedza techniczna. Coraz większego znaczenia nabiera zdolność adaptacji, współpracy i rozumienia kontekstu biznesowego.</a:t>
            </a:r>
            <a:endParaRPr lang="en-US" dirty="0"/>
          </a:p>
          <a:p>
            <a:endParaRPr lang="en-US" dirty="0"/>
          </a:p>
          <a:p>
            <a:r>
              <a:rPr lang="pl-PL" dirty="0"/>
              <a:t>https://blog.conlea.pl/10-najwazniejszych-kompetencji-2025-roku</a:t>
            </a:r>
          </a:p>
        </p:txBody>
      </p:sp>
      <p:sp>
        <p:nvSpPr>
          <p:cNvPr id="4" name="Symbol zastępczy numeru slajdu 3"/>
          <p:cNvSpPr>
            <a:spLocks noGrp="1"/>
          </p:cNvSpPr>
          <p:nvPr>
            <p:ph type="sldNum" sz="quarter" idx="5"/>
          </p:nvPr>
        </p:nvSpPr>
        <p:spPr/>
        <p:txBody>
          <a:bodyPr/>
          <a:lstStyle/>
          <a:p>
            <a:fld id="{DEDB668A-0072-483E-BAB3-71BB4A8EDC94}" type="slidenum">
              <a:rPr lang="pl-PL" smtClean="0"/>
              <a:t>5</a:t>
            </a:fld>
            <a:endParaRPr lang="pl-PL"/>
          </a:p>
        </p:txBody>
      </p:sp>
    </p:spTree>
    <p:extLst>
      <p:ext uri="{BB962C8B-B14F-4D97-AF65-F5344CB8AC3E}">
        <p14:creationId xmlns:p14="http://schemas.microsoft.com/office/powerpoint/2010/main" val="17744988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NovaStack</a:t>
            </a:r>
            <a:r>
              <a:rPr lang="pl-PL" dirty="0"/>
              <a:t> zauważono, że najlepsi specjaliści to nie zawsze osoby posiadające najbardziej zaawansowaną wiedzę programistyczną, lecz ci pracownicy, którzy potrafią łączyć technologię z rozumieniem potrzeb klienta. Umiejętność komunikacji między działami zaczęła być równie ważna jak znajomość </a:t>
            </a:r>
            <a:r>
              <a:rPr lang="pl-PL" dirty="0" err="1"/>
              <a:t>frameworków</a:t>
            </a:r>
            <a:r>
              <a:rPr lang="pl-PL" dirty="0"/>
              <a:t>.</a:t>
            </a:r>
            <a:endParaRPr lang="en-US" dirty="0"/>
          </a:p>
          <a:p>
            <a:endParaRPr lang="en-US" dirty="0"/>
          </a:p>
          <a:p>
            <a:r>
              <a:rPr lang="en-US" dirty="0" err="1"/>
              <a:t>Wykres</a:t>
            </a:r>
            <a:r>
              <a:rPr lang="en-US" dirty="0"/>
              <a:t> po </a:t>
            </a:r>
            <a:r>
              <a:rPr lang="en-US" dirty="0" err="1"/>
              <a:t>lewej</a:t>
            </a:r>
            <a:r>
              <a:rPr lang="en-US" dirty="0"/>
              <a:t>: </a:t>
            </a:r>
            <a:r>
              <a:rPr lang="pl-PL" sz="1200" b="0" i="1" kern="1200" dirty="0">
                <a:solidFill>
                  <a:schemeClr val="tx1"/>
                </a:solidFill>
                <a:effectLst/>
                <a:latin typeface="+mn-lt"/>
                <a:ea typeface="+mn-ea"/>
                <a:cs typeface="+mn-cs"/>
              </a:rPr>
              <a:t>Źródło: Raport </a:t>
            </a:r>
            <a:r>
              <a:rPr lang="pl-PL" sz="1200" b="0" i="1" kern="1200" dirty="0" err="1">
                <a:solidFill>
                  <a:schemeClr val="tx1"/>
                </a:solidFill>
                <a:effectLst/>
                <a:latin typeface="+mn-lt"/>
                <a:ea typeface="+mn-ea"/>
                <a:cs typeface="+mn-cs"/>
              </a:rPr>
              <a:t>Future</a:t>
            </a:r>
            <a:r>
              <a:rPr lang="pl-PL" sz="1200" b="0" i="1" kern="1200" dirty="0">
                <a:solidFill>
                  <a:schemeClr val="tx1"/>
                </a:solidFill>
                <a:effectLst/>
                <a:latin typeface="+mn-lt"/>
                <a:ea typeface="+mn-ea"/>
                <a:cs typeface="+mn-cs"/>
              </a:rPr>
              <a:t> 2025 na podstawie PARP, Wpływ trendów rozwojowych nowych technologii na potrzeby kompetencyjne sektora IT</a:t>
            </a:r>
            <a:endParaRPr lang="en-US" dirty="0"/>
          </a:p>
          <a:p>
            <a:r>
              <a:rPr lang="pl-PL" dirty="0"/>
              <a:t>https://itwiz.pl/raport-future-2025-10-glownych-trendow-i-kompetencji-na-rynku-pracy-przyszlosci/</a:t>
            </a:r>
          </a:p>
        </p:txBody>
      </p:sp>
      <p:sp>
        <p:nvSpPr>
          <p:cNvPr id="4" name="Symbol zastępczy numeru slajdu 3"/>
          <p:cNvSpPr>
            <a:spLocks noGrp="1"/>
          </p:cNvSpPr>
          <p:nvPr>
            <p:ph type="sldNum" sz="quarter" idx="5"/>
          </p:nvPr>
        </p:nvSpPr>
        <p:spPr/>
        <p:txBody>
          <a:bodyPr/>
          <a:lstStyle/>
          <a:p>
            <a:fld id="{DEDB668A-0072-483E-BAB3-71BB4A8EDC94}" type="slidenum">
              <a:rPr lang="pl-PL" smtClean="0"/>
              <a:t>6</a:t>
            </a:fld>
            <a:endParaRPr lang="pl-PL"/>
          </a:p>
        </p:txBody>
      </p:sp>
    </p:spTree>
    <p:extLst>
      <p:ext uri="{BB962C8B-B14F-4D97-AF65-F5344CB8AC3E}">
        <p14:creationId xmlns:p14="http://schemas.microsoft.com/office/powerpoint/2010/main" val="3458001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NovaStack</a:t>
            </a:r>
            <a:r>
              <a:rPr lang="pl-PL" dirty="0"/>
              <a:t> menedżerowie zauważyli, że w środowisku zdalnym klasyczne zarządzanie poprzez kontrolę nie działa. Pracownicy potrzebowali większej autonomii, ale jednocześnie oczekiwali jasnego kierunku. Lider przestał więc być osobą wydającą polecenia, a stał się osobą usuwającą przeszkody i wspierającą rozwój ludzi.</a:t>
            </a:r>
            <a:endParaRPr lang="en-US" dirty="0"/>
          </a:p>
          <a:p>
            <a:r>
              <a:rPr lang="pl-PL" dirty="0"/>
              <a:t>Zmiana ta oznacza przejście od zarządzania pracą do zarządzania warunkami, w których ta praca może być wykonywana lepiej.</a:t>
            </a:r>
            <a:endParaRPr lang="en-US" dirty="0"/>
          </a:p>
          <a:p>
            <a:endParaRPr lang="en-US" dirty="0"/>
          </a:p>
          <a:p>
            <a:r>
              <a:rPr lang="pl-PL" dirty="0"/>
              <a:t>https://blog.conlea.pl/rola-lidera-it-w-zarz%C4%85dzaniu-zmian%C4%85-jak-skutecznie-przewodzi%C4%87-zespo%C5%82owi-przez-proces-zmian</a:t>
            </a:r>
          </a:p>
        </p:txBody>
      </p:sp>
      <p:sp>
        <p:nvSpPr>
          <p:cNvPr id="4" name="Symbol zastępczy numeru slajdu 3"/>
          <p:cNvSpPr>
            <a:spLocks noGrp="1"/>
          </p:cNvSpPr>
          <p:nvPr>
            <p:ph type="sldNum" sz="quarter" idx="5"/>
          </p:nvPr>
        </p:nvSpPr>
        <p:spPr/>
        <p:txBody>
          <a:bodyPr/>
          <a:lstStyle/>
          <a:p>
            <a:fld id="{DEDB668A-0072-483E-BAB3-71BB4A8EDC94}" type="slidenum">
              <a:rPr lang="pl-PL" smtClean="0"/>
              <a:t>7</a:t>
            </a:fld>
            <a:endParaRPr lang="pl-PL"/>
          </a:p>
        </p:txBody>
      </p:sp>
    </p:spTree>
    <p:extLst>
      <p:ext uri="{BB962C8B-B14F-4D97-AF65-F5344CB8AC3E}">
        <p14:creationId xmlns:p14="http://schemas.microsoft.com/office/powerpoint/2010/main" val="37473286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NovaStack</a:t>
            </a:r>
            <a:r>
              <a:rPr lang="pl-PL" dirty="0"/>
              <a:t> wdrożenie automatycznych testów, </a:t>
            </a:r>
            <a:r>
              <a:rPr lang="pl-PL" dirty="0" err="1"/>
              <a:t>pipeline</a:t>
            </a:r>
            <a:r>
              <a:rPr lang="en-US" dirty="0"/>
              <a:t>’</a:t>
            </a:r>
            <a:r>
              <a:rPr lang="pl-PL" dirty="0"/>
              <a:t>ów CI/CD oraz narzędzi monitorujących spowodowało, że część tradycyjnych zadań </a:t>
            </a:r>
            <a:r>
              <a:rPr lang="pl-PL" dirty="0" err="1"/>
              <a:t>testerskich</a:t>
            </a:r>
            <a:r>
              <a:rPr lang="pl-PL" dirty="0"/>
              <a:t> i operacyjnych została zautomatyzowana. Nie oznaczało to jednak zmniejszenia znaczenia ludzi. Zmienił się natomiast charakter ich pracy.</a:t>
            </a:r>
            <a:endParaRPr lang="en-US" dirty="0"/>
          </a:p>
          <a:p>
            <a:r>
              <a:rPr lang="pl-PL" dirty="0"/>
              <a:t>Zamiast wykonywać ręczne działania, specjaliści zaczęli projektować procesy automatyzacji i nadzorować ich skuteczność. W efekcie struktura zespołu stała się bardziej płaska. Zmniejszyła się liczba stanowisk wykonujących rutynowe czynności, a wzrosło znaczenie ról integrujących wiedzę techniczną i biznesową.</a:t>
            </a:r>
            <a:endParaRPr lang="en-US" dirty="0"/>
          </a:p>
          <a:p>
            <a:endParaRPr lang="en-US" dirty="0"/>
          </a:p>
          <a:p>
            <a:r>
              <a:rPr lang="pl-PL" dirty="0"/>
              <a:t>https://www.ey.com/pl_pl/insights/workforce/people-consulting/wplyw-ai-na-rynek-pracy-czyli-automatyzacja-i-przyszlosc-kompetencji-ai-fy24</a:t>
            </a:r>
          </a:p>
        </p:txBody>
      </p:sp>
      <p:sp>
        <p:nvSpPr>
          <p:cNvPr id="4" name="Symbol zastępczy numeru slajdu 3"/>
          <p:cNvSpPr>
            <a:spLocks noGrp="1"/>
          </p:cNvSpPr>
          <p:nvPr>
            <p:ph type="sldNum" sz="quarter" idx="5"/>
          </p:nvPr>
        </p:nvSpPr>
        <p:spPr/>
        <p:txBody>
          <a:bodyPr/>
          <a:lstStyle/>
          <a:p>
            <a:fld id="{DEDB668A-0072-483E-BAB3-71BB4A8EDC94}" type="slidenum">
              <a:rPr lang="pl-PL" smtClean="0"/>
              <a:t>8</a:t>
            </a:fld>
            <a:endParaRPr lang="pl-PL"/>
          </a:p>
        </p:txBody>
      </p:sp>
    </p:spTree>
    <p:extLst>
      <p:ext uri="{BB962C8B-B14F-4D97-AF65-F5344CB8AC3E}">
        <p14:creationId xmlns:p14="http://schemas.microsoft.com/office/powerpoint/2010/main" val="3738390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firmie </a:t>
            </a:r>
            <a:r>
              <a:rPr lang="pl-PL" dirty="0" err="1"/>
              <a:t>NovaStack</a:t>
            </a:r>
            <a:r>
              <a:rPr lang="pl-PL" dirty="0"/>
              <a:t> początkowo </a:t>
            </a:r>
            <a:r>
              <a:rPr lang="pl-PL" dirty="0" err="1"/>
              <a:t>DevOps</a:t>
            </a:r>
            <a:r>
              <a:rPr lang="pl-PL" dirty="0"/>
              <a:t> oznaczał wdrożenie narzędzi CI/CD oraz wspólną odpowiedzialność za środowiska produkcyjne. Z czasem organizacja zauważyła jednak, że samo łączenie </a:t>
            </a:r>
            <a:r>
              <a:rPr lang="pl-PL" dirty="0" err="1"/>
              <a:t>developmentu</a:t>
            </a:r>
            <a:r>
              <a:rPr lang="pl-PL" dirty="0"/>
              <a:t> i operacji nie wystarcza. Wraz ze wzrostem liczby produktów oraz zespołów pojawiła się potrzeba stworzenia wspólnej warstwy technologicznej, która ułatwiałaby pracę wszystkim zespołom.</a:t>
            </a:r>
          </a:p>
          <a:p>
            <a:r>
              <a:rPr lang="pl-PL" dirty="0"/>
              <a:t>W ten sposób rozwinęło się podejście określane jako platform engineering. Polega ono na budowie wewnętrznej platformy technologicznej, która dostarcza zespołom gotowe narzędzia do wdrażania, monitorowania i skalowania aplikacji. Programista nie musi już znać całej infrastruktury, ponieważ korzysta z przygotowanego środowiska jako usługi wewnętrznej.</a:t>
            </a:r>
          </a:p>
          <a:p>
            <a:r>
              <a:rPr lang="pl-PL" dirty="0"/>
              <a:t>Zmiana ta powoduje, że organizacja przechodzi od zarządzania pojedynczymi wdrożeniami do budowania systemu, który wspiera pracę wszystkich zespołów jednocześnie.</a:t>
            </a:r>
            <a:endParaRPr lang="en-US" dirty="0"/>
          </a:p>
          <a:p>
            <a:endParaRPr lang="en-US" dirty="0"/>
          </a:p>
          <a:p>
            <a:r>
              <a:rPr lang="pl-PL" dirty="0"/>
              <a:t>https://www.linkedin.com/pulse/devops-vs-sre-platform-engineering-understanding-omar-montero-mr3ec/</a:t>
            </a:r>
            <a:endParaRPr lang="en-US" dirty="0"/>
          </a:p>
          <a:p>
            <a:r>
              <a:rPr lang="pl-PL" dirty="0"/>
              <a:t>https://k21academy.com/devops/platform-engineering-vs-devops-2025/</a:t>
            </a:r>
          </a:p>
        </p:txBody>
      </p:sp>
      <p:sp>
        <p:nvSpPr>
          <p:cNvPr id="4" name="Symbol zastępczy numeru slajdu 3"/>
          <p:cNvSpPr>
            <a:spLocks noGrp="1"/>
          </p:cNvSpPr>
          <p:nvPr>
            <p:ph type="sldNum" sz="quarter" idx="5"/>
          </p:nvPr>
        </p:nvSpPr>
        <p:spPr/>
        <p:txBody>
          <a:bodyPr/>
          <a:lstStyle/>
          <a:p>
            <a:fld id="{DEDB668A-0072-483E-BAB3-71BB4A8EDC94}" type="slidenum">
              <a:rPr lang="pl-PL" smtClean="0"/>
              <a:t>9</a:t>
            </a:fld>
            <a:endParaRPr lang="pl-PL"/>
          </a:p>
        </p:txBody>
      </p:sp>
    </p:spTree>
    <p:extLst>
      <p:ext uri="{BB962C8B-B14F-4D97-AF65-F5344CB8AC3E}">
        <p14:creationId xmlns:p14="http://schemas.microsoft.com/office/powerpoint/2010/main" val="118311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NovaStack</a:t>
            </a:r>
            <a:r>
              <a:rPr lang="pl-PL" dirty="0"/>
              <a:t> firma zaczęła wykorzystywać modele predykcyjne do wykrywania anomalii finansowych. Początkowo modele były tworzone ręcznie przez analityków danych. Problem pojawił się wtedy, gdy modele trzeba było regularnie aktualizować, monitorować i wdrażać do systemów produkcyjnych.</a:t>
            </a:r>
            <a:endParaRPr lang="en-US" dirty="0"/>
          </a:p>
          <a:p>
            <a:endParaRPr lang="en-US" dirty="0"/>
          </a:p>
          <a:p>
            <a:r>
              <a:rPr lang="pl-PL" dirty="0"/>
              <a:t>https://nofluffjobs.com/pl/log/praca-w-it/mlops-kim-jest-jaka-pelni-funkcje-i-dlaczego-jest-tak-cenny/</a:t>
            </a:r>
          </a:p>
        </p:txBody>
      </p:sp>
      <p:sp>
        <p:nvSpPr>
          <p:cNvPr id="4" name="Symbol zastępczy numeru slajdu 3"/>
          <p:cNvSpPr>
            <a:spLocks noGrp="1"/>
          </p:cNvSpPr>
          <p:nvPr>
            <p:ph type="sldNum" sz="quarter" idx="5"/>
          </p:nvPr>
        </p:nvSpPr>
        <p:spPr/>
        <p:txBody>
          <a:bodyPr/>
          <a:lstStyle/>
          <a:p>
            <a:fld id="{DEDB668A-0072-483E-BAB3-71BB4A8EDC94}" type="slidenum">
              <a:rPr lang="pl-PL" smtClean="0"/>
              <a:t>10</a:t>
            </a:fld>
            <a:endParaRPr lang="pl-PL"/>
          </a:p>
        </p:txBody>
      </p:sp>
    </p:spTree>
    <p:extLst>
      <p:ext uri="{BB962C8B-B14F-4D97-AF65-F5344CB8AC3E}">
        <p14:creationId xmlns:p14="http://schemas.microsoft.com/office/powerpoint/2010/main" val="3216188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NovaStack</a:t>
            </a:r>
            <a:r>
              <a:rPr lang="pl-PL" dirty="0"/>
              <a:t> firma zaczęła przechodzić na model pełnej odpowiedzialności produktowej. Oznacza to, że jeden zespół odpowiada nie tylko za stworzenie rozwiązania, ale także za jego rozwój, utrzymanie, bezpieczeństwo oraz wartość biznesową.</a:t>
            </a:r>
          </a:p>
          <a:p>
            <a:r>
              <a:rPr lang="pl-PL" dirty="0"/>
              <a:t>Zmienia to sposób myślenia pracowników. Programista nie jest już osobą piszącą kod, lecz współwłaścicielem produktu. Analityk nie tworzy jedynie raportów, ale </a:t>
            </a:r>
            <a:r>
              <a:rPr lang="pl-PL" dirty="0" err="1"/>
              <a:t>współodpowiada</a:t>
            </a:r>
            <a:r>
              <a:rPr lang="pl-PL" dirty="0"/>
              <a:t> za decyzje biznesowe. Lider nie zarządza zadaniami, ale wspiera cały cykl życia produktu.</a:t>
            </a:r>
            <a:r>
              <a:rPr lang="en-US" dirty="0"/>
              <a:t> </a:t>
            </a:r>
            <a:r>
              <a:rPr lang="pl-PL" dirty="0"/>
              <a:t>Takie podejście zwiększa autonomię zespołu, ale jednocześnie wymaga większej dojrzałości organizacyjnej. Zespół musi rozumieć nie tylko technologię, ale także wpływ swojej pracy na klienta i biznes</a:t>
            </a:r>
          </a:p>
        </p:txBody>
      </p:sp>
      <p:sp>
        <p:nvSpPr>
          <p:cNvPr id="4" name="Symbol zastępczy numeru slajdu 3"/>
          <p:cNvSpPr>
            <a:spLocks noGrp="1"/>
          </p:cNvSpPr>
          <p:nvPr>
            <p:ph type="sldNum" sz="quarter" idx="5"/>
          </p:nvPr>
        </p:nvSpPr>
        <p:spPr/>
        <p:txBody>
          <a:bodyPr/>
          <a:lstStyle/>
          <a:p>
            <a:fld id="{DEDB668A-0072-483E-BAB3-71BB4A8EDC94}" type="slidenum">
              <a:rPr lang="pl-PL" smtClean="0"/>
              <a:t>11</a:t>
            </a:fld>
            <a:endParaRPr lang="pl-PL"/>
          </a:p>
        </p:txBody>
      </p:sp>
    </p:spTree>
    <p:extLst>
      <p:ext uri="{BB962C8B-B14F-4D97-AF65-F5344CB8AC3E}">
        <p14:creationId xmlns:p14="http://schemas.microsoft.com/office/powerpoint/2010/main" val="1574838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NovaStack</a:t>
            </a:r>
            <a:r>
              <a:rPr lang="pl-PL" dirty="0"/>
              <a:t> pracownicy zaczęli korzystać równocześnie z komunikatorów, systemów </a:t>
            </a:r>
            <a:r>
              <a:rPr lang="pl-PL" dirty="0" err="1"/>
              <a:t>ticketowych</a:t>
            </a:r>
            <a:r>
              <a:rPr lang="pl-PL" dirty="0"/>
              <a:t>, platform analitycznych oraz narzędzi AI wspierających codzienną pracę. Początkowo zwiększyło to wydajność, ale z czasem pojawiło się zjawisko zmęczenia cyfrowego.</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https://rbr.info.pl/pozytywne-i-negatywne-aspekty-cyfryzacji/</a:t>
            </a:r>
          </a:p>
          <a:p>
            <a:endParaRPr lang="pl-PL" dirty="0"/>
          </a:p>
        </p:txBody>
      </p:sp>
      <p:sp>
        <p:nvSpPr>
          <p:cNvPr id="4" name="Symbol zastępczy numeru slajdu 3"/>
          <p:cNvSpPr>
            <a:spLocks noGrp="1"/>
          </p:cNvSpPr>
          <p:nvPr>
            <p:ph type="sldNum" sz="quarter" idx="5"/>
          </p:nvPr>
        </p:nvSpPr>
        <p:spPr/>
        <p:txBody>
          <a:bodyPr/>
          <a:lstStyle/>
          <a:p>
            <a:fld id="{DEDB668A-0072-483E-BAB3-71BB4A8EDC94}" type="slidenum">
              <a:rPr lang="pl-PL" smtClean="0"/>
              <a:t>12</a:t>
            </a:fld>
            <a:endParaRPr lang="pl-PL"/>
          </a:p>
        </p:txBody>
      </p:sp>
    </p:spTree>
    <p:extLst>
      <p:ext uri="{BB962C8B-B14F-4D97-AF65-F5344CB8AC3E}">
        <p14:creationId xmlns:p14="http://schemas.microsoft.com/office/powerpoint/2010/main" val="25899068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https://rbr.info.pl/pozytywne-i-negatywne-aspekty-cyfryzacji/</a:t>
            </a:r>
          </a:p>
        </p:txBody>
      </p:sp>
      <p:sp>
        <p:nvSpPr>
          <p:cNvPr id="4" name="Symbol zastępczy numeru slajdu 3"/>
          <p:cNvSpPr>
            <a:spLocks noGrp="1"/>
          </p:cNvSpPr>
          <p:nvPr>
            <p:ph type="sldNum" sz="quarter" idx="5"/>
          </p:nvPr>
        </p:nvSpPr>
        <p:spPr/>
        <p:txBody>
          <a:bodyPr/>
          <a:lstStyle/>
          <a:p>
            <a:fld id="{DEDB668A-0072-483E-BAB3-71BB4A8EDC94}" type="slidenum">
              <a:rPr lang="pl-PL" smtClean="0"/>
              <a:t>13</a:t>
            </a:fld>
            <a:endParaRPr lang="pl-PL"/>
          </a:p>
        </p:txBody>
      </p:sp>
    </p:spTree>
    <p:extLst>
      <p:ext uri="{BB962C8B-B14F-4D97-AF65-F5344CB8AC3E}">
        <p14:creationId xmlns:p14="http://schemas.microsoft.com/office/powerpoint/2010/main" val="23004713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NovaStack</a:t>
            </a:r>
            <a:r>
              <a:rPr lang="pl-PL" dirty="0"/>
              <a:t> już dziś testowane są zespoły, w których AI wspiera planowanie sprintów, analizuje jakość kodu i sugeruje priorytety rozwoju produktu. W przyszłości człowiek będzie coraz częściej pełnił rolę projektanta systemu, a nie wykonawcy każdej operacji.</a:t>
            </a:r>
            <a:endParaRPr lang="en-US" dirty="0"/>
          </a:p>
          <a:p>
            <a:endParaRPr lang="en-US" dirty="0"/>
          </a:p>
          <a:p>
            <a:r>
              <a:rPr lang="pl-PL" dirty="0"/>
              <a:t>https://www.computerworld.pl/article/2401772/jak-bedzie-wygladac-kariera-w-it-za-5-lat.html</a:t>
            </a:r>
          </a:p>
        </p:txBody>
      </p:sp>
      <p:sp>
        <p:nvSpPr>
          <p:cNvPr id="4" name="Symbol zastępczy numeru slajdu 3"/>
          <p:cNvSpPr>
            <a:spLocks noGrp="1"/>
          </p:cNvSpPr>
          <p:nvPr>
            <p:ph type="sldNum" sz="quarter" idx="5"/>
          </p:nvPr>
        </p:nvSpPr>
        <p:spPr/>
        <p:txBody>
          <a:bodyPr/>
          <a:lstStyle/>
          <a:p>
            <a:fld id="{DEDB668A-0072-483E-BAB3-71BB4A8EDC94}" type="slidenum">
              <a:rPr lang="pl-PL" smtClean="0"/>
              <a:t>14</a:t>
            </a:fld>
            <a:endParaRPr lang="pl-PL"/>
          </a:p>
        </p:txBody>
      </p:sp>
    </p:spTree>
    <p:extLst>
      <p:ext uri="{BB962C8B-B14F-4D97-AF65-F5344CB8AC3E}">
        <p14:creationId xmlns:p14="http://schemas.microsoft.com/office/powerpoint/2010/main" val="33953333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Nie oznacza to jednak, że technologia zastąpi ludzi. Bardziej prawdopodobne jest to, że zmieni charakter ludzkiej pracy. Coraz mniej czasu będzie poświęcane na wykonywanie zadań, a coraz więcej na interpretowanie informacji, podejmowanie decyzji i budowanie relacji.</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https://www.computerworld.pl/article/2401772/jak-bedzie-wygladac-kariera-w-it-za-5-lat.html</a:t>
            </a:r>
          </a:p>
          <a:p>
            <a:endParaRPr lang="pl-PL" dirty="0"/>
          </a:p>
        </p:txBody>
      </p:sp>
      <p:sp>
        <p:nvSpPr>
          <p:cNvPr id="4" name="Symbol zastępczy numeru slajdu 3"/>
          <p:cNvSpPr>
            <a:spLocks noGrp="1"/>
          </p:cNvSpPr>
          <p:nvPr>
            <p:ph type="sldNum" sz="quarter" idx="5"/>
          </p:nvPr>
        </p:nvSpPr>
        <p:spPr/>
        <p:txBody>
          <a:bodyPr/>
          <a:lstStyle/>
          <a:p>
            <a:fld id="{DEDB668A-0072-483E-BAB3-71BB4A8EDC94}" type="slidenum">
              <a:rPr lang="pl-PL" smtClean="0"/>
              <a:t>15</a:t>
            </a:fld>
            <a:endParaRPr lang="pl-PL"/>
          </a:p>
        </p:txBody>
      </p:sp>
    </p:spTree>
    <p:extLst>
      <p:ext uri="{BB962C8B-B14F-4D97-AF65-F5344CB8AC3E}">
        <p14:creationId xmlns:p14="http://schemas.microsoft.com/office/powerpoint/2010/main" val="20515426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https://www.computerworld.pl/article/2401772/jak-bedzie-wygladac-kariera-w-it-za-5-lat.html</a:t>
            </a:r>
          </a:p>
          <a:p>
            <a:endParaRPr lang="pl-PL" dirty="0"/>
          </a:p>
        </p:txBody>
      </p:sp>
      <p:sp>
        <p:nvSpPr>
          <p:cNvPr id="4" name="Symbol zastępczy numeru slajdu 3"/>
          <p:cNvSpPr>
            <a:spLocks noGrp="1"/>
          </p:cNvSpPr>
          <p:nvPr>
            <p:ph type="sldNum" sz="quarter" idx="5"/>
          </p:nvPr>
        </p:nvSpPr>
        <p:spPr/>
        <p:txBody>
          <a:bodyPr/>
          <a:lstStyle/>
          <a:p>
            <a:fld id="{DEDB668A-0072-483E-BAB3-71BB4A8EDC94}" type="slidenum">
              <a:rPr lang="pl-PL" smtClean="0"/>
              <a:t>16</a:t>
            </a:fld>
            <a:endParaRPr lang="pl-PL"/>
          </a:p>
        </p:txBody>
      </p:sp>
    </p:spTree>
    <p:extLst>
      <p:ext uri="{BB962C8B-B14F-4D97-AF65-F5344CB8AC3E}">
        <p14:creationId xmlns:p14="http://schemas.microsoft.com/office/powerpoint/2010/main" val="14337749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firmie </a:t>
            </a:r>
            <a:r>
              <a:rPr lang="pl-PL" dirty="0" err="1"/>
              <a:t>NovaStack</a:t>
            </a:r>
            <a:r>
              <a:rPr lang="pl-PL" dirty="0"/>
              <a:t> zarząd zauważył, że największym zagrożeniem nie jest brak technologii, ale zbyt wolna reakcja organizacji na zmieniający się rynek. Dlatego firma zaczęła inwestować nie tylko w infrastrukturę, ale również w rozwój kultury organizacyjnej opartej na uczeniu się.</a:t>
            </a:r>
            <a:endParaRPr lang="en-US" dirty="0"/>
          </a:p>
          <a:p>
            <a:endParaRPr lang="en-US" dirty="0"/>
          </a:p>
          <a:p>
            <a:r>
              <a:rPr lang="pl-PL" dirty="0"/>
              <a:t>https://tenodhr.pl/blog/zarzadzanie-zmiana-w-organizacji-jak-przygotowac-zespol-na-transformacje/</a:t>
            </a:r>
          </a:p>
        </p:txBody>
      </p:sp>
      <p:sp>
        <p:nvSpPr>
          <p:cNvPr id="4" name="Symbol zastępczy numeru slajdu 3"/>
          <p:cNvSpPr>
            <a:spLocks noGrp="1"/>
          </p:cNvSpPr>
          <p:nvPr>
            <p:ph type="sldNum" sz="quarter" idx="5"/>
          </p:nvPr>
        </p:nvSpPr>
        <p:spPr/>
        <p:txBody>
          <a:bodyPr/>
          <a:lstStyle/>
          <a:p>
            <a:fld id="{DEDB668A-0072-483E-BAB3-71BB4A8EDC94}" type="slidenum">
              <a:rPr lang="pl-PL" smtClean="0"/>
              <a:t>17</a:t>
            </a:fld>
            <a:endParaRPr lang="pl-PL"/>
          </a:p>
        </p:txBody>
      </p:sp>
    </p:spTree>
    <p:extLst>
      <p:ext uri="{BB962C8B-B14F-4D97-AF65-F5344CB8AC3E}">
        <p14:creationId xmlns:p14="http://schemas.microsoft.com/office/powerpoint/2010/main" val="2520192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Najważniejsze jest jednak to, aby organizacja przestała traktować zmianę jako zagrożenie, a zaczęła traktować ją jako naturalny element swojego funkcjonowania. Firmy przyszłości nie będą przewidywały każdej zmiany. Będą tworzyły systemy zdolne do szybkiego dostosowania się.</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https://tenodhr.pl/blog/zarzadzanie-zmiana-w-organizacji-jak-przygotowac-zespol-na-transformacje/</a:t>
            </a:r>
          </a:p>
          <a:p>
            <a:endParaRPr lang="pl-PL" dirty="0"/>
          </a:p>
        </p:txBody>
      </p:sp>
      <p:sp>
        <p:nvSpPr>
          <p:cNvPr id="4" name="Symbol zastępczy numeru slajdu 3"/>
          <p:cNvSpPr>
            <a:spLocks noGrp="1"/>
          </p:cNvSpPr>
          <p:nvPr>
            <p:ph type="sldNum" sz="quarter" idx="5"/>
          </p:nvPr>
        </p:nvSpPr>
        <p:spPr/>
        <p:txBody>
          <a:bodyPr/>
          <a:lstStyle/>
          <a:p>
            <a:fld id="{DEDB668A-0072-483E-BAB3-71BB4A8EDC94}" type="slidenum">
              <a:rPr lang="pl-PL" smtClean="0"/>
              <a:t>18</a:t>
            </a:fld>
            <a:endParaRPr lang="pl-PL"/>
          </a:p>
        </p:txBody>
      </p:sp>
    </p:spTree>
    <p:extLst>
      <p:ext uri="{BB962C8B-B14F-4D97-AF65-F5344CB8AC3E}">
        <p14:creationId xmlns:p14="http://schemas.microsoft.com/office/powerpoint/2010/main" val="3824726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NovaStack</a:t>
            </a:r>
            <a:r>
              <a:rPr lang="pl-PL" dirty="0"/>
              <a:t> firma zaczęła zauważać, że tradycyjna struktura spowalnia reakcję na rynek. Każda decyzja musiała przejść przez kilka poziomów akceptacji, co wydłużało czas działania. W odpowiedzi organizacja zaczęła przechodzić na model żywego organizmu.</a:t>
            </a:r>
            <a:endParaRPr lang="en-US" dirty="0"/>
          </a:p>
          <a:p>
            <a:endParaRPr lang="en-US" dirty="0"/>
          </a:p>
          <a:p>
            <a:r>
              <a:rPr lang="pl-PL" dirty="0"/>
              <a:t>https://mfiles.pl/pl/index.php/Metafora_organizacji</a:t>
            </a:r>
          </a:p>
        </p:txBody>
      </p:sp>
      <p:sp>
        <p:nvSpPr>
          <p:cNvPr id="4" name="Symbol zastępczy numeru slajdu 3"/>
          <p:cNvSpPr>
            <a:spLocks noGrp="1"/>
          </p:cNvSpPr>
          <p:nvPr>
            <p:ph type="sldNum" sz="quarter" idx="5"/>
          </p:nvPr>
        </p:nvSpPr>
        <p:spPr/>
        <p:txBody>
          <a:bodyPr/>
          <a:lstStyle/>
          <a:p>
            <a:fld id="{DEDB668A-0072-483E-BAB3-71BB4A8EDC94}" type="slidenum">
              <a:rPr lang="pl-PL" smtClean="0"/>
              <a:t>19</a:t>
            </a:fld>
            <a:endParaRPr lang="pl-PL"/>
          </a:p>
        </p:txBody>
      </p:sp>
    </p:spTree>
    <p:extLst>
      <p:ext uri="{BB962C8B-B14F-4D97-AF65-F5344CB8AC3E}">
        <p14:creationId xmlns:p14="http://schemas.microsoft.com/office/powerpoint/2010/main" val="35919172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Zespół nie jest już postrzegany jako zestaw stanowisk, ale jako dynamiczna sieć współpracujących specjalistów. Lider nie kontroluje każdego ruchu, lecz wspiera rozwój całego systemu.</a:t>
            </a:r>
            <a:endParaRPr lang="en-US" dirty="0"/>
          </a:p>
          <a:p>
            <a:endParaRPr lang="en-US" dirty="0"/>
          </a:p>
          <a:p>
            <a:r>
              <a:rPr lang="pl-PL" dirty="0"/>
              <a:t>https://mfiles.pl/pl/index.php/Metafora_organizacji</a:t>
            </a:r>
          </a:p>
        </p:txBody>
      </p:sp>
      <p:sp>
        <p:nvSpPr>
          <p:cNvPr id="4" name="Symbol zastępczy numeru slajdu 3"/>
          <p:cNvSpPr>
            <a:spLocks noGrp="1"/>
          </p:cNvSpPr>
          <p:nvPr>
            <p:ph type="sldNum" sz="quarter" idx="5"/>
          </p:nvPr>
        </p:nvSpPr>
        <p:spPr/>
        <p:txBody>
          <a:bodyPr/>
          <a:lstStyle/>
          <a:p>
            <a:fld id="{DEDB668A-0072-483E-BAB3-71BB4A8EDC94}" type="slidenum">
              <a:rPr lang="pl-PL" smtClean="0"/>
              <a:t>20</a:t>
            </a:fld>
            <a:endParaRPr lang="pl-PL"/>
          </a:p>
        </p:txBody>
      </p:sp>
    </p:spTree>
    <p:extLst>
      <p:ext uri="{BB962C8B-B14F-4D97-AF65-F5344CB8AC3E}">
        <p14:creationId xmlns:p14="http://schemas.microsoft.com/office/powerpoint/2010/main" val="11399925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NovaStack</a:t>
            </a:r>
            <a:r>
              <a:rPr lang="pl-PL" dirty="0"/>
              <a:t> wdrożenie pełnego CI/CD pozwoliło ograniczyć czas publikacji nowej wersji systemu z kilku dni do kilkunastu minut. Programiści przestali czekać na ręczne testy i zatwierdzenia, ponieważ większość kontroli została zautomatyzowana.</a:t>
            </a:r>
            <a:endParaRPr lang="en-US" dirty="0"/>
          </a:p>
          <a:p>
            <a:endParaRPr lang="en-US" dirty="0"/>
          </a:p>
          <a:p>
            <a:r>
              <a:rPr lang="pl-PL" dirty="0"/>
              <a:t>https://justjoin.it/blog/ci-cd-jak-wdrozyc-ciagla-integracje-i-dostarczanie</a:t>
            </a:r>
            <a:endParaRPr lang="en-US" dirty="0"/>
          </a:p>
          <a:p>
            <a:r>
              <a:rPr lang="pl-PL" dirty="0"/>
              <a:t>https://blog.it-leaders.pl/czym-jest-ci-cd-wprowadzenie-do-ci-cd-dla-poczatkujacych/</a:t>
            </a:r>
          </a:p>
        </p:txBody>
      </p:sp>
      <p:sp>
        <p:nvSpPr>
          <p:cNvPr id="4" name="Symbol zastępczy numeru slajdu 3"/>
          <p:cNvSpPr>
            <a:spLocks noGrp="1"/>
          </p:cNvSpPr>
          <p:nvPr>
            <p:ph type="sldNum" sz="quarter" idx="5"/>
          </p:nvPr>
        </p:nvSpPr>
        <p:spPr/>
        <p:txBody>
          <a:bodyPr/>
          <a:lstStyle/>
          <a:p>
            <a:fld id="{DEDB668A-0072-483E-BAB3-71BB4A8EDC94}" type="slidenum">
              <a:rPr lang="pl-PL" smtClean="0"/>
              <a:t>21</a:t>
            </a:fld>
            <a:endParaRPr lang="pl-PL"/>
          </a:p>
        </p:txBody>
      </p:sp>
    </p:spTree>
    <p:extLst>
      <p:ext uri="{BB962C8B-B14F-4D97-AF65-F5344CB8AC3E}">
        <p14:creationId xmlns:p14="http://schemas.microsoft.com/office/powerpoint/2010/main" val="9303239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Dzięki temu zespół może poświęcać więcej czasu na rozwój produktu, a mniej na obsługę procesu technicznego. Automatyzacja nie zwiększa jedynie szybkości. Zwiększa także jakość oraz stabilność pracy całej organizacji.</a:t>
            </a:r>
            <a:endParaRPr lang="en-US" dirty="0"/>
          </a:p>
          <a:p>
            <a:endParaRPr lang="en-US" dirty="0"/>
          </a:p>
          <a:p>
            <a:r>
              <a:rPr lang="pl-PL" dirty="0"/>
              <a:t>https://justjoin.it/blog/ci-cd-jak-wdrozyc-ciagla-integracje-i-dostarczanie</a:t>
            </a:r>
            <a:endParaRPr lang="en-US" dirty="0"/>
          </a:p>
          <a:p>
            <a:r>
              <a:rPr lang="pl-PL" dirty="0"/>
              <a:t>https://blog.it-leaders.pl/czym-jest-ci-cd-wprowadzenie-do-ci-cd-dla-poczatkujacych/</a:t>
            </a:r>
          </a:p>
          <a:p>
            <a:endParaRPr lang="pl-PL" dirty="0"/>
          </a:p>
        </p:txBody>
      </p:sp>
      <p:sp>
        <p:nvSpPr>
          <p:cNvPr id="4" name="Symbol zastępczy numeru slajdu 3"/>
          <p:cNvSpPr>
            <a:spLocks noGrp="1"/>
          </p:cNvSpPr>
          <p:nvPr>
            <p:ph type="sldNum" sz="quarter" idx="5"/>
          </p:nvPr>
        </p:nvSpPr>
        <p:spPr/>
        <p:txBody>
          <a:bodyPr/>
          <a:lstStyle/>
          <a:p>
            <a:fld id="{DEDB668A-0072-483E-BAB3-71BB4A8EDC94}" type="slidenum">
              <a:rPr lang="pl-PL" smtClean="0"/>
              <a:t>22</a:t>
            </a:fld>
            <a:endParaRPr lang="pl-PL"/>
          </a:p>
        </p:txBody>
      </p:sp>
    </p:spTree>
    <p:extLst>
      <p:ext uri="{BB962C8B-B14F-4D97-AF65-F5344CB8AC3E}">
        <p14:creationId xmlns:p14="http://schemas.microsoft.com/office/powerpoint/2010/main" val="27944085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NovaStack</a:t>
            </a:r>
            <a:r>
              <a:rPr lang="pl-PL" dirty="0"/>
              <a:t> zauważono, że najlepsi liderzy nie byli tymi, którzy najlepiej rozumieli technologię, lecz tymi, którzy najlepiej rozumieli ludzi. W pracy rozproszonej, międzykulturowej i silnie opartej na współpracy umiejętność rozpoznawania emocji zaczęła wpływać bezpośrednio na efektywność całego zespołu.</a:t>
            </a:r>
          </a:p>
        </p:txBody>
      </p:sp>
      <p:sp>
        <p:nvSpPr>
          <p:cNvPr id="4" name="Symbol zastępczy numeru slajdu 3"/>
          <p:cNvSpPr>
            <a:spLocks noGrp="1"/>
          </p:cNvSpPr>
          <p:nvPr>
            <p:ph type="sldNum" sz="quarter" idx="5"/>
          </p:nvPr>
        </p:nvSpPr>
        <p:spPr/>
        <p:txBody>
          <a:bodyPr/>
          <a:lstStyle/>
          <a:p>
            <a:fld id="{DEDB668A-0072-483E-BAB3-71BB4A8EDC94}" type="slidenum">
              <a:rPr lang="pl-PL" smtClean="0"/>
              <a:t>23</a:t>
            </a:fld>
            <a:endParaRPr lang="pl-PL"/>
          </a:p>
        </p:txBody>
      </p:sp>
    </p:spTree>
    <p:extLst>
      <p:ext uri="{BB962C8B-B14F-4D97-AF65-F5344CB8AC3E}">
        <p14:creationId xmlns:p14="http://schemas.microsoft.com/office/powerpoint/2010/main" val="2302781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NovaStack</a:t>
            </a:r>
            <a:r>
              <a:rPr lang="pl-PL" dirty="0"/>
              <a:t> firma zaczęła zauważać, że samo mierzenie produktywności programistów nie pokazuje, gdzie naprawdę powstają opóźnienia. Problemy często pojawiały się między działami, a nie wewnątrz nich. W odpowiedzi wdrożono podejście Value </a:t>
            </a:r>
            <a:r>
              <a:rPr lang="pl-PL" dirty="0" err="1"/>
              <a:t>Stream</a:t>
            </a:r>
            <a:r>
              <a:rPr lang="pl-PL" dirty="0"/>
              <a:t> Management.</a:t>
            </a:r>
            <a:endParaRPr lang="en-US" dirty="0"/>
          </a:p>
          <a:p>
            <a:endParaRPr lang="en-US" dirty="0"/>
          </a:p>
          <a:p>
            <a:r>
              <a:rPr lang="pl-PL" dirty="0"/>
              <a:t>Pozwala ono monitorować:</a:t>
            </a:r>
          </a:p>
          <a:p>
            <a:r>
              <a:rPr lang="en-US" dirty="0"/>
              <a:t>- </a:t>
            </a:r>
            <a:r>
              <a:rPr lang="pl-PL" dirty="0"/>
              <a:t>czas od pomysłu do wdrożenia, </a:t>
            </a:r>
          </a:p>
          <a:p>
            <a:r>
              <a:rPr lang="en-US" dirty="0"/>
              <a:t>- </a:t>
            </a:r>
            <a:r>
              <a:rPr lang="pl-PL" dirty="0"/>
              <a:t>liczbę blokad, </a:t>
            </a:r>
          </a:p>
          <a:p>
            <a:r>
              <a:rPr lang="en-US" dirty="0"/>
              <a:t>- </a:t>
            </a:r>
            <a:r>
              <a:rPr lang="pl-PL" dirty="0"/>
              <a:t>przepływ pracy, </a:t>
            </a:r>
          </a:p>
          <a:p>
            <a:r>
              <a:rPr lang="en-US" dirty="0"/>
              <a:t>- </a:t>
            </a:r>
            <a:r>
              <a:rPr lang="pl-PL" dirty="0"/>
              <a:t>wpływ zmian na klienta, </a:t>
            </a:r>
          </a:p>
          <a:p>
            <a:r>
              <a:rPr lang="en-US" dirty="0"/>
              <a:t>- </a:t>
            </a:r>
            <a:r>
              <a:rPr lang="pl-PL" dirty="0"/>
              <a:t>rzeczywistą wartość biznesową.</a:t>
            </a:r>
            <a:endParaRPr lang="en-US" dirty="0"/>
          </a:p>
          <a:p>
            <a:endParaRPr lang="en-US" dirty="0"/>
          </a:p>
          <a:p>
            <a:r>
              <a:rPr lang="pl-PL" dirty="0"/>
              <a:t>https://www.6sigma.us/business-process-management-articles/value-stream-management-vsm/</a:t>
            </a:r>
          </a:p>
        </p:txBody>
      </p:sp>
      <p:sp>
        <p:nvSpPr>
          <p:cNvPr id="4" name="Symbol zastępczy numeru slajdu 3"/>
          <p:cNvSpPr>
            <a:spLocks noGrp="1"/>
          </p:cNvSpPr>
          <p:nvPr>
            <p:ph type="sldNum" sz="quarter" idx="5"/>
          </p:nvPr>
        </p:nvSpPr>
        <p:spPr/>
        <p:txBody>
          <a:bodyPr/>
          <a:lstStyle/>
          <a:p>
            <a:fld id="{DEDB668A-0072-483E-BAB3-71BB4A8EDC94}" type="slidenum">
              <a:rPr lang="pl-PL" smtClean="0"/>
              <a:t>24</a:t>
            </a:fld>
            <a:endParaRPr lang="pl-PL"/>
          </a:p>
        </p:txBody>
      </p:sp>
    </p:spTree>
    <p:extLst>
      <p:ext uri="{BB962C8B-B14F-4D97-AF65-F5344CB8AC3E}">
        <p14:creationId xmlns:p14="http://schemas.microsoft.com/office/powerpoint/2010/main" val="22842689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To oznacza przesunięcie z zarządzania zadaniami do zarządzania przepływem wartości.</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https://www.6sigma.us/business-process-management-articles/value-stream-management-vsm/</a:t>
            </a:r>
          </a:p>
          <a:p>
            <a:endParaRPr lang="pl-PL" dirty="0"/>
          </a:p>
        </p:txBody>
      </p:sp>
      <p:sp>
        <p:nvSpPr>
          <p:cNvPr id="4" name="Symbol zastępczy numeru slajdu 3"/>
          <p:cNvSpPr>
            <a:spLocks noGrp="1"/>
          </p:cNvSpPr>
          <p:nvPr>
            <p:ph type="sldNum" sz="quarter" idx="5"/>
          </p:nvPr>
        </p:nvSpPr>
        <p:spPr/>
        <p:txBody>
          <a:bodyPr/>
          <a:lstStyle/>
          <a:p>
            <a:fld id="{DEDB668A-0072-483E-BAB3-71BB4A8EDC94}" type="slidenum">
              <a:rPr lang="pl-PL" smtClean="0"/>
              <a:t>25</a:t>
            </a:fld>
            <a:endParaRPr lang="pl-PL"/>
          </a:p>
        </p:txBody>
      </p:sp>
    </p:spTree>
    <p:extLst>
      <p:ext uri="{BB962C8B-B14F-4D97-AF65-F5344CB8AC3E}">
        <p14:creationId xmlns:p14="http://schemas.microsoft.com/office/powerpoint/2010/main" val="19289366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NovaStack</a:t>
            </a:r>
            <a:r>
              <a:rPr lang="pl-PL" dirty="0"/>
              <a:t> część zespołu pracuje w Warszawie, część w Berlinie, a kilku specjalistów pracuje zdalnie z innych krajów. Firma zauważyła, że nie każda forma komunikacji sprawdza się w każdej sytuacji. Krótkie decyzje operacyjne dobrze funkcjonują w komunikatorach tekstowych, ale bardziej złożone problemy architektoniczne wymagają rozmowy głosowej lub spotkania wideo.</a:t>
            </a:r>
            <a:endParaRPr lang="en-US" dirty="0"/>
          </a:p>
          <a:p>
            <a:pPr marL="0" indent="0">
              <a:buNone/>
            </a:pPr>
            <a:r>
              <a:rPr lang="pl-PL" dirty="0"/>
              <a:t>W praktyce dobór narzędzi zaczyna zależeć od charakteru informacji:</a:t>
            </a:r>
          </a:p>
          <a:p>
            <a:r>
              <a:rPr lang="en-US" dirty="0"/>
              <a:t>a) </a:t>
            </a:r>
            <a:r>
              <a:rPr lang="pl-PL" dirty="0"/>
              <a:t>komunikatory służą do szybkich ustaleń</a:t>
            </a:r>
          </a:p>
          <a:p>
            <a:r>
              <a:rPr lang="en-US" dirty="0"/>
              <a:t>b) </a:t>
            </a:r>
            <a:r>
              <a:rPr lang="pl-PL" dirty="0"/>
              <a:t>wideokonferencje wspierają budowanie relacji</a:t>
            </a:r>
          </a:p>
          <a:p>
            <a:r>
              <a:rPr lang="en-US" dirty="0"/>
              <a:t>c) </a:t>
            </a:r>
            <a:r>
              <a:rPr lang="pl-PL" dirty="0"/>
              <a:t>tablice cyfrowe pomagają planować</a:t>
            </a:r>
          </a:p>
          <a:p>
            <a:r>
              <a:rPr lang="en-US" dirty="0"/>
              <a:t>d) </a:t>
            </a:r>
            <a:r>
              <a:rPr lang="pl-PL" dirty="0"/>
              <a:t>systemy dokumentacji przechowują wiedzę</a:t>
            </a:r>
          </a:p>
          <a:p>
            <a:r>
              <a:rPr lang="en-US" dirty="0"/>
              <a:t>e) </a:t>
            </a:r>
            <a:r>
              <a:rPr lang="pl-PL" dirty="0"/>
              <a:t>narzędzia asynchroniczne wspierają różne strefy czasowe</a:t>
            </a:r>
            <a:endParaRPr lang="en-US" dirty="0"/>
          </a:p>
          <a:p>
            <a:endParaRPr lang="en-US" dirty="0"/>
          </a:p>
          <a:p>
            <a:r>
              <a:rPr lang="pl-PL" dirty="0"/>
              <a:t>https://workai.com/pl/blog-pl/zarzadzanie-zespolem-rozproszonym/</a:t>
            </a:r>
          </a:p>
        </p:txBody>
      </p:sp>
      <p:sp>
        <p:nvSpPr>
          <p:cNvPr id="4" name="Symbol zastępczy numeru slajdu 3"/>
          <p:cNvSpPr>
            <a:spLocks noGrp="1"/>
          </p:cNvSpPr>
          <p:nvPr>
            <p:ph type="sldNum" sz="quarter" idx="5"/>
          </p:nvPr>
        </p:nvSpPr>
        <p:spPr/>
        <p:txBody>
          <a:bodyPr/>
          <a:lstStyle/>
          <a:p>
            <a:fld id="{DEDB668A-0072-483E-BAB3-71BB4A8EDC94}" type="slidenum">
              <a:rPr lang="pl-PL" smtClean="0"/>
              <a:t>26</a:t>
            </a:fld>
            <a:endParaRPr lang="pl-PL"/>
          </a:p>
        </p:txBody>
      </p:sp>
    </p:spTree>
    <p:extLst>
      <p:ext uri="{BB962C8B-B14F-4D97-AF65-F5344CB8AC3E}">
        <p14:creationId xmlns:p14="http://schemas.microsoft.com/office/powerpoint/2010/main" val="20198742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NovaStack</a:t>
            </a:r>
            <a:r>
              <a:rPr lang="pl-PL" dirty="0"/>
              <a:t> początkowo przyjęto, że funkcjonalność jest gotowa wtedy, gdy działa technicznie i przejdzie testy automatyczne. Po kilku miesiącach część zespołu zaczęła uznawać zadanie za zakończone już po napisaniu kodu, inni dopiero po wdrożeniu na produkcję, a jeszcze inni po akceptacji biznesowej.</a:t>
            </a:r>
            <a:endParaRPr lang="en-US" dirty="0"/>
          </a:p>
          <a:p>
            <a:endParaRPr lang="en-US" dirty="0"/>
          </a:p>
          <a:p>
            <a:r>
              <a:rPr lang="pl-PL" dirty="0" err="1"/>
              <a:t>Done</a:t>
            </a:r>
            <a:r>
              <a:rPr lang="pl-PL" dirty="0"/>
              <a:t> </a:t>
            </a:r>
            <a:r>
              <a:rPr lang="pl-PL" dirty="0" err="1"/>
              <a:t>drift</a:t>
            </a:r>
            <a:r>
              <a:rPr lang="pl-PL" dirty="0"/>
              <a:t> jest niebezpieczny, ponieważ nie pojawia się nagle. Powstaje stopniowo i często pozostaje niezauważony do momentu, gdy organizacja zaczyna tracić kontrolę nad jakością końcową produktu.</a:t>
            </a:r>
            <a:r>
              <a:rPr lang="en-US" dirty="0"/>
              <a:t> </a:t>
            </a:r>
            <a:r>
              <a:rPr lang="pl-PL" dirty="0"/>
              <a:t>Dlatego w przyszłych zespołach IT coraz większe znaczenie będzie miało regularne odświeżanie wspólnej definicji jakości.</a:t>
            </a:r>
          </a:p>
          <a:p>
            <a:endParaRPr lang="pl-PL" dirty="0"/>
          </a:p>
        </p:txBody>
      </p:sp>
      <p:sp>
        <p:nvSpPr>
          <p:cNvPr id="4" name="Symbol zastępczy numeru slajdu 3"/>
          <p:cNvSpPr>
            <a:spLocks noGrp="1"/>
          </p:cNvSpPr>
          <p:nvPr>
            <p:ph type="sldNum" sz="quarter" idx="5"/>
          </p:nvPr>
        </p:nvSpPr>
        <p:spPr/>
        <p:txBody>
          <a:bodyPr/>
          <a:lstStyle/>
          <a:p>
            <a:fld id="{DEDB668A-0072-483E-BAB3-71BB4A8EDC94}" type="slidenum">
              <a:rPr lang="pl-PL" smtClean="0"/>
              <a:t>27</a:t>
            </a:fld>
            <a:endParaRPr lang="pl-PL"/>
          </a:p>
        </p:txBody>
      </p:sp>
    </p:spTree>
    <p:extLst>
      <p:ext uri="{BB962C8B-B14F-4D97-AF65-F5344CB8AC3E}">
        <p14:creationId xmlns:p14="http://schemas.microsoft.com/office/powerpoint/2010/main" val="5479874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NovaStack</a:t>
            </a:r>
            <a:r>
              <a:rPr lang="pl-PL" dirty="0"/>
              <a:t> firma zaczęła wykorzystywać algorytmy oceniające ryzyko finansowe klientów. Zespół szybko zauważył, że model technicznie działa poprawnie, ale może podejmować decyzje faworyzujące jedne grupy użytkowników kosztem innych. To pokazało, że system może być poprawny technicznie, a jednocześnie problematyczny społecznie.</a:t>
            </a:r>
            <a:endParaRPr lang="en-US" dirty="0"/>
          </a:p>
          <a:p>
            <a:endParaRPr lang="en-US" dirty="0"/>
          </a:p>
          <a:p>
            <a:r>
              <a:rPr lang="pl-PL" dirty="0"/>
              <a:t>https://www.prometric.com/pl/blog/ethical-ai-fair-reliable-testing/</a:t>
            </a:r>
          </a:p>
        </p:txBody>
      </p:sp>
      <p:sp>
        <p:nvSpPr>
          <p:cNvPr id="4" name="Symbol zastępczy numeru slajdu 3"/>
          <p:cNvSpPr>
            <a:spLocks noGrp="1"/>
          </p:cNvSpPr>
          <p:nvPr>
            <p:ph type="sldNum" sz="quarter" idx="5"/>
          </p:nvPr>
        </p:nvSpPr>
        <p:spPr/>
        <p:txBody>
          <a:bodyPr/>
          <a:lstStyle/>
          <a:p>
            <a:fld id="{DEDB668A-0072-483E-BAB3-71BB4A8EDC94}" type="slidenum">
              <a:rPr lang="pl-PL" smtClean="0"/>
              <a:t>28</a:t>
            </a:fld>
            <a:endParaRPr lang="pl-PL"/>
          </a:p>
        </p:txBody>
      </p:sp>
    </p:spTree>
    <p:extLst>
      <p:ext uri="{BB962C8B-B14F-4D97-AF65-F5344CB8AC3E}">
        <p14:creationId xmlns:p14="http://schemas.microsoft.com/office/powerpoint/2010/main" val="3517085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przyszłości zespoły IT będą oceniane nie tylko za to, czy system działa, ale również za to, czy działa uczciwie. Oznacza to, że etyka staje się elementem jakości produktu</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pl-PL" dirty="0"/>
              <a:t>https://www.prometric.com/pl/blog/ethical-ai-fair-reliable-testing/</a:t>
            </a:r>
          </a:p>
        </p:txBody>
      </p:sp>
      <p:sp>
        <p:nvSpPr>
          <p:cNvPr id="4" name="Symbol zastępczy numeru slajdu 3"/>
          <p:cNvSpPr>
            <a:spLocks noGrp="1"/>
          </p:cNvSpPr>
          <p:nvPr>
            <p:ph type="sldNum" sz="quarter" idx="5"/>
          </p:nvPr>
        </p:nvSpPr>
        <p:spPr/>
        <p:txBody>
          <a:bodyPr/>
          <a:lstStyle/>
          <a:p>
            <a:fld id="{DEDB668A-0072-483E-BAB3-71BB4A8EDC94}" type="slidenum">
              <a:rPr lang="pl-PL" smtClean="0"/>
              <a:t>29</a:t>
            </a:fld>
            <a:endParaRPr lang="pl-PL"/>
          </a:p>
        </p:txBody>
      </p:sp>
    </p:spTree>
    <p:extLst>
      <p:ext uri="{BB962C8B-B14F-4D97-AF65-F5344CB8AC3E}">
        <p14:creationId xmlns:p14="http://schemas.microsoft.com/office/powerpoint/2010/main" val="14032781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W </a:t>
            </a:r>
            <a:r>
              <a:rPr lang="pl-PL" dirty="0" err="1"/>
              <a:t>NovaStack</a:t>
            </a:r>
            <a:r>
              <a:rPr lang="pl-PL" dirty="0"/>
              <a:t> dawniej istniały osobne działy analizy, rozwoju i utrzymania. Wraz z rozwojem firmy coraz więcej inicjatyw zaczęto realizować w formie krótkoterminowych zespołów skupionych wokół konkretnego celu biznesowego.</a:t>
            </a:r>
          </a:p>
        </p:txBody>
      </p:sp>
      <p:sp>
        <p:nvSpPr>
          <p:cNvPr id="4" name="Symbol zastępczy numeru slajdu 3"/>
          <p:cNvSpPr>
            <a:spLocks noGrp="1"/>
          </p:cNvSpPr>
          <p:nvPr>
            <p:ph type="sldNum" sz="quarter" idx="5"/>
          </p:nvPr>
        </p:nvSpPr>
        <p:spPr/>
        <p:txBody>
          <a:bodyPr/>
          <a:lstStyle/>
          <a:p>
            <a:fld id="{DEDB668A-0072-483E-BAB3-71BB4A8EDC94}" type="slidenum">
              <a:rPr lang="pl-PL" smtClean="0"/>
              <a:t>30</a:t>
            </a:fld>
            <a:endParaRPr lang="pl-PL"/>
          </a:p>
        </p:txBody>
      </p:sp>
    </p:spTree>
    <p:extLst>
      <p:ext uri="{BB962C8B-B14F-4D97-AF65-F5344CB8AC3E}">
        <p14:creationId xmlns:p14="http://schemas.microsoft.com/office/powerpoint/2010/main" val="30455227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r>
              <a:rPr lang="pl-PL" dirty="0"/>
              <a:t>Historia </a:t>
            </a:r>
            <a:r>
              <a:rPr lang="pl-PL" dirty="0" err="1"/>
              <a:t>NovaStack</a:t>
            </a:r>
            <a:r>
              <a:rPr lang="pl-PL" dirty="0"/>
              <a:t> pokazuje, że przyszłość pracy zespołowej w IT nie polega jedynie na wdrażaniu nowych narzędzi. Najważniejsza zmiana dotyczy sposobu myślenia o organizacji. Firma, która kiedyś działała jak klasyczny software </a:t>
            </a:r>
            <a:r>
              <a:rPr lang="pl-PL" dirty="0" err="1"/>
              <a:t>house</a:t>
            </a:r>
            <a:r>
              <a:rPr lang="pl-PL" dirty="0"/>
              <a:t>, stopniowo przekształciła się w organizację uczącą się, elastyczną i opartą na współodpowiedzialności</a:t>
            </a:r>
          </a:p>
        </p:txBody>
      </p:sp>
      <p:sp>
        <p:nvSpPr>
          <p:cNvPr id="4" name="Symbol zastępczy numeru slajdu 3"/>
          <p:cNvSpPr>
            <a:spLocks noGrp="1"/>
          </p:cNvSpPr>
          <p:nvPr>
            <p:ph type="sldNum" sz="quarter" idx="5"/>
          </p:nvPr>
        </p:nvSpPr>
        <p:spPr/>
        <p:txBody>
          <a:bodyPr/>
          <a:lstStyle/>
          <a:p>
            <a:fld id="{DEDB668A-0072-483E-BAB3-71BB4A8EDC94}" type="slidenum">
              <a:rPr lang="pl-PL" smtClean="0"/>
              <a:t>31</a:t>
            </a:fld>
            <a:endParaRPr lang="pl-PL"/>
          </a:p>
        </p:txBody>
      </p:sp>
    </p:spTree>
    <p:extLst>
      <p:ext uri="{BB962C8B-B14F-4D97-AF65-F5344CB8AC3E}">
        <p14:creationId xmlns:p14="http://schemas.microsoft.com/office/powerpoint/2010/main" val="674509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DD129-A8C2-419E-B641-6CC90F50732D}"/>
              </a:ext>
            </a:extLst>
          </p:cNvPr>
          <p:cNvSpPr>
            <a:spLocks noGrp="1"/>
          </p:cNvSpPr>
          <p:nvPr>
            <p:ph type="ctrTitle"/>
          </p:nvPr>
        </p:nvSpPr>
        <p:spPr>
          <a:xfrm>
            <a:off x="762000" y="1524000"/>
            <a:ext cx="10668000" cy="22860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B33C04-8A23-4499-A6EF-1D190F0FB38E}"/>
              </a:ext>
            </a:extLst>
          </p:cNvPr>
          <p:cNvSpPr>
            <a:spLocks noGrp="1"/>
          </p:cNvSpPr>
          <p:nvPr>
            <p:ph type="subTitle" idx="1"/>
          </p:nvPr>
        </p:nvSpPr>
        <p:spPr>
          <a:xfrm>
            <a:off x="762000" y="4571999"/>
            <a:ext cx="10668000" cy="15240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FA99FB-5674-4BC5-949F-8D45EC167511}"/>
              </a:ext>
            </a:extLst>
          </p:cNvPr>
          <p:cNvSpPr>
            <a:spLocks noGrp="1"/>
          </p:cNvSpPr>
          <p:nvPr>
            <p:ph type="dt" sz="half" idx="10"/>
          </p:nvPr>
        </p:nvSpPr>
        <p:spPr/>
        <p:txBody>
          <a:bodyPr/>
          <a:lstStyle/>
          <a:p>
            <a:fld id="{76969C88-B244-455D-A017-012B25B1ACDD}" type="datetimeFigureOut">
              <a:rPr lang="en-US" smtClean="0"/>
              <a:t>4/18/2026</a:t>
            </a:fld>
            <a:endParaRPr lang="en-US"/>
          </a:p>
        </p:txBody>
      </p:sp>
      <p:sp>
        <p:nvSpPr>
          <p:cNvPr id="5" name="Footer Placeholder 4">
            <a:extLst>
              <a:ext uri="{FF2B5EF4-FFF2-40B4-BE49-F238E27FC236}">
                <a16:creationId xmlns:a16="http://schemas.microsoft.com/office/drawing/2014/main" id="{0763CF93-DD67-4FE2-8083-864693FE8E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05E934-32B6-44B1-9622-67F30BDA3F3A}"/>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076979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AF011-A499-4054-89BF-A4800A68F60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66FB6E8-D956-45B5-9B4A-9D31DF466B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CDB9DB-9E62-4292-915C-1DD4134740DB}"/>
              </a:ext>
            </a:extLst>
          </p:cNvPr>
          <p:cNvSpPr>
            <a:spLocks noGrp="1"/>
          </p:cNvSpPr>
          <p:nvPr>
            <p:ph type="dt" sz="half" idx="10"/>
          </p:nvPr>
        </p:nvSpPr>
        <p:spPr/>
        <p:txBody>
          <a:bodyPr/>
          <a:lstStyle/>
          <a:p>
            <a:fld id="{76969C88-B244-455D-A017-012B25B1ACDD}" type="datetimeFigureOut">
              <a:rPr lang="en-US" smtClean="0"/>
              <a:t>4/18/2026</a:t>
            </a:fld>
            <a:endParaRPr lang="en-US"/>
          </a:p>
        </p:txBody>
      </p:sp>
      <p:sp>
        <p:nvSpPr>
          <p:cNvPr id="5" name="Footer Placeholder 4">
            <a:extLst>
              <a:ext uri="{FF2B5EF4-FFF2-40B4-BE49-F238E27FC236}">
                <a16:creationId xmlns:a16="http://schemas.microsoft.com/office/drawing/2014/main" id="{2BD462F1-BC30-4172-8353-363123A1DB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92EE8A-96DF-4D7D-B434-778324756D04}"/>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962087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8453A-F2B4-4EDB-B8FA-150267BC1A9A}"/>
              </a:ext>
            </a:extLst>
          </p:cNvPr>
          <p:cNvSpPr>
            <a:spLocks noGrp="1"/>
          </p:cNvSpPr>
          <p:nvPr>
            <p:ph type="title"/>
          </p:nvPr>
        </p:nvSpPr>
        <p:spPr>
          <a:xfrm>
            <a:off x="762000" y="1524000"/>
            <a:ext cx="10668000" cy="3038475"/>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C46C51-ADF1-48FC-A4D9-38C369E78304}"/>
              </a:ext>
            </a:extLst>
          </p:cNvPr>
          <p:cNvSpPr>
            <a:spLocks noGrp="1"/>
          </p:cNvSpPr>
          <p:nvPr>
            <p:ph type="body" idx="1"/>
          </p:nvPr>
        </p:nvSpPr>
        <p:spPr>
          <a:xfrm>
            <a:off x="762000" y="4589463"/>
            <a:ext cx="10668000" cy="150653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C43B56-4DC7-490B-AEFD-55ED1ECFF82E}"/>
              </a:ext>
            </a:extLst>
          </p:cNvPr>
          <p:cNvSpPr>
            <a:spLocks noGrp="1"/>
          </p:cNvSpPr>
          <p:nvPr>
            <p:ph type="dt" sz="half" idx="10"/>
          </p:nvPr>
        </p:nvSpPr>
        <p:spPr/>
        <p:txBody>
          <a:bodyPr/>
          <a:lstStyle/>
          <a:p>
            <a:fld id="{76969C88-B244-455D-A017-012B25B1ACDD}" type="datetimeFigureOut">
              <a:rPr lang="en-US" smtClean="0"/>
              <a:t>4/18/2026</a:t>
            </a:fld>
            <a:endParaRPr lang="en-US"/>
          </a:p>
        </p:txBody>
      </p:sp>
      <p:sp>
        <p:nvSpPr>
          <p:cNvPr id="5" name="Footer Placeholder 4">
            <a:extLst>
              <a:ext uri="{FF2B5EF4-FFF2-40B4-BE49-F238E27FC236}">
                <a16:creationId xmlns:a16="http://schemas.microsoft.com/office/drawing/2014/main" id="{454738F8-C4B2-41D8-B627-A6DDB24B2D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F43D49-23F8-4C4B-9C30-EDC030EE6F7E}"/>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1624951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5556D-6916-42E6-8820-8A0D328A50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2747A5-C962-477F-89AA-A32385D57996}"/>
              </a:ext>
            </a:extLst>
          </p:cNvPr>
          <p:cNvSpPr>
            <a:spLocks noGrp="1"/>
          </p:cNvSpPr>
          <p:nvPr>
            <p:ph sz="half" idx="1"/>
          </p:nvPr>
        </p:nvSpPr>
        <p:spPr>
          <a:xfrm>
            <a:off x="762000" y="2285999"/>
            <a:ext cx="5151119"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D08312-30FC-44D8-B2A9-B5CAAD9F066F}"/>
              </a:ext>
            </a:extLst>
          </p:cNvPr>
          <p:cNvSpPr>
            <a:spLocks noGrp="1"/>
          </p:cNvSpPr>
          <p:nvPr>
            <p:ph sz="half" idx="2"/>
          </p:nvPr>
        </p:nvSpPr>
        <p:spPr>
          <a:xfrm>
            <a:off x="6278879" y="2285999"/>
            <a:ext cx="5151121"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ED84EB-AF90-4F19-A376-0FE5E50F9EA5}"/>
              </a:ext>
            </a:extLst>
          </p:cNvPr>
          <p:cNvSpPr>
            <a:spLocks noGrp="1"/>
          </p:cNvSpPr>
          <p:nvPr>
            <p:ph type="dt" sz="half" idx="10"/>
          </p:nvPr>
        </p:nvSpPr>
        <p:spPr/>
        <p:txBody>
          <a:bodyPr/>
          <a:lstStyle/>
          <a:p>
            <a:fld id="{76969C88-B244-455D-A017-012B25B1ACDD}" type="datetimeFigureOut">
              <a:rPr lang="en-US" smtClean="0"/>
              <a:t>4/18/2026</a:t>
            </a:fld>
            <a:endParaRPr lang="en-US"/>
          </a:p>
        </p:txBody>
      </p:sp>
      <p:sp>
        <p:nvSpPr>
          <p:cNvPr id="6" name="Footer Placeholder 5">
            <a:extLst>
              <a:ext uri="{FF2B5EF4-FFF2-40B4-BE49-F238E27FC236}">
                <a16:creationId xmlns:a16="http://schemas.microsoft.com/office/drawing/2014/main" id="{7B838ED0-2789-41E4-A36E-83F92CA2E8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221A83-6D60-45F0-9173-5F6D2438BC36}"/>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301241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FFAE2-03F4-4A94-86C4-9305B237CA89}"/>
              </a:ext>
            </a:extLst>
          </p:cNvPr>
          <p:cNvSpPr>
            <a:spLocks noGrp="1"/>
          </p:cNvSpPr>
          <p:nvPr>
            <p:ph type="title"/>
          </p:nvPr>
        </p:nvSpPr>
        <p:spPr>
          <a:xfrm>
            <a:off x="762000" y="762000"/>
            <a:ext cx="10668000" cy="15240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BAC5A5-E184-46B6-8AB5-C8E132D3624B}"/>
              </a:ext>
            </a:extLst>
          </p:cNvPr>
          <p:cNvSpPr>
            <a:spLocks noGrp="1"/>
          </p:cNvSpPr>
          <p:nvPr>
            <p:ph type="body" idx="1"/>
          </p:nvPr>
        </p:nvSpPr>
        <p:spPr>
          <a:xfrm>
            <a:off x="762000" y="2285999"/>
            <a:ext cx="5151119"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DCFE87-5D80-45CB-9D13-DFC9AFCEC7F9}"/>
              </a:ext>
            </a:extLst>
          </p:cNvPr>
          <p:cNvSpPr>
            <a:spLocks noGrp="1"/>
          </p:cNvSpPr>
          <p:nvPr>
            <p:ph sz="half" idx="2"/>
          </p:nvPr>
        </p:nvSpPr>
        <p:spPr>
          <a:xfrm>
            <a:off x="762000" y="3048000"/>
            <a:ext cx="5151119"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AAC1E5A-8423-4749-8EDA-E13425F69658}"/>
              </a:ext>
            </a:extLst>
          </p:cNvPr>
          <p:cNvSpPr>
            <a:spLocks noGrp="1"/>
          </p:cNvSpPr>
          <p:nvPr>
            <p:ph type="body" sz="quarter" idx="3"/>
          </p:nvPr>
        </p:nvSpPr>
        <p:spPr>
          <a:xfrm>
            <a:off x="6278878" y="2286000"/>
            <a:ext cx="5151122"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32AAA-4BB8-4A3D-9C79-516F82F8001D}"/>
              </a:ext>
            </a:extLst>
          </p:cNvPr>
          <p:cNvSpPr>
            <a:spLocks noGrp="1"/>
          </p:cNvSpPr>
          <p:nvPr>
            <p:ph sz="quarter" idx="4"/>
          </p:nvPr>
        </p:nvSpPr>
        <p:spPr>
          <a:xfrm>
            <a:off x="6278878" y="3048000"/>
            <a:ext cx="5151122"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0BEC63-51D3-4C70-B804-BE9EF765AD21}"/>
              </a:ext>
            </a:extLst>
          </p:cNvPr>
          <p:cNvSpPr>
            <a:spLocks noGrp="1"/>
          </p:cNvSpPr>
          <p:nvPr>
            <p:ph type="dt" sz="half" idx="10"/>
          </p:nvPr>
        </p:nvSpPr>
        <p:spPr/>
        <p:txBody>
          <a:bodyPr/>
          <a:lstStyle/>
          <a:p>
            <a:fld id="{76969C88-B244-455D-A017-012B25B1ACDD}" type="datetimeFigureOut">
              <a:rPr lang="en-US" smtClean="0"/>
              <a:t>4/18/2026</a:t>
            </a:fld>
            <a:endParaRPr lang="en-US"/>
          </a:p>
        </p:txBody>
      </p:sp>
      <p:sp>
        <p:nvSpPr>
          <p:cNvPr id="8" name="Footer Placeholder 7">
            <a:extLst>
              <a:ext uri="{FF2B5EF4-FFF2-40B4-BE49-F238E27FC236}">
                <a16:creationId xmlns:a16="http://schemas.microsoft.com/office/drawing/2014/main" id="{735CA295-8563-402F-92C3-1F20C977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FA5918-109D-4342-84C0-9774A52C9E78}"/>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1382485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2662-CBD1-4498-9B6E-2961F5EF1B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F739AE-8101-4C18-8CF3-911BDF3978A8}"/>
              </a:ext>
            </a:extLst>
          </p:cNvPr>
          <p:cNvSpPr>
            <a:spLocks noGrp="1"/>
          </p:cNvSpPr>
          <p:nvPr>
            <p:ph type="dt" sz="half" idx="10"/>
          </p:nvPr>
        </p:nvSpPr>
        <p:spPr/>
        <p:txBody>
          <a:bodyPr/>
          <a:lstStyle/>
          <a:p>
            <a:fld id="{76969C88-B244-455D-A017-012B25B1ACDD}" type="datetimeFigureOut">
              <a:rPr lang="en-US" smtClean="0"/>
              <a:t>4/18/2026</a:t>
            </a:fld>
            <a:endParaRPr lang="en-US"/>
          </a:p>
        </p:txBody>
      </p:sp>
      <p:sp>
        <p:nvSpPr>
          <p:cNvPr id="4" name="Footer Placeholder 3">
            <a:extLst>
              <a:ext uri="{FF2B5EF4-FFF2-40B4-BE49-F238E27FC236}">
                <a16:creationId xmlns:a16="http://schemas.microsoft.com/office/drawing/2014/main" id="{66EB1C88-D181-449C-9BE1-E85068C188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38A2C9-E93B-4F0A-A021-9E3AEBC3FA88}"/>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936943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0AE8D9-9B42-438E-ADA6-CCFE45788460}"/>
              </a:ext>
            </a:extLst>
          </p:cNvPr>
          <p:cNvSpPr>
            <a:spLocks noGrp="1"/>
          </p:cNvSpPr>
          <p:nvPr>
            <p:ph type="dt" sz="half" idx="10"/>
          </p:nvPr>
        </p:nvSpPr>
        <p:spPr/>
        <p:txBody>
          <a:bodyPr/>
          <a:lstStyle/>
          <a:p>
            <a:fld id="{76969C88-B244-455D-A017-012B25B1ACDD}" type="datetimeFigureOut">
              <a:rPr lang="en-US" smtClean="0"/>
              <a:t>4/18/2026</a:t>
            </a:fld>
            <a:endParaRPr lang="en-US"/>
          </a:p>
        </p:txBody>
      </p:sp>
      <p:sp>
        <p:nvSpPr>
          <p:cNvPr id="3" name="Footer Placeholder 2">
            <a:extLst>
              <a:ext uri="{FF2B5EF4-FFF2-40B4-BE49-F238E27FC236}">
                <a16:creationId xmlns:a16="http://schemas.microsoft.com/office/drawing/2014/main" id="{C4F792B9-A8AF-4E13-8A25-741E89691E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3A2CF6-DBC5-4491-B213-B3CD09D3130C}"/>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161150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27076-58C8-494C-B6B1-DC86F62DDC24}"/>
              </a:ext>
            </a:extLst>
          </p:cNvPr>
          <p:cNvSpPr>
            <a:spLocks noGrp="1"/>
          </p:cNvSpPr>
          <p:nvPr>
            <p:ph type="title"/>
          </p:nvPr>
        </p:nvSpPr>
        <p:spPr>
          <a:xfrm>
            <a:off x="762000" y="761998"/>
            <a:ext cx="3810000" cy="1524002"/>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F29E36-0340-452F-8D0A-1BC3F3A388CF}"/>
              </a:ext>
            </a:extLst>
          </p:cNvPr>
          <p:cNvSpPr>
            <a:spLocks noGrp="1"/>
          </p:cNvSpPr>
          <p:nvPr>
            <p:ph idx="1"/>
          </p:nvPr>
        </p:nvSpPr>
        <p:spPr>
          <a:xfrm>
            <a:off x="5334000" y="762001"/>
            <a:ext cx="6096000" cy="5334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051C2E-E587-45E8-BDB1-DFF2F2791BF6}"/>
              </a:ext>
            </a:extLst>
          </p:cNvPr>
          <p:cNvSpPr>
            <a:spLocks noGrp="1"/>
          </p:cNvSpPr>
          <p:nvPr>
            <p:ph type="body" sz="half" idx="2"/>
          </p:nvPr>
        </p:nvSpPr>
        <p:spPr>
          <a:xfrm>
            <a:off x="762000" y="2286000"/>
            <a:ext cx="3810000" cy="38100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21D993-DEDD-470E-B48B-CB053A55A119}"/>
              </a:ext>
            </a:extLst>
          </p:cNvPr>
          <p:cNvSpPr>
            <a:spLocks noGrp="1"/>
          </p:cNvSpPr>
          <p:nvPr>
            <p:ph type="dt" sz="half" idx="10"/>
          </p:nvPr>
        </p:nvSpPr>
        <p:spPr/>
        <p:txBody>
          <a:bodyPr/>
          <a:lstStyle/>
          <a:p>
            <a:fld id="{76969C88-B244-455D-A017-012B25B1ACDD}" type="datetimeFigureOut">
              <a:rPr lang="en-US" smtClean="0"/>
              <a:t>4/18/2026</a:t>
            </a:fld>
            <a:endParaRPr lang="en-US"/>
          </a:p>
        </p:txBody>
      </p:sp>
      <p:sp>
        <p:nvSpPr>
          <p:cNvPr id="6" name="Footer Placeholder 5">
            <a:extLst>
              <a:ext uri="{FF2B5EF4-FFF2-40B4-BE49-F238E27FC236}">
                <a16:creationId xmlns:a16="http://schemas.microsoft.com/office/drawing/2014/main" id="{67926C64-7401-4CA4-859F-74472AF869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108F41-F1F6-431C-9B45-8A447F188CB8}"/>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1994351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104FB-422C-4023-9381-EB12F1582D44}"/>
              </a:ext>
            </a:extLst>
          </p:cNvPr>
          <p:cNvSpPr>
            <a:spLocks noGrp="1"/>
          </p:cNvSpPr>
          <p:nvPr>
            <p:ph type="title"/>
          </p:nvPr>
        </p:nvSpPr>
        <p:spPr>
          <a:xfrm>
            <a:off x="762001" y="762000"/>
            <a:ext cx="3809999" cy="1524000"/>
          </a:xfrm>
        </p:spPr>
        <p:txBody>
          <a:bodyPr anchor="t" anchorCtr="0"/>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DBA3AA-DE44-4B1F-91D1-09F67B89B941}"/>
              </a:ext>
            </a:extLst>
          </p:cNvPr>
          <p:cNvSpPr>
            <a:spLocks noGrp="1"/>
          </p:cNvSpPr>
          <p:nvPr>
            <p:ph type="pic" idx="1"/>
          </p:nvPr>
        </p:nvSpPr>
        <p:spPr>
          <a:xfrm>
            <a:off x="5334000" y="762001"/>
            <a:ext cx="6021388" cy="5334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A27B131-5117-4106-80DB-2AB208C4C953}"/>
              </a:ext>
            </a:extLst>
          </p:cNvPr>
          <p:cNvSpPr>
            <a:spLocks noGrp="1"/>
          </p:cNvSpPr>
          <p:nvPr>
            <p:ph type="body" sz="half" idx="2"/>
          </p:nvPr>
        </p:nvSpPr>
        <p:spPr>
          <a:xfrm>
            <a:off x="762001" y="2286000"/>
            <a:ext cx="3809999" cy="3810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13918A-7F23-4C72-8E80-591324A3046C}"/>
              </a:ext>
            </a:extLst>
          </p:cNvPr>
          <p:cNvSpPr>
            <a:spLocks noGrp="1"/>
          </p:cNvSpPr>
          <p:nvPr>
            <p:ph type="dt" sz="half" idx="10"/>
          </p:nvPr>
        </p:nvSpPr>
        <p:spPr/>
        <p:txBody>
          <a:bodyPr/>
          <a:lstStyle/>
          <a:p>
            <a:fld id="{76969C88-B244-455D-A017-012B25B1ACDD}" type="datetimeFigureOut">
              <a:rPr lang="en-US" smtClean="0"/>
              <a:t>4/18/2026</a:t>
            </a:fld>
            <a:endParaRPr lang="en-US"/>
          </a:p>
        </p:txBody>
      </p:sp>
      <p:sp>
        <p:nvSpPr>
          <p:cNvPr id="6" name="Footer Placeholder 5">
            <a:extLst>
              <a:ext uri="{FF2B5EF4-FFF2-40B4-BE49-F238E27FC236}">
                <a16:creationId xmlns:a16="http://schemas.microsoft.com/office/drawing/2014/main" id="{181071C8-76FE-4B83-8317-BD53C7C844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23681A-6F29-48FC-9409-319ED3E96635}"/>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2021201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A5B09-FC60-445F-8A12-79869BEC60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A219F7-87F2-409F-BB0B-8FE9270C9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AC2BB8-59E0-4EB2-B3BE-59D8641EE133}"/>
              </a:ext>
            </a:extLst>
          </p:cNvPr>
          <p:cNvSpPr>
            <a:spLocks noGrp="1"/>
          </p:cNvSpPr>
          <p:nvPr>
            <p:ph type="dt" sz="half" idx="10"/>
          </p:nvPr>
        </p:nvSpPr>
        <p:spPr/>
        <p:txBody>
          <a:bodyPr/>
          <a:lstStyle/>
          <a:p>
            <a:fld id="{76969C88-B244-455D-A017-012B25B1ACDD}" type="datetimeFigureOut">
              <a:rPr lang="en-US" smtClean="0"/>
              <a:t>4/18/2026</a:t>
            </a:fld>
            <a:endParaRPr lang="en-US"/>
          </a:p>
        </p:txBody>
      </p:sp>
      <p:sp>
        <p:nvSpPr>
          <p:cNvPr id="5" name="Footer Placeholder 4">
            <a:extLst>
              <a:ext uri="{FF2B5EF4-FFF2-40B4-BE49-F238E27FC236}">
                <a16:creationId xmlns:a16="http://schemas.microsoft.com/office/drawing/2014/main" id="{2D56984E-C0DE-461B-8011-8FC31B0EE9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FE7C03-68D3-445E-A5A2-8A935CFC977E}"/>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805164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21F0D7-112D-48B1-B32B-170B1AA2B51E}"/>
              </a:ext>
            </a:extLst>
          </p:cNvPr>
          <p:cNvSpPr>
            <a:spLocks noGrp="1"/>
          </p:cNvSpPr>
          <p:nvPr>
            <p:ph type="title" orient="vert"/>
          </p:nvPr>
        </p:nvSpPr>
        <p:spPr>
          <a:xfrm>
            <a:off x="9143998" y="761999"/>
            <a:ext cx="2286000" cy="53340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27A7C1-8E5B-41DA-9802-F242D382B66B}"/>
              </a:ext>
            </a:extLst>
          </p:cNvPr>
          <p:cNvSpPr>
            <a:spLocks noGrp="1"/>
          </p:cNvSpPr>
          <p:nvPr>
            <p:ph type="body" orient="vert" idx="1"/>
          </p:nvPr>
        </p:nvSpPr>
        <p:spPr>
          <a:xfrm>
            <a:off x="762001" y="761999"/>
            <a:ext cx="7619999" cy="53340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961CC7-F5B1-464A-8127-60645FB21081}"/>
              </a:ext>
            </a:extLst>
          </p:cNvPr>
          <p:cNvSpPr>
            <a:spLocks noGrp="1"/>
          </p:cNvSpPr>
          <p:nvPr>
            <p:ph type="dt" sz="half" idx="10"/>
          </p:nvPr>
        </p:nvSpPr>
        <p:spPr/>
        <p:txBody>
          <a:bodyPr/>
          <a:lstStyle/>
          <a:p>
            <a:fld id="{76969C88-B244-455D-A017-012B25B1ACDD}" type="datetimeFigureOut">
              <a:rPr lang="en-US" smtClean="0"/>
              <a:t>4/18/2026</a:t>
            </a:fld>
            <a:endParaRPr lang="en-US"/>
          </a:p>
        </p:txBody>
      </p:sp>
      <p:sp>
        <p:nvSpPr>
          <p:cNvPr id="5" name="Footer Placeholder 4">
            <a:extLst>
              <a:ext uri="{FF2B5EF4-FFF2-40B4-BE49-F238E27FC236}">
                <a16:creationId xmlns:a16="http://schemas.microsoft.com/office/drawing/2014/main" id="{53B94302-B381-4F37-A9FF-5CC5519175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707151-541F-4104-B989-83A9DCA6E616}"/>
              </a:ext>
            </a:extLst>
          </p:cNvPr>
          <p:cNvSpPr>
            <a:spLocks noGrp="1"/>
          </p:cNvSpPr>
          <p:nvPr>
            <p:ph type="sldNum" sz="quarter" idx="12"/>
          </p:nvPr>
        </p:nvSpPr>
        <p:spPr/>
        <p:txBody>
          <a:bodyPr/>
          <a:lstStyle/>
          <a:p>
            <a:fld id="{07CE569E-9B7C-4CB9-AB80-C0841F922CFF}" type="slidenum">
              <a:rPr lang="en-US" smtClean="0"/>
              <a:t>‹#›</a:t>
            </a:fld>
            <a:endParaRPr lang="en-US"/>
          </a:p>
        </p:txBody>
      </p:sp>
    </p:spTree>
    <p:extLst>
      <p:ext uri="{BB962C8B-B14F-4D97-AF65-F5344CB8AC3E}">
        <p14:creationId xmlns:p14="http://schemas.microsoft.com/office/powerpoint/2010/main" val="3379736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A6EF5A53-0A64-4CA5-B9C7-1CB97CB5CF1C}"/>
              </a:ext>
            </a:extLst>
          </p:cNvPr>
          <p:cNvSpPr/>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1" name="Freeform: Shape 10">
            <a:extLst>
              <a:ext uri="{FF2B5EF4-FFF2-40B4-BE49-F238E27FC236}">
                <a16:creationId xmlns:a16="http://schemas.microsoft.com/office/drawing/2014/main" id="{34ABFBEA-4EB0-4D02-A2C0-1733CD3D6F12}"/>
              </a:ext>
            </a:extLst>
          </p:cNvPr>
          <p:cNvSpPr/>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prstClr val="white"/>
              </a:solidFill>
              <a:latin typeface="Avenir Next LT Pro" panose="020B0504020202020204" pitchFamily="34" charset="0"/>
            </a:endParaRPr>
          </a:p>
        </p:txBody>
      </p:sp>
      <p:sp>
        <p:nvSpPr>
          <p:cNvPr id="12" name="Freeform: Shape 11">
            <a:extLst>
              <a:ext uri="{FF2B5EF4-FFF2-40B4-BE49-F238E27FC236}">
                <a16:creationId xmlns:a16="http://schemas.microsoft.com/office/drawing/2014/main" id="{19E083F6-57F4-487B-A766-EA0462B1EED8}"/>
              </a:ext>
            </a:extLst>
          </p:cNvPr>
          <p:cNvSpPr/>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itle Placeholder 1">
            <a:extLst>
              <a:ext uri="{FF2B5EF4-FFF2-40B4-BE49-F238E27FC236}">
                <a16:creationId xmlns:a16="http://schemas.microsoft.com/office/drawing/2014/main" id="{A3A2F988-7148-4375-83D8-12EE5EBC7BE0}"/>
              </a:ext>
            </a:extLst>
          </p:cNvPr>
          <p:cNvSpPr>
            <a:spLocks noGrp="1"/>
          </p:cNvSpPr>
          <p:nvPr>
            <p:ph type="title"/>
          </p:nvPr>
        </p:nvSpPr>
        <p:spPr>
          <a:xfrm>
            <a:off x="762000" y="762000"/>
            <a:ext cx="10668000" cy="1524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896238-C5B3-4F3C-97FA-890E1A51A203}"/>
              </a:ext>
            </a:extLst>
          </p:cNvPr>
          <p:cNvSpPr>
            <a:spLocks noGrp="1"/>
          </p:cNvSpPr>
          <p:nvPr>
            <p:ph type="body" idx="1"/>
          </p:nvPr>
        </p:nvSpPr>
        <p:spPr>
          <a:xfrm>
            <a:off x="762000" y="2286000"/>
            <a:ext cx="10668000" cy="38180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D6E4474-0442-4E4B-9E5B-CA7B3951C1DA}"/>
              </a:ext>
            </a:extLst>
          </p:cNvPr>
          <p:cNvSpPr>
            <a:spLocks noGrp="1"/>
          </p:cNvSpPr>
          <p:nvPr>
            <p:ph type="dt" sz="half" idx="2"/>
          </p:nvPr>
        </p:nvSpPr>
        <p:spPr>
          <a:xfrm>
            <a:off x="9389165" y="194320"/>
            <a:ext cx="2040835" cy="365125"/>
          </a:xfrm>
          <a:prstGeom prst="rect">
            <a:avLst/>
          </a:prstGeom>
        </p:spPr>
        <p:txBody>
          <a:bodyPr vert="horz" lIns="91440" tIns="45720" rIns="91440" bIns="45720" rtlCol="0" anchor="ctr"/>
          <a:lstStyle>
            <a:lvl1pPr algn="r">
              <a:defRPr sz="1200">
                <a:solidFill>
                  <a:schemeClr val="tx1">
                    <a:tint val="75000"/>
                    <a:alpha val="70000"/>
                  </a:schemeClr>
                </a:solidFill>
              </a:defRPr>
            </a:lvl1pPr>
          </a:lstStyle>
          <a:p>
            <a:fld id="{76969C88-B244-455D-A017-012B25B1ACDD}" type="datetimeFigureOut">
              <a:rPr lang="en-US" smtClean="0"/>
              <a:pPr/>
              <a:t>4/18/2026</a:t>
            </a:fld>
            <a:endParaRPr lang="en-US"/>
          </a:p>
        </p:txBody>
      </p:sp>
      <p:sp>
        <p:nvSpPr>
          <p:cNvPr id="5" name="Footer Placeholder 4">
            <a:extLst>
              <a:ext uri="{FF2B5EF4-FFF2-40B4-BE49-F238E27FC236}">
                <a16:creationId xmlns:a16="http://schemas.microsoft.com/office/drawing/2014/main" id="{E0626A98-F887-40E1-B9BA-9D93DE90E022}"/>
              </a:ext>
            </a:extLst>
          </p:cNvPr>
          <p:cNvSpPr>
            <a:spLocks noGrp="1"/>
          </p:cNvSpPr>
          <p:nvPr>
            <p:ph type="ftr" sz="quarter" idx="3"/>
          </p:nvPr>
        </p:nvSpPr>
        <p:spPr>
          <a:xfrm>
            <a:off x="761999" y="6356350"/>
            <a:ext cx="6612835" cy="365125"/>
          </a:xfrm>
          <a:prstGeom prst="rect">
            <a:avLst/>
          </a:prstGeom>
        </p:spPr>
        <p:txBody>
          <a:bodyPr vert="horz" lIns="91440" tIns="45720" rIns="91440" bIns="45720" rtlCol="0" anchor="ctr"/>
          <a:lstStyle>
            <a:lvl1pPr algn="l">
              <a:defRPr sz="1200">
                <a:solidFill>
                  <a:schemeClr val="tx1">
                    <a:tint val="75000"/>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482C8119-73F6-4713-9AD3-3628DCDFB8F2}"/>
              </a:ext>
            </a:extLst>
          </p:cNvPr>
          <p:cNvSpPr>
            <a:spLocks noGrp="1"/>
          </p:cNvSpPr>
          <p:nvPr>
            <p:ph type="sldNum" sz="quarter" idx="4"/>
          </p:nvPr>
        </p:nvSpPr>
        <p:spPr>
          <a:xfrm>
            <a:off x="9906000" y="6356350"/>
            <a:ext cx="1524000" cy="365125"/>
          </a:xfrm>
          <a:prstGeom prst="rect">
            <a:avLst/>
          </a:prstGeom>
        </p:spPr>
        <p:txBody>
          <a:bodyPr vert="horz" lIns="91440" tIns="45720" rIns="91440" bIns="45720" rtlCol="0" anchor="ctr"/>
          <a:lstStyle>
            <a:lvl1pPr algn="r">
              <a:defRPr sz="1200">
                <a:solidFill>
                  <a:schemeClr val="tx1">
                    <a:tint val="75000"/>
                    <a:alpha val="70000"/>
                  </a:schemeClr>
                </a:solidFill>
              </a:defRPr>
            </a:lvl1pPr>
          </a:lstStyle>
          <a:p>
            <a:fld id="{07CE569E-9B7C-4CB9-AB80-C0841F922CFF}" type="slidenum">
              <a:rPr lang="en-US" smtClean="0"/>
              <a:pPr/>
              <a:t>‹#›</a:t>
            </a:fld>
            <a:endParaRPr lang="en-US"/>
          </a:p>
        </p:txBody>
      </p:sp>
    </p:spTree>
    <p:extLst>
      <p:ext uri="{BB962C8B-B14F-4D97-AF65-F5344CB8AC3E}">
        <p14:creationId xmlns:p14="http://schemas.microsoft.com/office/powerpoint/2010/main" val="2566029663"/>
      </p:ext>
    </p:extLst>
  </p:cSld>
  <p:clrMap bg1="dk1" tx1="lt1" bg2="dk2" tx2="lt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1" r:id="rId6"/>
    <p:sldLayoutId id="2147483737" r:id="rId7"/>
    <p:sldLayoutId id="2147483738" r:id="rId8"/>
    <p:sldLayoutId id="2147483739" r:id="rId9"/>
    <p:sldLayoutId id="2147483740" r:id="rId10"/>
    <p:sldLayoutId id="214748374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25000"/>
        </a:lnSpc>
        <a:spcBef>
          <a:spcPts val="1000"/>
        </a:spcBef>
        <a:buFont typeface="Arial" panose="020B0604020202020204" pitchFamily="34" charset="0"/>
        <a:buChar char="•"/>
        <a:defRPr sz="2800" kern="1200">
          <a:solidFill>
            <a:schemeClr val="tx1">
              <a:alpha val="70000"/>
            </a:schemeClr>
          </a:solidFill>
          <a:latin typeface="+mn-lt"/>
          <a:ea typeface="+mn-ea"/>
          <a:cs typeface="+mn-cs"/>
        </a:defRPr>
      </a:lvl1pPr>
      <a:lvl2pPr marL="685800" indent="-228600" algn="l" defTabSz="914400" rtl="0" eaLnBrk="1" latinLnBrk="0" hangingPunct="1">
        <a:lnSpc>
          <a:spcPct val="125000"/>
        </a:lnSpc>
        <a:spcBef>
          <a:spcPts val="500"/>
        </a:spcBef>
        <a:buFont typeface="Arial" panose="020B0604020202020204" pitchFamily="34" charset="0"/>
        <a:buChar char="•"/>
        <a:defRPr sz="2400" kern="1200">
          <a:solidFill>
            <a:schemeClr val="tx1">
              <a:alpha val="70000"/>
            </a:schemeClr>
          </a:solidFill>
          <a:latin typeface="+mn-lt"/>
          <a:ea typeface="+mn-ea"/>
          <a:cs typeface="+mn-cs"/>
        </a:defRPr>
      </a:lvl2pPr>
      <a:lvl3pPr marL="1143000" indent="-228600" algn="l" defTabSz="914400" rtl="0" eaLnBrk="1" latinLnBrk="0" hangingPunct="1">
        <a:lnSpc>
          <a:spcPct val="125000"/>
        </a:lnSpc>
        <a:spcBef>
          <a:spcPts val="500"/>
        </a:spcBef>
        <a:buFont typeface="Arial" panose="020B0604020202020204" pitchFamily="34" charset="0"/>
        <a:buChar char="•"/>
        <a:defRPr sz="2000" kern="1200">
          <a:solidFill>
            <a:schemeClr val="tx1">
              <a:alpha val="70000"/>
            </a:schemeClr>
          </a:solidFill>
          <a:latin typeface="+mn-lt"/>
          <a:ea typeface="+mn-ea"/>
          <a:cs typeface="+mn-cs"/>
        </a:defRPr>
      </a:lvl3pPr>
      <a:lvl4pPr marL="1600200" indent="-228600" algn="l" defTabSz="914400" rtl="0" eaLnBrk="1" latinLnBrk="0" hangingPunct="1">
        <a:lnSpc>
          <a:spcPct val="125000"/>
        </a:lnSpc>
        <a:spcBef>
          <a:spcPts val="500"/>
        </a:spcBef>
        <a:buFont typeface="Arial" panose="020B0604020202020204" pitchFamily="34" charset="0"/>
        <a:buChar char="•"/>
        <a:defRPr sz="1800" kern="1200">
          <a:solidFill>
            <a:schemeClr val="tx1">
              <a:alpha val="70000"/>
            </a:schemeClr>
          </a:solidFill>
          <a:latin typeface="+mn-lt"/>
          <a:ea typeface="+mn-ea"/>
          <a:cs typeface="+mn-cs"/>
        </a:defRPr>
      </a:lvl4pPr>
      <a:lvl5pPr marL="2057400" indent="-228600" algn="l" defTabSz="914400" rtl="0" eaLnBrk="1" latinLnBrk="0" hangingPunct="1">
        <a:lnSpc>
          <a:spcPct val="125000"/>
        </a:lnSpc>
        <a:spcBef>
          <a:spcPts val="500"/>
        </a:spcBef>
        <a:buFont typeface="Arial" panose="020B0604020202020204" pitchFamily="34" charset="0"/>
        <a:buChar char="•"/>
        <a:defRPr sz="18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A18C9FB-EC4C-4DAE-8F7D-C6E5AF607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ytuł 1">
            <a:extLst>
              <a:ext uri="{FF2B5EF4-FFF2-40B4-BE49-F238E27FC236}">
                <a16:creationId xmlns:a16="http://schemas.microsoft.com/office/drawing/2014/main" id="{B6166F62-08E3-6EE6-D40A-29AF4A4FBFA0}"/>
              </a:ext>
            </a:extLst>
          </p:cNvPr>
          <p:cNvSpPr>
            <a:spLocks noGrp="1"/>
          </p:cNvSpPr>
          <p:nvPr>
            <p:ph type="ctrTitle"/>
          </p:nvPr>
        </p:nvSpPr>
        <p:spPr>
          <a:xfrm>
            <a:off x="6858000" y="753765"/>
            <a:ext cx="4572000" cy="3056235"/>
          </a:xfrm>
        </p:spPr>
        <p:txBody>
          <a:bodyPr>
            <a:normAutofit/>
          </a:bodyPr>
          <a:lstStyle/>
          <a:p>
            <a:pPr algn="l"/>
            <a:r>
              <a:rPr lang="pl-PL" sz="3700"/>
              <a:t>AKTUALNE TRENDY I PREDYKCJE DOTYCZĄCE PRACY ZESPOŁOWEJ IT</a:t>
            </a:r>
          </a:p>
        </p:txBody>
      </p:sp>
      <p:sp>
        <p:nvSpPr>
          <p:cNvPr id="3" name="Podtytuł 2">
            <a:extLst>
              <a:ext uri="{FF2B5EF4-FFF2-40B4-BE49-F238E27FC236}">
                <a16:creationId xmlns:a16="http://schemas.microsoft.com/office/drawing/2014/main" id="{A40B7D68-B634-0400-03EA-40699E8B49A4}"/>
              </a:ext>
            </a:extLst>
          </p:cNvPr>
          <p:cNvSpPr>
            <a:spLocks noGrp="1"/>
          </p:cNvSpPr>
          <p:nvPr>
            <p:ph type="subTitle" idx="1"/>
          </p:nvPr>
        </p:nvSpPr>
        <p:spPr>
          <a:xfrm>
            <a:off x="6857999" y="4571999"/>
            <a:ext cx="4571999" cy="1524000"/>
          </a:xfrm>
        </p:spPr>
        <p:txBody>
          <a:bodyPr>
            <a:normAutofit/>
          </a:bodyPr>
          <a:lstStyle/>
          <a:p>
            <a:pPr algn="l">
              <a:lnSpc>
                <a:spcPct val="115000"/>
              </a:lnSpc>
            </a:pPr>
            <a:r>
              <a:rPr lang="en-US" sz="2200" dirty="0"/>
              <a:t>Filip Hałys </a:t>
            </a:r>
          </a:p>
          <a:p>
            <a:pPr algn="l">
              <a:lnSpc>
                <a:spcPct val="115000"/>
              </a:lnSpc>
            </a:pPr>
            <a:r>
              <a:rPr lang="en-US" sz="2200" dirty="0" err="1"/>
              <a:t>Prezentacja</a:t>
            </a:r>
            <a:r>
              <a:rPr lang="en-US" sz="2200" dirty="0"/>
              <a:t> XIV</a:t>
            </a:r>
          </a:p>
          <a:p>
            <a:pPr algn="l">
              <a:lnSpc>
                <a:spcPct val="115000"/>
              </a:lnSpc>
            </a:pPr>
            <a:r>
              <a:rPr lang="en-US" sz="2200" dirty="0" err="1"/>
              <a:t>Geoinformatyka</a:t>
            </a:r>
            <a:r>
              <a:rPr lang="en-US" sz="2200" dirty="0"/>
              <a:t> V </a:t>
            </a:r>
            <a:r>
              <a:rPr lang="en-US" sz="2200" dirty="0" err="1"/>
              <a:t>rok</a:t>
            </a:r>
            <a:endParaRPr lang="pl-PL" sz="2200" dirty="0"/>
          </a:p>
        </p:txBody>
      </p:sp>
      <p:pic>
        <p:nvPicPr>
          <p:cNvPr id="4" name="Picture 3">
            <a:extLst>
              <a:ext uri="{FF2B5EF4-FFF2-40B4-BE49-F238E27FC236}">
                <a16:creationId xmlns:a16="http://schemas.microsoft.com/office/drawing/2014/main" id="{E47F2C91-6A9C-4D97-61D6-AB4838C2731C}"/>
              </a:ext>
            </a:extLst>
          </p:cNvPr>
          <p:cNvPicPr>
            <a:picLocks noChangeAspect="1"/>
          </p:cNvPicPr>
          <p:nvPr/>
        </p:nvPicPr>
        <p:blipFill>
          <a:blip r:embed="rId2"/>
          <a:srcRect l="13116" r="25804" b="-1"/>
          <a:stretch>
            <a:fillRect/>
          </a:stretch>
        </p:blipFill>
        <p:spPr>
          <a:xfrm>
            <a:off x="2" y="10"/>
            <a:ext cx="5578823" cy="6028246"/>
          </a:xfrm>
          <a:custGeom>
            <a:avLst/>
            <a:gdLst/>
            <a:ahLst/>
            <a:cxnLst/>
            <a:rect l="l" t="t" r="r" b="b"/>
            <a:pathLst>
              <a:path w="5578823" h="6028256">
                <a:moveTo>
                  <a:pt x="0" y="0"/>
                </a:moveTo>
                <a:lnTo>
                  <a:pt x="3897606" y="0"/>
                </a:lnTo>
                <a:lnTo>
                  <a:pt x="4274232" y="360545"/>
                </a:lnTo>
                <a:cubicBezTo>
                  <a:pt x="4408856" y="488910"/>
                  <a:pt x="4542134" y="615181"/>
                  <a:pt x="4673934" y="738354"/>
                </a:cubicBezTo>
                <a:cubicBezTo>
                  <a:pt x="5042663" y="1082881"/>
                  <a:pt x="5282330" y="1428108"/>
                  <a:pt x="5421862" y="1773839"/>
                </a:cubicBezTo>
                <a:cubicBezTo>
                  <a:pt x="5631101" y="2292214"/>
                  <a:pt x="5614731" y="2811325"/>
                  <a:pt x="5469198" y="3329255"/>
                </a:cubicBezTo>
                <a:cubicBezTo>
                  <a:pt x="5323662" y="3847185"/>
                  <a:pt x="5048962" y="4363935"/>
                  <a:pt x="4741546" y="4877588"/>
                </a:cubicBezTo>
                <a:cubicBezTo>
                  <a:pt x="4027238" y="6071494"/>
                  <a:pt x="2764972" y="6102970"/>
                  <a:pt x="1325600" y="5980388"/>
                </a:cubicBezTo>
                <a:cubicBezTo>
                  <a:pt x="903947" y="5944442"/>
                  <a:pt x="499735" y="5907589"/>
                  <a:pt x="137593" y="5804042"/>
                </a:cubicBezTo>
                <a:lnTo>
                  <a:pt x="0" y="5760161"/>
                </a:lnTo>
                <a:close/>
              </a:path>
            </a:pathLst>
          </a:custGeom>
        </p:spPr>
      </p:pic>
      <p:sp>
        <p:nvSpPr>
          <p:cNvPr id="11" name="Freeform: Shape 10">
            <a:extLst>
              <a:ext uri="{FF2B5EF4-FFF2-40B4-BE49-F238E27FC236}">
                <a16:creationId xmlns:a16="http://schemas.microsoft.com/office/drawing/2014/main" id="{B47A9921-6509-49C2-BEBF-924F280660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Tree>
    <p:extLst>
      <p:ext uri="{BB962C8B-B14F-4D97-AF65-F5344CB8AC3E}">
        <p14:creationId xmlns:p14="http://schemas.microsoft.com/office/powerpoint/2010/main" val="2742169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ytuł 1">
            <a:extLst>
              <a:ext uri="{FF2B5EF4-FFF2-40B4-BE49-F238E27FC236}">
                <a16:creationId xmlns:a16="http://schemas.microsoft.com/office/drawing/2014/main" id="{EC5CD493-5A37-99AE-6F4D-932202BAD1CB}"/>
              </a:ext>
            </a:extLst>
          </p:cNvPr>
          <p:cNvSpPr>
            <a:spLocks noGrp="1"/>
          </p:cNvSpPr>
          <p:nvPr>
            <p:ph type="title"/>
          </p:nvPr>
        </p:nvSpPr>
        <p:spPr>
          <a:xfrm>
            <a:off x="718750" y="2286000"/>
            <a:ext cx="3048001" cy="2286000"/>
          </a:xfrm>
        </p:spPr>
        <p:txBody>
          <a:bodyPr anchor="b">
            <a:normAutofit/>
          </a:bodyPr>
          <a:lstStyle/>
          <a:p>
            <a:r>
              <a:rPr lang="en-US" sz="3200"/>
              <a:t>Wstęp </a:t>
            </a:r>
            <a:endParaRPr lang="pl-PL" sz="3200"/>
          </a:p>
        </p:txBody>
      </p:sp>
      <p:sp>
        <p:nvSpPr>
          <p:cNvPr id="11" name="Freeform: Shape 10">
            <a:extLst>
              <a:ext uri="{FF2B5EF4-FFF2-40B4-BE49-F238E27FC236}">
                <a16:creationId xmlns:a16="http://schemas.microsoft.com/office/drawing/2014/main" id="{1E29B739-0084-427C-80B1-69E938524B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0653162" y="-776838"/>
            <a:ext cx="762000"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prstClr val="white"/>
              </a:solidFill>
              <a:latin typeface="Avenir Next LT Pro" panose="020B0504020202020204" pitchFamily="34" charset="0"/>
            </a:endParaRPr>
          </a:p>
        </p:txBody>
      </p:sp>
      <p:sp>
        <p:nvSpPr>
          <p:cNvPr id="13" name="Freeform: Shape 12">
            <a:extLst>
              <a:ext uri="{FF2B5EF4-FFF2-40B4-BE49-F238E27FC236}">
                <a16:creationId xmlns:a16="http://schemas.microsoft.com/office/drawing/2014/main" id="{A3B611DC-381B-43C0-B8D0-03DB742CE5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789544" y="3798447"/>
            <a:ext cx="1269992" cy="4849095"/>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solidFill>
                <a:prstClr val="white"/>
              </a:solidFill>
              <a:latin typeface="Avenir Next LT Pro" panose="020B0504020202020204" pitchFamily="34" charset="0"/>
            </a:endParaRPr>
          </a:p>
        </p:txBody>
      </p:sp>
      <p:sp>
        <p:nvSpPr>
          <p:cNvPr id="15" name="Freeform: Shape 14">
            <a:extLst>
              <a:ext uri="{FF2B5EF4-FFF2-40B4-BE49-F238E27FC236}">
                <a16:creationId xmlns:a16="http://schemas.microsoft.com/office/drawing/2014/main" id="{44ECBE28-F24F-4627-886E-70C09745C3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031998" y="3555992"/>
            <a:ext cx="1269994" cy="5334005"/>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rgbClr val="F1CB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graphicFrame>
        <p:nvGraphicFramePr>
          <p:cNvPr id="5" name="Symbol zastępczy zawartości 2">
            <a:extLst>
              <a:ext uri="{FF2B5EF4-FFF2-40B4-BE49-F238E27FC236}">
                <a16:creationId xmlns:a16="http://schemas.microsoft.com/office/drawing/2014/main" id="{7F00C063-4C51-0F26-5786-FB3330C71E60}"/>
              </a:ext>
            </a:extLst>
          </p:cNvPr>
          <p:cNvGraphicFramePr>
            <a:graphicFrameLocks noGrp="1"/>
          </p:cNvGraphicFramePr>
          <p:nvPr>
            <p:ph idx="1"/>
            <p:extLst>
              <p:ext uri="{D42A27DB-BD31-4B8C-83A1-F6EECF244321}">
                <p14:modId xmlns:p14="http://schemas.microsoft.com/office/powerpoint/2010/main" val="2624834160"/>
              </p:ext>
            </p:extLst>
          </p:nvPr>
        </p:nvGraphicFramePr>
        <p:xfrm>
          <a:off x="5334000" y="762000"/>
          <a:ext cx="6096000" cy="533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1903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3D065C6D-EB42-400B-99C4-D0ACE936F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13174" y="0"/>
            <a:ext cx="5578824" cy="6028256"/>
          </a:xfrm>
          <a:custGeom>
            <a:avLst/>
            <a:gdLst>
              <a:gd name="connsiteX0" fmla="*/ 1681218 w 5578824"/>
              <a:gd name="connsiteY0" fmla="*/ 0 h 6028256"/>
              <a:gd name="connsiteX1" fmla="*/ 5578824 w 5578824"/>
              <a:gd name="connsiteY1" fmla="*/ 0 h 6028256"/>
              <a:gd name="connsiteX2" fmla="*/ 5578824 w 5578824"/>
              <a:gd name="connsiteY2" fmla="*/ 5760161 h 6028256"/>
              <a:gd name="connsiteX3" fmla="*/ 5441231 w 5578824"/>
              <a:gd name="connsiteY3" fmla="*/ 5804042 h 6028256"/>
              <a:gd name="connsiteX4" fmla="*/ 4253224 w 5578824"/>
              <a:gd name="connsiteY4" fmla="*/ 5980388 h 6028256"/>
              <a:gd name="connsiteX5" fmla="*/ 837278 w 5578824"/>
              <a:gd name="connsiteY5" fmla="*/ 4877588 h 6028256"/>
              <a:gd name="connsiteX6" fmla="*/ 109626 w 5578824"/>
              <a:gd name="connsiteY6" fmla="*/ 3329255 h 6028256"/>
              <a:gd name="connsiteX7" fmla="*/ 156962 w 5578824"/>
              <a:gd name="connsiteY7" fmla="*/ 1773839 h 6028256"/>
              <a:gd name="connsiteX8" fmla="*/ 904890 w 5578824"/>
              <a:gd name="connsiteY8" fmla="*/ 738354 h 6028256"/>
              <a:gd name="connsiteX9" fmla="*/ 1304592 w 5578824"/>
              <a:gd name="connsiteY9" fmla="*/ 360545 h 602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78824" h="6028256">
                <a:moveTo>
                  <a:pt x="1681218" y="0"/>
                </a:moveTo>
                <a:lnTo>
                  <a:pt x="5578824" y="0"/>
                </a:lnTo>
                <a:lnTo>
                  <a:pt x="5578824" y="5760161"/>
                </a:lnTo>
                <a:lnTo>
                  <a:pt x="5441231" y="5804042"/>
                </a:lnTo>
                <a:cubicBezTo>
                  <a:pt x="5079089" y="5907589"/>
                  <a:pt x="4674877" y="5944442"/>
                  <a:pt x="4253224" y="5980388"/>
                </a:cubicBezTo>
                <a:cubicBezTo>
                  <a:pt x="2813852" y="6102970"/>
                  <a:pt x="1551586" y="6071494"/>
                  <a:pt x="837278" y="4877588"/>
                </a:cubicBezTo>
                <a:cubicBezTo>
                  <a:pt x="529862" y="4363935"/>
                  <a:pt x="255162" y="3847185"/>
                  <a:pt x="109626" y="3329255"/>
                </a:cubicBezTo>
                <a:cubicBezTo>
                  <a:pt x="-35907" y="2811325"/>
                  <a:pt x="-52277" y="2292214"/>
                  <a:pt x="156962" y="1773839"/>
                </a:cubicBezTo>
                <a:cubicBezTo>
                  <a:pt x="296494" y="1428108"/>
                  <a:pt x="536161" y="1082881"/>
                  <a:pt x="904890" y="738354"/>
                </a:cubicBezTo>
                <a:cubicBezTo>
                  <a:pt x="1036690" y="615181"/>
                  <a:pt x="1169968" y="488910"/>
                  <a:pt x="1304592" y="360545"/>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3362A0EA-3E81-4464-94B8-70BE5870E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87883"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3" name="Symbol zastępczy zawartości 2">
            <a:extLst>
              <a:ext uri="{FF2B5EF4-FFF2-40B4-BE49-F238E27FC236}">
                <a16:creationId xmlns:a16="http://schemas.microsoft.com/office/drawing/2014/main" id="{B6B6D4E1-FDB9-2CDF-BC58-E3F0036FD63B}"/>
              </a:ext>
            </a:extLst>
          </p:cNvPr>
          <p:cNvSpPr>
            <a:spLocks noGrp="1"/>
          </p:cNvSpPr>
          <p:nvPr>
            <p:ph idx="1"/>
          </p:nvPr>
        </p:nvSpPr>
        <p:spPr>
          <a:xfrm>
            <a:off x="762000" y="2286000"/>
            <a:ext cx="5334000" cy="3810001"/>
          </a:xfrm>
        </p:spPr>
        <p:txBody>
          <a:bodyPr>
            <a:normAutofit/>
          </a:bodyPr>
          <a:lstStyle/>
          <a:p>
            <a:pPr marL="0" indent="0" algn="ctr">
              <a:lnSpc>
                <a:spcPct val="115000"/>
              </a:lnSpc>
              <a:buNone/>
            </a:pPr>
            <a:r>
              <a:rPr lang="pl-PL" sz="1700" dirty="0"/>
              <a:t>Praca zdalna w ciągu kilku lat przestała być jedynie rozwiązaniem awaryjnym, a stała się jednym z najważniejszych czynników zmieniających sposób funkcjonowania zespołów IT. Wcześniej większość organizacji technologicznych opierała współpracę na fizycznej obecności pracowników w biurze, bezpośrednich spotkaniach oraz spontanicznej wymianie wiedzy przy codziennej pracy. Wraz z przejściem na model rozproszony zespoły musiały nauczyć się budowania relacji, komunikacji i koordynacji bez wspólnej przestrzeni.</a:t>
            </a:r>
          </a:p>
        </p:txBody>
      </p:sp>
      <p:sp>
        <p:nvSpPr>
          <p:cNvPr id="2" name="Tytuł 1">
            <a:extLst>
              <a:ext uri="{FF2B5EF4-FFF2-40B4-BE49-F238E27FC236}">
                <a16:creationId xmlns:a16="http://schemas.microsoft.com/office/drawing/2014/main" id="{E04D2DC3-3357-4E22-8532-688D1B91D183}"/>
              </a:ext>
            </a:extLst>
          </p:cNvPr>
          <p:cNvSpPr>
            <a:spLocks noGrp="1"/>
          </p:cNvSpPr>
          <p:nvPr>
            <p:ph type="title"/>
          </p:nvPr>
        </p:nvSpPr>
        <p:spPr>
          <a:xfrm>
            <a:off x="762000" y="762000"/>
            <a:ext cx="5334000" cy="1524000"/>
          </a:xfrm>
        </p:spPr>
        <p:txBody>
          <a:bodyPr>
            <a:normAutofit/>
          </a:bodyPr>
          <a:lstStyle/>
          <a:p>
            <a:r>
              <a:rPr lang="pl-PL" sz="3200"/>
              <a:t>Jak praca zdalna zmieniła zespoły IT</a:t>
            </a:r>
          </a:p>
        </p:txBody>
      </p:sp>
      <p:pic>
        <p:nvPicPr>
          <p:cNvPr id="7" name="Graphic 6" descr="Office Worker">
            <a:extLst>
              <a:ext uri="{FF2B5EF4-FFF2-40B4-BE49-F238E27FC236}">
                <a16:creationId xmlns:a16="http://schemas.microsoft.com/office/drawing/2014/main" id="{8EA25873-FC72-1D30-FF7E-8BA1BD98198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58000" y="771525"/>
            <a:ext cx="5334000" cy="5334000"/>
          </a:xfrm>
          <a:prstGeom prst="rect">
            <a:avLst/>
          </a:prstGeom>
        </p:spPr>
      </p:pic>
    </p:spTree>
    <p:extLst>
      <p:ext uri="{BB962C8B-B14F-4D97-AF65-F5344CB8AC3E}">
        <p14:creationId xmlns:p14="http://schemas.microsoft.com/office/powerpoint/2010/main" val="262955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3D065C6D-EB42-400B-99C4-D0ACE936F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13174" y="0"/>
            <a:ext cx="5578824" cy="6028256"/>
          </a:xfrm>
          <a:custGeom>
            <a:avLst/>
            <a:gdLst>
              <a:gd name="connsiteX0" fmla="*/ 1681218 w 5578824"/>
              <a:gd name="connsiteY0" fmla="*/ 0 h 6028256"/>
              <a:gd name="connsiteX1" fmla="*/ 5578824 w 5578824"/>
              <a:gd name="connsiteY1" fmla="*/ 0 h 6028256"/>
              <a:gd name="connsiteX2" fmla="*/ 5578824 w 5578824"/>
              <a:gd name="connsiteY2" fmla="*/ 5760161 h 6028256"/>
              <a:gd name="connsiteX3" fmla="*/ 5441231 w 5578824"/>
              <a:gd name="connsiteY3" fmla="*/ 5804042 h 6028256"/>
              <a:gd name="connsiteX4" fmla="*/ 4253224 w 5578824"/>
              <a:gd name="connsiteY4" fmla="*/ 5980388 h 6028256"/>
              <a:gd name="connsiteX5" fmla="*/ 837278 w 5578824"/>
              <a:gd name="connsiteY5" fmla="*/ 4877588 h 6028256"/>
              <a:gd name="connsiteX6" fmla="*/ 109626 w 5578824"/>
              <a:gd name="connsiteY6" fmla="*/ 3329255 h 6028256"/>
              <a:gd name="connsiteX7" fmla="*/ 156962 w 5578824"/>
              <a:gd name="connsiteY7" fmla="*/ 1773839 h 6028256"/>
              <a:gd name="connsiteX8" fmla="*/ 904890 w 5578824"/>
              <a:gd name="connsiteY8" fmla="*/ 738354 h 6028256"/>
              <a:gd name="connsiteX9" fmla="*/ 1304592 w 5578824"/>
              <a:gd name="connsiteY9" fmla="*/ 360545 h 602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78824" h="6028256">
                <a:moveTo>
                  <a:pt x="1681218" y="0"/>
                </a:moveTo>
                <a:lnTo>
                  <a:pt x="5578824" y="0"/>
                </a:lnTo>
                <a:lnTo>
                  <a:pt x="5578824" y="5760161"/>
                </a:lnTo>
                <a:lnTo>
                  <a:pt x="5441231" y="5804042"/>
                </a:lnTo>
                <a:cubicBezTo>
                  <a:pt x="5079089" y="5907589"/>
                  <a:pt x="4674877" y="5944442"/>
                  <a:pt x="4253224" y="5980388"/>
                </a:cubicBezTo>
                <a:cubicBezTo>
                  <a:pt x="2813852" y="6102970"/>
                  <a:pt x="1551586" y="6071494"/>
                  <a:pt x="837278" y="4877588"/>
                </a:cubicBezTo>
                <a:cubicBezTo>
                  <a:pt x="529862" y="4363935"/>
                  <a:pt x="255162" y="3847185"/>
                  <a:pt x="109626" y="3329255"/>
                </a:cubicBezTo>
                <a:cubicBezTo>
                  <a:pt x="-35907" y="2811325"/>
                  <a:pt x="-52277" y="2292214"/>
                  <a:pt x="156962" y="1773839"/>
                </a:cubicBezTo>
                <a:cubicBezTo>
                  <a:pt x="296494" y="1428108"/>
                  <a:pt x="536161" y="1082881"/>
                  <a:pt x="904890" y="738354"/>
                </a:cubicBezTo>
                <a:cubicBezTo>
                  <a:pt x="1036690" y="615181"/>
                  <a:pt x="1169968" y="488910"/>
                  <a:pt x="1304592" y="360545"/>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3362A0EA-3E81-4464-94B8-70BE5870E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87883"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3" name="Symbol zastępczy zawartości 2">
            <a:extLst>
              <a:ext uri="{FF2B5EF4-FFF2-40B4-BE49-F238E27FC236}">
                <a16:creationId xmlns:a16="http://schemas.microsoft.com/office/drawing/2014/main" id="{29BBB6D7-A961-2CE7-8B52-47E8CACA67DE}"/>
              </a:ext>
            </a:extLst>
          </p:cNvPr>
          <p:cNvSpPr>
            <a:spLocks noGrp="1"/>
          </p:cNvSpPr>
          <p:nvPr>
            <p:ph idx="1"/>
          </p:nvPr>
        </p:nvSpPr>
        <p:spPr>
          <a:xfrm>
            <a:off x="762000" y="2286000"/>
            <a:ext cx="5334000" cy="3810001"/>
          </a:xfrm>
        </p:spPr>
        <p:txBody>
          <a:bodyPr>
            <a:normAutofit/>
          </a:bodyPr>
          <a:lstStyle/>
          <a:p>
            <a:pPr marL="0" indent="0" algn="ctr">
              <a:lnSpc>
                <a:spcPct val="115000"/>
              </a:lnSpc>
              <a:buNone/>
            </a:pPr>
            <a:r>
              <a:rPr lang="pl-PL" sz="2200" dirty="0"/>
              <a:t>Sztuczna inteligencja zaczyna pełnić rolę aktywnego uczestnika pracy zespołowej, a nie tylko narzędzia wspierającego pojedynczego specjalistę. Jeszcze kilka lat temu systemy AI były wykorzystywane głównie do analizy danych. Obecnie wspierają codzienną pracę programistów, analityków, testerów oraz menedżerów projektów.</a:t>
            </a:r>
          </a:p>
        </p:txBody>
      </p:sp>
      <p:sp>
        <p:nvSpPr>
          <p:cNvPr id="2" name="Tytuł 1">
            <a:extLst>
              <a:ext uri="{FF2B5EF4-FFF2-40B4-BE49-F238E27FC236}">
                <a16:creationId xmlns:a16="http://schemas.microsoft.com/office/drawing/2014/main" id="{03D75A5C-900D-AFF4-DAB5-B3AF8554EA72}"/>
              </a:ext>
            </a:extLst>
          </p:cNvPr>
          <p:cNvSpPr>
            <a:spLocks noGrp="1"/>
          </p:cNvSpPr>
          <p:nvPr>
            <p:ph type="title"/>
          </p:nvPr>
        </p:nvSpPr>
        <p:spPr>
          <a:xfrm>
            <a:off x="762000" y="762000"/>
            <a:ext cx="5334000" cy="1524000"/>
          </a:xfrm>
        </p:spPr>
        <p:txBody>
          <a:bodyPr>
            <a:normAutofit/>
          </a:bodyPr>
          <a:lstStyle/>
          <a:p>
            <a:r>
              <a:rPr lang="pl-PL" sz="3200"/>
              <a:t>Jak AI wspiera zespoły projektowe</a:t>
            </a:r>
          </a:p>
        </p:txBody>
      </p:sp>
      <p:pic>
        <p:nvPicPr>
          <p:cNvPr id="7" name="Graphic 6" descr="Head with Gears">
            <a:extLst>
              <a:ext uri="{FF2B5EF4-FFF2-40B4-BE49-F238E27FC236}">
                <a16:creationId xmlns:a16="http://schemas.microsoft.com/office/drawing/2014/main" id="{06A053FE-BA9B-1E8D-0F5C-FE940327D59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58000" y="771525"/>
            <a:ext cx="5334000" cy="5334000"/>
          </a:xfrm>
          <a:prstGeom prst="rect">
            <a:avLst/>
          </a:prstGeom>
        </p:spPr>
      </p:pic>
    </p:spTree>
    <p:extLst>
      <p:ext uri="{BB962C8B-B14F-4D97-AF65-F5344CB8AC3E}">
        <p14:creationId xmlns:p14="http://schemas.microsoft.com/office/powerpoint/2010/main" val="1650346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3D065C6D-EB42-400B-99C4-D0ACE936F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13174" y="0"/>
            <a:ext cx="5578824" cy="6028256"/>
          </a:xfrm>
          <a:custGeom>
            <a:avLst/>
            <a:gdLst>
              <a:gd name="connsiteX0" fmla="*/ 1681218 w 5578824"/>
              <a:gd name="connsiteY0" fmla="*/ 0 h 6028256"/>
              <a:gd name="connsiteX1" fmla="*/ 5578824 w 5578824"/>
              <a:gd name="connsiteY1" fmla="*/ 0 h 6028256"/>
              <a:gd name="connsiteX2" fmla="*/ 5578824 w 5578824"/>
              <a:gd name="connsiteY2" fmla="*/ 5760161 h 6028256"/>
              <a:gd name="connsiteX3" fmla="*/ 5441231 w 5578824"/>
              <a:gd name="connsiteY3" fmla="*/ 5804042 h 6028256"/>
              <a:gd name="connsiteX4" fmla="*/ 4253224 w 5578824"/>
              <a:gd name="connsiteY4" fmla="*/ 5980388 h 6028256"/>
              <a:gd name="connsiteX5" fmla="*/ 837278 w 5578824"/>
              <a:gd name="connsiteY5" fmla="*/ 4877588 h 6028256"/>
              <a:gd name="connsiteX6" fmla="*/ 109626 w 5578824"/>
              <a:gd name="connsiteY6" fmla="*/ 3329255 h 6028256"/>
              <a:gd name="connsiteX7" fmla="*/ 156962 w 5578824"/>
              <a:gd name="connsiteY7" fmla="*/ 1773839 h 6028256"/>
              <a:gd name="connsiteX8" fmla="*/ 904890 w 5578824"/>
              <a:gd name="connsiteY8" fmla="*/ 738354 h 6028256"/>
              <a:gd name="connsiteX9" fmla="*/ 1304592 w 5578824"/>
              <a:gd name="connsiteY9" fmla="*/ 360545 h 602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78824" h="6028256">
                <a:moveTo>
                  <a:pt x="1681218" y="0"/>
                </a:moveTo>
                <a:lnTo>
                  <a:pt x="5578824" y="0"/>
                </a:lnTo>
                <a:lnTo>
                  <a:pt x="5578824" y="5760161"/>
                </a:lnTo>
                <a:lnTo>
                  <a:pt x="5441231" y="5804042"/>
                </a:lnTo>
                <a:cubicBezTo>
                  <a:pt x="5079089" y="5907589"/>
                  <a:pt x="4674877" y="5944442"/>
                  <a:pt x="4253224" y="5980388"/>
                </a:cubicBezTo>
                <a:cubicBezTo>
                  <a:pt x="2813852" y="6102970"/>
                  <a:pt x="1551586" y="6071494"/>
                  <a:pt x="837278" y="4877588"/>
                </a:cubicBezTo>
                <a:cubicBezTo>
                  <a:pt x="529862" y="4363935"/>
                  <a:pt x="255162" y="3847185"/>
                  <a:pt x="109626" y="3329255"/>
                </a:cubicBezTo>
                <a:cubicBezTo>
                  <a:pt x="-35907" y="2811325"/>
                  <a:pt x="-52277" y="2292214"/>
                  <a:pt x="156962" y="1773839"/>
                </a:cubicBezTo>
                <a:cubicBezTo>
                  <a:pt x="296494" y="1428108"/>
                  <a:pt x="536161" y="1082881"/>
                  <a:pt x="904890" y="738354"/>
                </a:cubicBezTo>
                <a:cubicBezTo>
                  <a:pt x="1036690" y="615181"/>
                  <a:pt x="1169968" y="488910"/>
                  <a:pt x="1304592" y="360545"/>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3362A0EA-3E81-4464-94B8-70BE5870E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87883"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9" name="Content Placeholder 8">
            <a:extLst>
              <a:ext uri="{FF2B5EF4-FFF2-40B4-BE49-F238E27FC236}">
                <a16:creationId xmlns:a16="http://schemas.microsoft.com/office/drawing/2014/main" id="{087C9CC0-DC5E-1607-01F1-8DA753BEFEC5}"/>
              </a:ext>
            </a:extLst>
          </p:cNvPr>
          <p:cNvSpPr>
            <a:spLocks noGrp="1"/>
          </p:cNvSpPr>
          <p:nvPr>
            <p:ph idx="1"/>
          </p:nvPr>
        </p:nvSpPr>
        <p:spPr>
          <a:xfrm>
            <a:off x="762000" y="2286000"/>
            <a:ext cx="5334000" cy="3810001"/>
          </a:xfrm>
        </p:spPr>
        <p:txBody>
          <a:bodyPr>
            <a:normAutofit/>
          </a:bodyPr>
          <a:lstStyle/>
          <a:p>
            <a:endParaRPr lang="en-US" sz="2400"/>
          </a:p>
        </p:txBody>
      </p:sp>
      <p:sp>
        <p:nvSpPr>
          <p:cNvPr id="2" name="Tytuł 1">
            <a:extLst>
              <a:ext uri="{FF2B5EF4-FFF2-40B4-BE49-F238E27FC236}">
                <a16:creationId xmlns:a16="http://schemas.microsoft.com/office/drawing/2014/main" id="{43DBC740-E098-AF7F-0F6C-D0574B32520F}"/>
              </a:ext>
            </a:extLst>
          </p:cNvPr>
          <p:cNvSpPr>
            <a:spLocks noGrp="1"/>
          </p:cNvSpPr>
          <p:nvPr>
            <p:ph type="title"/>
          </p:nvPr>
        </p:nvSpPr>
        <p:spPr>
          <a:xfrm>
            <a:off x="762000" y="762000"/>
            <a:ext cx="5334000" cy="1524000"/>
          </a:xfrm>
        </p:spPr>
        <p:txBody>
          <a:bodyPr>
            <a:normAutofit/>
          </a:bodyPr>
          <a:lstStyle/>
          <a:p>
            <a:r>
              <a:rPr lang="pl-PL" sz="3200" dirty="0"/>
              <a:t>Jakie kompetencje będą kluczowe w przyszłości</a:t>
            </a:r>
          </a:p>
        </p:txBody>
      </p:sp>
      <p:pic>
        <p:nvPicPr>
          <p:cNvPr id="5" name="Symbol zastępczy zawartości 4">
            <a:extLst>
              <a:ext uri="{FF2B5EF4-FFF2-40B4-BE49-F238E27FC236}">
                <a16:creationId xmlns:a16="http://schemas.microsoft.com/office/drawing/2014/main" id="{3CC445FE-CB4F-424A-3D9E-FFD207D04EB4}"/>
              </a:ext>
            </a:extLst>
          </p:cNvPr>
          <p:cNvPicPr>
            <a:picLocks noChangeAspect="1"/>
          </p:cNvPicPr>
          <p:nvPr/>
        </p:nvPicPr>
        <p:blipFill>
          <a:blip r:embed="rId3"/>
          <a:stretch>
            <a:fillRect/>
          </a:stretch>
        </p:blipFill>
        <p:spPr>
          <a:xfrm>
            <a:off x="7204710" y="771525"/>
            <a:ext cx="4640580" cy="5334000"/>
          </a:xfrm>
          <a:prstGeom prst="rect">
            <a:avLst/>
          </a:prstGeom>
        </p:spPr>
      </p:pic>
    </p:spTree>
    <p:extLst>
      <p:ext uri="{BB962C8B-B14F-4D97-AF65-F5344CB8AC3E}">
        <p14:creationId xmlns:p14="http://schemas.microsoft.com/office/powerpoint/2010/main" val="2900609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3B415D11-6899-4C75-BEAD-79C4656DC0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 y="762007"/>
            <a:ext cx="5948806" cy="6095979"/>
          </a:xfrm>
          <a:custGeom>
            <a:avLst/>
            <a:gdLst>
              <a:gd name="connsiteX0" fmla="*/ 1573832 w 5948806"/>
              <a:gd name="connsiteY0" fmla="*/ 765 h 6095979"/>
              <a:gd name="connsiteX1" fmla="*/ 2734663 w 5948806"/>
              <a:gd name="connsiteY1" fmla="*/ 238687 h 6095979"/>
              <a:gd name="connsiteX2" fmla="*/ 5668316 w 5948806"/>
              <a:gd name="connsiteY2" fmla="*/ 3639516 h 6095979"/>
              <a:gd name="connsiteX3" fmla="*/ 5937022 w 5948806"/>
              <a:gd name="connsiteY3" fmla="*/ 5865869 h 6095979"/>
              <a:gd name="connsiteX4" fmla="*/ 5948806 w 5948806"/>
              <a:gd name="connsiteY4" fmla="*/ 6095979 h 6095979"/>
              <a:gd name="connsiteX5" fmla="*/ 0 w 5948806"/>
              <a:gd name="connsiteY5" fmla="*/ 6095979 h 6095979"/>
              <a:gd name="connsiteX6" fmla="*/ 0 w 5948806"/>
              <a:gd name="connsiteY6" fmla="*/ 1621672 h 6095979"/>
              <a:gd name="connsiteX7" fmla="*/ 36310 w 5948806"/>
              <a:gd name="connsiteY7" fmla="*/ 1518814 h 6095979"/>
              <a:gd name="connsiteX8" fmla="*/ 287891 w 5948806"/>
              <a:gd name="connsiteY8" fmla="*/ 956872 h 6095979"/>
              <a:gd name="connsiteX9" fmla="*/ 1573832 w 5948806"/>
              <a:gd name="connsiteY9" fmla="*/ 765 h 609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48806" h="6095979">
                <a:moveTo>
                  <a:pt x="1573832" y="765"/>
                </a:moveTo>
                <a:cubicBezTo>
                  <a:pt x="1940190" y="-10734"/>
                  <a:pt x="2329345" y="109280"/>
                  <a:pt x="2734663" y="238687"/>
                </a:cubicBezTo>
                <a:cubicBezTo>
                  <a:pt x="4118244" y="680647"/>
                  <a:pt x="5296697" y="1302752"/>
                  <a:pt x="5668316" y="3639516"/>
                </a:cubicBezTo>
                <a:cubicBezTo>
                  <a:pt x="5788299" y="4393559"/>
                  <a:pt x="5890546" y="5142244"/>
                  <a:pt x="5937022" y="5865869"/>
                </a:cubicBezTo>
                <a:lnTo>
                  <a:pt x="5948806" y="6095979"/>
                </a:lnTo>
                <a:lnTo>
                  <a:pt x="0" y="6095979"/>
                </a:lnTo>
                <a:lnTo>
                  <a:pt x="0" y="1621672"/>
                </a:lnTo>
                <a:lnTo>
                  <a:pt x="36310" y="1518814"/>
                </a:lnTo>
                <a:cubicBezTo>
                  <a:pt x="109805" y="1321982"/>
                  <a:pt x="192755" y="1133640"/>
                  <a:pt x="287891" y="956872"/>
                </a:cubicBezTo>
                <a:cubicBezTo>
                  <a:pt x="669453" y="247734"/>
                  <a:pt x="1102800" y="15549"/>
                  <a:pt x="1573832" y="765"/>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A3BFB3E6-2D9E-4A5C-826F-44A91F5977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23838" y="538152"/>
            <a:ext cx="6095989" cy="6543686"/>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Light"/>
            </a:endParaRPr>
          </a:p>
        </p:txBody>
      </p:sp>
      <p:pic>
        <p:nvPicPr>
          <p:cNvPr id="5" name="Obraz 4">
            <a:extLst>
              <a:ext uri="{FF2B5EF4-FFF2-40B4-BE49-F238E27FC236}">
                <a16:creationId xmlns:a16="http://schemas.microsoft.com/office/drawing/2014/main" id="{65D3576A-4508-7CF6-B47A-8882DA5B6253}"/>
              </a:ext>
            </a:extLst>
          </p:cNvPr>
          <p:cNvPicPr>
            <a:picLocks noChangeAspect="1"/>
          </p:cNvPicPr>
          <p:nvPr/>
        </p:nvPicPr>
        <p:blipFill>
          <a:blip r:embed="rId3"/>
          <a:stretch>
            <a:fillRect/>
          </a:stretch>
        </p:blipFill>
        <p:spPr>
          <a:xfrm>
            <a:off x="761999" y="2324094"/>
            <a:ext cx="3810001" cy="3733800"/>
          </a:xfrm>
          <a:prstGeom prst="rect">
            <a:avLst/>
          </a:prstGeom>
        </p:spPr>
      </p:pic>
      <p:sp>
        <p:nvSpPr>
          <p:cNvPr id="3" name="Symbol zastępczy zawartości 2">
            <a:extLst>
              <a:ext uri="{FF2B5EF4-FFF2-40B4-BE49-F238E27FC236}">
                <a16:creationId xmlns:a16="http://schemas.microsoft.com/office/drawing/2014/main" id="{EC93DC5B-EC6E-DACC-1BD3-782FB0D4A818}"/>
              </a:ext>
            </a:extLst>
          </p:cNvPr>
          <p:cNvSpPr>
            <a:spLocks noGrp="1"/>
          </p:cNvSpPr>
          <p:nvPr>
            <p:ph idx="1"/>
          </p:nvPr>
        </p:nvSpPr>
        <p:spPr>
          <a:xfrm>
            <a:off x="6858001" y="3048000"/>
            <a:ext cx="4572000" cy="3048001"/>
          </a:xfrm>
        </p:spPr>
        <p:txBody>
          <a:bodyPr>
            <a:normAutofit fontScale="92500"/>
          </a:bodyPr>
          <a:lstStyle/>
          <a:p>
            <a:pPr marL="0" indent="0">
              <a:lnSpc>
                <a:spcPct val="115000"/>
              </a:lnSpc>
              <a:buNone/>
            </a:pPr>
            <a:r>
              <a:rPr lang="pl-PL" sz="1900" dirty="0"/>
              <a:t>W najbliższych latach szczególnie istotne będą kompetencje związane z:</a:t>
            </a:r>
            <a:endParaRPr lang="en-US" sz="1900" dirty="0"/>
          </a:p>
          <a:p>
            <a:pPr>
              <a:lnSpc>
                <a:spcPct val="115000"/>
              </a:lnSpc>
            </a:pPr>
            <a:r>
              <a:rPr lang="pl-PL" sz="1900" dirty="0"/>
              <a:t>rozumieniem sztucznej inteligencji,</a:t>
            </a:r>
            <a:endParaRPr lang="en-US" sz="1900" dirty="0"/>
          </a:p>
          <a:p>
            <a:pPr>
              <a:lnSpc>
                <a:spcPct val="115000"/>
              </a:lnSpc>
            </a:pPr>
            <a:r>
              <a:rPr lang="pl-PL" sz="1900" dirty="0"/>
              <a:t>pracą w środowiskach rozproszonych,</a:t>
            </a:r>
            <a:endParaRPr lang="en-US" sz="1900" dirty="0"/>
          </a:p>
          <a:p>
            <a:pPr>
              <a:lnSpc>
                <a:spcPct val="115000"/>
              </a:lnSpc>
            </a:pPr>
            <a:r>
              <a:rPr lang="pl-PL" sz="1900" dirty="0"/>
              <a:t>myśleniem systemowym,</a:t>
            </a:r>
            <a:endParaRPr lang="en-US" sz="1900" dirty="0"/>
          </a:p>
          <a:p>
            <a:pPr>
              <a:lnSpc>
                <a:spcPct val="115000"/>
              </a:lnSpc>
            </a:pPr>
            <a:r>
              <a:rPr lang="pl-PL" sz="1900" dirty="0"/>
              <a:t>zarządzaniem zmianą,</a:t>
            </a:r>
            <a:endParaRPr lang="en-US" sz="1900" dirty="0"/>
          </a:p>
          <a:p>
            <a:pPr>
              <a:lnSpc>
                <a:spcPct val="115000"/>
              </a:lnSpc>
            </a:pPr>
            <a:r>
              <a:rPr lang="pl-PL" sz="1900" dirty="0"/>
              <a:t>szybkim uczeniem się nowych narzędzi.</a:t>
            </a:r>
          </a:p>
        </p:txBody>
      </p:sp>
      <p:sp>
        <p:nvSpPr>
          <p:cNvPr id="2" name="Tytuł 1">
            <a:extLst>
              <a:ext uri="{FF2B5EF4-FFF2-40B4-BE49-F238E27FC236}">
                <a16:creationId xmlns:a16="http://schemas.microsoft.com/office/drawing/2014/main" id="{BEA44F10-684D-A4A4-B1B6-4FAF96B0D2E0}"/>
              </a:ext>
            </a:extLst>
          </p:cNvPr>
          <p:cNvSpPr>
            <a:spLocks noGrp="1"/>
          </p:cNvSpPr>
          <p:nvPr>
            <p:ph type="title"/>
          </p:nvPr>
        </p:nvSpPr>
        <p:spPr>
          <a:xfrm>
            <a:off x="6858000" y="1523990"/>
            <a:ext cx="4572000" cy="1524010"/>
          </a:xfrm>
        </p:spPr>
        <p:txBody>
          <a:bodyPr anchor="t">
            <a:normAutofit/>
          </a:bodyPr>
          <a:lstStyle/>
          <a:p>
            <a:r>
              <a:rPr lang="pl-PL" sz="3200"/>
              <a:t>Jakie kompetencje będą kluczowe w przyszłości</a:t>
            </a:r>
          </a:p>
        </p:txBody>
      </p:sp>
    </p:spTree>
    <p:extLst>
      <p:ext uri="{BB962C8B-B14F-4D97-AF65-F5344CB8AC3E}">
        <p14:creationId xmlns:p14="http://schemas.microsoft.com/office/powerpoint/2010/main" val="2375375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8B8A51A-6D01-4D5D-A841-E558470274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62001" y="1524002"/>
            <a:ext cx="6096001" cy="4572000"/>
          </a:xfrm>
          <a:custGeom>
            <a:avLst/>
            <a:gdLst>
              <a:gd name="connsiteX0" fmla="*/ 1673074 w 4228094"/>
              <a:gd name="connsiteY0" fmla="*/ 230 h 1137038"/>
              <a:gd name="connsiteX1" fmla="*/ 3676781 w 4228094"/>
              <a:gd name="connsiteY1" fmla="*/ 298555 h 1137038"/>
              <a:gd name="connsiteX2" fmla="*/ 4025527 w 4228094"/>
              <a:gd name="connsiteY2" fmla="*/ 425010 h 1137038"/>
              <a:gd name="connsiteX3" fmla="*/ 4228094 w 4228094"/>
              <a:gd name="connsiteY3" fmla="*/ 494088 h 1137038"/>
              <a:gd name="connsiteX4" fmla="*/ 4228094 w 4228094"/>
              <a:gd name="connsiteY4" fmla="*/ 1137038 h 1137038"/>
              <a:gd name="connsiteX5" fmla="*/ 0 w 4228094"/>
              <a:gd name="connsiteY5" fmla="*/ 1137038 h 1137038"/>
              <a:gd name="connsiteX6" fmla="*/ 18109 w 4228094"/>
              <a:gd name="connsiteY6" fmla="*/ 1068877 h 1137038"/>
              <a:gd name="connsiteX7" fmla="*/ 362264 w 4228094"/>
              <a:gd name="connsiteY7" fmla="*/ 366637 h 1137038"/>
              <a:gd name="connsiteX8" fmla="*/ 1386499 w 4228094"/>
              <a:gd name="connsiteY8" fmla="*/ 1522 h 1137038"/>
              <a:gd name="connsiteX9" fmla="*/ 1673074 w 4228094"/>
              <a:gd name="connsiteY9" fmla="*/ 230 h 1137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28094" h="1137038">
                <a:moveTo>
                  <a:pt x="1673074" y="230"/>
                </a:moveTo>
                <a:cubicBezTo>
                  <a:pt x="2346512" y="4287"/>
                  <a:pt x="3048424" y="63583"/>
                  <a:pt x="3676781" y="298555"/>
                </a:cubicBezTo>
                <a:cubicBezTo>
                  <a:pt x="3793275" y="342114"/>
                  <a:pt x="3909477" y="384216"/>
                  <a:pt x="4025527" y="425010"/>
                </a:cubicBezTo>
                <a:lnTo>
                  <a:pt x="4228094" y="494088"/>
                </a:lnTo>
                <a:lnTo>
                  <a:pt x="4228094" y="1137038"/>
                </a:lnTo>
                <a:lnTo>
                  <a:pt x="0" y="1137038"/>
                </a:lnTo>
                <a:lnTo>
                  <a:pt x="18109" y="1068877"/>
                </a:lnTo>
                <a:cubicBezTo>
                  <a:pt x="95047" y="799139"/>
                  <a:pt x="194962" y="542008"/>
                  <a:pt x="362264" y="366637"/>
                </a:cubicBezTo>
                <a:cubicBezTo>
                  <a:pt x="622229" y="94062"/>
                  <a:pt x="1015836" y="6565"/>
                  <a:pt x="1386499" y="1522"/>
                </a:cubicBezTo>
                <a:cubicBezTo>
                  <a:pt x="1481245" y="198"/>
                  <a:pt x="1576869" y="-349"/>
                  <a:pt x="1673074"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3" name="Freeform: Shape 12">
            <a:extLst>
              <a:ext uri="{FF2B5EF4-FFF2-40B4-BE49-F238E27FC236}">
                <a16:creationId xmlns:a16="http://schemas.microsoft.com/office/drawing/2014/main" id="{B3583F5F-50B1-4C06-8A4C-52B531C923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flipV="1">
            <a:off x="0" y="370704"/>
            <a:ext cx="4485503" cy="6487296"/>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rgbClr val="F1CB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ytuł 1">
            <a:extLst>
              <a:ext uri="{FF2B5EF4-FFF2-40B4-BE49-F238E27FC236}">
                <a16:creationId xmlns:a16="http://schemas.microsoft.com/office/drawing/2014/main" id="{D9F75EC0-20C8-B3E8-5AE1-7E343A26BF8B}"/>
              </a:ext>
            </a:extLst>
          </p:cNvPr>
          <p:cNvSpPr>
            <a:spLocks noGrp="1"/>
          </p:cNvSpPr>
          <p:nvPr>
            <p:ph type="title"/>
          </p:nvPr>
        </p:nvSpPr>
        <p:spPr>
          <a:xfrm>
            <a:off x="718750" y="2286000"/>
            <a:ext cx="3048001" cy="2286000"/>
          </a:xfrm>
        </p:spPr>
        <p:txBody>
          <a:bodyPr anchor="ctr">
            <a:normAutofit/>
          </a:bodyPr>
          <a:lstStyle/>
          <a:p>
            <a:r>
              <a:rPr lang="pl-PL" sz="3200">
                <a:solidFill>
                  <a:srgbClr val="FFFFFF"/>
                </a:solidFill>
              </a:rPr>
              <a:t>Jak zmienia się rola lidera zespołu IT</a:t>
            </a:r>
          </a:p>
        </p:txBody>
      </p:sp>
      <p:graphicFrame>
        <p:nvGraphicFramePr>
          <p:cNvPr id="5" name="Symbol zastępczy zawartości 2">
            <a:extLst>
              <a:ext uri="{FF2B5EF4-FFF2-40B4-BE49-F238E27FC236}">
                <a16:creationId xmlns:a16="http://schemas.microsoft.com/office/drawing/2014/main" id="{202FA56A-E47C-51E1-14D8-5EA70B244143}"/>
              </a:ext>
            </a:extLst>
          </p:cNvPr>
          <p:cNvGraphicFramePr>
            <a:graphicFrameLocks noGrp="1"/>
          </p:cNvGraphicFramePr>
          <p:nvPr>
            <p:ph idx="1"/>
            <p:extLst>
              <p:ext uri="{D42A27DB-BD31-4B8C-83A1-F6EECF244321}">
                <p14:modId xmlns:p14="http://schemas.microsoft.com/office/powerpoint/2010/main" val="3276731276"/>
              </p:ext>
            </p:extLst>
          </p:nvPr>
        </p:nvGraphicFramePr>
        <p:xfrm>
          <a:off x="5334000" y="762000"/>
          <a:ext cx="6096000" cy="533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49422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8B8A51A-6D01-4D5D-A841-E558470274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62001" y="1524002"/>
            <a:ext cx="6096001" cy="4572000"/>
          </a:xfrm>
          <a:custGeom>
            <a:avLst/>
            <a:gdLst>
              <a:gd name="connsiteX0" fmla="*/ 1673074 w 4228094"/>
              <a:gd name="connsiteY0" fmla="*/ 230 h 1137038"/>
              <a:gd name="connsiteX1" fmla="*/ 3676781 w 4228094"/>
              <a:gd name="connsiteY1" fmla="*/ 298555 h 1137038"/>
              <a:gd name="connsiteX2" fmla="*/ 4025527 w 4228094"/>
              <a:gd name="connsiteY2" fmla="*/ 425010 h 1137038"/>
              <a:gd name="connsiteX3" fmla="*/ 4228094 w 4228094"/>
              <a:gd name="connsiteY3" fmla="*/ 494088 h 1137038"/>
              <a:gd name="connsiteX4" fmla="*/ 4228094 w 4228094"/>
              <a:gd name="connsiteY4" fmla="*/ 1137038 h 1137038"/>
              <a:gd name="connsiteX5" fmla="*/ 0 w 4228094"/>
              <a:gd name="connsiteY5" fmla="*/ 1137038 h 1137038"/>
              <a:gd name="connsiteX6" fmla="*/ 18109 w 4228094"/>
              <a:gd name="connsiteY6" fmla="*/ 1068877 h 1137038"/>
              <a:gd name="connsiteX7" fmla="*/ 362264 w 4228094"/>
              <a:gd name="connsiteY7" fmla="*/ 366637 h 1137038"/>
              <a:gd name="connsiteX8" fmla="*/ 1386499 w 4228094"/>
              <a:gd name="connsiteY8" fmla="*/ 1522 h 1137038"/>
              <a:gd name="connsiteX9" fmla="*/ 1673074 w 4228094"/>
              <a:gd name="connsiteY9" fmla="*/ 230 h 1137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28094" h="1137038">
                <a:moveTo>
                  <a:pt x="1673074" y="230"/>
                </a:moveTo>
                <a:cubicBezTo>
                  <a:pt x="2346512" y="4287"/>
                  <a:pt x="3048424" y="63583"/>
                  <a:pt x="3676781" y="298555"/>
                </a:cubicBezTo>
                <a:cubicBezTo>
                  <a:pt x="3793275" y="342114"/>
                  <a:pt x="3909477" y="384216"/>
                  <a:pt x="4025527" y="425010"/>
                </a:cubicBezTo>
                <a:lnTo>
                  <a:pt x="4228094" y="494088"/>
                </a:lnTo>
                <a:lnTo>
                  <a:pt x="4228094" y="1137038"/>
                </a:lnTo>
                <a:lnTo>
                  <a:pt x="0" y="1137038"/>
                </a:lnTo>
                <a:lnTo>
                  <a:pt x="18109" y="1068877"/>
                </a:lnTo>
                <a:cubicBezTo>
                  <a:pt x="95047" y="799139"/>
                  <a:pt x="194962" y="542008"/>
                  <a:pt x="362264" y="366637"/>
                </a:cubicBezTo>
                <a:cubicBezTo>
                  <a:pt x="622229" y="94062"/>
                  <a:pt x="1015836" y="6565"/>
                  <a:pt x="1386499" y="1522"/>
                </a:cubicBezTo>
                <a:cubicBezTo>
                  <a:pt x="1481245" y="198"/>
                  <a:pt x="1576869" y="-349"/>
                  <a:pt x="1673074"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3" name="Freeform: Shape 12">
            <a:extLst>
              <a:ext uri="{FF2B5EF4-FFF2-40B4-BE49-F238E27FC236}">
                <a16:creationId xmlns:a16="http://schemas.microsoft.com/office/drawing/2014/main" id="{B3583F5F-50B1-4C06-8A4C-52B531C923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flipV="1">
            <a:off x="0" y="370704"/>
            <a:ext cx="4485503" cy="6487296"/>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rgbClr val="F1CB9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ytuł 1">
            <a:extLst>
              <a:ext uri="{FF2B5EF4-FFF2-40B4-BE49-F238E27FC236}">
                <a16:creationId xmlns:a16="http://schemas.microsoft.com/office/drawing/2014/main" id="{2E5E6194-0022-B374-3008-53EC129FDCAC}"/>
              </a:ext>
            </a:extLst>
          </p:cNvPr>
          <p:cNvSpPr>
            <a:spLocks noGrp="1"/>
          </p:cNvSpPr>
          <p:nvPr>
            <p:ph type="title"/>
          </p:nvPr>
        </p:nvSpPr>
        <p:spPr>
          <a:xfrm>
            <a:off x="718750" y="2286000"/>
            <a:ext cx="3048001" cy="2286000"/>
          </a:xfrm>
        </p:spPr>
        <p:txBody>
          <a:bodyPr anchor="ctr">
            <a:normAutofit/>
          </a:bodyPr>
          <a:lstStyle/>
          <a:p>
            <a:r>
              <a:rPr lang="pl-PL" sz="3000" dirty="0">
                <a:solidFill>
                  <a:srgbClr val="FFFFFF"/>
                </a:solidFill>
              </a:rPr>
              <a:t>Jak automatyzacja wpływa na strukturę zespołów</a:t>
            </a:r>
          </a:p>
        </p:txBody>
      </p:sp>
      <p:graphicFrame>
        <p:nvGraphicFramePr>
          <p:cNvPr id="5" name="Symbol zastępczy zawartości 2">
            <a:extLst>
              <a:ext uri="{FF2B5EF4-FFF2-40B4-BE49-F238E27FC236}">
                <a16:creationId xmlns:a16="http://schemas.microsoft.com/office/drawing/2014/main" id="{6CB97C9F-EC23-D0D6-E4D0-B2DA25C12CE0}"/>
              </a:ext>
            </a:extLst>
          </p:cNvPr>
          <p:cNvGraphicFramePr>
            <a:graphicFrameLocks noGrp="1"/>
          </p:cNvGraphicFramePr>
          <p:nvPr>
            <p:ph idx="1"/>
            <p:extLst>
              <p:ext uri="{D42A27DB-BD31-4B8C-83A1-F6EECF244321}">
                <p14:modId xmlns:p14="http://schemas.microsoft.com/office/powerpoint/2010/main" val="3285433491"/>
              </p:ext>
            </p:extLst>
          </p:nvPr>
        </p:nvGraphicFramePr>
        <p:xfrm>
          <a:off x="5334000" y="762000"/>
          <a:ext cx="6096000" cy="533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18424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3D065C6D-EB42-400B-99C4-D0ACE936F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13174" y="0"/>
            <a:ext cx="5578824" cy="6028256"/>
          </a:xfrm>
          <a:custGeom>
            <a:avLst/>
            <a:gdLst>
              <a:gd name="connsiteX0" fmla="*/ 1681218 w 5578824"/>
              <a:gd name="connsiteY0" fmla="*/ 0 h 6028256"/>
              <a:gd name="connsiteX1" fmla="*/ 5578824 w 5578824"/>
              <a:gd name="connsiteY1" fmla="*/ 0 h 6028256"/>
              <a:gd name="connsiteX2" fmla="*/ 5578824 w 5578824"/>
              <a:gd name="connsiteY2" fmla="*/ 5760161 h 6028256"/>
              <a:gd name="connsiteX3" fmla="*/ 5441231 w 5578824"/>
              <a:gd name="connsiteY3" fmla="*/ 5804042 h 6028256"/>
              <a:gd name="connsiteX4" fmla="*/ 4253224 w 5578824"/>
              <a:gd name="connsiteY4" fmla="*/ 5980388 h 6028256"/>
              <a:gd name="connsiteX5" fmla="*/ 837278 w 5578824"/>
              <a:gd name="connsiteY5" fmla="*/ 4877588 h 6028256"/>
              <a:gd name="connsiteX6" fmla="*/ 109626 w 5578824"/>
              <a:gd name="connsiteY6" fmla="*/ 3329255 h 6028256"/>
              <a:gd name="connsiteX7" fmla="*/ 156962 w 5578824"/>
              <a:gd name="connsiteY7" fmla="*/ 1773839 h 6028256"/>
              <a:gd name="connsiteX8" fmla="*/ 904890 w 5578824"/>
              <a:gd name="connsiteY8" fmla="*/ 738354 h 6028256"/>
              <a:gd name="connsiteX9" fmla="*/ 1304592 w 5578824"/>
              <a:gd name="connsiteY9" fmla="*/ 360545 h 602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78824" h="6028256">
                <a:moveTo>
                  <a:pt x="1681218" y="0"/>
                </a:moveTo>
                <a:lnTo>
                  <a:pt x="5578824" y="0"/>
                </a:lnTo>
                <a:lnTo>
                  <a:pt x="5578824" y="5760161"/>
                </a:lnTo>
                <a:lnTo>
                  <a:pt x="5441231" y="5804042"/>
                </a:lnTo>
                <a:cubicBezTo>
                  <a:pt x="5079089" y="5907589"/>
                  <a:pt x="4674877" y="5944442"/>
                  <a:pt x="4253224" y="5980388"/>
                </a:cubicBezTo>
                <a:cubicBezTo>
                  <a:pt x="2813852" y="6102970"/>
                  <a:pt x="1551586" y="6071494"/>
                  <a:pt x="837278" y="4877588"/>
                </a:cubicBezTo>
                <a:cubicBezTo>
                  <a:pt x="529862" y="4363935"/>
                  <a:pt x="255162" y="3847185"/>
                  <a:pt x="109626" y="3329255"/>
                </a:cubicBezTo>
                <a:cubicBezTo>
                  <a:pt x="-35907" y="2811325"/>
                  <a:pt x="-52277" y="2292214"/>
                  <a:pt x="156962" y="1773839"/>
                </a:cubicBezTo>
                <a:cubicBezTo>
                  <a:pt x="296494" y="1428108"/>
                  <a:pt x="536161" y="1082881"/>
                  <a:pt x="904890" y="738354"/>
                </a:cubicBezTo>
                <a:cubicBezTo>
                  <a:pt x="1036690" y="615181"/>
                  <a:pt x="1169968" y="488910"/>
                  <a:pt x="1304592" y="360545"/>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3362A0EA-3E81-4464-94B8-70BE5870E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87883"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7" name="pole tekstowe 6">
            <a:extLst>
              <a:ext uri="{FF2B5EF4-FFF2-40B4-BE49-F238E27FC236}">
                <a16:creationId xmlns:a16="http://schemas.microsoft.com/office/drawing/2014/main" id="{CBF804AD-98B1-D8EF-1D1C-7C21767D5071}"/>
              </a:ext>
            </a:extLst>
          </p:cNvPr>
          <p:cNvSpPr txBox="1"/>
          <p:nvPr/>
        </p:nvSpPr>
        <p:spPr>
          <a:xfrm>
            <a:off x="762000" y="2286000"/>
            <a:ext cx="5334000" cy="3810001"/>
          </a:xfrm>
          <a:prstGeom prst="rect">
            <a:avLst/>
          </a:prstGeom>
        </p:spPr>
        <p:txBody>
          <a:bodyPr vert="horz" lIns="91440" tIns="45720" rIns="91440" bIns="45720" rtlCol="0">
            <a:normAutofit/>
          </a:bodyPr>
          <a:lstStyle/>
          <a:p>
            <a:pPr>
              <a:lnSpc>
                <a:spcPct val="115000"/>
              </a:lnSpc>
              <a:spcAft>
                <a:spcPts val="600"/>
              </a:spcAft>
            </a:pPr>
            <a:r>
              <a:rPr lang="en-US" sz="2000" dirty="0">
                <a:solidFill>
                  <a:schemeClr val="tx1">
                    <a:alpha val="70000"/>
                  </a:schemeClr>
                </a:solidFill>
              </a:rPr>
              <a:t>DevOps </a:t>
            </a:r>
            <a:r>
              <a:rPr lang="en-US" sz="2000" dirty="0" err="1">
                <a:solidFill>
                  <a:schemeClr val="tx1">
                    <a:alpha val="70000"/>
                  </a:schemeClr>
                </a:solidFill>
              </a:rPr>
              <a:t>przez</a:t>
            </a:r>
            <a:r>
              <a:rPr lang="en-US" sz="2000" dirty="0">
                <a:solidFill>
                  <a:schemeClr val="tx1">
                    <a:alpha val="70000"/>
                  </a:schemeClr>
                </a:solidFill>
              </a:rPr>
              <a:t> </a:t>
            </a:r>
            <a:r>
              <a:rPr lang="en-US" sz="2000" dirty="0" err="1">
                <a:solidFill>
                  <a:schemeClr val="tx1">
                    <a:alpha val="70000"/>
                  </a:schemeClr>
                </a:solidFill>
              </a:rPr>
              <a:t>wiele</a:t>
            </a:r>
            <a:r>
              <a:rPr lang="en-US" sz="2000" dirty="0">
                <a:solidFill>
                  <a:schemeClr val="tx1">
                    <a:alpha val="70000"/>
                  </a:schemeClr>
                </a:solidFill>
              </a:rPr>
              <a:t> </a:t>
            </a:r>
            <a:r>
              <a:rPr lang="en-US" sz="2000" dirty="0" err="1">
                <a:solidFill>
                  <a:schemeClr val="tx1">
                    <a:alpha val="70000"/>
                  </a:schemeClr>
                </a:solidFill>
              </a:rPr>
              <a:t>lat</a:t>
            </a:r>
            <a:r>
              <a:rPr lang="en-US" sz="2000" dirty="0">
                <a:solidFill>
                  <a:schemeClr val="tx1">
                    <a:alpha val="70000"/>
                  </a:schemeClr>
                </a:solidFill>
              </a:rPr>
              <a:t> </a:t>
            </a:r>
            <a:r>
              <a:rPr lang="en-US" sz="2000" dirty="0" err="1">
                <a:solidFill>
                  <a:schemeClr val="tx1">
                    <a:alpha val="70000"/>
                  </a:schemeClr>
                </a:solidFill>
              </a:rPr>
              <a:t>był</a:t>
            </a:r>
            <a:r>
              <a:rPr lang="en-US" sz="2000" dirty="0">
                <a:solidFill>
                  <a:schemeClr val="tx1">
                    <a:alpha val="70000"/>
                  </a:schemeClr>
                </a:solidFill>
              </a:rPr>
              <a:t> </a:t>
            </a:r>
            <a:r>
              <a:rPr lang="en-US" sz="2000" dirty="0" err="1">
                <a:solidFill>
                  <a:schemeClr val="tx1">
                    <a:alpha val="70000"/>
                  </a:schemeClr>
                </a:solidFill>
              </a:rPr>
              <a:t>postrzegany</a:t>
            </a:r>
            <a:r>
              <a:rPr lang="en-US" sz="2000" dirty="0">
                <a:solidFill>
                  <a:schemeClr val="tx1">
                    <a:alpha val="70000"/>
                  </a:schemeClr>
                </a:solidFill>
              </a:rPr>
              <a:t> </a:t>
            </a:r>
            <a:r>
              <a:rPr lang="en-US" sz="2000" dirty="0" err="1">
                <a:solidFill>
                  <a:schemeClr val="tx1">
                    <a:alpha val="70000"/>
                  </a:schemeClr>
                </a:solidFill>
              </a:rPr>
              <a:t>głównie</a:t>
            </a:r>
            <a:r>
              <a:rPr lang="en-US" sz="2000" dirty="0">
                <a:solidFill>
                  <a:schemeClr val="tx1">
                    <a:alpha val="70000"/>
                  </a:schemeClr>
                </a:solidFill>
              </a:rPr>
              <a:t> </a:t>
            </a:r>
            <a:r>
              <a:rPr lang="en-US" sz="2000" dirty="0" err="1">
                <a:solidFill>
                  <a:schemeClr val="tx1">
                    <a:alpha val="70000"/>
                  </a:schemeClr>
                </a:solidFill>
              </a:rPr>
              <a:t>jako</a:t>
            </a:r>
            <a:r>
              <a:rPr lang="en-US" sz="2000" dirty="0">
                <a:solidFill>
                  <a:schemeClr val="tx1">
                    <a:alpha val="70000"/>
                  </a:schemeClr>
                </a:solidFill>
              </a:rPr>
              <a:t> </a:t>
            </a:r>
            <a:r>
              <a:rPr lang="en-US" sz="2000" dirty="0" err="1">
                <a:solidFill>
                  <a:schemeClr val="tx1">
                    <a:alpha val="70000"/>
                  </a:schemeClr>
                </a:solidFill>
              </a:rPr>
              <a:t>połączenie</a:t>
            </a:r>
            <a:r>
              <a:rPr lang="en-US" sz="2000" dirty="0">
                <a:solidFill>
                  <a:schemeClr val="tx1">
                    <a:alpha val="70000"/>
                  </a:schemeClr>
                </a:solidFill>
              </a:rPr>
              <a:t> </a:t>
            </a:r>
            <a:r>
              <a:rPr lang="en-US" sz="2000" dirty="0" err="1">
                <a:solidFill>
                  <a:schemeClr val="tx1">
                    <a:alpha val="70000"/>
                  </a:schemeClr>
                </a:solidFill>
              </a:rPr>
              <a:t>pracy</a:t>
            </a:r>
            <a:r>
              <a:rPr lang="en-US" sz="2000" dirty="0">
                <a:solidFill>
                  <a:schemeClr val="tx1">
                    <a:alpha val="70000"/>
                  </a:schemeClr>
                </a:solidFill>
              </a:rPr>
              <a:t> </a:t>
            </a:r>
            <a:r>
              <a:rPr lang="en-US" sz="2000" dirty="0" err="1">
                <a:solidFill>
                  <a:schemeClr val="tx1">
                    <a:alpha val="70000"/>
                  </a:schemeClr>
                </a:solidFill>
              </a:rPr>
              <a:t>programistów</a:t>
            </a:r>
            <a:r>
              <a:rPr lang="en-US" sz="2000" dirty="0">
                <a:solidFill>
                  <a:schemeClr val="tx1">
                    <a:alpha val="70000"/>
                  </a:schemeClr>
                </a:solidFill>
              </a:rPr>
              <a:t> </a:t>
            </a:r>
            <a:r>
              <a:rPr lang="en-US" sz="2000" dirty="0" err="1">
                <a:solidFill>
                  <a:schemeClr val="tx1">
                    <a:alpha val="70000"/>
                  </a:schemeClr>
                </a:solidFill>
              </a:rPr>
              <a:t>i</a:t>
            </a:r>
            <a:r>
              <a:rPr lang="en-US" sz="2000" dirty="0">
                <a:solidFill>
                  <a:schemeClr val="tx1">
                    <a:alpha val="70000"/>
                  </a:schemeClr>
                </a:solidFill>
              </a:rPr>
              <a:t> </a:t>
            </a:r>
            <a:r>
              <a:rPr lang="en-US" sz="2000" dirty="0" err="1">
                <a:solidFill>
                  <a:schemeClr val="tx1">
                    <a:alpha val="70000"/>
                  </a:schemeClr>
                </a:solidFill>
              </a:rPr>
              <a:t>administratorów</a:t>
            </a:r>
            <a:r>
              <a:rPr lang="en-US" sz="2000" dirty="0">
                <a:solidFill>
                  <a:schemeClr val="tx1">
                    <a:alpha val="70000"/>
                  </a:schemeClr>
                </a:solidFill>
              </a:rPr>
              <a:t> </a:t>
            </a:r>
            <a:r>
              <a:rPr lang="en-US" sz="2000" dirty="0" err="1">
                <a:solidFill>
                  <a:schemeClr val="tx1">
                    <a:alpha val="70000"/>
                  </a:schemeClr>
                </a:solidFill>
              </a:rPr>
              <a:t>infrastruktury</a:t>
            </a:r>
            <a:r>
              <a:rPr lang="en-US" sz="2000" dirty="0">
                <a:solidFill>
                  <a:schemeClr val="tx1">
                    <a:alpha val="70000"/>
                  </a:schemeClr>
                </a:solidFill>
              </a:rPr>
              <a:t>. </a:t>
            </a:r>
            <a:r>
              <a:rPr lang="en-US" sz="2000" dirty="0" err="1">
                <a:solidFill>
                  <a:schemeClr val="tx1">
                    <a:alpha val="70000"/>
                  </a:schemeClr>
                </a:solidFill>
              </a:rPr>
              <a:t>Jego</a:t>
            </a:r>
            <a:r>
              <a:rPr lang="en-US" sz="2000" dirty="0">
                <a:solidFill>
                  <a:schemeClr val="tx1">
                    <a:alpha val="70000"/>
                  </a:schemeClr>
                </a:solidFill>
              </a:rPr>
              <a:t> </a:t>
            </a:r>
            <a:r>
              <a:rPr lang="en-US" sz="2000" dirty="0" err="1">
                <a:solidFill>
                  <a:schemeClr val="tx1">
                    <a:alpha val="70000"/>
                  </a:schemeClr>
                </a:solidFill>
              </a:rPr>
              <a:t>głównym</a:t>
            </a:r>
            <a:r>
              <a:rPr lang="en-US" sz="2000" dirty="0">
                <a:solidFill>
                  <a:schemeClr val="tx1">
                    <a:alpha val="70000"/>
                  </a:schemeClr>
                </a:solidFill>
              </a:rPr>
              <a:t> </a:t>
            </a:r>
            <a:r>
              <a:rPr lang="en-US" sz="2000" dirty="0" err="1">
                <a:solidFill>
                  <a:schemeClr val="tx1">
                    <a:alpha val="70000"/>
                  </a:schemeClr>
                </a:solidFill>
              </a:rPr>
              <a:t>celem</a:t>
            </a:r>
            <a:r>
              <a:rPr lang="en-US" sz="2000" dirty="0">
                <a:solidFill>
                  <a:schemeClr val="tx1">
                    <a:alpha val="70000"/>
                  </a:schemeClr>
                </a:solidFill>
              </a:rPr>
              <a:t> </a:t>
            </a:r>
            <a:r>
              <a:rPr lang="en-US" sz="2000" dirty="0" err="1">
                <a:solidFill>
                  <a:schemeClr val="tx1">
                    <a:alpha val="70000"/>
                  </a:schemeClr>
                </a:solidFill>
              </a:rPr>
              <a:t>było</a:t>
            </a:r>
            <a:r>
              <a:rPr lang="en-US" sz="2000" dirty="0">
                <a:solidFill>
                  <a:schemeClr val="tx1">
                    <a:alpha val="70000"/>
                  </a:schemeClr>
                </a:solidFill>
              </a:rPr>
              <a:t> </a:t>
            </a:r>
            <a:r>
              <a:rPr lang="en-US" sz="2000" dirty="0" err="1">
                <a:solidFill>
                  <a:schemeClr val="tx1">
                    <a:alpha val="70000"/>
                  </a:schemeClr>
                </a:solidFill>
              </a:rPr>
              <a:t>skrócenie</a:t>
            </a:r>
            <a:r>
              <a:rPr lang="en-US" sz="2000" dirty="0">
                <a:solidFill>
                  <a:schemeClr val="tx1">
                    <a:alpha val="70000"/>
                  </a:schemeClr>
                </a:solidFill>
              </a:rPr>
              <a:t> </a:t>
            </a:r>
            <a:r>
              <a:rPr lang="en-US" sz="2000" dirty="0" err="1">
                <a:solidFill>
                  <a:schemeClr val="tx1">
                    <a:alpha val="70000"/>
                  </a:schemeClr>
                </a:solidFill>
              </a:rPr>
              <a:t>czasu</a:t>
            </a:r>
            <a:r>
              <a:rPr lang="en-US" sz="2000" dirty="0">
                <a:solidFill>
                  <a:schemeClr val="tx1">
                    <a:alpha val="70000"/>
                  </a:schemeClr>
                </a:solidFill>
              </a:rPr>
              <a:t> </a:t>
            </a:r>
            <a:r>
              <a:rPr lang="en-US" sz="2000" dirty="0" err="1">
                <a:solidFill>
                  <a:schemeClr val="tx1">
                    <a:alpha val="70000"/>
                  </a:schemeClr>
                </a:solidFill>
              </a:rPr>
              <a:t>dostarczania</a:t>
            </a:r>
            <a:r>
              <a:rPr lang="en-US" sz="2000" dirty="0">
                <a:solidFill>
                  <a:schemeClr val="tx1">
                    <a:alpha val="70000"/>
                  </a:schemeClr>
                </a:solidFill>
              </a:rPr>
              <a:t> </a:t>
            </a:r>
            <a:r>
              <a:rPr lang="en-US" sz="2000" dirty="0" err="1">
                <a:solidFill>
                  <a:schemeClr val="tx1">
                    <a:alpha val="70000"/>
                  </a:schemeClr>
                </a:solidFill>
              </a:rPr>
              <a:t>oprogramowania</a:t>
            </a:r>
            <a:r>
              <a:rPr lang="en-US" sz="2000" dirty="0">
                <a:solidFill>
                  <a:schemeClr val="tx1">
                    <a:alpha val="70000"/>
                  </a:schemeClr>
                </a:solidFill>
              </a:rPr>
              <a:t> </a:t>
            </a:r>
            <a:r>
              <a:rPr lang="en-US" sz="2000" dirty="0" err="1">
                <a:solidFill>
                  <a:schemeClr val="tx1">
                    <a:alpha val="70000"/>
                  </a:schemeClr>
                </a:solidFill>
              </a:rPr>
              <a:t>oraz</a:t>
            </a:r>
            <a:r>
              <a:rPr lang="en-US" sz="2000" dirty="0">
                <a:solidFill>
                  <a:schemeClr val="tx1">
                    <a:alpha val="70000"/>
                  </a:schemeClr>
                </a:solidFill>
              </a:rPr>
              <a:t> </a:t>
            </a:r>
            <a:r>
              <a:rPr lang="en-US" sz="2000" dirty="0" err="1">
                <a:solidFill>
                  <a:schemeClr val="tx1">
                    <a:alpha val="70000"/>
                  </a:schemeClr>
                </a:solidFill>
              </a:rPr>
              <a:t>zwiększenie</a:t>
            </a:r>
            <a:r>
              <a:rPr lang="en-US" sz="2000" dirty="0">
                <a:solidFill>
                  <a:schemeClr val="tx1">
                    <a:alpha val="70000"/>
                  </a:schemeClr>
                </a:solidFill>
              </a:rPr>
              <a:t> </a:t>
            </a:r>
            <a:r>
              <a:rPr lang="en-US" sz="2000" dirty="0" err="1">
                <a:solidFill>
                  <a:schemeClr val="tx1">
                    <a:alpha val="70000"/>
                  </a:schemeClr>
                </a:solidFill>
              </a:rPr>
              <a:t>stabilności</a:t>
            </a:r>
            <a:r>
              <a:rPr lang="en-US" sz="2000" dirty="0">
                <a:solidFill>
                  <a:schemeClr val="tx1">
                    <a:alpha val="70000"/>
                  </a:schemeClr>
                </a:solidFill>
              </a:rPr>
              <a:t> </a:t>
            </a:r>
            <a:r>
              <a:rPr lang="en-US" sz="2000" dirty="0" err="1">
                <a:solidFill>
                  <a:schemeClr val="tx1">
                    <a:alpha val="70000"/>
                  </a:schemeClr>
                </a:solidFill>
              </a:rPr>
              <a:t>wdrożeń</a:t>
            </a:r>
            <a:r>
              <a:rPr lang="en-US" sz="2000" dirty="0">
                <a:solidFill>
                  <a:schemeClr val="tx1">
                    <a:alpha val="70000"/>
                  </a:schemeClr>
                </a:solidFill>
              </a:rPr>
              <a:t>. W </a:t>
            </a:r>
            <a:r>
              <a:rPr lang="en-US" sz="2000" dirty="0" err="1">
                <a:solidFill>
                  <a:schemeClr val="tx1">
                    <a:alpha val="70000"/>
                  </a:schemeClr>
                </a:solidFill>
              </a:rPr>
              <a:t>praktyce</a:t>
            </a:r>
            <a:r>
              <a:rPr lang="en-US" sz="2000" dirty="0">
                <a:solidFill>
                  <a:schemeClr val="tx1">
                    <a:alpha val="70000"/>
                  </a:schemeClr>
                </a:solidFill>
              </a:rPr>
              <a:t> </a:t>
            </a:r>
            <a:r>
              <a:rPr lang="en-US" sz="2000" dirty="0" err="1">
                <a:solidFill>
                  <a:schemeClr val="tx1">
                    <a:alpha val="70000"/>
                  </a:schemeClr>
                </a:solidFill>
              </a:rPr>
              <a:t>oznaczało</a:t>
            </a:r>
            <a:r>
              <a:rPr lang="en-US" sz="2000" dirty="0">
                <a:solidFill>
                  <a:schemeClr val="tx1">
                    <a:alpha val="70000"/>
                  </a:schemeClr>
                </a:solidFill>
              </a:rPr>
              <a:t> to </a:t>
            </a:r>
            <a:r>
              <a:rPr lang="en-US" sz="2000" dirty="0" err="1">
                <a:solidFill>
                  <a:schemeClr val="tx1">
                    <a:alpha val="70000"/>
                  </a:schemeClr>
                </a:solidFill>
              </a:rPr>
              <a:t>automatyzację</a:t>
            </a:r>
            <a:r>
              <a:rPr lang="en-US" sz="2000" dirty="0">
                <a:solidFill>
                  <a:schemeClr val="tx1">
                    <a:alpha val="70000"/>
                  </a:schemeClr>
                </a:solidFill>
              </a:rPr>
              <a:t> </a:t>
            </a:r>
            <a:r>
              <a:rPr lang="en-US" sz="2000" dirty="0" err="1">
                <a:solidFill>
                  <a:schemeClr val="tx1">
                    <a:alpha val="70000"/>
                  </a:schemeClr>
                </a:solidFill>
              </a:rPr>
              <a:t>budowania</a:t>
            </a:r>
            <a:r>
              <a:rPr lang="en-US" sz="2000" dirty="0">
                <a:solidFill>
                  <a:schemeClr val="tx1">
                    <a:alpha val="70000"/>
                  </a:schemeClr>
                </a:solidFill>
              </a:rPr>
              <a:t>, </a:t>
            </a:r>
            <a:r>
              <a:rPr lang="en-US" sz="2000" dirty="0" err="1">
                <a:solidFill>
                  <a:schemeClr val="tx1">
                    <a:alpha val="70000"/>
                  </a:schemeClr>
                </a:solidFill>
              </a:rPr>
              <a:t>testowania</a:t>
            </a:r>
            <a:r>
              <a:rPr lang="en-US" sz="2000" dirty="0">
                <a:solidFill>
                  <a:schemeClr val="tx1">
                    <a:alpha val="70000"/>
                  </a:schemeClr>
                </a:solidFill>
              </a:rPr>
              <a:t> </a:t>
            </a:r>
            <a:r>
              <a:rPr lang="en-US" sz="2000" dirty="0" err="1">
                <a:solidFill>
                  <a:schemeClr val="tx1">
                    <a:alpha val="70000"/>
                  </a:schemeClr>
                </a:solidFill>
              </a:rPr>
              <a:t>i</a:t>
            </a:r>
            <a:r>
              <a:rPr lang="en-US" sz="2000" dirty="0">
                <a:solidFill>
                  <a:schemeClr val="tx1">
                    <a:alpha val="70000"/>
                  </a:schemeClr>
                </a:solidFill>
              </a:rPr>
              <a:t> </a:t>
            </a:r>
            <a:r>
              <a:rPr lang="en-US" sz="2000" dirty="0" err="1">
                <a:solidFill>
                  <a:schemeClr val="tx1">
                    <a:alpha val="70000"/>
                  </a:schemeClr>
                </a:solidFill>
              </a:rPr>
              <a:t>publikowania</a:t>
            </a:r>
            <a:r>
              <a:rPr lang="en-US" sz="2000" dirty="0">
                <a:solidFill>
                  <a:schemeClr val="tx1">
                    <a:alpha val="70000"/>
                  </a:schemeClr>
                </a:solidFill>
              </a:rPr>
              <a:t> </a:t>
            </a:r>
            <a:r>
              <a:rPr lang="en-US" sz="2000" dirty="0" err="1">
                <a:solidFill>
                  <a:schemeClr val="tx1">
                    <a:alpha val="70000"/>
                  </a:schemeClr>
                </a:solidFill>
              </a:rPr>
              <a:t>nowych</a:t>
            </a:r>
            <a:r>
              <a:rPr lang="en-US" sz="2000" dirty="0">
                <a:solidFill>
                  <a:schemeClr val="tx1">
                    <a:alpha val="70000"/>
                  </a:schemeClr>
                </a:solidFill>
              </a:rPr>
              <a:t> </a:t>
            </a:r>
            <a:r>
              <a:rPr lang="en-US" sz="2000" dirty="0" err="1">
                <a:solidFill>
                  <a:schemeClr val="tx1">
                    <a:alpha val="70000"/>
                  </a:schemeClr>
                </a:solidFill>
              </a:rPr>
              <a:t>wersji</a:t>
            </a:r>
            <a:r>
              <a:rPr lang="en-US" sz="2000" dirty="0">
                <a:solidFill>
                  <a:schemeClr val="tx1">
                    <a:alpha val="70000"/>
                  </a:schemeClr>
                </a:solidFill>
              </a:rPr>
              <a:t> </a:t>
            </a:r>
            <a:r>
              <a:rPr lang="en-US" sz="2000" dirty="0" err="1">
                <a:solidFill>
                  <a:schemeClr val="tx1">
                    <a:alpha val="70000"/>
                  </a:schemeClr>
                </a:solidFill>
              </a:rPr>
              <a:t>systemów</a:t>
            </a:r>
            <a:r>
              <a:rPr lang="en-US" sz="2000" dirty="0">
                <a:solidFill>
                  <a:schemeClr val="tx1">
                    <a:alpha val="70000"/>
                  </a:schemeClr>
                </a:solidFill>
              </a:rPr>
              <a:t>.</a:t>
            </a:r>
          </a:p>
        </p:txBody>
      </p:sp>
      <p:sp>
        <p:nvSpPr>
          <p:cNvPr id="2" name="Tytuł 1">
            <a:extLst>
              <a:ext uri="{FF2B5EF4-FFF2-40B4-BE49-F238E27FC236}">
                <a16:creationId xmlns:a16="http://schemas.microsoft.com/office/drawing/2014/main" id="{8252905A-FB35-A302-0978-24A7AC468D2F}"/>
              </a:ext>
            </a:extLst>
          </p:cNvPr>
          <p:cNvSpPr>
            <a:spLocks noGrp="1"/>
          </p:cNvSpPr>
          <p:nvPr>
            <p:ph type="title"/>
          </p:nvPr>
        </p:nvSpPr>
        <p:spPr>
          <a:xfrm>
            <a:off x="762000" y="762000"/>
            <a:ext cx="5334000" cy="1524000"/>
          </a:xfrm>
        </p:spPr>
        <p:txBody>
          <a:bodyPr vert="horz" lIns="91440" tIns="45720" rIns="91440" bIns="45720" rtlCol="0" anchor="ctr">
            <a:normAutofit/>
          </a:bodyPr>
          <a:lstStyle/>
          <a:p>
            <a:r>
              <a:rPr lang="en-US" sz="3200"/>
              <a:t>Jak rozwija się DevOps i platform engineering</a:t>
            </a:r>
          </a:p>
        </p:txBody>
      </p:sp>
      <p:pic>
        <p:nvPicPr>
          <p:cNvPr id="5" name="Symbol zastępczy zawartości 4">
            <a:extLst>
              <a:ext uri="{FF2B5EF4-FFF2-40B4-BE49-F238E27FC236}">
                <a16:creationId xmlns:a16="http://schemas.microsoft.com/office/drawing/2014/main" id="{F581EF5E-6B67-4CE5-DAF8-CC4A665348A7}"/>
              </a:ext>
            </a:extLst>
          </p:cNvPr>
          <p:cNvPicPr>
            <a:picLocks noGrp="1" noChangeAspect="1"/>
          </p:cNvPicPr>
          <p:nvPr>
            <p:ph idx="1"/>
          </p:nvPr>
        </p:nvPicPr>
        <p:blipFill>
          <a:blip r:embed="rId3"/>
          <a:stretch>
            <a:fillRect/>
          </a:stretch>
        </p:blipFill>
        <p:spPr>
          <a:xfrm>
            <a:off x="6858000" y="1451610"/>
            <a:ext cx="5334000" cy="3973829"/>
          </a:xfrm>
          <a:prstGeom prst="rect">
            <a:avLst/>
          </a:prstGeom>
        </p:spPr>
      </p:pic>
    </p:spTree>
    <p:extLst>
      <p:ext uri="{BB962C8B-B14F-4D97-AF65-F5344CB8AC3E}">
        <p14:creationId xmlns:p14="http://schemas.microsoft.com/office/powerpoint/2010/main" val="3191353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Obraz 4">
            <a:extLst>
              <a:ext uri="{FF2B5EF4-FFF2-40B4-BE49-F238E27FC236}">
                <a16:creationId xmlns:a16="http://schemas.microsoft.com/office/drawing/2014/main" id="{AF3B29EC-EF6C-2B35-294D-95B099BCF43F}"/>
              </a:ext>
            </a:extLst>
          </p:cNvPr>
          <p:cNvPicPr>
            <a:picLocks noChangeAspect="1"/>
          </p:cNvPicPr>
          <p:nvPr/>
        </p:nvPicPr>
        <p:blipFill>
          <a:blip r:embed="rId3"/>
          <a:srcRect l="25788" r="25857" b="-1"/>
          <a:stretch>
            <a:fillRect/>
          </a:stretch>
        </p:blipFill>
        <p:spPr>
          <a:xfrm>
            <a:off x="2" y="10"/>
            <a:ext cx="5578823" cy="6028246"/>
          </a:xfrm>
          <a:custGeom>
            <a:avLst/>
            <a:gdLst/>
            <a:ahLst/>
            <a:cxnLst/>
            <a:rect l="l" t="t" r="r" b="b"/>
            <a:pathLst>
              <a:path w="5578823" h="6028256">
                <a:moveTo>
                  <a:pt x="0" y="0"/>
                </a:moveTo>
                <a:lnTo>
                  <a:pt x="3897606" y="0"/>
                </a:lnTo>
                <a:lnTo>
                  <a:pt x="4274232" y="360545"/>
                </a:lnTo>
                <a:cubicBezTo>
                  <a:pt x="4408856" y="488910"/>
                  <a:pt x="4542134" y="615181"/>
                  <a:pt x="4673934" y="738354"/>
                </a:cubicBezTo>
                <a:cubicBezTo>
                  <a:pt x="5042663" y="1082881"/>
                  <a:pt x="5282330" y="1428108"/>
                  <a:pt x="5421862" y="1773839"/>
                </a:cubicBezTo>
                <a:cubicBezTo>
                  <a:pt x="5631101" y="2292214"/>
                  <a:pt x="5614731" y="2811325"/>
                  <a:pt x="5469198" y="3329255"/>
                </a:cubicBezTo>
                <a:cubicBezTo>
                  <a:pt x="5323662" y="3847185"/>
                  <a:pt x="5048962" y="4363935"/>
                  <a:pt x="4741546" y="4877588"/>
                </a:cubicBezTo>
                <a:cubicBezTo>
                  <a:pt x="4027238" y="6071494"/>
                  <a:pt x="2764972" y="6102970"/>
                  <a:pt x="1325600" y="5980388"/>
                </a:cubicBezTo>
                <a:cubicBezTo>
                  <a:pt x="903947" y="5944442"/>
                  <a:pt x="499735" y="5907589"/>
                  <a:pt x="137593" y="5804042"/>
                </a:cubicBezTo>
                <a:lnTo>
                  <a:pt x="0" y="5760161"/>
                </a:lnTo>
                <a:close/>
              </a:path>
            </a:pathLst>
          </a:custGeom>
        </p:spPr>
      </p:pic>
      <p:sp>
        <p:nvSpPr>
          <p:cNvPr id="12" name="Freeform: Shape 11">
            <a:extLst>
              <a:ext uri="{FF2B5EF4-FFF2-40B4-BE49-F238E27FC236}">
                <a16:creationId xmlns:a16="http://schemas.microsoft.com/office/drawing/2014/main" id="{E633B38B-B87A-4288-A20F-0223A6C27A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3" name="Symbol zastępczy zawartości 2">
            <a:extLst>
              <a:ext uri="{FF2B5EF4-FFF2-40B4-BE49-F238E27FC236}">
                <a16:creationId xmlns:a16="http://schemas.microsoft.com/office/drawing/2014/main" id="{EC4D9049-0676-A8BE-3B88-467FCAF1BF91}"/>
              </a:ext>
            </a:extLst>
          </p:cNvPr>
          <p:cNvSpPr>
            <a:spLocks noGrp="1"/>
          </p:cNvSpPr>
          <p:nvPr>
            <p:ph idx="1"/>
          </p:nvPr>
        </p:nvSpPr>
        <p:spPr>
          <a:xfrm>
            <a:off x="6096000" y="2286000"/>
            <a:ext cx="5334000" cy="3810001"/>
          </a:xfrm>
        </p:spPr>
        <p:txBody>
          <a:bodyPr>
            <a:normAutofit/>
          </a:bodyPr>
          <a:lstStyle/>
          <a:p>
            <a:pPr marL="0" indent="0">
              <a:lnSpc>
                <a:spcPct val="115000"/>
              </a:lnSpc>
              <a:buNone/>
            </a:pPr>
            <a:r>
              <a:rPr lang="pl-PL" sz="1300" dirty="0"/>
              <a:t>Wraz z rosnącą liczbą systemów opartych na sztucznej inteligencji pojawiła się potrzeba uporządkowania procesu tworzenia i utrzymywania modeli uczenia maszynowego. Tak powstało podejście </a:t>
            </a:r>
            <a:r>
              <a:rPr lang="pl-PL" sz="1300" dirty="0" err="1"/>
              <a:t>MLOps</a:t>
            </a:r>
            <a:r>
              <a:rPr lang="pl-PL" sz="1300" dirty="0"/>
              <a:t>, które można traktować jako rozszerzenie idei </a:t>
            </a:r>
            <a:r>
              <a:rPr lang="pl-PL" sz="1300" dirty="0" err="1"/>
              <a:t>DevOps</a:t>
            </a:r>
            <a:r>
              <a:rPr lang="pl-PL" sz="1300" dirty="0"/>
              <a:t> na środowisko sztucznej inteligencji.</a:t>
            </a:r>
            <a:endParaRPr lang="en-US" sz="1300" dirty="0"/>
          </a:p>
          <a:p>
            <a:pPr marL="0" indent="0">
              <a:lnSpc>
                <a:spcPct val="115000"/>
              </a:lnSpc>
              <a:buNone/>
            </a:pPr>
            <a:r>
              <a:rPr lang="pl-PL" sz="1300" dirty="0" err="1"/>
              <a:t>MLOps</a:t>
            </a:r>
            <a:r>
              <a:rPr lang="pl-PL" sz="1300" dirty="0"/>
              <a:t> obejmuje:</a:t>
            </a:r>
          </a:p>
          <a:p>
            <a:pPr>
              <a:lnSpc>
                <a:spcPct val="115000"/>
              </a:lnSpc>
            </a:pPr>
            <a:r>
              <a:rPr lang="pl-PL" sz="1300" dirty="0"/>
              <a:t>automatyczne trenowanie modeli, </a:t>
            </a:r>
          </a:p>
          <a:p>
            <a:pPr>
              <a:lnSpc>
                <a:spcPct val="115000"/>
              </a:lnSpc>
            </a:pPr>
            <a:r>
              <a:rPr lang="pl-PL" sz="1300" dirty="0"/>
              <a:t>wersjonowanie danych, </a:t>
            </a:r>
          </a:p>
          <a:p>
            <a:pPr>
              <a:lnSpc>
                <a:spcPct val="115000"/>
              </a:lnSpc>
            </a:pPr>
            <a:r>
              <a:rPr lang="pl-PL" sz="1300" dirty="0"/>
              <a:t>monitorowanie jakości predykcji, </a:t>
            </a:r>
          </a:p>
          <a:p>
            <a:pPr>
              <a:lnSpc>
                <a:spcPct val="115000"/>
              </a:lnSpc>
            </a:pPr>
            <a:r>
              <a:rPr lang="pl-PL" sz="1300" dirty="0"/>
              <a:t>automatyczne wdrażanie modeli, </a:t>
            </a:r>
          </a:p>
          <a:p>
            <a:pPr>
              <a:lnSpc>
                <a:spcPct val="115000"/>
              </a:lnSpc>
            </a:pPr>
            <a:r>
              <a:rPr lang="pl-PL" sz="1300" dirty="0"/>
              <a:t>kontrolę zmian w środowisku produkcyjnym.</a:t>
            </a:r>
          </a:p>
          <a:p>
            <a:pPr marL="0" indent="0">
              <a:lnSpc>
                <a:spcPct val="115000"/>
              </a:lnSpc>
              <a:buNone/>
            </a:pPr>
            <a:endParaRPr lang="pl-PL" sz="1300" dirty="0"/>
          </a:p>
        </p:txBody>
      </p:sp>
      <p:sp>
        <p:nvSpPr>
          <p:cNvPr id="2" name="Tytuł 1">
            <a:extLst>
              <a:ext uri="{FF2B5EF4-FFF2-40B4-BE49-F238E27FC236}">
                <a16:creationId xmlns:a16="http://schemas.microsoft.com/office/drawing/2014/main" id="{94E0D418-E075-E855-28D7-5F3E9540E942}"/>
              </a:ext>
            </a:extLst>
          </p:cNvPr>
          <p:cNvSpPr>
            <a:spLocks noGrp="1"/>
          </p:cNvSpPr>
          <p:nvPr>
            <p:ph type="title"/>
          </p:nvPr>
        </p:nvSpPr>
        <p:spPr>
          <a:xfrm>
            <a:off x="6096000" y="762000"/>
            <a:ext cx="5334000" cy="1524000"/>
          </a:xfrm>
        </p:spPr>
        <p:txBody>
          <a:bodyPr>
            <a:normAutofit/>
          </a:bodyPr>
          <a:lstStyle/>
          <a:p>
            <a:r>
              <a:rPr lang="pl-PL" sz="3200"/>
              <a:t>Czym jest MLOps i dlaczego staje się standardem</a:t>
            </a:r>
          </a:p>
        </p:txBody>
      </p:sp>
    </p:spTree>
    <p:extLst>
      <p:ext uri="{BB962C8B-B14F-4D97-AF65-F5344CB8AC3E}">
        <p14:creationId xmlns:p14="http://schemas.microsoft.com/office/powerpoint/2010/main" val="990867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Kalkulator, pióro, kompas, pieniądze i papier z drukowanymi wykresami">
            <a:extLst>
              <a:ext uri="{FF2B5EF4-FFF2-40B4-BE49-F238E27FC236}">
                <a16:creationId xmlns:a16="http://schemas.microsoft.com/office/drawing/2014/main" id="{6DCE7873-7E4C-CDB6-4C06-5D91819B3B4A}"/>
              </a:ext>
            </a:extLst>
          </p:cNvPr>
          <p:cNvPicPr>
            <a:picLocks noChangeAspect="1"/>
          </p:cNvPicPr>
          <p:nvPr/>
        </p:nvPicPr>
        <p:blipFill>
          <a:blip r:embed="rId3"/>
          <a:srcRect l="24232" r="20009" b="-2"/>
          <a:stretch>
            <a:fillRect/>
          </a:stretch>
        </p:blipFill>
        <p:spPr>
          <a:xfrm>
            <a:off x="2" y="10"/>
            <a:ext cx="5578823" cy="6028246"/>
          </a:xfrm>
          <a:custGeom>
            <a:avLst/>
            <a:gdLst/>
            <a:ahLst/>
            <a:cxnLst/>
            <a:rect l="l" t="t" r="r" b="b"/>
            <a:pathLst>
              <a:path w="5578823" h="6028256">
                <a:moveTo>
                  <a:pt x="0" y="0"/>
                </a:moveTo>
                <a:lnTo>
                  <a:pt x="3897606" y="0"/>
                </a:lnTo>
                <a:lnTo>
                  <a:pt x="4274232" y="360545"/>
                </a:lnTo>
                <a:cubicBezTo>
                  <a:pt x="4408856" y="488910"/>
                  <a:pt x="4542134" y="615181"/>
                  <a:pt x="4673934" y="738354"/>
                </a:cubicBezTo>
                <a:cubicBezTo>
                  <a:pt x="5042663" y="1082881"/>
                  <a:pt x="5282330" y="1428108"/>
                  <a:pt x="5421862" y="1773839"/>
                </a:cubicBezTo>
                <a:cubicBezTo>
                  <a:pt x="5631101" y="2292214"/>
                  <a:pt x="5614731" y="2811325"/>
                  <a:pt x="5469198" y="3329255"/>
                </a:cubicBezTo>
                <a:cubicBezTo>
                  <a:pt x="5323662" y="3847185"/>
                  <a:pt x="5048962" y="4363935"/>
                  <a:pt x="4741546" y="4877588"/>
                </a:cubicBezTo>
                <a:cubicBezTo>
                  <a:pt x="4027238" y="6071494"/>
                  <a:pt x="2764972" y="6102970"/>
                  <a:pt x="1325600" y="5980388"/>
                </a:cubicBezTo>
                <a:cubicBezTo>
                  <a:pt x="903947" y="5944442"/>
                  <a:pt x="499735" y="5907589"/>
                  <a:pt x="137593" y="5804042"/>
                </a:cubicBezTo>
                <a:lnTo>
                  <a:pt x="0" y="5760161"/>
                </a:lnTo>
                <a:close/>
              </a:path>
            </a:pathLst>
          </a:custGeom>
        </p:spPr>
      </p:pic>
      <p:sp>
        <p:nvSpPr>
          <p:cNvPr id="11" name="Freeform: Shape 10">
            <a:extLst>
              <a:ext uri="{FF2B5EF4-FFF2-40B4-BE49-F238E27FC236}">
                <a16:creationId xmlns:a16="http://schemas.microsoft.com/office/drawing/2014/main" id="{E633B38B-B87A-4288-A20F-0223A6C27A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3" name="Symbol zastępczy zawartości 2">
            <a:extLst>
              <a:ext uri="{FF2B5EF4-FFF2-40B4-BE49-F238E27FC236}">
                <a16:creationId xmlns:a16="http://schemas.microsoft.com/office/drawing/2014/main" id="{2E98712F-F756-C379-FA6B-9EE6A4BBCE7A}"/>
              </a:ext>
            </a:extLst>
          </p:cNvPr>
          <p:cNvSpPr>
            <a:spLocks noGrp="1"/>
          </p:cNvSpPr>
          <p:nvPr>
            <p:ph idx="1"/>
          </p:nvPr>
        </p:nvSpPr>
        <p:spPr>
          <a:xfrm>
            <a:off x="6096000" y="2286000"/>
            <a:ext cx="5334000" cy="3810001"/>
          </a:xfrm>
        </p:spPr>
        <p:txBody>
          <a:bodyPr>
            <a:normAutofit/>
          </a:bodyPr>
          <a:lstStyle/>
          <a:p>
            <a:pPr marL="0" indent="0" algn="ctr">
              <a:buNone/>
            </a:pPr>
            <a:r>
              <a:rPr lang="pl-PL" sz="2200" dirty="0"/>
              <a:t>W tradycyjnych organizacjach odpowiedzialność za produkt była podzielona między wiele działów. Jedna grupa projektowała funkcje, inna je implementowała, a jeszcze inna odpowiadała za utrzymanie systemu. Taki podział często powodował rozmycie odpowiedzialności.</a:t>
            </a:r>
            <a:endParaRPr lang="en-US" sz="2200" dirty="0"/>
          </a:p>
        </p:txBody>
      </p:sp>
      <p:sp>
        <p:nvSpPr>
          <p:cNvPr id="2" name="Tytuł 1">
            <a:extLst>
              <a:ext uri="{FF2B5EF4-FFF2-40B4-BE49-F238E27FC236}">
                <a16:creationId xmlns:a16="http://schemas.microsoft.com/office/drawing/2014/main" id="{FC5B510D-F83C-1289-8C98-98AECCC030A8}"/>
              </a:ext>
            </a:extLst>
          </p:cNvPr>
          <p:cNvSpPr>
            <a:spLocks noGrp="1"/>
          </p:cNvSpPr>
          <p:nvPr>
            <p:ph type="title"/>
          </p:nvPr>
        </p:nvSpPr>
        <p:spPr>
          <a:xfrm>
            <a:off x="6096000" y="762000"/>
            <a:ext cx="5334000" cy="1524000"/>
          </a:xfrm>
        </p:spPr>
        <p:txBody>
          <a:bodyPr>
            <a:normAutofit/>
          </a:bodyPr>
          <a:lstStyle/>
          <a:p>
            <a:pPr algn="ctr"/>
            <a:r>
              <a:rPr lang="pl-PL" sz="3200" dirty="0"/>
              <a:t>Jak zmienia się model odpowiedzialności za produkt</a:t>
            </a:r>
          </a:p>
        </p:txBody>
      </p:sp>
    </p:spTree>
    <p:extLst>
      <p:ext uri="{BB962C8B-B14F-4D97-AF65-F5344CB8AC3E}">
        <p14:creationId xmlns:p14="http://schemas.microsoft.com/office/powerpoint/2010/main" val="39941752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3D065C6D-EB42-400B-99C4-D0ACE936F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13174" y="0"/>
            <a:ext cx="5578824" cy="6028256"/>
          </a:xfrm>
          <a:custGeom>
            <a:avLst/>
            <a:gdLst>
              <a:gd name="connsiteX0" fmla="*/ 1681218 w 5578824"/>
              <a:gd name="connsiteY0" fmla="*/ 0 h 6028256"/>
              <a:gd name="connsiteX1" fmla="*/ 5578824 w 5578824"/>
              <a:gd name="connsiteY1" fmla="*/ 0 h 6028256"/>
              <a:gd name="connsiteX2" fmla="*/ 5578824 w 5578824"/>
              <a:gd name="connsiteY2" fmla="*/ 5760161 h 6028256"/>
              <a:gd name="connsiteX3" fmla="*/ 5441231 w 5578824"/>
              <a:gd name="connsiteY3" fmla="*/ 5804042 h 6028256"/>
              <a:gd name="connsiteX4" fmla="*/ 4253224 w 5578824"/>
              <a:gd name="connsiteY4" fmla="*/ 5980388 h 6028256"/>
              <a:gd name="connsiteX5" fmla="*/ 837278 w 5578824"/>
              <a:gd name="connsiteY5" fmla="*/ 4877588 h 6028256"/>
              <a:gd name="connsiteX6" fmla="*/ 109626 w 5578824"/>
              <a:gd name="connsiteY6" fmla="*/ 3329255 h 6028256"/>
              <a:gd name="connsiteX7" fmla="*/ 156962 w 5578824"/>
              <a:gd name="connsiteY7" fmla="*/ 1773839 h 6028256"/>
              <a:gd name="connsiteX8" fmla="*/ 904890 w 5578824"/>
              <a:gd name="connsiteY8" fmla="*/ 738354 h 6028256"/>
              <a:gd name="connsiteX9" fmla="*/ 1304592 w 5578824"/>
              <a:gd name="connsiteY9" fmla="*/ 360545 h 602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78824" h="6028256">
                <a:moveTo>
                  <a:pt x="1681218" y="0"/>
                </a:moveTo>
                <a:lnTo>
                  <a:pt x="5578824" y="0"/>
                </a:lnTo>
                <a:lnTo>
                  <a:pt x="5578824" y="5760161"/>
                </a:lnTo>
                <a:lnTo>
                  <a:pt x="5441231" y="5804042"/>
                </a:lnTo>
                <a:cubicBezTo>
                  <a:pt x="5079089" y="5907589"/>
                  <a:pt x="4674877" y="5944442"/>
                  <a:pt x="4253224" y="5980388"/>
                </a:cubicBezTo>
                <a:cubicBezTo>
                  <a:pt x="2813852" y="6102970"/>
                  <a:pt x="1551586" y="6071494"/>
                  <a:pt x="837278" y="4877588"/>
                </a:cubicBezTo>
                <a:cubicBezTo>
                  <a:pt x="529862" y="4363935"/>
                  <a:pt x="255162" y="3847185"/>
                  <a:pt x="109626" y="3329255"/>
                </a:cubicBezTo>
                <a:cubicBezTo>
                  <a:pt x="-35907" y="2811325"/>
                  <a:pt x="-52277" y="2292214"/>
                  <a:pt x="156962" y="1773839"/>
                </a:cubicBezTo>
                <a:cubicBezTo>
                  <a:pt x="296494" y="1428108"/>
                  <a:pt x="536161" y="1082881"/>
                  <a:pt x="904890" y="738354"/>
                </a:cubicBezTo>
                <a:cubicBezTo>
                  <a:pt x="1036690" y="615181"/>
                  <a:pt x="1169968" y="488910"/>
                  <a:pt x="1304592" y="360545"/>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3362A0EA-3E81-4464-94B8-70BE5870E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87883"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3" name="Symbol zastępczy zawartości 2">
            <a:extLst>
              <a:ext uri="{FF2B5EF4-FFF2-40B4-BE49-F238E27FC236}">
                <a16:creationId xmlns:a16="http://schemas.microsoft.com/office/drawing/2014/main" id="{DC527415-4632-1CED-A011-81016A9B9682}"/>
              </a:ext>
            </a:extLst>
          </p:cNvPr>
          <p:cNvSpPr>
            <a:spLocks noGrp="1"/>
          </p:cNvSpPr>
          <p:nvPr>
            <p:ph idx="1"/>
          </p:nvPr>
        </p:nvSpPr>
        <p:spPr>
          <a:xfrm>
            <a:off x="762000" y="2286000"/>
            <a:ext cx="5334000" cy="3810001"/>
          </a:xfrm>
        </p:spPr>
        <p:txBody>
          <a:bodyPr>
            <a:normAutofit fontScale="92500" lnSpcReduction="20000"/>
          </a:bodyPr>
          <a:lstStyle/>
          <a:p>
            <a:pPr marL="0" indent="0">
              <a:lnSpc>
                <a:spcPct val="115000"/>
              </a:lnSpc>
              <a:buNone/>
            </a:pPr>
            <a:r>
              <a:rPr lang="pl-PL" sz="1400" dirty="0"/>
              <a:t>Choć cyfryzacja zwiększa efektywność pracy, jej nadmiar może prowadzić do nowych problemów organizacyjnych. Im więcej narzędzi i systemów wspierających pracę, tym większe ryzyko przeciążenia informacyjnego oraz osłabienia relacji międzyludzkich.</a:t>
            </a:r>
            <a:endParaRPr lang="en-US" sz="1400" dirty="0"/>
          </a:p>
          <a:p>
            <a:pPr marL="0" indent="0">
              <a:lnSpc>
                <a:spcPct val="115000"/>
              </a:lnSpc>
              <a:buNone/>
            </a:pPr>
            <a:r>
              <a:rPr lang="pl-PL" sz="1400" dirty="0"/>
              <a:t>Najczęstsze zagrożenia obejmują:</a:t>
            </a:r>
          </a:p>
          <a:p>
            <a:pPr>
              <a:lnSpc>
                <a:spcPct val="115000"/>
              </a:lnSpc>
            </a:pPr>
            <a:r>
              <a:rPr lang="pl-PL" sz="1400" dirty="0"/>
              <a:t>przeciążenie liczbą komunikatów, </a:t>
            </a:r>
          </a:p>
          <a:p>
            <a:pPr>
              <a:lnSpc>
                <a:spcPct val="115000"/>
              </a:lnSpc>
            </a:pPr>
            <a:r>
              <a:rPr lang="pl-PL" sz="1400" dirty="0"/>
              <a:t>utratę koncentracji, </a:t>
            </a:r>
          </a:p>
          <a:p>
            <a:pPr>
              <a:lnSpc>
                <a:spcPct val="115000"/>
              </a:lnSpc>
            </a:pPr>
            <a:r>
              <a:rPr lang="pl-PL" sz="1400" dirty="0"/>
              <a:t>spadek jakości relacji, </a:t>
            </a:r>
          </a:p>
          <a:p>
            <a:pPr>
              <a:lnSpc>
                <a:spcPct val="115000"/>
              </a:lnSpc>
            </a:pPr>
            <a:r>
              <a:rPr lang="pl-PL" sz="1400" dirty="0"/>
              <a:t>zbyt silne poleganie na automatyzacji, </a:t>
            </a:r>
          </a:p>
          <a:p>
            <a:pPr>
              <a:lnSpc>
                <a:spcPct val="115000"/>
              </a:lnSpc>
            </a:pPr>
            <a:r>
              <a:rPr lang="pl-PL" sz="1400" dirty="0"/>
              <a:t>poczucie ciągłej dostępności. </a:t>
            </a:r>
          </a:p>
          <a:p>
            <a:pPr marL="0" indent="0">
              <a:lnSpc>
                <a:spcPct val="115000"/>
              </a:lnSpc>
              <a:buNone/>
            </a:pPr>
            <a:r>
              <a:rPr lang="pl-PL" sz="1400" dirty="0"/>
              <a:t>Paradoksalnie organizacja może stać się mniej efektywna właśnie dlatego, że posiada zbyt wiele narzędzi wspierających efektywność. Przyszłością nie będzie więc sama cyfryzacja, ale umiejętne ograniczanie jej tam, gdzie zaczyna szkodzić.</a:t>
            </a:r>
          </a:p>
          <a:p>
            <a:pPr marL="0" indent="0">
              <a:lnSpc>
                <a:spcPct val="115000"/>
              </a:lnSpc>
              <a:buNone/>
            </a:pPr>
            <a:endParaRPr lang="pl-PL" sz="1400" dirty="0"/>
          </a:p>
        </p:txBody>
      </p:sp>
      <p:sp>
        <p:nvSpPr>
          <p:cNvPr id="2" name="Tytuł 1">
            <a:extLst>
              <a:ext uri="{FF2B5EF4-FFF2-40B4-BE49-F238E27FC236}">
                <a16:creationId xmlns:a16="http://schemas.microsoft.com/office/drawing/2014/main" id="{967772EC-D935-2C9C-674F-8FCA1A0798E0}"/>
              </a:ext>
            </a:extLst>
          </p:cNvPr>
          <p:cNvSpPr>
            <a:spLocks noGrp="1"/>
          </p:cNvSpPr>
          <p:nvPr>
            <p:ph type="title"/>
          </p:nvPr>
        </p:nvSpPr>
        <p:spPr>
          <a:xfrm>
            <a:off x="762000" y="762000"/>
            <a:ext cx="5334000" cy="1524000"/>
          </a:xfrm>
        </p:spPr>
        <p:txBody>
          <a:bodyPr>
            <a:normAutofit/>
          </a:bodyPr>
          <a:lstStyle/>
          <a:p>
            <a:r>
              <a:rPr lang="pl-PL" sz="3200"/>
              <a:t>Zagrożenia nadmiernej cyfryzacji pracy</a:t>
            </a:r>
          </a:p>
        </p:txBody>
      </p:sp>
      <p:pic>
        <p:nvPicPr>
          <p:cNvPr id="7" name="Graphic 6" descr="Upward trend">
            <a:extLst>
              <a:ext uri="{FF2B5EF4-FFF2-40B4-BE49-F238E27FC236}">
                <a16:creationId xmlns:a16="http://schemas.microsoft.com/office/drawing/2014/main" id="{E5CB148B-75E3-6193-F7BB-2D9FB981E37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58000" y="771525"/>
            <a:ext cx="5334000" cy="5334000"/>
          </a:xfrm>
          <a:prstGeom prst="rect">
            <a:avLst/>
          </a:prstGeom>
        </p:spPr>
      </p:pic>
    </p:spTree>
    <p:extLst>
      <p:ext uri="{BB962C8B-B14F-4D97-AF65-F5344CB8AC3E}">
        <p14:creationId xmlns:p14="http://schemas.microsoft.com/office/powerpoint/2010/main" val="26690439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66FC6F62-FEC6-45C4-B697-39FDA62A96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0653162" y="-776838"/>
            <a:ext cx="762001"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prstClr val="white"/>
              </a:solidFill>
              <a:latin typeface="Avenir Next LT Pro" panose="020B0504020202020204" pitchFamily="34" charset="0"/>
            </a:endParaRPr>
          </a:p>
        </p:txBody>
      </p:sp>
      <p:pic>
        <p:nvPicPr>
          <p:cNvPr id="5" name="Obraz 4">
            <a:extLst>
              <a:ext uri="{FF2B5EF4-FFF2-40B4-BE49-F238E27FC236}">
                <a16:creationId xmlns:a16="http://schemas.microsoft.com/office/drawing/2014/main" id="{8B031086-3B4C-148C-49DB-1901A1F7A83C}"/>
              </a:ext>
            </a:extLst>
          </p:cNvPr>
          <p:cNvPicPr>
            <a:picLocks noChangeAspect="1"/>
          </p:cNvPicPr>
          <p:nvPr/>
        </p:nvPicPr>
        <p:blipFill>
          <a:blip r:embed="rId3"/>
          <a:srcRect t="2305" b="16612"/>
          <a:stretch>
            <a:fillRect/>
          </a:stretch>
        </p:blipFill>
        <p:spPr>
          <a:xfrm>
            <a:off x="1163781" y="162550"/>
            <a:ext cx="5333999" cy="6222999"/>
          </a:xfrm>
          <a:prstGeom prst="rect">
            <a:avLst/>
          </a:prstGeom>
        </p:spPr>
      </p:pic>
      <p:grpSp>
        <p:nvGrpSpPr>
          <p:cNvPr id="21" name="Group 20">
            <a:extLst>
              <a:ext uri="{FF2B5EF4-FFF2-40B4-BE49-F238E27FC236}">
                <a16:creationId xmlns:a16="http://schemas.microsoft.com/office/drawing/2014/main" id="{F8D7210F-BCFD-46C1-9A2C-3717368B1A7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 y="5829359"/>
            <a:ext cx="4333875" cy="1028642"/>
            <a:chOff x="7153921" y="5829359"/>
            <a:chExt cx="5038079" cy="1028642"/>
          </a:xfrm>
        </p:grpSpPr>
        <p:sp>
          <p:nvSpPr>
            <p:cNvPr id="22" name="Freeform: Shape 21">
              <a:extLst>
                <a:ext uri="{FF2B5EF4-FFF2-40B4-BE49-F238E27FC236}">
                  <a16:creationId xmlns:a16="http://schemas.microsoft.com/office/drawing/2014/main" id="{2C96BB9F-FD85-4689-A888-9A5AA0A145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63906" y="5913098"/>
              <a:ext cx="4228094" cy="944903"/>
            </a:xfrm>
            <a:custGeom>
              <a:avLst/>
              <a:gdLst>
                <a:gd name="connsiteX0" fmla="*/ 1673074 w 4228094"/>
                <a:gd name="connsiteY0" fmla="*/ 230 h 1137038"/>
                <a:gd name="connsiteX1" fmla="*/ 3676781 w 4228094"/>
                <a:gd name="connsiteY1" fmla="*/ 298555 h 1137038"/>
                <a:gd name="connsiteX2" fmla="*/ 4025527 w 4228094"/>
                <a:gd name="connsiteY2" fmla="*/ 425010 h 1137038"/>
                <a:gd name="connsiteX3" fmla="*/ 4228094 w 4228094"/>
                <a:gd name="connsiteY3" fmla="*/ 494088 h 1137038"/>
                <a:gd name="connsiteX4" fmla="*/ 4228094 w 4228094"/>
                <a:gd name="connsiteY4" fmla="*/ 1137038 h 1137038"/>
                <a:gd name="connsiteX5" fmla="*/ 0 w 4228094"/>
                <a:gd name="connsiteY5" fmla="*/ 1137038 h 1137038"/>
                <a:gd name="connsiteX6" fmla="*/ 18109 w 4228094"/>
                <a:gd name="connsiteY6" fmla="*/ 1068877 h 1137038"/>
                <a:gd name="connsiteX7" fmla="*/ 362264 w 4228094"/>
                <a:gd name="connsiteY7" fmla="*/ 366637 h 1137038"/>
                <a:gd name="connsiteX8" fmla="*/ 1386499 w 4228094"/>
                <a:gd name="connsiteY8" fmla="*/ 1522 h 1137038"/>
                <a:gd name="connsiteX9" fmla="*/ 1673074 w 4228094"/>
                <a:gd name="connsiteY9" fmla="*/ 230 h 1137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28094" h="1137038">
                  <a:moveTo>
                    <a:pt x="1673074" y="230"/>
                  </a:moveTo>
                  <a:cubicBezTo>
                    <a:pt x="2346512" y="4287"/>
                    <a:pt x="3048424" y="63583"/>
                    <a:pt x="3676781" y="298555"/>
                  </a:cubicBezTo>
                  <a:cubicBezTo>
                    <a:pt x="3793275" y="342114"/>
                    <a:pt x="3909477" y="384216"/>
                    <a:pt x="4025527" y="425010"/>
                  </a:cubicBezTo>
                  <a:lnTo>
                    <a:pt x="4228094" y="494088"/>
                  </a:lnTo>
                  <a:lnTo>
                    <a:pt x="4228094" y="1137038"/>
                  </a:lnTo>
                  <a:lnTo>
                    <a:pt x="0" y="1137038"/>
                  </a:lnTo>
                  <a:lnTo>
                    <a:pt x="18109" y="1068877"/>
                  </a:lnTo>
                  <a:cubicBezTo>
                    <a:pt x="95047" y="799139"/>
                    <a:pt x="194962" y="542008"/>
                    <a:pt x="362264" y="366637"/>
                  </a:cubicBezTo>
                  <a:cubicBezTo>
                    <a:pt x="622229" y="94062"/>
                    <a:pt x="1015836" y="6565"/>
                    <a:pt x="1386499" y="1522"/>
                  </a:cubicBezTo>
                  <a:cubicBezTo>
                    <a:pt x="1481245" y="198"/>
                    <a:pt x="1576869" y="-349"/>
                    <a:pt x="1673074"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500">
                <a:solidFill>
                  <a:schemeClr val="bg1"/>
                </a:solidFill>
                <a:latin typeface="Avenir Next LT Pro" panose="020B0504020202020204" pitchFamily="34" charset="0"/>
              </a:endParaRPr>
            </a:p>
          </p:txBody>
        </p:sp>
        <p:sp>
          <p:nvSpPr>
            <p:cNvPr id="23" name="Freeform: Shape 22">
              <a:extLst>
                <a:ext uri="{FF2B5EF4-FFF2-40B4-BE49-F238E27FC236}">
                  <a16:creationId xmlns:a16="http://schemas.microsoft.com/office/drawing/2014/main" id="{78545FC7-27EF-4BF9-A88F-35F089DF69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53921" y="5829359"/>
              <a:ext cx="5038078" cy="1028642"/>
            </a:xfrm>
            <a:custGeom>
              <a:avLst/>
              <a:gdLst>
                <a:gd name="connsiteX0" fmla="*/ 1576991 w 5038078"/>
                <a:gd name="connsiteY0" fmla="*/ 210 h 1238015"/>
                <a:gd name="connsiteX1" fmla="*/ 3403320 w 5038078"/>
                <a:gd name="connsiteY1" fmla="*/ 272125 h 1238015"/>
                <a:gd name="connsiteX2" fmla="*/ 4672870 w 5038078"/>
                <a:gd name="connsiteY2" fmla="*/ 693604 h 1238015"/>
                <a:gd name="connsiteX3" fmla="*/ 5038078 w 5038078"/>
                <a:gd name="connsiteY3" fmla="*/ 795929 h 1238015"/>
                <a:gd name="connsiteX4" fmla="*/ 5038078 w 5038078"/>
                <a:gd name="connsiteY4" fmla="*/ 1238015 h 1238015"/>
                <a:gd name="connsiteX5" fmla="*/ 0 w 5038078"/>
                <a:gd name="connsiteY5" fmla="*/ 1238015 h 1238015"/>
                <a:gd name="connsiteX6" fmla="*/ 19230 w 5038078"/>
                <a:gd name="connsiteY6" fmla="*/ 1159819 h 1238015"/>
                <a:gd name="connsiteX7" fmla="*/ 382219 w 5038078"/>
                <a:gd name="connsiteY7" fmla="*/ 334180 h 1238015"/>
                <a:gd name="connsiteX8" fmla="*/ 1315784 w 5038078"/>
                <a:gd name="connsiteY8" fmla="*/ 1388 h 1238015"/>
                <a:gd name="connsiteX9" fmla="*/ 1576991 w 5038078"/>
                <a:gd name="connsiteY9" fmla="*/ 210 h 1238015"/>
                <a:gd name="connsiteX0" fmla="*/ 0 w 5129518"/>
                <a:gd name="connsiteY0" fmla="*/ 1237805 h 1329245"/>
                <a:gd name="connsiteX1" fmla="*/ 19230 w 5129518"/>
                <a:gd name="connsiteY1" fmla="*/ 1159609 h 1329245"/>
                <a:gd name="connsiteX2" fmla="*/ 382219 w 5129518"/>
                <a:gd name="connsiteY2" fmla="*/ 333970 h 1329245"/>
                <a:gd name="connsiteX3" fmla="*/ 1315784 w 5129518"/>
                <a:gd name="connsiteY3" fmla="*/ 1178 h 1329245"/>
                <a:gd name="connsiteX4" fmla="*/ 1576991 w 5129518"/>
                <a:gd name="connsiteY4" fmla="*/ 0 h 1329245"/>
                <a:gd name="connsiteX5" fmla="*/ 3403320 w 5129518"/>
                <a:gd name="connsiteY5" fmla="*/ 271915 h 1329245"/>
                <a:gd name="connsiteX6" fmla="*/ 4672870 w 5129518"/>
                <a:gd name="connsiteY6" fmla="*/ 693394 h 1329245"/>
                <a:gd name="connsiteX7" fmla="*/ 5038078 w 5129518"/>
                <a:gd name="connsiteY7" fmla="*/ 795719 h 1329245"/>
                <a:gd name="connsiteX8" fmla="*/ 5129518 w 5129518"/>
                <a:gd name="connsiteY8" fmla="*/ 1329245 h 1329245"/>
                <a:gd name="connsiteX0" fmla="*/ 0 w 5129518"/>
                <a:gd name="connsiteY0" fmla="*/ 1237805 h 1329245"/>
                <a:gd name="connsiteX1" fmla="*/ 19230 w 5129518"/>
                <a:gd name="connsiteY1" fmla="*/ 1159609 h 1329245"/>
                <a:gd name="connsiteX2" fmla="*/ 382219 w 5129518"/>
                <a:gd name="connsiteY2" fmla="*/ 333970 h 1329245"/>
                <a:gd name="connsiteX3" fmla="*/ 1315784 w 5129518"/>
                <a:gd name="connsiteY3" fmla="*/ 1178 h 1329245"/>
                <a:gd name="connsiteX4" fmla="*/ 1576991 w 5129518"/>
                <a:gd name="connsiteY4" fmla="*/ 0 h 1329245"/>
                <a:gd name="connsiteX5" fmla="*/ 3403320 w 5129518"/>
                <a:gd name="connsiteY5" fmla="*/ 271915 h 1329245"/>
                <a:gd name="connsiteX6" fmla="*/ 4672870 w 5129518"/>
                <a:gd name="connsiteY6" fmla="*/ 693394 h 1329245"/>
                <a:gd name="connsiteX7" fmla="*/ 5038078 w 5129518"/>
                <a:gd name="connsiteY7" fmla="*/ 795719 h 1329245"/>
                <a:gd name="connsiteX8" fmla="*/ 5129518 w 5129518"/>
                <a:gd name="connsiteY8" fmla="*/ 1329245 h 1329245"/>
                <a:gd name="connsiteX0" fmla="*/ 0 w 5049689"/>
                <a:gd name="connsiteY0" fmla="*/ 1237805 h 1423588"/>
                <a:gd name="connsiteX1" fmla="*/ 19230 w 5049689"/>
                <a:gd name="connsiteY1" fmla="*/ 1159609 h 1423588"/>
                <a:gd name="connsiteX2" fmla="*/ 382219 w 5049689"/>
                <a:gd name="connsiteY2" fmla="*/ 333970 h 1423588"/>
                <a:gd name="connsiteX3" fmla="*/ 1315784 w 5049689"/>
                <a:gd name="connsiteY3" fmla="*/ 1178 h 1423588"/>
                <a:gd name="connsiteX4" fmla="*/ 1576991 w 5049689"/>
                <a:gd name="connsiteY4" fmla="*/ 0 h 1423588"/>
                <a:gd name="connsiteX5" fmla="*/ 3403320 w 5049689"/>
                <a:gd name="connsiteY5" fmla="*/ 271915 h 1423588"/>
                <a:gd name="connsiteX6" fmla="*/ 4672870 w 5049689"/>
                <a:gd name="connsiteY6" fmla="*/ 693394 h 1423588"/>
                <a:gd name="connsiteX7" fmla="*/ 5038078 w 5049689"/>
                <a:gd name="connsiteY7" fmla="*/ 795719 h 1423588"/>
                <a:gd name="connsiteX8" fmla="*/ 5049689 w 5049689"/>
                <a:gd name="connsiteY8" fmla="*/ 1423588 h 1423588"/>
                <a:gd name="connsiteX0" fmla="*/ 0 w 5038078"/>
                <a:gd name="connsiteY0" fmla="*/ 1237805 h 1237805"/>
                <a:gd name="connsiteX1" fmla="*/ 19230 w 5038078"/>
                <a:gd name="connsiteY1" fmla="*/ 1159609 h 1237805"/>
                <a:gd name="connsiteX2" fmla="*/ 382219 w 5038078"/>
                <a:gd name="connsiteY2" fmla="*/ 333970 h 1237805"/>
                <a:gd name="connsiteX3" fmla="*/ 1315784 w 5038078"/>
                <a:gd name="connsiteY3" fmla="*/ 1178 h 1237805"/>
                <a:gd name="connsiteX4" fmla="*/ 1576991 w 5038078"/>
                <a:gd name="connsiteY4" fmla="*/ 0 h 1237805"/>
                <a:gd name="connsiteX5" fmla="*/ 3403320 w 5038078"/>
                <a:gd name="connsiteY5" fmla="*/ 271915 h 1237805"/>
                <a:gd name="connsiteX6" fmla="*/ 4672870 w 5038078"/>
                <a:gd name="connsiteY6" fmla="*/ 693394 h 1237805"/>
                <a:gd name="connsiteX7" fmla="*/ 5038078 w 5038078"/>
                <a:gd name="connsiteY7" fmla="*/ 795719 h 1237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38078" h="1237805">
                  <a:moveTo>
                    <a:pt x="0" y="1237805"/>
                  </a:moveTo>
                  <a:lnTo>
                    <a:pt x="19230" y="1159609"/>
                  </a:lnTo>
                  <a:cubicBezTo>
                    <a:pt x="96961" y="850027"/>
                    <a:pt x="191605" y="533778"/>
                    <a:pt x="382219" y="333970"/>
                  </a:cubicBezTo>
                  <a:cubicBezTo>
                    <a:pt x="619171" y="85526"/>
                    <a:pt x="977934" y="5774"/>
                    <a:pt x="1315784" y="1178"/>
                  </a:cubicBezTo>
                  <a:lnTo>
                    <a:pt x="1576991" y="0"/>
                  </a:lnTo>
                  <a:cubicBezTo>
                    <a:pt x="2190813" y="3698"/>
                    <a:pt x="2830589" y="57744"/>
                    <a:pt x="3403320" y="271915"/>
                  </a:cubicBezTo>
                  <a:cubicBezTo>
                    <a:pt x="3828046" y="430728"/>
                    <a:pt x="4248519" y="568281"/>
                    <a:pt x="4672870" y="693394"/>
                  </a:cubicBezTo>
                  <a:lnTo>
                    <a:pt x="5038078" y="795719"/>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Light"/>
              </a:endParaRPr>
            </a:p>
          </p:txBody>
        </p:sp>
      </p:grpSp>
      <p:sp>
        <p:nvSpPr>
          <p:cNvPr id="3" name="Symbol zastępczy zawartości 2">
            <a:extLst>
              <a:ext uri="{FF2B5EF4-FFF2-40B4-BE49-F238E27FC236}">
                <a16:creationId xmlns:a16="http://schemas.microsoft.com/office/drawing/2014/main" id="{DD0FCDE3-E572-1AFE-2EB6-9F66FAFA409E}"/>
              </a:ext>
            </a:extLst>
          </p:cNvPr>
          <p:cNvSpPr>
            <a:spLocks noGrp="1"/>
          </p:cNvSpPr>
          <p:nvPr>
            <p:ph idx="1"/>
          </p:nvPr>
        </p:nvSpPr>
        <p:spPr>
          <a:xfrm>
            <a:off x="6096000" y="2286000"/>
            <a:ext cx="5334000" cy="3810001"/>
          </a:xfrm>
        </p:spPr>
        <p:txBody>
          <a:bodyPr>
            <a:normAutofit/>
          </a:bodyPr>
          <a:lstStyle/>
          <a:p>
            <a:endParaRPr lang="pl-PL" sz="2400"/>
          </a:p>
        </p:txBody>
      </p:sp>
      <p:sp>
        <p:nvSpPr>
          <p:cNvPr id="2" name="Tytuł 1">
            <a:extLst>
              <a:ext uri="{FF2B5EF4-FFF2-40B4-BE49-F238E27FC236}">
                <a16:creationId xmlns:a16="http://schemas.microsoft.com/office/drawing/2014/main" id="{191AC385-416D-E29C-009C-2A25E9C20459}"/>
              </a:ext>
            </a:extLst>
          </p:cNvPr>
          <p:cNvSpPr>
            <a:spLocks noGrp="1"/>
          </p:cNvSpPr>
          <p:nvPr>
            <p:ph type="title"/>
          </p:nvPr>
        </p:nvSpPr>
        <p:spPr>
          <a:xfrm>
            <a:off x="6657110" y="1039090"/>
            <a:ext cx="5334000" cy="1524000"/>
          </a:xfrm>
        </p:spPr>
        <p:txBody>
          <a:bodyPr>
            <a:normAutofit/>
          </a:bodyPr>
          <a:lstStyle/>
          <a:p>
            <a:pPr algn="ctr"/>
            <a:r>
              <a:rPr lang="en-US" sz="3200" dirty="0"/>
              <a:t>POZYTYWNE I NEGATYWNE STRONY CYFRYZACJI</a:t>
            </a:r>
            <a:endParaRPr lang="pl-PL" sz="3200" dirty="0"/>
          </a:p>
        </p:txBody>
      </p:sp>
    </p:spTree>
    <p:extLst>
      <p:ext uri="{BB962C8B-B14F-4D97-AF65-F5344CB8AC3E}">
        <p14:creationId xmlns:p14="http://schemas.microsoft.com/office/powerpoint/2010/main" val="2859355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05804E6-08AA-49E9-AD30-149FDD3DD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3802" y="832508"/>
            <a:ext cx="4448352" cy="6025492"/>
          </a:xfrm>
          <a:custGeom>
            <a:avLst/>
            <a:gdLst>
              <a:gd name="connsiteX0" fmla="*/ 3173139 w 4448352"/>
              <a:gd name="connsiteY0" fmla="*/ 74 h 6025492"/>
              <a:gd name="connsiteX1" fmla="*/ 3840337 w 4448352"/>
              <a:gd name="connsiteY1" fmla="*/ 136997 h 6025492"/>
              <a:gd name="connsiteX2" fmla="*/ 4400480 w 4448352"/>
              <a:gd name="connsiteY2" fmla="*/ 1061406 h 6025492"/>
              <a:gd name="connsiteX3" fmla="*/ 3812207 w 4448352"/>
              <a:gd name="connsiteY3" fmla="*/ 2268177 h 6025492"/>
              <a:gd name="connsiteX4" fmla="*/ 2566852 w 4448352"/>
              <a:gd name="connsiteY4" fmla="*/ 4362395 h 6025492"/>
              <a:gd name="connsiteX5" fmla="*/ 1381603 w 4448352"/>
              <a:gd name="connsiteY5" fmla="*/ 6002073 h 6025492"/>
              <a:gd name="connsiteX6" fmla="*/ 1358105 w 4448352"/>
              <a:gd name="connsiteY6" fmla="*/ 6025492 h 6025492"/>
              <a:gd name="connsiteX7" fmla="*/ 147593 w 4448352"/>
              <a:gd name="connsiteY7" fmla="*/ 6025492 h 6025492"/>
              <a:gd name="connsiteX8" fmla="*/ 135095 w 4448352"/>
              <a:gd name="connsiteY8" fmla="*/ 5970139 h 6025492"/>
              <a:gd name="connsiteX9" fmla="*/ 989 w 4448352"/>
              <a:gd name="connsiteY9" fmla="*/ 3558990 h 6025492"/>
              <a:gd name="connsiteX10" fmla="*/ 134613 w 4448352"/>
              <a:gd name="connsiteY10" fmla="*/ 2769335 h 6025492"/>
              <a:gd name="connsiteX11" fmla="*/ 812398 w 4448352"/>
              <a:gd name="connsiteY11" fmla="*/ 1669996 h 6025492"/>
              <a:gd name="connsiteX12" fmla="*/ 1830565 w 4448352"/>
              <a:gd name="connsiteY12" fmla="*/ 638164 h 6025492"/>
              <a:gd name="connsiteX13" fmla="*/ 3173139 w 4448352"/>
              <a:gd name="connsiteY13" fmla="*/ 74 h 6025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48352" h="6025492">
                <a:moveTo>
                  <a:pt x="3173139" y="74"/>
                </a:moveTo>
                <a:cubicBezTo>
                  <a:pt x="3404376" y="2427"/>
                  <a:pt x="3621702" y="61078"/>
                  <a:pt x="3840337" y="136997"/>
                </a:cubicBezTo>
                <a:cubicBezTo>
                  <a:pt x="4230681" y="272614"/>
                  <a:pt x="4578505" y="404218"/>
                  <a:pt x="4400480" y="1061406"/>
                </a:cubicBezTo>
                <a:cubicBezTo>
                  <a:pt x="4294008" y="1454598"/>
                  <a:pt x="4050152" y="1868133"/>
                  <a:pt x="3812207" y="2268177"/>
                </a:cubicBezTo>
                <a:cubicBezTo>
                  <a:pt x="3397090" y="2966250"/>
                  <a:pt x="2981970" y="3664324"/>
                  <a:pt x="2566852" y="4362395"/>
                </a:cubicBezTo>
                <a:cubicBezTo>
                  <a:pt x="2261941" y="4875091"/>
                  <a:pt x="1813643" y="5542665"/>
                  <a:pt x="1381603" y="6002073"/>
                </a:cubicBezTo>
                <a:lnTo>
                  <a:pt x="1358105" y="6025492"/>
                </a:lnTo>
                <a:lnTo>
                  <a:pt x="147593" y="6025492"/>
                </a:lnTo>
                <a:lnTo>
                  <a:pt x="135095" y="5970139"/>
                </a:lnTo>
                <a:cubicBezTo>
                  <a:pt x="3334" y="5264474"/>
                  <a:pt x="25734" y="4338079"/>
                  <a:pt x="989" y="3558990"/>
                </a:cubicBezTo>
                <a:cubicBezTo>
                  <a:pt x="-7696" y="3286585"/>
                  <a:pt x="41149" y="3024098"/>
                  <a:pt x="134613" y="2769335"/>
                </a:cubicBezTo>
                <a:cubicBezTo>
                  <a:pt x="274734" y="2387350"/>
                  <a:pt x="515201" y="2023048"/>
                  <a:pt x="812398" y="1669996"/>
                </a:cubicBezTo>
                <a:cubicBezTo>
                  <a:pt x="1109596" y="1316945"/>
                  <a:pt x="1463524" y="975145"/>
                  <a:pt x="1830565" y="638164"/>
                </a:cubicBezTo>
                <a:cubicBezTo>
                  <a:pt x="2363706" y="148617"/>
                  <a:pt x="2787743" y="-3847"/>
                  <a:pt x="3173139" y="74"/>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424ECFA8-BE37-446C-B1BD-88D2981B6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197" y="533400"/>
            <a:ext cx="5085498" cy="6329048"/>
          </a:xfrm>
          <a:custGeom>
            <a:avLst/>
            <a:gdLst>
              <a:gd name="connsiteX0" fmla="*/ 3173139 w 4448352"/>
              <a:gd name="connsiteY0" fmla="*/ 74 h 6025492"/>
              <a:gd name="connsiteX1" fmla="*/ 3840337 w 4448352"/>
              <a:gd name="connsiteY1" fmla="*/ 136997 h 6025492"/>
              <a:gd name="connsiteX2" fmla="*/ 4400480 w 4448352"/>
              <a:gd name="connsiteY2" fmla="*/ 1061406 h 6025492"/>
              <a:gd name="connsiteX3" fmla="*/ 3812207 w 4448352"/>
              <a:gd name="connsiteY3" fmla="*/ 2268177 h 6025492"/>
              <a:gd name="connsiteX4" fmla="*/ 2566852 w 4448352"/>
              <a:gd name="connsiteY4" fmla="*/ 4362395 h 6025492"/>
              <a:gd name="connsiteX5" fmla="*/ 1381603 w 4448352"/>
              <a:gd name="connsiteY5" fmla="*/ 6002073 h 6025492"/>
              <a:gd name="connsiteX6" fmla="*/ 1358105 w 4448352"/>
              <a:gd name="connsiteY6" fmla="*/ 6025492 h 6025492"/>
              <a:gd name="connsiteX7" fmla="*/ 147593 w 4448352"/>
              <a:gd name="connsiteY7" fmla="*/ 6025492 h 6025492"/>
              <a:gd name="connsiteX8" fmla="*/ 135095 w 4448352"/>
              <a:gd name="connsiteY8" fmla="*/ 5970139 h 6025492"/>
              <a:gd name="connsiteX9" fmla="*/ 989 w 4448352"/>
              <a:gd name="connsiteY9" fmla="*/ 3558990 h 6025492"/>
              <a:gd name="connsiteX10" fmla="*/ 134613 w 4448352"/>
              <a:gd name="connsiteY10" fmla="*/ 2769335 h 6025492"/>
              <a:gd name="connsiteX11" fmla="*/ 812398 w 4448352"/>
              <a:gd name="connsiteY11" fmla="*/ 1669996 h 6025492"/>
              <a:gd name="connsiteX12" fmla="*/ 1830565 w 4448352"/>
              <a:gd name="connsiteY12" fmla="*/ 638164 h 6025492"/>
              <a:gd name="connsiteX13" fmla="*/ 3173139 w 4448352"/>
              <a:gd name="connsiteY13" fmla="*/ 74 h 6025492"/>
              <a:gd name="connsiteX0" fmla="*/ 147593 w 4448352"/>
              <a:gd name="connsiteY0" fmla="*/ 6025492 h 6112608"/>
              <a:gd name="connsiteX1" fmla="*/ 135095 w 4448352"/>
              <a:gd name="connsiteY1" fmla="*/ 5970139 h 6112608"/>
              <a:gd name="connsiteX2" fmla="*/ 989 w 4448352"/>
              <a:gd name="connsiteY2" fmla="*/ 3558990 h 6112608"/>
              <a:gd name="connsiteX3" fmla="*/ 134613 w 4448352"/>
              <a:gd name="connsiteY3" fmla="*/ 2769335 h 6112608"/>
              <a:gd name="connsiteX4" fmla="*/ 812398 w 4448352"/>
              <a:gd name="connsiteY4" fmla="*/ 1669996 h 6112608"/>
              <a:gd name="connsiteX5" fmla="*/ 1830565 w 4448352"/>
              <a:gd name="connsiteY5" fmla="*/ 638164 h 6112608"/>
              <a:gd name="connsiteX6" fmla="*/ 3173139 w 4448352"/>
              <a:gd name="connsiteY6" fmla="*/ 74 h 6112608"/>
              <a:gd name="connsiteX7" fmla="*/ 3840337 w 4448352"/>
              <a:gd name="connsiteY7" fmla="*/ 136997 h 6112608"/>
              <a:gd name="connsiteX8" fmla="*/ 4400480 w 4448352"/>
              <a:gd name="connsiteY8" fmla="*/ 1061406 h 6112608"/>
              <a:gd name="connsiteX9" fmla="*/ 3812207 w 4448352"/>
              <a:gd name="connsiteY9" fmla="*/ 2268177 h 6112608"/>
              <a:gd name="connsiteX10" fmla="*/ 2566852 w 4448352"/>
              <a:gd name="connsiteY10" fmla="*/ 4362395 h 6112608"/>
              <a:gd name="connsiteX11" fmla="*/ 1381603 w 4448352"/>
              <a:gd name="connsiteY11" fmla="*/ 6002073 h 6112608"/>
              <a:gd name="connsiteX12" fmla="*/ 1457187 w 4448352"/>
              <a:gd name="connsiteY12" fmla="*/ 6112608 h 6112608"/>
              <a:gd name="connsiteX0" fmla="*/ 147593 w 4448352"/>
              <a:gd name="connsiteY0" fmla="*/ 6025492 h 6025492"/>
              <a:gd name="connsiteX1" fmla="*/ 135095 w 4448352"/>
              <a:gd name="connsiteY1" fmla="*/ 5970139 h 6025492"/>
              <a:gd name="connsiteX2" fmla="*/ 989 w 4448352"/>
              <a:gd name="connsiteY2" fmla="*/ 3558990 h 6025492"/>
              <a:gd name="connsiteX3" fmla="*/ 134613 w 4448352"/>
              <a:gd name="connsiteY3" fmla="*/ 2769335 h 6025492"/>
              <a:gd name="connsiteX4" fmla="*/ 812398 w 4448352"/>
              <a:gd name="connsiteY4" fmla="*/ 1669996 h 6025492"/>
              <a:gd name="connsiteX5" fmla="*/ 1830565 w 4448352"/>
              <a:gd name="connsiteY5" fmla="*/ 638164 h 6025492"/>
              <a:gd name="connsiteX6" fmla="*/ 3173139 w 4448352"/>
              <a:gd name="connsiteY6" fmla="*/ 74 h 6025492"/>
              <a:gd name="connsiteX7" fmla="*/ 3840337 w 4448352"/>
              <a:gd name="connsiteY7" fmla="*/ 136997 h 6025492"/>
              <a:gd name="connsiteX8" fmla="*/ 4400480 w 4448352"/>
              <a:gd name="connsiteY8" fmla="*/ 1061406 h 6025492"/>
              <a:gd name="connsiteX9" fmla="*/ 3812207 w 4448352"/>
              <a:gd name="connsiteY9" fmla="*/ 2268177 h 6025492"/>
              <a:gd name="connsiteX10" fmla="*/ 2566852 w 4448352"/>
              <a:gd name="connsiteY10" fmla="*/ 4362395 h 6025492"/>
              <a:gd name="connsiteX11" fmla="*/ 1381603 w 4448352"/>
              <a:gd name="connsiteY11" fmla="*/ 6002073 h 6025492"/>
              <a:gd name="connsiteX0" fmla="*/ 147593 w 4448352"/>
              <a:gd name="connsiteY0" fmla="*/ 6025492 h 6029730"/>
              <a:gd name="connsiteX1" fmla="*/ 135095 w 4448352"/>
              <a:gd name="connsiteY1" fmla="*/ 5970139 h 6029730"/>
              <a:gd name="connsiteX2" fmla="*/ 989 w 4448352"/>
              <a:gd name="connsiteY2" fmla="*/ 3558990 h 6029730"/>
              <a:gd name="connsiteX3" fmla="*/ 134613 w 4448352"/>
              <a:gd name="connsiteY3" fmla="*/ 2769335 h 6029730"/>
              <a:gd name="connsiteX4" fmla="*/ 812398 w 4448352"/>
              <a:gd name="connsiteY4" fmla="*/ 1669996 h 6029730"/>
              <a:gd name="connsiteX5" fmla="*/ 1830565 w 4448352"/>
              <a:gd name="connsiteY5" fmla="*/ 638164 h 6029730"/>
              <a:gd name="connsiteX6" fmla="*/ 3173139 w 4448352"/>
              <a:gd name="connsiteY6" fmla="*/ 74 h 6029730"/>
              <a:gd name="connsiteX7" fmla="*/ 3840337 w 4448352"/>
              <a:gd name="connsiteY7" fmla="*/ 136997 h 6029730"/>
              <a:gd name="connsiteX8" fmla="*/ 4400480 w 4448352"/>
              <a:gd name="connsiteY8" fmla="*/ 1061406 h 6029730"/>
              <a:gd name="connsiteX9" fmla="*/ 3812207 w 4448352"/>
              <a:gd name="connsiteY9" fmla="*/ 2268177 h 6029730"/>
              <a:gd name="connsiteX10" fmla="*/ 2566852 w 4448352"/>
              <a:gd name="connsiteY10" fmla="*/ 4362395 h 6029730"/>
              <a:gd name="connsiteX11" fmla="*/ 1397330 w 4448352"/>
              <a:gd name="connsiteY11" fmla="*/ 6029730 h 6029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48352" h="6029730">
                <a:moveTo>
                  <a:pt x="147593" y="6025492"/>
                </a:moveTo>
                <a:lnTo>
                  <a:pt x="135095" y="5970139"/>
                </a:lnTo>
                <a:cubicBezTo>
                  <a:pt x="3334" y="5264474"/>
                  <a:pt x="25734" y="4338079"/>
                  <a:pt x="989" y="3558990"/>
                </a:cubicBezTo>
                <a:cubicBezTo>
                  <a:pt x="-7696" y="3286585"/>
                  <a:pt x="41149" y="3024098"/>
                  <a:pt x="134613" y="2769335"/>
                </a:cubicBezTo>
                <a:cubicBezTo>
                  <a:pt x="274734" y="2387350"/>
                  <a:pt x="515201" y="2023048"/>
                  <a:pt x="812398" y="1669996"/>
                </a:cubicBezTo>
                <a:cubicBezTo>
                  <a:pt x="1109596" y="1316945"/>
                  <a:pt x="1463524" y="975145"/>
                  <a:pt x="1830565" y="638164"/>
                </a:cubicBezTo>
                <a:cubicBezTo>
                  <a:pt x="2363706" y="148617"/>
                  <a:pt x="2787743" y="-3847"/>
                  <a:pt x="3173139" y="74"/>
                </a:cubicBezTo>
                <a:cubicBezTo>
                  <a:pt x="3404376" y="2427"/>
                  <a:pt x="3621702" y="61078"/>
                  <a:pt x="3840337" y="136997"/>
                </a:cubicBezTo>
                <a:cubicBezTo>
                  <a:pt x="4230681" y="272614"/>
                  <a:pt x="4578505" y="404218"/>
                  <a:pt x="4400480" y="1061406"/>
                </a:cubicBezTo>
                <a:cubicBezTo>
                  <a:pt x="4294008" y="1454598"/>
                  <a:pt x="4050152" y="1868133"/>
                  <a:pt x="3812207" y="2268177"/>
                </a:cubicBezTo>
                <a:cubicBezTo>
                  <a:pt x="3397089" y="2966250"/>
                  <a:pt x="2969331" y="3735470"/>
                  <a:pt x="2566852" y="4362395"/>
                </a:cubicBezTo>
                <a:cubicBezTo>
                  <a:pt x="2164373" y="4989320"/>
                  <a:pt x="1829370" y="5570322"/>
                  <a:pt x="1397330" y="6029730"/>
                </a:cubicBez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3" name="Symbol zastępczy zawartości 2">
            <a:extLst>
              <a:ext uri="{FF2B5EF4-FFF2-40B4-BE49-F238E27FC236}">
                <a16:creationId xmlns:a16="http://schemas.microsoft.com/office/drawing/2014/main" id="{BE1A926C-B463-502A-907F-E5FF14C64D62}"/>
              </a:ext>
            </a:extLst>
          </p:cNvPr>
          <p:cNvSpPr>
            <a:spLocks noGrp="1"/>
          </p:cNvSpPr>
          <p:nvPr>
            <p:ph idx="1"/>
          </p:nvPr>
        </p:nvSpPr>
        <p:spPr>
          <a:xfrm>
            <a:off x="6029325" y="3048000"/>
            <a:ext cx="5400676" cy="3048001"/>
          </a:xfrm>
        </p:spPr>
        <p:txBody>
          <a:bodyPr>
            <a:normAutofit/>
          </a:bodyPr>
          <a:lstStyle/>
          <a:p>
            <a:pPr marL="0" indent="0">
              <a:lnSpc>
                <a:spcPct val="115000"/>
              </a:lnSpc>
              <a:buNone/>
            </a:pPr>
            <a:r>
              <a:rPr lang="pl-PL" sz="2000"/>
              <a:t>W perspektywie najbliższych lat zespoły IT prawdopodobnie staną się mniejsze, bardziej autonomiczne i silniej wspierane przez sztuczną inteligencję. Struktury organizacyjne mogą być znacznie mniej hierarchiczne niż obecnie, ponieważ część decyzji operacyjnych zostanie zautomatyzowana.</a:t>
            </a:r>
          </a:p>
        </p:txBody>
      </p:sp>
      <p:sp>
        <p:nvSpPr>
          <p:cNvPr id="2" name="Tytuł 1">
            <a:extLst>
              <a:ext uri="{FF2B5EF4-FFF2-40B4-BE49-F238E27FC236}">
                <a16:creationId xmlns:a16="http://schemas.microsoft.com/office/drawing/2014/main" id="{5513AF1C-154B-4F85-5857-CFB966D4066D}"/>
              </a:ext>
            </a:extLst>
          </p:cNvPr>
          <p:cNvSpPr>
            <a:spLocks noGrp="1"/>
          </p:cNvSpPr>
          <p:nvPr>
            <p:ph type="title"/>
          </p:nvPr>
        </p:nvSpPr>
        <p:spPr>
          <a:xfrm>
            <a:off x="6029324" y="1523990"/>
            <a:ext cx="5400676" cy="1524010"/>
          </a:xfrm>
        </p:spPr>
        <p:txBody>
          <a:bodyPr anchor="t">
            <a:normAutofit/>
          </a:bodyPr>
          <a:lstStyle/>
          <a:p>
            <a:r>
              <a:rPr lang="pl-PL" sz="3200" dirty="0"/>
              <a:t>Jak mogą wyglądać zespoły IT za 5–10 lat</a:t>
            </a:r>
          </a:p>
        </p:txBody>
      </p:sp>
    </p:spTree>
    <p:extLst>
      <p:ext uri="{BB962C8B-B14F-4D97-AF65-F5344CB8AC3E}">
        <p14:creationId xmlns:p14="http://schemas.microsoft.com/office/powerpoint/2010/main" val="3192521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3F3A0F6C-EB8F-4A4C-8258-23F6D815E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8352" cy="6438900"/>
          </a:xfrm>
          <a:custGeom>
            <a:avLst/>
            <a:gdLst>
              <a:gd name="connsiteX0" fmla="*/ 0 w 12198352"/>
              <a:gd name="connsiteY0" fmla="*/ 0 h 6438900"/>
              <a:gd name="connsiteX1" fmla="*/ 12198352 w 12198352"/>
              <a:gd name="connsiteY1" fmla="*/ 0 h 6438900"/>
              <a:gd name="connsiteX2" fmla="*/ 12198352 w 12198352"/>
              <a:gd name="connsiteY2" fmla="*/ 5644414 h 6438900"/>
              <a:gd name="connsiteX3" fmla="*/ 12042486 w 12198352"/>
              <a:gd name="connsiteY3" fmla="*/ 5750064 h 6438900"/>
              <a:gd name="connsiteX4" fmla="*/ 9483672 w 12198352"/>
              <a:gd name="connsiteY4" fmla="*/ 6432438 h 6438900"/>
              <a:gd name="connsiteX5" fmla="*/ 8500895 w 12198352"/>
              <a:gd name="connsiteY5" fmla="*/ 6437925 h 6438900"/>
              <a:gd name="connsiteX6" fmla="*/ 1629409 w 12198352"/>
              <a:gd name="connsiteY6" fmla="*/ 5170893 h 6438900"/>
              <a:gd name="connsiteX7" fmla="*/ 433424 w 12198352"/>
              <a:gd name="connsiteY7" fmla="*/ 4633819 h 6438900"/>
              <a:gd name="connsiteX8" fmla="*/ 0 w 12198352"/>
              <a:gd name="connsiteY8" fmla="*/ 4450771 h 643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8352" h="6438900">
                <a:moveTo>
                  <a:pt x="0" y="0"/>
                </a:moveTo>
                <a:lnTo>
                  <a:pt x="12198352" y="0"/>
                </a:lnTo>
                <a:lnTo>
                  <a:pt x="12198352" y="5644414"/>
                </a:lnTo>
                <a:lnTo>
                  <a:pt x="12042486" y="5750064"/>
                </a:lnTo>
                <a:cubicBezTo>
                  <a:pt x="11268689" y="6237466"/>
                  <a:pt x="10357585" y="6417714"/>
                  <a:pt x="9483672" y="6432438"/>
                </a:cubicBezTo>
                <a:cubicBezTo>
                  <a:pt x="9158751" y="6438062"/>
                  <a:pt x="8830819" y="6440385"/>
                  <a:pt x="8500895" y="6437925"/>
                </a:cubicBezTo>
                <a:cubicBezTo>
                  <a:pt x="6191416" y="6420695"/>
                  <a:pt x="3784289" y="6168856"/>
                  <a:pt x="1629409" y="5170893"/>
                </a:cubicBezTo>
                <a:cubicBezTo>
                  <a:pt x="1229906" y="4985892"/>
                  <a:pt x="831404" y="4807078"/>
                  <a:pt x="433424" y="4633819"/>
                </a:cubicBezTo>
                <a:lnTo>
                  <a:pt x="0" y="4450771"/>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solidFill>
                <a:prstClr val="white"/>
              </a:solidFill>
              <a:latin typeface="Avenir Next LT Pro" panose="020B0504020202020204" pitchFamily="34" charset="0"/>
            </a:endParaRPr>
          </a:p>
        </p:txBody>
      </p:sp>
      <p:sp>
        <p:nvSpPr>
          <p:cNvPr id="13" name="Freeform: Shape 12">
            <a:extLst>
              <a:ext uri="{FF2B5EF4-FFF2-40B4-BE49-F238E27FC236}">
                <a16:creationId xmlns:a16="http://schemas.microsoft.com/office/drawing/2014/main" id="{6A9C92F4-A4A4-42E0-9391-C666AAED1E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817925">
            <a:off x="2322363" y="-118377"/>
            <a:ext cx="7900749" cy="9821966"/>
          </a:xfrm>
          <a:custGeom>
            <a:avLst/>
            <a:gdLst>
              <a:gd name="connsiteX0" fmla="*/ 589029 w 7858893"/>
              <a:gd name="connsiteY0" fmla="*/ 9827096 h 9827096"/>
              <a:gd name="connsiteX1" fmla="*/ 0 w 7858893"/>
              <a:gd name="connsiteY1" fmla="*/ 9338053 h 9827096"/>
              <a:gd name="connsiteX2" fmla="*/ 50440 w 7858893"/>
              <a:gd name="connsiteY2" fmla="*/ 9011561 h 9827096"/>
              <a:gd name="connsiteX3" fmla="*/ 398242 w 7858893"/>
              <a:gd name="connsiteY3" fmla="*/ 7620242 h 9827096"/>
              <a:gd name="connsiteX4" fmla="*/ 6756719 w 7858893"/>
              <a:gd name="connsiteY4" fmla="*/ 593416 h 9827096"/>
              <a:gd name="connsiteX5" fmla="*/ 7642630 w 7858893"/>
              <a:gd name="connsiteY5" fmla="*/ 111525 h 9827096"/>
              <a:gd name="connsiteX6" fmla="*/ 7858893 w 7858893"/>
              <a:gd name="connsiteY6" fmla="*/ 0 h 9827096"/>
              <a:gd name="connsiteX0" fmla="*/ 589029 w 8190490"/>
              <a:gd name="connsiteY0" fmla="*/ 9787128 h 9787128"/>
              <a:gd name="connsiteX1" fmla="*/ 0 w 8190490"/>
              <a:gd name="connsiteY1" fmla="*/ 9298085 h 9787128"/>
              <a:gd name="connsiteX2" fmla="*/ 50440 w 8190490"/>
              <a:gd name="connsiteY2" fmla="*/ 8971593 h 9787128"/>
              <a:gd name="connsiteX3" fmla="*/ 398242 w 8190490"/>
              <a:gd name="connsiteY3" fmla="*/ 7580274 h 9787128"/>
              <a:gd name="connsiteX4" fmla="*/ 6756719 w 8190490"/>
              <a:gd name="connsiteY4" fmla="*/ 553448 h 9787128"/>
              <a:gd name="connsiteX5" fmla="*/ 7642630 w 8190490"/>
              <a:gd name="connsiteY5" fmla="*/ 71557 h 9787128"/>
              <a:gd name="connsiteX6" fmla="*/ 8190490 w 8190490"/>
              <a:gd name="connsiteY6" fmla="*/ 0 h 9787128"/>
              <a:gd name="connsiteX7" fmla="*/ 589029 w 8190490"/>
              <a:gd name="connsiteY7" fmla="*/ 9787128 h 9787128"/>
              <a:gd name="connsiteX0" fmla="*/ 589029 w 8281930"/>
              <a:gd name="connsiteY0" fmla="*/ 9722690 h 9722690"/>
              <a:gd name="connsiteX1" fmla="*/ 0 w 8281930"/>
              <a:gd name="connsiteY1" fmla="*/ 9233647 h 9722690"/>
              <a:gd name="connsiteX2" fmla="*/ 50440 w 8281930"/>
              <a:gd name="connsiteY2" fmla="*/ 8907155 h 9722690"/>
              <a:gd name="connsiteX3" fmla="*/ 398242 w 8281930"/>
              <a:gd name="connsiteY3" fmla="*/ 7515836 h 9722690"/>
              <a:gd name="connsiteX4" fmla="*/ 6756719 w 8281930"/>
              <a:gd name="connsiteY4" fmla="*/ 489010 h 9722690"/>
              <a:gd name="connsiteX5" fmla="*/ 7642630 w 8281930"/>
              <a:gd name="connsiteY5" fmla="*/ 7119 h 9722690"/>
              <a:gd name="connsiteX6" fmla="*/ 8281930 w 8281930"/>
              <a:gd name="connsiteY6" fmla="*/ 27002 h 9722690"/>
              <a:gd name="connsiteX0" fmla="*/ 589029 w 7911958"/>
              <a:gd name="connsiteY0" fmla="*/ 9802819 h 9802819"/>
              <a:gd name="connsiteX1" fmla="*/ 0 w 7911958"/>
              <a:gd name="connsiteY1" fmla="*/ 9313776 h 9802819"/>
              <a:gd name="connsiteX2" fmla="*/ 50440 w 7911958"/>
              <a:gd name="connsiteY2" fmla="*/ 8987284 h 9802819"/>
              <a:gd name="connsiteX3" fmla="*/ 398242 w 7911958"/>
              <a:gd name="connsiteY3" fmla="*/ 7595965 h 9802819"/>
              <a:gd name="connsiteX4" fmla="*/ 6756719 w 7911958"/>
              <a:gd name="connsiteY4" fmla="*/ 569139 h 9802819"/>
              <a:gd name="connsiteX5" fmla="*/ 7642630 w 7911958"/>
              <a:gd name="connsiteY5" fmla="*/ 87248 h 9802819"/>
              <a:gd name="connsiteX6" fmla="*/ 7911958 w 7911958"/>
              <a:gd name="connsiteY6" fmla="*/ 0 h 9802819"/>
              <a:gd name="connsiteX0" fmla="*/ 589029 w 7642630"/>
              <a:gd name="connsiteY0" fmla="*/ 9715571 h 9715571"/>
              <a:gd name="connsiteX1" fmla="*/ 0 w 7642630"/>
              <a:gd name="connsiteY1" fmla="*/ 9226528 h 9715571"/>
              <a:gd name="connsiteX2" fmla="*/ 50440 w 7642630"/>
              <a:gd name="connsiteY2" fmla="*/ 8900036 h 9715571"/>
              <a:gd name="connsiteX3" fmla="*/ 398242 w 7642630"/>
              <a:gd name="connsiteY3" fmla="*/ 7508717 h 9715571"/>
              <a:gd name="connsiteX4" fmla="*/ 6756719 w 7642630"/>
              <a:gd name="connsiteY4" fmla="*/ 481891 h 9715571"/>
              <a:gd name="connsiteX5" fmla="*/ 7642630 w 7642630"/>
              <a:gd name="connsiteY5" fmla="*/ 0 h 9715571"/>
              <a:gd name="connsiteX0" fmla="*/ 589029 w 7900749"/>
              <a:gd name="connsiteY0" fmla="*/ 9821966 h 9821966"/>
              <a:gd name="connsiteX1" fmla="*/ 0 w 7900749"/>
              <a:gd name="connsiteY1" fmla="*/ 9332923 h 9821966"/>
              <a:gd name="connsiteX2" fmla="*/ 50440 w 7900749"/>
              <a:gd name="connsiteY2" fmla="*/ 9006431 h 9821966"/>
              <a:gd name="connsiteX3" fmla="*/ 398242 w 7900749"/>
              <a:gd name="connsiteY3" fmla="*/ 7615112 h 9821966"/>
              <a:gd name="connsiteX4" fmla="*/ 6756719 w 7900749"/>
              <a:gd name="connsiteY4" fmla="*/ 588286 h 9821966"/>
              <a:gd name="connsiteX5" fmla="*/ 7900749 w 7900749"/>
              <a:gd name="connsiteY5" fmla="*/ 0 h 982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00749" h="9821966">
                <a:moveTo>
                  <a:pt x="589029" y="9821966"/>
                </a:moveTo>
                <a:lnTo>
                  <a:pt x="0" y="9332923"/>
                </a:lnTo>
                <a:lnTo>
                  <a:pt x="50440" y="9006431"/>
                </a:lnTo>
                <a:cubicBezTo>
                  <a:pt x="119970" y="8604142"/>
                  <a:pt x="221982" y="8158814"/>
                  <a:pt x="398242" y="7615112"/>
                </a:cubicBezTo>
                <a:cubicBezTo>
                  <a:pt x="1372817" y="4608865"/>
                  <a:pt x="3887952" y="2237199"/>
                  <a:pt x="6756719" y="588286"/>
                </a:cubicBezTo>
                <a:cubicBezTo>
                  <a:pt x="6992735" y="452730"/>
                  <a:pt x="7549593" y="182994"/>
                  <a:pt x="7900749" y="0"/>
                </a:cubicBez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2" name="Tytuł 1">
            <a:extLst>
              <a:ext uri="{FF2B5EF4-FFF2-40B4-BE49-F238E27FC236}">
                <a16:creationId xmlns:a16="http://schemas.microsoft.com/office/drawing/2014/main" id="{493897EE-1481-45A9-452A-8BB4C6942837}"/>
              </a:ext>
            </a:extLst>
          </p:cNvPr>
          <p:cNvSpPr>
            <a:spLocks noGrp="1"/>
          </p:cNvSpPr>
          <p:nvPr>
            <p:ph type="title"/>
          </p:nvPr>
        </p:nvSpPr>
        <p:spPr>
          <a:xfrm>
            <a:off x="718751" y="762000"/>
            <a:ext cx="3598808" cy="2286000"/>
          </a:xfrm>
        </p:spPr>
        <p:txBody>
          <a:bodyPr anchor="t">
            <a:normAutofit/>
          </a:bodyPr>
          <a:lstStyle/>
          <a:p>
            <a:r>
              <a:rPr lang="pl-PL" sz="3200" dirty="0">
                <a:solidFill>
                  <a:srgbClr val="FFFFFF"/>
                </a:solidFill>
              </a:rPr>
              <a:t>Jak mogą wyglądać zespoły IT za 5–10 lat</a:t>
            </a:r>
          </a:p>
        </p:txBody>
      </p:sp>
      <p:graphicFrame>
        <p:nvGraphicFramePr>
          <p:cNvPr id="5" name="Symbol zastępczy zawartości 2">
            <a:extLst>
              <a:ext uri="{FF2B5EF4-FFF2-40B4-BE49-F238E27FC236}">
                <a16:creationId xmlns:a16="http://schemas.microsoft.com/office/drawing/2014/main" id="{C27E9806-7B5A-AD4D-3E87-93E0AEDDD291}"/>
              </a:ext>
            </a:extLst>
          </p:cNvPr>
          <p:cNvGraphicFramePr>
            <a:graphicFrameLocks noGrp="1"/>
          </p:cNvGraphicFramePr>
          <p:nvPr>
            <p:ph idx="1"/>
            <p:extLst>
              <p:ext uri="{D42A27DB-BD31-4B8C-83A1-F6EECF244321}">
                <p14:modId xmlns:p14="http://schemas.microsoft.com/office/powerpoint/2010/main" val="1013463935"/>
              </p:ext>
            </p:extLst>
          </p:nvPr>
        </p:nvGraphicFramePr>
        <p:xfrm>
          <a:off x="4572000" y="771726"/>
          <a:ext cx="6858000" cy="45622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54763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9">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1">
            <a:extLst>
              <a:ext uri="{FF2B5EF4-FFF2-40B4-BE49-F238E27FC236}">
                <a16:creationId xmlns:a16="http://schemas.microsoft.com/office/drawing/2014/main" id="{3D065C6D-EB42-400B-99C4-D0ACE936F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13174" y="0"/>
            <a:ext cx="5578824" cy="6028256"/>
          </a:xfrm>
          <a:custGeom>
            <a:avLst/>
            <a:gdLst>
              <a:gd name="connsiteX0" fmla="*/ 1681218 w 5578824"/>
              <a:gd name="connsiteY0" fmla="*/ 0 h 6028256"/>
              <a:gd name="connsiteX1" fmla="*/ 5578824 w 5578824"/>
              <a:gd name="connsiteY1" fmla="*/ 0 h 6028256"/>
              <a:gd name="connsiteX2" fmla="*/ 5578824 w 5578824"/>
              <a:gd name="connsiteY2" fmla="*/ 5760161 h 6028256"/>
              <a:gd name="connsiteX3" fmla="*/ 5441231 w 5578824"/>
              <a:gd name="connsiteY3" fmla="*/ 5804042 h 6028256"/>
              <a:gd name="connsiteX4" fmla="*/ 4253224 w 5578824"/>
              <a:gd name="connsiteY4" fmla="*/ 5980388 h 6028256"/>
              <a:gd name="connsiteX5" fmla="*/ 837278 w 5578824"/>
              <a:gd name="connsiteY5" fmla="*/ 4877588 h 6028256"/>
              <a:gd name="connsiteX6" fmla="*/ 109626 w 5578824"/>
              <a:gd name="connsiteY6" fmla="*/ 3329255 h 6028256"/>
              <a:gd name="connsiteX7" fmla="*/ 156962 w 5578824"/>
              <a:gd name="connsiteY7" fmla="*/ 1773839 h 6028256"/>
              <a:gd name="connsiteX8" fmla="*/ 904890 w 5578824"/>
              <a:gd name="connsiteY8" fmla="*/ 738354 h 6028256"/>
              <a:gd name="connsiteX9" fmla="*/ 1304592 w 5578824"/>
              <a:gd name="connsiteY9" fmla="*/ 360545 h 602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78824" h="6028256">
                <a:moveTo>
                  <a:pt x="1681218" y="0"/>
                </a:moveTo>
                <a:lnTo>
                  <a:pt x="5578824" y="0"/>
                </a:lnTo>
                <a:lnTo>
                  <a:pt x="5578824" y="5760161"/>
                </a:lnTo>
                <a:lnTo>
                  <a:pt x="5441231" y="5804042"/>
                </a:lnTo>
                <a:cubicBezTo>
                  <a:pt x="5079089" y="5907589"/>
                  <a:pt x="4674877" y="5944442"/>
                  <a:pt x="4253224" y="5980388"/>
                </a:cubicBezTo>
                <a:cubicBezTo>
                  <a:pt x="2813852" y="6102970"/>
                  <a:pt x="1551586" y="6071494"/>
                  <a:pt x="837278" y="4877588"/>
                </a:cubicBezTo>
                <a:cubicBezTo>
                  <a:pt x="529862" y="4363935"/>
                  <a:pt x="255162" y="3847185"/>
                  <a:pt x="109626" y="3329255"/>
                </a:cubicBezTo>
                <a:cubicBezTo>
                  <a:pt x="-35907" y="2811325"/>
                  <a:pt x="-52277" y="2292214"/>
                  <a:pt x="156962" y="1773839"/>
                </a:cubicBezTo>
                <a:cubicBezTo>
                  <a:pt x="296494" y="1428108"/>
                  <a:pt x="536161" y="1082881"/>
                  <a:pt x="904890" y="738354"/>
                </a:cubicBezTo>
                <a:cubicBezTo>
                  <a:pt x="1036690" y="615181"/>
                  <a:pt x="1169968" y="488910"/>
                  <a:pt x="1304592" y="360545"/>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3362A0EA-3E81-4464-94B8-70BE5870E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87883"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3" name="Symbol zastępczy zawartości 2">
            <a:extLst>
              <a:ext uri="{FF2B5EF4-FFF2-40B4-BE49-F238E27FC236}">
                <a16:creationId xmlns:a16="http://schemas.microsoft.com/office/drawing/2014/main" id="{CE278008-0331-3033-97B8-500A424276D0}"/>
              </a:ext>
            </a:extLst>
          </p:cNvPr>
          <p:cNvSpPr>
            <a:spLocks noGrp="1"/>
          </p:cNvSpPr>
          <p:nvPr>
            <p:ph idx="1"/>
          </p:nvPr>
        </p:nvSpPr>
        <p:spPr>
          <a:xfrm>
            <a:off x="762000" y="2286000"/>
            <a:ext cx="5334000" cy="3810001"/>
          </a:xfrm>
        </p:spPr>
        <p:txBody>
          <a:bodyPr>
            <a:normAutofit fontScale="92500" lnSpcReduction="10000"/>
          </a:bodyPr>
          <a:lstStyle/>
          <a:p>
            <a:pPr marL="0" indent="0" algn="ctr">
              <a:lnSpc>
                <a:spcPct val="115000"/>
              </a:lnSpc>
              <a:buNone/>
            </a:pPr>
            <a:r>
              <a:rPr lang="pl-PL" sz="1800" dirty="0"/>
              <a:t>Przyszłość pracy zespołowej w IT będzie opierała się na coraz większej integracji technologii z codziennym funkcjonowaniem organizacji. </a:t>
            </a:r>
            <a:r>
              <a:rPr lang="pl-PL" sz="1800" dirty="0" err="1"/>
              <a:t>DevOps</a:t>
            </a:r>
            <a:r>
              <a:rPr lang="pl-PL" sz="1800" dirty="0"/>
              <a:t> rozwija się w kierunku platform engineering, </a:t>
            </a:r>
            <a:r>
              <a:rPr lang="pl-PL" sz="1800" dirty="0" err="1"/>
              <a:t>MLOps</a:t>
            </a:r>
            <a:r>
              <a:rPr lang="pl-PL" sz="1800" dirty="0"/>
              <a:t> staje się standardem dla systemów AI, a odpowiedzialność za produkt przesuwa się bezpośrednio do zespołów. Jednocześnie organizacje muszą uważać na ryzyko nadmiernej cyfryzacji, która może osłabić koncentrację i współpracę. W perspektywie kilku lat zespoły IT będą prawdopodobnie bardziej autonomiczne, bardziej interdyscyplinarne i silniej wspierane przez inteligentne narzędzia.</a:t>
            </a:r>
          </a:p>
        </p:txBody>
      </p:sp>
      <p:sp>
        <p:nvSpPr>
          <p:cNvPr id="2" name="Tytuł 1">
            <a:extLst>
              <a:ext uri="{FF2B5EF4-FFF2-40B4-BE49-F238E27FC236}">
                <a16:creationId xmlns:a16="http://schemas.microsoft.com/office/drawing/2014/main" id="{800AA4DF-7B7C-A390-B8C1-98478CACF0A1}"/>
              </a:ext>
            </a:extLst>
          </p:cNvPr>
          <p:cNvSpPr>
            <a:spLocks noGrp="1"/>
          </p:cNvSpPr>
          <p:nvPr>
            <p:ph type="title"/>
          </p:nvPr>
        </p:nvSpPr>
        <p:spPr>
          <a:xfrm>
            <a:off x="762000" y="762000"/>
            <a:ext cx="5334000" cy="1524000"/>
          </a:xfrm>
        </p:spPr>
        <p:txBody>
          <a:bodyPr>
            <a:normAutofit/>
          </a:bodyPr>
          <a:lstStyle/>
          <a:p>
            <a:pPr algn="ctr"/>
            <a:r>
              <a:rPr lang="en-US" sz="3200" dirty="0" err="1"/>
              <a:t>Podsumowanie</a:t>
            </a:r>
            <a:r>
              <a:rPr lang="en-US" sz="3200" dirty="0"/>
              <a:t> </a:t>
            </a:r>
            <a:r>
              <a:rPr lang="en-US" sz="3200" dirty="0" err="1"/>
              <a:t>potencjalnych</a:t>
            </a:r>
            <a:r>
              <a:rPr lang="en-US" sz="3200" dirty="0"/>
              <a:t> </a:t>
            </a:r>
            <a:r>
              <a:rPr lang="en-US" sz="3200" dirty="0" err="1"/>
              <a:t>zmian</a:t>
            </a:r>
            <a:r>
              <a:rPr lang="en-US" sz="3200" dirty="0"/>
              <a:t> </a:t>
            </a:r>
            <a:endParaRPr lang="pl-PL" sz="3200" dirty="0"/>
          </a:p>
        </p:txBody>
      </p:sp>
      <p:pic>
        <p:nvPicPr>
          <p:cNvPr id="7" name="Graphic 6" descr="Head with Gears">
            <a:extLst>
              <a:ext uri="{FF2B5EF4-FFF2-40B4-BE49-F238E27FC236}">
                <a16:creationId xmlns:a16="http://schemas.microsoft.com/office/drawing/2014/main" id="{32B9FC82-512E-8F9C-B052-92C57C9BB87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58000" y="771525"/>
            <a:ext cx="5334000" cy="5334000"/>
          </a:xfrm>
          <a:prstGeom prst="rect">
            <a:avLst/>
          </a:prstGeom>
        </p:spPr>
      </p:pic>
    </p:spTree>
    <p:extLst>
      <p:ext uri="{BB962C8B-B14F-4D97-AF65-F5344CB8AC3E}">
        <p14:creationId xmlns:p14="http://schemas.microsoft.com/office/powerpoint/2010/main" val="42926713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3D065C6D-EB42-400B-99C4-D0ACE936F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13174" y="0"/>
            <a:ext cx="5578824" cy="6028256"/>
          </a:xfrm>
          <a:custGeom>
            <a:avLst/>
            <a:gdLst>
              <a:gd name="connsiteX0" fmla="*/ 1681218 w 5578824"/>
              <a:gd name="connsiteY0" fmla="*/ 0 h 6028256"/>
              <a:gd name="connsiteX1" fmla="*/ 5578824 w 5578824"/>
              <a:gd name="connsiteY1" fmla="*/ 0 h 6028256"/>
              <a:gd name="connsiteX2" fmla="*/ 5578824 w 5578824"/>
              <a:gd name="connsiteY2" fmla="*/ 5760161 h 6028256"/>
              <a:gd name="connsiteX3" fmla="*/ 5441231 w 5578824"/>
              <a:gd name="connsiteY3" fmla="*/ 5804042 h 6028256"/>
              <a:gd name="connsiteX4" fmla="*/ 4253224 w 5578824"/>
              <a:gd name="connsiteY4" fmla="*/ 5980388 h 6028256"/>
              <a:gd name="connsiteX5" fmla="*/ 837278 w 5578824"/>
              <a:gd name="connsiteY5" fmla="*/ 4877588 h 6028256"/>
              <a:gd name="connsiteX6" fmla="*/ 109626 w 5578824"/>
              <a:gd name="connsiteY6" fmla="*/ 3329255 h 6028256"/>
              <a:gd name="connsiteX7" fmla="*/ 156962 w 5578824"/>
              <a:gd name="connsiteY7" fmla="*/ 1773839 h 6028256"/>
              <a:gd name="connsiteX8" fmla="*/ 904890 w 5578824"/>
              <a:gd name="connsiteY8" fmla="*/ 738354 h 6028256"/>
              <a:gd name="connsiteX9" fmla="*/ 1304592 w 5578824"/>
              <a:gd name="connsiteY9" fmla="*/ 360545 h 602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78824" h="6028256">
                <a:moveTo>
                  <a:pt x="1681218" y="0"/>
                </a:moveTo>
                <a:lnTo>
                  <a:pt x="5578824" y="0"/>
                </a:lnTo>
                <a:lnTo>
                  <a:pt x="5578824" y="5760161"/>
                </a:lnTo>
                <a:lnTo>
                  <a:pt x="5441231" y="5804042"/>
                </a:lnTo>
                <a:cubicBezTo>
                  <a:pt x="5079089" y="5907589"/>
                  <a:pt x="4674877" y="5944442"/>
                  <a:pt x="4253224" y="5980388"/>
                </a:cubicBezTo>
                <a:cubicBezTo>
                  <a:pt x="2813852" y="6102970"/>
                  <a:pt x="1551586" y="6071494"/>
                  <a:pt x="837278" y="4877588"/>
                </a:cubicBezTo>
                <a:cubicBezTo>
                  <a:pt x="529862" y="4363935"/>
                  <a:pt x="255162" y="3847185"/>
                  <a:pt x="109626" y="3329255"/>
                </a:cubicBezTo>
                <a:cubicBezTo>
                  <a:pt x="-35907" y="2811325"/>
                  <a:pt x="-52277" y="2292214"/>
                  <a:pt x="156962" y="1773839"/>
                </a:cubicBezTo>
                <a:cubicBezTo>
                  <a:pt x="296494" y="1428108"/>
                  <a:pt x="536161" y="1082881"/>
                  <a:pt x="904890" y="738354"/>
                </a:cubicBezTo>
                <a:cubicBezTo>
                  <a:pt x="1036690" y="615181"/>
                  <a:pt x="1169968" y="488910"/>
                  <a:pt x="1304592" y="360545"/>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3362A0EA-3E81-4464-94B8-70BE5870E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87883"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3" name="Symbol zastępczy zawartości 2">
            <a:extLst>
              <a:ext uri="{FF2B5EF4-FFF2-40B4-BE49-F238E27FC236}">
                <a16:creationId xmlns:a16="http://schemas.microsoft.com/office/drawing/2014/main" id="{97699056-E28E-ED07-8410-FA1BDE82C363}"/>
              </a:ext>
            </a:extLst>
          </p:cNvPr>
          <p:cNvSpPr>
            <a:spLocks noGrp="1"/>
          </p:cNvSpPr>
          <p:nvPr>
            <p:ph idx="1"/>
          </p:nvPr>
        </p:nvSpPr>
        <p:spPr>
          <a:xfrm>
            <a:off x="762000" y="2286000"/>
            <a:ext cx="5334000" cy="3810001"/>
          </a:xfrm>
        </p:spPr>
        <p:txBody>
          <a:bodyPr>
            <a:normAutofit/>
          </a:bodyPr>
          <a:lstStyle/>
          <a:p>
            <a:pPr marL="0" indent="0">
              <a:lnSpc>
                <a:spcPct val="115000"/>
              </a:lnSpc>
              <a:buNone/>
            </a:pPr>
            <a:r>
              <a:rPr lang="pl-PL" sz="1900"/>
              <a:t>Przygotowanie organizacji na przyszłe zmiany nie polega wyłącznie na inwestowaniu w nowe technologie. Znacznie ważniejsze staje się budowanie zdolności adaptacyjnej, czyli umiejętności reagowania na zmiany szybciej niż konkurencja. Organizacje technologiczne coraz częściej funkcjonują w środowisku, w którym nowe narzędzia, modele pracy i oczekiwania klientów pojawiają się szybciej niż tradycyjne procesy zarządzania.</a:t>
            </a:r>
          </a:p>
        </p:txBody>
      </p:sp>
      <p:sp>
        <p:nvSpPr>
          <p:cNvPr id="2" name="Tytuł 1">
            <a:extLst>
              <a:ext uri="{FF2B5EF4-FFF2-40B4-BE49-F238E27FC236}">
                <a16:creationId xmlns:a16="http://schemas.microsoft.com/office/drawing/2014/main" id="{E38A99CA-2151-9307-A2F7-77905009C9DD}"/>
              </a:ext>
            </a:extLst>
          </p:cNvPr>
          <p:cNvSpPr>
            <a:spLocks noGrp="1"/>
          </p:cNvSpPr>
          <p:nvPr>
            <p:ph type="title"/>
          </p:nvPr>
        </p:nvSpPr>
        <p:spPr>
          <a:xfrm>
            <a:off x="762000" y="762000"/>
            <a:ext cx="5334000" cy="1524000"/>
          </a:xfrm>
        </p:spPr>
        <p:txBody>
          <a:bodyPr>
            <a:normAutofit/>
          </a:bodyPr>
          <a:lstStyle/>
          <a:p>
            <a:r>
              <a:rPr lang="pl-PL" sz="3200" dirty="0"/>
              <a:t>Jak przygotować się organizacyjnie na przyszłe zmiany</a:t>
            </a:r>
          </a:p>
        </p:txBody>
      </p:sp>
      <p:pic>
        <p:nvPicPr>
          <p:cNvPr id="7" name="Graphic 6" descr="Hierarchia">
            <a:extLst>
              <a:ext uri="{FF2B5EF4-FFF2-40B4-BE49-F238E27FC236}">
                <a16:creationId xmlns:a16="http://schemas.microsoft.com/office/drawing/2014/main" id="{CEE391A4-F28D-FE2B-546A-3D2BA3CA33E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58000" y="771525"/>
            <a:ext cx="5334000" cy="5334000"/>
          </a:xfrm>
          <a:prstGeom prst="rect">
            <a:avLst/>
          </a:prstGeom>
        </p:spPr>
      </p:pic>
    </p:spTree>
    <p:extLst>
      <p:ext uri="{BB962C8B-B14F-4D97-AF65-F5344CB8AC3E}">
        <p14:creationId xmlns:p14="http://schemas.microsoft.com/office/powerpoint/2010/main" val="914134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3F3A0F6C-EB8F-4A4C-8258-23F6D815E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8352" cy="6438900"/>
          </a:xfrm>
          <a:custGeom>
            <a:avLst/>
            <a:gdLst>
              <a:gd name="connsiteX0" fmla="*/ 0 w 12198352"/>
              <a:gd name="connsiteY0" fmla="*/ 0 h 6438900"/>
              <a:gd name="connsiteX1" fmla="*/ 12198352 w 12198352"/>
              <a:gd name="connsiteY1" fmla="*/ 0 h 6438900"/>
              <a:gd name="connsiteX2" fmla="*/ 12198352 w 12198352"/>
              <a:gd name="connsiteY2" fmla="*/ 5644414 h 6438900"/>
              <a:gd name="connsiteX3" fmla="*/ 12042486 w 12198352"/>
              <a:gd name="connsiteY3" fmla="*/ 5750064 h 6438900"/>
              <a:gd name="connsiteX4" fmla="*/ 9483672 w 12198352"/>
              <a:gd name="connsiteY4" fmla="*/ 6432438 h 6438900"/>
              <a:gd name="connsiteX5" fmla="*/ 8500895 w 12198352"/>
              <a:gd name="connsiteY5" fmla="*/ 6437925 h 6438900"/>
              <a:gd name="connsiteX6" fmla="*/ 1629409 w 12198352"/>
              <a:gd name="connsiteY6" fmla="*/ 5170893 h 6438900"/>
              <a:gd name="connsiteX7" fmla="*/ 433424 w 12198352"/>
              <a:gd name="connsiteY7" fmla="*/ 4633819 h 6438900"/>
              <a:gd name="connsiteX8" fmla="*/ 0 w 12198352"/>
              <a:gd name="connsiteY8" fmla="*/ 4450771 h 643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8352" h="6438900">
                <a:moveTo>
                  <a:pt x="0" y="0"/>
                </a:moveTo>
                <a:lnTo>
                  <a:pt x="12198352" y="0"/>
                </a:lnTo>
                <a:lnTo>
                  <a:pt x="12198352" y="5644414"/>
                </a:lnTo>
                <a:lnTo>
                  <a:pt x="12042486" y="5750064"/>
                </a:lnTo>
                <a:cubicBezTo>
                  <a:pt x="11268689" y="6237466"/>
                  <a:pt x="10357585" y="6417714"/>
                  <a:pt x="9483672" y="6432438"/>
                </a:cubicBezTo>
                <a:cubicBezTo>
                  <a:pt x="9158751" y="6438062"/>
                  <a:pt x="8830819" y="6440385"/>
                  <a:pt x="8500895" y="6437925"/>
                </a:cubicBezTo>
                <a:cubicBezTo>
                  <a:pt x="6191416" y="6420695"/>
                  <a:pt x="3784289" y="6168856"/>
                  <a:pt x="1629409" y="5170893"/>
                </a:cubicBezTo>
                <a:cubicBezTo>
                  <a:pt x="1229906" y="4985892"/>
                  <a:pt x="831404" y="4807078"/>
                  <a:pt x="433424" y="4633819"/>
                </a:cubicBezTo>
                <a:lnTo>
                  <a:pt x="0" y="4450771"/>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solidFill>
                <a:prstClr val="white"/>
              </a:solidFill>
              <a:latin typeface="Avenir Next LT Pro" panose="020B0504020202020204" pitchFamily="34" charset="0"/>
            </a:endParaRPr>
          </a:p>
        </p:txBody>
      </p:sp>
      <p:sp>
        <p:nvSpPr>
          <p:cNvPr id="24" name="Freeform: Shape 23">
            <a:extLst>
              <a:ext uri="{FF2B5EF4-FFF2-40B4-BE49-F238E27FC236}">
                <a16:creationId xmlns:a16="http://schemas.microsoft.com/office/drawing/2014/main" id="{6A9C92F4-A4A4-42E0-9391-C666AAED1E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817925">
            <a:off x="2322363" y="-118377"/>
            <a:ext cx="7900749" cy="9821966"/>
          </a:xfrm>
          <a:custGeom>
            <a:avLst/>
            <a:gdLst>
              <a:gd name="connsiteX0" fmla="*/ 589029 w 7858893"/>
              <a:gd name="connsiteY0" fmla="*/ 9827096 h 9827096"/>
              <a:gd name="connsiteX1" fmla="*/ 0 w 7858893"/>
              <a:gd name="connsiteY1" fmla="*/ 9338053 h 9827096"/>
              <a:gd name="connsiteX2" fmla="*/ 50440 w 7858893"/>
              <a:gd name="connsiteY2" fmla="*/ 9011561 h 9827096"/>
              <a:gd name="connsiteX3" fmla="*/ 398242 w 7858893"/>
              <a:gd name="connsiteY3" fmla="*/ 7620242 h 9827096"/>
              <a:gd name="connsiteX4" fmla="*/ 6756719 w 7858893"/>
              <a:gd name="connsiteY4" fmla="*/ 593416 h 9827096"/>
              <a:gd name="connsiteX5" fmla="*/ 7642630 w 7858893"/>
              <a:gd name="connsiteY5" fmla="*/ 111525 h 9827096"/>
              <a:gd name="connsiteX6" fmla="*/ 7858893 w 7858893"/>
              <a:gd name="connsiteY6" fmla="*/ 0 h 9827096"/>
              <a:gd name="connsiteX0" fmla="*/ 589029 w 8190490"/>
              <a:gd name="connsiteY0" fmla="*/ 9787128 h 9787128"/>
              <a:gd name="connsiteX1" fmla="*/ 0 w 8190490"/>
              <a:gd name="connsiteY1" fmla="*/ 9298085 h 9787128"/>
              <a:gd name="connsiteX2" fmla="*/ 50440 w 8190490"/>
              <a:gd name="connsiteY2" fmla="*/ 8971593 h 9787128"/>
              <a:gd name="connsiteX3" fmla="*/ 398242 w 8190490"/>
              <a:gd name="connsiteY3" fmla="*/ 7580274 h 9787128"/>
              <a:gd name="connsiteX4" fmla="*/ 6756719 w 8190490"/>
              <a:gd name="connsiteY4" fmla="*/ 553448 h 9787128"/>
              <a:gd name="connsiteX5" fmla="*/ 7642630 w 8190490"/>
              <a:gd name="connsiteY5" fmla="*/ 71557 h 9787128"/>
              <a:gd name="connsiteX6" fmla="*/ 8190490 w 8190490"/>
              <a:gd name="connsiteY6" fmla="*/ 0 h 9787128"/>
              <a:gd name="connsiteX7" fmla="*/ 589029 w 8190490"/>
              <a:gd name="connsiteY7" fmla="*/ 9787128 h 9787128"/>
              <a:gd name="connsiteX0" fmla="*/ 589029 w 8281930"/>
              <a:gd name="connsiteY0" fmla="*/ 9722690 h 9722690"/>
              <a:gd name="connsiteX1" fmla="*/ 0 w 8281930"/>
              <a:gd name="connsiteY1" fmla="*/ 9233647 h 9722690"/>
              <a:gd name="connsiteX2" fmla="*/ 50440 w 8281930"/>
              <a:gd name="connsiteY2" fmla="*/ 8907155 h 9722690"/>
              <a:gd name="connsiteX3" fmla="*/ 398242 w 8281930"/>
              <a:gd name="connsiteY3" fmla="*/ 7515836 h 9722690"/>
              <a:gd name="connsiteX4" fmla="*/ 6756719 w 8281930"/>
              <a:gd name="connsiteY4" fmla="*/ 489010 h 9722690"/>
              <a:gd name="connsiteX5" fmla="*/ 7642630 w 8281930"/>
              <a:gd name="connsiteY5" fmla="*/ 7119 h 9722690"/>
              <a:gd name="connsiteX6" fmla="*/ 8281930 w 8281930"/>
              <a:gd name="connsiteY6" fmla="*/ 27002 h 9722690"/>
              <a:gd name="connsiteX0" fmla="*/ 589029 w 7911958"/>
              <a:gd name="connsiteY0" fmla="*/ 9802819 h 9802819"/>
              <a:gd name="connsiteX1" fmla="*/ 0 w 7911958"/>
              <a:gd name="connsiteY1" fmla="*/ 9313776 h 9802819"/>
              <a:gd name="connsiteX2" fmla="*/ 50440 w 7911958"/>
              <a:gd name="connsiteY2" fmla="*/ 8987284 h 9802819"/>
              <a:gd name="connsiteX3" fmla="*/ 398242 w 7911958"/>
              <a:gd name="connsiteY3" fmla="*/ 7595965 h 9802819"/>
              <a:gd name="connsiteX4" fmla="*/ 6756719 w 7911958"/>
              <a:gd name="connsiteY4" fmla="*/ 569139 h 9802819"/>
              <a:gd name="connsiteX5" fmla="*/ 7642630 w 7911958"/>
              <a:gd name="connsiteY5" fmla="*/ 87248 h 9802819"/>
              <a:gd name="connsiteX6" fmla="*/ 7911958 w 7911958"/>
              <a:gd name="connsiteY6" fmla="*/ 0 h 9802819"/>
              <a:gd name="connsiteX0" fmla="*/ 589029 w 7642630"/>
              <a:gd name="connsiteY0" fmla="*/ 9715571 h 9715571"/>
              <a:gd name="connsiteX1" fmla="*/ 0 w 7642630"/>
              <a:gd name="connsiteY1" fmla="*/ 9226528 h 9715571"/>
              <a:gd name="connsiteX2" fmla="*/ 50440 w 7642630"/>
              <a:gd name="connsiteY2" fmla="*/ 8900036 h 9715571"/>
              <a:gd name="connsiteX3" fmla="*/ 398242 w 7642630"/>
              <a:gd name="connsiteY3" fmla="*/ 7508717 h 9715571"/>
              <a:gd name="connsiteX4" fmla="*/ 6756719 w 7642630"/>
              <a:gd name="connsiteY4" fmla="*/ 481891 h 9715571"/>
              <a:gd name="connsiteX5" fmla="*/ 7642630 w 7642630"/>
              <a:gd name="connsiteY5" fmla="*/ 0 h 9715571"/>
              <a:gd name="connsiteX0" fmla="*/ 589029 w 7900749"/>
              <a:gd name="connsiteY0" fmla="*/ 9821966 h 9821966"/>
              <a:gd name="connsiteX1" fmla="*/ 0 w 7900749"/>
              <a:gd name="connsiteY1" fmla="*/ 9332923 h 9821966"/>
              <a:gd name="connsiteX2" fmla="*/ 50440 w 7900749"/>
              <a:gd name="connsiteY2" fmla="*/ 9006431 h 9821966"/>
              <a:gd name="connsiteX3" fmla="*/ 398242 w 7900749"/>
              <a:gd name="connsiteY3" fmla="*/ 7615112 h 9821966"/>
              <a:gd name="connsiteX4" fmla="*/ 6756719 w 7900749"/>
              <a:gd name="connsiteY4" fmla="*/ 588286 h 9821966"/>
              <a:gd name="connsiteX5" fmla="*/ 7900749 w 7900749"/>
              <a:gd name="connsiteY5" fmla="*/ 0 h 982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00749" h="9821966">
                <a:moveTo>
                  <a:pt x="589029" y="9821966"/>
                </a:moveTo>
                <a:lnTo>
                  <a:pt x="0" y="9332923"/>
                </a:lnTo>
                <a:lnTo>
                  <a:pt x="50440" y="9006431"/>
                </a:lnTo>
                <a:cubicBezTo>
                  <a:pt x="119970" y="8604142"/>
                  <a:pt x="221982" y="8158814"/>
                  <a:pt x="398242" y="7615112"/>
                </a:cubicBezTo>
                <a:cubicBezTo>
                  <a:pt x="1372817" y="4608865"/>
                  <a:pt x="3887952" y="2237199"/>
                  <a:pt x="6756719" y="588286"/>
                </a:cubicBezTo>
                <a:cubicBezTo>
                  <a:pt x="6992735" y="452730"/>
                  <a:pt x="7549593" y="182994"/>
                  <a:pt x="7900749" y="0"/>
                </a:cubicBez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2" name="Tytuł 1">
            <a:extLst>
              <a:ext uri="{FF2B5EF4-FFF2-40B4-BE49-F238E27FC236}">
                <a16:creationId xmlns:a16="http://schemas.microsoft.com/office/drawing/2014/main" id="{7C377D2E-4F01-FE8A-B859-0E398EDC6EA3}"/>
              </a:ext>
            </a:extLst>
          </p:cNvPr>
          <p:cNvSpPr>
            <a:spLocks noGrp="1"/>
          </p:cNvSpPr>
          <p:nvPr>
            <p:ph type="title"/>
          </p:nvPr>
        </p:nvSpPr>
        <p:spPr>
          <a:xfrm>
            <a:off x="718751" y="762000"/>
            <a:ext cx="3598808" cy="2286000"/>
          </a:xfrm>
        </p:spPr>
        <p:txBody>
          <a:bodyPr anchor="t">
            <a:normAutofit/>
          </a:bodyPr>
          <a:lstStyle/>
          <a:p>
            <a:r>
              <a:rPr lang="pl-PL" sz="3200">
                <a:solidFill>
                  <a:srgbClr val="FFFFFF"/>
                </a:solidFill>
              </a:rPr>
              <a:t>Jak przygotować się organizacyjnie na przyszłe zmiany</a:t>
            </a:r>
          </a:p>
        </p:txBody>
      </p:sp>
      <p:graphicFrame>
        <p:nvGraphicFramePr>
          <p:cNvPr id="5" name="Symbol zastępczy zawartości 2">
            <a:extLst>
              <a:ext uri="{FF2B5EF4-FFF2-40B4-BE49-F238E27FC236}">
                <a16:creationId xmlns:a16="http://schemas.microsoft.com/office/drawing/2014/main" id="{79F23998-11BA-A88F-7DA9-06ADD8F9FA26}"/>
              </a:ext>
            </a:extLst>
          </p:cNvPr>
          <p:cNvGraphicFramePr>
            <a:graphicFrameLocks noGrp="1"/>
          </p:cNvGraphicFramePr>
          <p:nvPr>
            <p:ph idx="1"/>
            <p:extLst>
              <p:ext uri="{D42A27DB-BD31-4B8C-83A1-F6EECF244321}">
                <p14:modId xmlns:p14="http://schemas.microsoft.com/office/powerpoint/2010/main" val="2626009711"/>
              </p:ext>
            </p:extLst>
          </p:nvPr>
        </p:nvGraphicFramePr>
        <p:xfrm>
          <a:off x="4572000" y="771726"/>
          <a:ext cx="6858000" cy="45622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06112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Używane części maszyny">
            <a:extLst>
              <a:ext uri="{FF2B5EF4-FFF2-40B4-BE49-F238E27FC236}">
                <a16:creationId xmlns:a16="http://schemas.microsoft.com/office/drawing/2014/main" id="{818085FD-7DCD-593B-6780-76F1B20D8210}"/>
              </a:ext>
            </a:extLst>
          </p:cNvPr>
          <p:cNvPicPr>
            <a:picLocks noChangeAspect="1"/>
          </p:cNvPicPr>
          <p:nvPr/>
        </p:nvPicPr>
        <p:blipFill>
          <a:blip r:embed="rId3"/>
          <a:srcRect l="29231" r="8997" b="1"/>
          <a:stretch>
            <a:fillRect/>
          </a:stretch>
        </p:blipFill>
        <p:spPr>
          <a:xfrm>
            <a:off x="2" y="10"/>
            <a:ext cx="5578823" cy="6028246"/>
          </a:xfrm>
          <a:custGeom>
            <a:avLst/>
            <a:gdLst/>
            <a:ahLst/>
            <a:cxnLst/>
            <a:rect l="l" t="t" r="r" b="b"/>
            <a:pathLst>
              <a:path w="5578823" h="6028256">
                <a:moveTo>
                  <a:pt x="0" y="0"/>
                </a:moveTo>
                <a:lnTo>
                  <a:pt x="3897606" y="0"/>
                </a:lnTo>
                <a:lnTo>
                  <a:pt x="4274232" y="360545"/>
                </a:lnTo>
                <a:cubicBezTo>
                  <a:pt x="4408856" y="488910"/>
                  <a:pt x="4542134" y="615181"/>
                  <a:pt x="4673934" y="738354"/>
                </a:cubicBezTo>
                <a:cubicBezTo>
                  <a:pt x="5042663" y="1082881"/>
                  <a:pt x="5282330" y="1428108"/>
                  <a:pt x="5421862" y="1773839"/>
                </a:cubicBezTo>
                <a:cubicBezTo>
                  <a:pt x="5631101" y="2292214"/>
                  <a:pt x="5614731" y="2811325"/>
                  <a:pt x="5469198" y="3329255"/>
                </a:cubicBezTo>
                <a:cubicBezTo>
                  <a:pt x="5323662" y="3847185"/>
                  <a:pt x="5048962" y="4363935"/>
                  <a:pt x="4741546" y="4877588"/>
                </a:cubicBezTo>
                <a:cubicBezTo>
                  <a:pt x="4027238" y="6071494"/>
                  <a:pt x="2764972" y="6102970"/>
                  <a:pt x="1325600" y="5980388"/>
                </a:cubicBezTo>
                <a:cubicBezTo>
                  <a:pt x="903947" y="5944442"/>
                  <a:pt x="499735" y="5907589"/>
                  <a:pt x="137593" y="5804042"/>
                </a:cubicBezTo>
                <a:lnTo>
                  <a:pt x="0" y="5760161"/>
                </a:lnTo>
                <a:close/>
              </a:path>
            </a:pathLst>
          </a:custGeom>
        </p:spPr>
      </p:pic>
      <p:sp>
        <p:nvSpPr>
          <p:cNvPr id="11" name="Freeform: Shape 10">
            <a:extLst>
              <a:ext uri="{FF2B5EF4-FFF2-40B4-BE49-F238E27FC236}">
                <a16:creationId xmlns:a16="http://schemas.microsoft.com/office/drawing/2014/main" id="{E633B38B-B87A-4288-A20F-0223A6C27A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3" name="Symbol zastępczy zawartości 2">
            <a:extLst>
              <a:ext uri="{FF2B5EF4-FFF2-40B4-BE49-F238E27FC236}">
                <a16:creationId xmlns:a16="http://schemas.microsoft.com/office/drawing/2014/main" id="{4A1446BA-3ED0-B924-9F08-4DB8269E464C}"/>
              </a:ext>
            </a:extLst>
          </p:cNvPr>
          <p:cNvSpPr>
            <a:spLocks noGrp="1"/>
          </p:cNvSpPr>
          <p:nvPr>
            <p:ph idx="1"/>
          </p:nvPr>
        </p:nvSpPr>
        <p:spPr>
          <a:xfrm>
            <a:off x="6096000" y="2286000"/>
            <a:ext cx="5334000" cy="3810001"/>
          </a:xfrm>
        </p:spPr>
        <p:txBody>
          <a:bodyPr>
            <a:normAutofit/>
          </a:bodyPr>
          <a:lstStyle/>
          <a:p>
            <a:pPr marL="0" indent="0">
              <a:lnSpc>
                <a:spcPct val="115000"/>
              </a:lnSpc>
              <a:buNone/>
            </a:pPr>
            <a:r>
              <a:rPr lang="pl-PL" sz="2000"/>
              <a:t>Przez wiele lat organizacje były projektowane jak maszyny. Każdy dział miał określoną funkcję, każdy pracownik jasno wyznaczoną rolę, a menedżer pełnił funkcję centralnego mechanizmu sterującego. Taki model dobrze sprawdzał się w stabilnym otoczeniu, ale coraz częściej okazuje się niewystarczający w środowisku technologicznej zmienności.</a:t>
            </a:r>
            <a:endParaRPr lang="en-US" sz="2000"/>
          </a:p>
          <a:p>
            <a:pPr marL="0" indent="0">
              <a:lnSpc>
                <a:spcPct val="115000"/>
              </a:lnSpc>
              <a:buNone/>
            </a:pPr>
            <a:endParaRPr lang="pl-PL" sz="2000"/>
          </a:p>
        </p:txBody>
      </p:sp>
      <p:sp>
        <p:nvSpPr>
          <p:cNvPr id="2" name="Tytuł 1">
            <a:extLst>
              <a:ext uri="{FF2B5EF4-FFF2-40B4-BE49-F238E27FC236}">
                <a16:creationId xmlns:a16="http://schemas.microsoft.com/office/drawing/2014/main" id="{C98B5682-0EA1-247C-9277-6F606EBCB1A7}"/>
              </a:ext>
            </a:extLst>
          </p:cNvPr>
          <p:cNvSpPr>
            <a:spLocks noGrp="1"/>
          </p:cNvSpPr>
          <p:nvPr>
            <p:ph type="title"/>
          </p:nvPr>
        </p:nvSpPr>
        <p:spPr>
          <a:xfrm>
            <a:off x="6096000" y="762000"/>
            <a:ext cx="5334000" cy="1524000"/>
          </a:xfrm>
        </p:spPr>
        <p:txBody>
          <a:bodyPr>
            <a:normAutofit/>
          </a:bodyPr>
          <a:lstStyle/>
          <a:p>
            <a:r>
              <a:rPr lang="pl-PL" sz="3200" dirty="0"/>
              <a:t>Organizacja jako maszyna </a:t>
            </a:r>
            <a:r>
              <a:rPr lang="en-US" sz="3200" dirty="0" err="1"/>
              <a:t>i</a:t>
            </a:r>
            <a:r>
              <a:rPr lang="pl-PL" sz="3200" dirty="0"/>
              <a:t> żywy organizm</a:t>
            </a:r>
          </a:p>
        </p:txBody>
      </p:sp>
    </p:spTree>
    <p:extLst>
      <p:ext uri="{BB962C8B-B14F-4D97-AF65-F5344CB8AC3E}">
        <p14:creationId xmlns:p14="http://schemas.microsoft.com/office/powerpoint/2010/main" val="4115909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2EF0F55-332F-CA64-4588-4E10A6559E4F}"/>
              </a:ext>
            </a:extLst>
          </p:cNvPr>
          <p:cNvSpPr>
            <a:spLocks noGrp="1"/>
          </p:cNvSpPr>
          <p:nvPr>
            <p:ph type="title"/>
          </p:nvPr>
        </p:nvSpPr>
        <p:spPr/>
        <p:txBody>
          <a:bodyPr/>
          <a:lstStyle/>
          <a:p>
            <a:r>
              <a:rPr lang="pl-PL" dirty="0"/>
              <a:t>Organizacja jako maszyna </a:t>
            </a:r>
            <a:r>
              <a:rPr lang="en-US" dirty="0" err="1"/>
              <a:t>i</a:t>
            </a:r>
            <a:r>
              <a:rPr lang="pl-PL" dirty="0"/>
              <a:t> żywy organizm</a:t>
            </a:r>
          </a:p>
        </p:txBody>
      </p:sp>
      <p:graphicFrame>
        <p:nvGraphicFramePr>
          <p:cNvPr id="5" name="Symbol zastępczy zawartości 2">
            <a:extLst>
              <a:ext uri="{FF2B5EF4-FFF2-40B4-BE49-F238E27FC236}">
                <a16:creationId xmlns:a16="http://schemas.microsoft.com/office/drawing/2014/main" id="{EEFDE695-E97D-B5F5-5FF0-E99DE1942599}"/>
              </a:ext>
            </a:extLst>
          </p:cNvPr>
          <p:cNvGraphicFramePr>
            <a:graphicFrameLocks noGrp="1"/>
          </p:cNvGraphicFramePr>
          <p:nvPr>
            <p:ph idx="1"/>
          </p:nvPr>
        </p:nvGraphicFramePr>
        <p:xfrm>
          <a:off x="762000" y="2286000"/>
          <a:ext cx="10668000" cy="38180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21015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3B415D11-6899-4C75-BEAD-79C4656DC0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 y="762007"/>
            <a:ext cx="5948806" cy="6095979"/>
          </a:xfrm>
          <a:custGeom>
            <a:avLst/>
            <a:gdLst>
              <a:gd name="connsiteX0" fmla="*/ 1573832 w 5948806"/>
              <a:gd name="connsiteY0" fmla="*/ 765 h 6095979"/>
              <a:gd name="connsiteX1" fmla="*/ 2734663 w 5948806"/>
              <a:gd name="connsiteY1" fmla="*/ 238687 h 6095979"/>
              <a:gd name="connsiteX2" fmla="*/ 5668316 w 5948806"/>
              <a:gd name="connsiteY2" fmla="*/ 3639516 h 6095979"/>
              <a:gd name="connsiteX3" fmla="*/ 5937022 w 5948806"/>
              <a:gd name="connsiteY3" fmla="*/ 5865869 h 6095979"/>
              <a:gd name="connsiteX4" fmla="*/ 5948806 w 5948806"/>
              <a:gd name="connsiteY4" fmla="*/ 6095979 h 6095979"/>
              <a:gd name="connsiteX5" fmla="*/ 0 w 5948806"/>
              <a:gd name="connsiteY5" fmla="*/ 6095979 h 6095979"/>
              <a:gd name="connsiteX6" fmla="*/ 0 w 5948806"/>
              <a:gd name="connsiteY6" fmla="*/ 1621672 h 6095979"/>
              <a:gd name="connsiteX7" fmla="*/ 36310 w 5948806"/>
              <a:gd name="connsiteY7" fmla="*/ 1518814 h 6095979"/>
              <a:gd name="connsiteX8" fmla="*/ 287891 w 5948806"/>
              <a:gd name="connsiteY8" fmla="*/ 956872 h 6095979"/>
              <a:gd name="connsiteX9" fmla="*/ 1573832 w 5948806"/>
              <a:gd name="connsiteY9" fmla="*/ 765 h 609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48806" h="6095979">
                <a:moveTo>
                  <a:pt x="1573832" y="765"/>
                </a:moveTo>
                <a:cubicBezTo>
                  <a:pt x="1940190" y="-10734"/>
                  <a:pt x="2329345" y="109280"/>
                  <a:pt x="2734663" y="238687"/>
                </a:cubicBezTo>
                <a:cubicBezTo>
                  <a:pt x="4118244" y="680647"/>
                  <a:pt x="5296697" y="1302752"/>
                  <a:pt x="5668316" y="3639516"/>
                </a:cubicBezTo>
                <a:cubicBezTo>
                  <a:pt x="5788299" y="4393559"/>
                  <a:pt x="5890546" y="5142244"/>
                  <a:pt x="5937022" y="5865869"/>
                </a:cubicBezTo>
                <a:lnTo>
                  <a:pt x="5948806" y="6095979"/>
                </a:lnTo>
                <a:lnTo>
                  <a:pt x="0" y="6095979"/>
                </a:lnTo>
                <a:lnTo>
                  <a:pt x="0" y="1621672"/>
                </a:lnTo>
                <a:lnTo>
                  <a:pt x="36310" y="1518814"/>
                </a:lnTo>
                <a:cubicBezTo>
                  <a:pt x="109805" y="1321982"/>
                  <a:pt x="192755" y="1133640"/>
                  <a:pt x="287891" y="956872"/>
                </a:cubicBezTo>
                <a:cubicBezTo>
                  <a:pt x="669453" y="247734"/>
                  <a:pt x="1102800" y="15549"/>
                  <a:pt x="1573832" y="765"/>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A3BFB3E6-2D9E-4A5C-826F-44A91F5977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23838" y="538152"/>
            <a:ext cx="6095989" cy="6543686"/>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Avenir Next LT Pro Light"/>
            </a:endParaRPr>
          </a:p>
        </p:txBody>
      </p:sp>
      <p:pic>
        <p:nvPicPr>
          <p:cNvPr id="5" name="Obraz 4">
            <a:extLst>
              <a:ext uri="{FF2B5EF4-FFF2-40B4-BE49-F238E27FC236}">
                <a16:creationId xmlns:a16="http://schemas.microsoft.com/office/drawing/2014/main" id="{3BBC974E-D27B-96FA-820A-D25F774A3B29}"/>
              </a:ext>
            </a:extLst>
          </p:cNvPr>
          <p:cNvPicPr>
            <a:picLocks noChangeAspect="1"/>
          </p:cNvPicPr>
          <p:nvPr/>
        </p:nvPicPr>
        <p:blipFill>
          <a:blip r:embed="rId3"/>
          <a:stretch>
            <a:fillRect/>
          </a:stretch>
        </p:blipFill>
        <p:spPr>
          <a:xfrm>
            <a:off x="761999" y="3200394"/>
            <a:ext cx="3810001" cy="1981200"/>
          </a:xfrm>
          <a:prstGeom prst="rect">
            <a:avLst/>
          </a:prstGeom>
        </p:spPr>
      </p:pic>
      <p:sp>
        <p:nvSpPr>
          <p:cNvPr id="3" name="Symbol zastępczy zawartości 2">
            <a:extLst>
              <a:ext uri="{FF2B5EF4-FFF2-40B4-BE49-F238E27FC236}">
                <a16:creationId xmlns:a16="http://schemas.microsoft.com/office/drawing/2014/main" id="{CB9A60C6-95C3-C185-C6B4-897C2BB70033}"/>
              </a:ext>
            </a:extLst>
          </p:cNvPr>
          <p:cNvSpPr>
            <a:spLocks noGrp="1"/>
          </p:cNvSpPr>
          <p:nvPr>
            <p:ph idx="1"/>
          </p:nvPr>
        </p:nvSpPr>
        <p:spPr>
          <a:xfrm>
            <a:off x="6858001" y="3048000"/>
            <a:ext cx="4572000" cy="3048001"/>
          </a:xfrm>
        </p:spPr>
        <p:txBody>
          <a:bodyPr>
            <a:normAutofit/>
          </a:bodyPr>
          <a:lstStyle/>
          <a:p>
            <a:pPr marL="0" indent="0">
              <a:lnSpc>
                <a:spcPct val="115000"/>
              </a:lnSpc>
              <a:buNone/>
            </a:pPr>
            <a:r>
              <a:rPr lang="pl-PL" sz="1700"/>
              <a:t>Automatyzacja procesów Continuous Integration i Continuous Delivery zmienia sposób działania zespołów deweloperskich poprzez skracanie czasu między napisaniem kodu a dostarczeniem wartości użytkownikowi. W tradycyjnym modelu wdrożenia były rzadkie, kosztowne i ryzykowne. W nowoczesnych organizacjach stają się codziennym elementem pracy.</a:t>
            </a:r>
          </a:p>
        </p:txBody>
      </p:sp>
      <p:sp>
        <p:nvSpPr>
          <p:cNvPr id="2" name="Tytuł 1">
            <a:extLst>
              <a:ext uri="{FF2B5EF4-FFF2-40B4-BE49-F238E27FC236}">
                <a16:creationId xmlns:a16="http://schemas.microsoft.com/office/drawing/2014/main" id="{2D2CE7A7-9BD8-C324-C96C-C218B6E99918}"/>
              </a:ext>
            </a:extLst>
          </p:cNvPr>
          <p:cNvSpPr>
            <a:spLocks noGrp="1"/>
          </p:cNvSpPr>
          <p:nvPr>
            <p:ph type="title"/>
          </p:nvPr>
        </p:nvSpPr>
        <p:spPr>
          <a:xfrm>
            <a:off x="6858000" y="1523990"/>
            <a:ext cx="4572000" cy="1524010"/>
          </a:xfrm>
        </p:spPr>
        <p:txBody>
          <a:bodyPr anchor="t">
            <a:normAutofit/>
          </a:bodyPr>
          <a:lstStyle/>
          <a:p>
            <a:r>
              <a:rPr lang="pl-PL" sz="3200" dirty="0"/>
              <a:t>Jak CI/CD wpływa na wydajność zespołów</a:t>
            </a:r>
          </a:p>
        </p:txBody>
      </p:sp>
    </p:spTree>
    <p:extLst>
      <p:ext uri="{BB962C8B-B14F-4D97-AF65-F5344CB8AC3E}">
        <p14:creationId xmlns:p14="http://schemas.microsoft.com/office/powerpoint/2010/main" val="608028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223E6FE-B36A-EC95-1587-A040CDD3FFAE}"/>
              </a:ext>
            </a:extLst>
          </p:cNvPr>
          <p:cNvSpPr>
            <a:spLocks noGrp="1"/>
          </p:cNvSpPr>
          <p:nvPr>
            <p:ph type="title"/>
          </p:nvPr>
        </p:nvSpPr>
        <p:spPr/>
        <p:txBody>
          <a:bodyPr/>
          <a:lstStyle/>
          <a:p>
            <a:r>
              <a:rPr lang="pl-PL" dirty="0"/>
              <a:t>Jak CI/CD wpływa na wydajność zespołów</a:t>
            </a:r>
          </a:p>
        </p:txBody>
      </p:sp>
      <p:graphicFrame>
        <p:nvGraphicFramePr>
          <p:cNvPr id="5" name="Symbol zastępczy zawartości 2">
            <a:extLst>
              <a:ext uri="{FF2B5EF4-FFF2-40B4-BE49-F238E27FC236}">
                <a16:creationId xmlns:a16="http://schemas.microsoft.com/office/drawing/2014/main" id="{B6682E63-061B-B5A8-4F63-227CE5E70C49}"/>
              </a:ext>
            </a:extLst>
          </p:cNvPr>
          <p:cNvGraphicFramePr>
            <a:graphicFrameLocks noGrp="1"/>
          </p:cNvGraphicFramePr>
          <p:nvPr>
            <p:ph idx="1"/>
          </p:nvPr>
        </p:nvGraphicFramePr>
        <p:xfrm>
          <a:off x="762000" y="2286000"/>
          <a:ext cx="10668000" cy="38180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317439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Urządzenie przenośne z aplikacjami">
            <a:extLst>
              <a:ext uri="{FF2B5EF4-FFF2-40B4-BE49-F238E27FC236}">
                <a16:creationId xmlns:a16="http://schemas.microsoft.com/office/drawing/2014/main" id="{5EC3EABB-50A8-7060-EF6A-919A69465F10}"/>
              </a:ext>
            </a:extLst>
          </p:cNvPr>
          <p:cNvPicPr>
            <a:picLocks noChangeAspect="1"/>
          </p:cNvPicPr>
          <p:nvPr/>
        </p:nvPicPr>
        <p:blipFill>
          <a:blip r:embed="rId3"/>
          <a:srcRect l="43758" r="4186" b="-1"/>
          <a:stretch>
            <a:fillRect/>
          </a:stretch>
        </p:blipFill>
        <p:spPr>
          <a:xfrm>
            <a:off x="2" y="10"/>
            <a:ext cx="5578823" cy="6028246"/>
          </a:xfrm>
          <a:custGeom>
            <a:avLst/>
            <a:gdLst/>
            <a:ahLst/>
            <a:cxnLst/>
            <a:rect l="l" t="t" r="r" b="b"/>
            <a:pathLst>
              <a:path w="5578823" h="6028256">
                <a:moveTo>
                  <a:pt x="0" y="0"/>
                </a:moveTo>
                <a:lnTo>
                  <a:pt x="3897606" y="0"/>
                </a:lnTo>
                <a:lnTo>
                  <a:pt x="4274232" y="360545"/>
                </a:lnTo>
                <a:cubicBezTo>
                  <a:pt x="4408856" y="488910"/>
                  <a:pt x="4542134" y="615181"/>
                  <a:pt x="4673934" y="738354"/>
                </a:cubicBezTo>
                <a:cubicBezTo>
                  <a:pt x="5042663" y="1082881"/>
                  <a:pt x="5282330" y="1428108"/>
                  <a:pt x="5421862" y="1773839"/>
                </a:cubicBezTo>
                <a:cubicBezTo>
                  <a:pt x="5631101" y="2292214"/>
                  <a:pt x="5614731" y="2811325"/>
                  <a:pt x="5469198" y="3329255"/>
                </a:cubicBezTo>
                <a:cubicBezTo>
                  <a:pt x="5323662" y="3847185"/>
                  <a:pt x="5048962" y="4363935"/>
                  <a:pt x="4741546" y="4877588"/>
                </a:cubicBezTo>
                <a:cubicBezTo>
                  <a:pt x="4027238" y="6071494"/>
                  <a:pt x="2764972" y="6102970"/>
                  <a:pt x="1325600" y="5980388"/>
                </a:cubicBezTo>
                <a:cubicBezTo>
                  <a:pt x="903947" y="5944442"/>
                  <a:pt x="499735" y="5907589"/>
                  <a:pt x="137593" y="5804042"/>
                </a:cubicBezTo>
                <a:lnTo>
                  <a:pt x="0" y="5760161"/>
                </a:lnTo>
                <a:close/>
              </a:path>
            </a:pathLst>
          </a:custGeom>
        </p:spPr>
      </p:pic>
      <p:sp>
        <p:nvSpPr>
          <p:cNvPr id="11" name="Freeform: Shape 10">
            <a:extLst>
              <a:ext uri="{FF2B5EF4-FFF2-40B4-BE49-F238E27FC236}">
                <a16:creationId xmlns:a16="http://schemas.microsoft.com/office/drawing/2014/main" id="{E633B38B-B87A-4288-A20F-0223A6C27A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3" name="Symbol zastępczy zawartości 2">
            <a:extLst>
              <a:ext uri="{FF2B5EF4-FFF2-40B4-BE49-F238E27FC236}">
                <a16:creationId xmlns:a16="http://schemas.microsoft.com/office/drawing/2014/main" id="{5248E0E1-C798-5E72-455E-E339766AFE6C}"/>
              </a:ext>
            </a:extLst>
          </p:cNvPr>
          <p:cNvSpPr>
            <a:spLocks noGrp="1"/>
          </p:cNvSpPr>
          <p:nvPr>
            <p:ph idx="1"/>
          </p:nvPr>
        </p:nvSpPr>
        <p:spPr>
          <a:xfrm>
            <a:off x="6096000" y="2286000"/>
            <a:ext cx="5334000" cy="3810001"/>
          </a:xfrm>
        </p:spPr>
        <p:txBody>
          <a:bodyPr>
            <a:normAutofit/>
          </a:bodyPr>
          <a:lstStyle/>
          <a:p>
            <a:pPr marL="0" indent="0">
              <a:lnSpc>
                <a:spcPct val="115000"/>
              </a:lnSpc>
              <a:buNone/>
            </a:pPr>
            <a:r>
              <a:rPr lang="pl-PL" sz="1700" dirty="0"/>
              <a:t>W środowisku, w którym technologia staje się coraz bardziej zautomatyzowana, rośnie znaczenie kompetencji, których nie można łatwo zastąpić algorytmem. Jedną z najważniejszych z nich jest inteligencja emocjonalna</a:t>
            </a:r>
            <a:r>
              <a:rPr lang="en-US" sz="1700" dirty="0"/>
              <a:t>, </a:t>
            </a:r>
            <a:r>
              <a:rPr lang="pl-PL" sz="1700" dirty="0"/>
              <a:t>obejmuje</a:t>
            </a:r>
            <a:r>
              <a:rPr lang="en-US" sz="1700" dirty="0"/>
              <a:t> </a:t>
            </a:r>
            <a:r>
              <a:rPr lang="en-US" sz="1700" dirty="0" err="1"/>
              <a:t>ona</a:t>
            </a:r>
            <a:r>
              <a:rPr lang="pl-PL" sz="1700" dirty="0"/>
              <a:t>:</a:t>
            </a:r>
          </a:p>
          <a:p>
            <a:pPr>
              <a:lnSpc>
                <a:spcPct val="115000"/>
              </a:lnSpc>
            </a:pPr>
            <a:r>
              <a:rPr lang="pl-PL" sz="1700" dirty="0"/>
              <a:t>samoświadomość, </a:t>
            </a:r>
          </a:p>
          <a:p>
            <a:pPr>
              <a:lnSpc>
                <a:spcPct val="115000"/>
              </a:lnSpc>
            </a:pPr>
            <a:r>
              <a:rPr lang="pl-PL" sz="1700" dirty="0"/>
              <a:t>samoregulację, </a:t>
            </a:r>
          </a:p>
          <a:p>
            <a:pPr>
              <a:lnSpc>
                <a:spcPct val="115000"/>
              </a:lnSpc>
            </a:pPr>
            <a:r>
              <a:rPr lang="pl-PL" sz="1700" dirty="0"/>
              <a:t>empatię, </a:t>
            </a:r>
          </a:p>
          <a:p>
            <a:pPr>
              <a:lnSpc>
                <a:spcPct val="115000"/>
              </a:lnSpc>
            </a:pPr>
            <a:r>
              <a:rPr lang="pl-PL" sz="1700" dirty="0"/>
              <a:t>umiejętność budowania relacji, </a:t>
            </a:r>
          </a:p>
          <a:p>
            <a:pPr>
              <a:lnSpc>
                <a:spcPct val="115000"/>
              </a:lnSpc>
            </a:pPr>
            <a:r>
              <a:rPr lang="pl-PL" sz="1700" dirty="0"/>
              <a:t>zarządzanie napięciem.</a:t>
            </a:r>
          </a:p>
          <a:p>
            <a:pPr marL="0" indent="0">
              <a:lnSpc>
                <a:spcPct val="115000"/>
              </a:lnSpc>
              <a:buNone/>
            </a:pPr>
            <a:endParaRPr lang="pl-PL" sz="1700" dirty="0"/>
          </a:p>
        </p:txBody>
      </p:sp>
      <p:sp>
        <p:nvSpPr>
          <p:cNvPr id="2" name="Tytuł 1">
            <a:extLst>
              <a:ext uri="{FF2B5EF4-FFF2-40B4-BE49-F238E27FC236}">
                <a16:creationId xmlns:a16="http://schemas.microsoft.com/office/drawing/2014/main" id="{9FE46FEC-DB6E-23F5-F80F-D7D7BF8CFEEC}"/>
              </a:ext>
            </a:extLst>
          </p:cNvPr>
          <p:cNvSpPr>
            <a:spLocks noGrp="1"/>
          </p:cNvSpPr>
          <p:nvPr>
            <p:ph type="title"/>
          </p:nvPr>
        </p:nvSpPr>
        <p:spPr>
          <a:xfrm>
            <a:off x="6096000" y="762000"/>
            <a:ext cx="5334000" cy="1524000"/>
          </a:xfrm>
        </p:spPr>
        <p:txBody>
          <a:bodyPr>
            <a:normAutofit/>
          </a:bodyPr>
          <a:lstStyle/>
          <a:p>
            <a:r>
              <a:rPr lang="pl-PL" sz="3200"/>
              <a:t>Dlaczego inteligencja emocjonalna staje się kluczowa</a:t>
            </a:r>
          </a:p>
        </p:txBody>
      </p:sp>
    </p:spTree>
    <p:extLst>
      <p:ext uri="{BB962C8B-B14F-4D97-AF65-F5344CB8AC3E}">
        <p14:creationId xmlns:p14="http://schemas.microsoft.com/office/powerpoint/2010/main" val="36158640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3D065C6D-EB42-400B-99C4-D0ACE936F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13174" y="0"/>
            <a:ext cx="5578824" cy="6028256"/>
          </a:xfrm>
          <a:custGeom>
            <a:avLst/>
            <a:gdLst>
              <a:gd name="connsiteX0" fmla="*/ 1681218 w 5578824"/>
              <a:gd name="connsiteY0" fmla="*/ 0 h 6028256"/>
              <a:gd name="connsiteX1" fmla="*/ 5578824 w 5578824"/>
              <a:gd name="connsiteY1" fmla="*/ 0 h 6028256"/>
              <a:gd name="connsiteX2" fmla="*/ 5578824 w 5578824"/>
              <a:gd name="connsiteY2" fmla="*/ 5760161 h 6028256"/>
              <a:gd name="connsiteX3" fmla="*/ 5441231 w 5578824"/>
              <a:gd name="connsiteY3" fmla="*/ 5804042 h 6028256"/>
              <a:gd name="connsiteX4" fmla="*/ 4253224 w 5578824"/>
              <a:gd name="connsiteY4" fmla="*/ 5980388 h 6028256"/>
              <a:gd name="connsiteX5" fmla="*/ 837278 w 5578824"/>
              <a:gd name="connsiteY5" fmla="*/ 4877588 h 6028256"/>
              <a:gd name="connsiteX6" fmla="*/ 109626 w 5578824"/>
              <a:gd name="connsiteY6" fmla="*/ 3329255 h 6028256"/>
              <a:gd name="connsiteX7" fmla="*/ 156962 w 5578824"/>
              <a:gd name="connsiteY7" fmla="*/ 1773839 h 6028256"/>
              <a:gd name="connsiteX8" fmla="*/ 904890 w 5578824"/>
              <a:gd name="connsiteY8" fmla="*/ 738354 h 6028256"/>
              <a:gd name="connsiteX9" fmla="*/ 1304592 w 5578824"/>
              <a:gd name="connsiteY9" fmla="*/ 360545 h 602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78824" h="6028256">
                <a:moveTo>
                  <a:pt x="1681218" y="0"/>
                </a:moveTo>
                <a:lnTo>
                  <a:pt x="5578824" y="0"/>
                </a:lnTo>
                <a:lnTo>
                  <a:pt x="5578824" y="5760161"/>
                </a:lnTo>
                <a:lnTo>
                  <a:pt x="5441231" y="5804042"/>
                </a:lnTo>
                <a:cubicBezTo>
                  <a:pt x="5079089" y="5907589"/>
                  <a:pt x="4674877" y="5944442"/>
                  <a:pt x="4253224" y="5980388"/>
                </a:cubicBezTo>
                <a:cubicBezTo>
                  <a:pt x="2813852" y="6102970"/>
                  <a:pt x="1551586" y="6071494"/>
                  <a:pt x="837278" y="4877588"/>
                </a:cubicBezTo>
                <a:cubicBezTo>
                  <a:pt x="529862" y="4363935"/>
                  <a:pt x="255162" y="3847185"/>
                  <a:pt x="109626" y="3329255"/>
                </a:cubicBezTo>
                <a:cubicBezTo>
                  <a:pt x="-35907" y="2811325"/>
                  <a:pt x="-52277" y="2292214"/>
                  <a:pt x="156962" y="1773839"/>
                </a:cubicBezTo>
                <a:cubicBezTo>
                  <a:pt x="296494" y="1428108"/>
                  <a:pt x="536161" y="1082881"/>
                  <a:pt x="904890" y="738354"/>
                </a:cubicBezTo>
                <a:cubicBezTo>
                  <a:pt x="1036690" y="615181"/>
                  <a:pt x="1169968" y="488910"/>
                  <a:pt x="1304592" y="360545"/>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3362A0EA-3E81-4464-94B8-70BE5870E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87883"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3" name="Symbol zastępczy zawartości 2">
            <a:extLst>
              <a:ext uri="{FF2B5EF4-FFF2-40B4-BE49-F238E27FC236}">
                <a16:creationId xmlns:a16="http://schemas.microsoft.com/office/drawing/2014/main" id="{372D531E-219D-4017-63C6-97229D8F68DA}"/>
              </a:ext>
            </a:extLst>
          </p:cNvPr>
          <p:cNvSpPr>
            <a:spLocks noGrp="1"/>
          </p:cNvSpPr>
          <p:nvPr>
            <p:ph idx="1"/>
          </p:nvPr>
        </p:nvSpPr>
        <p:spPr>
          <a:xfrm>
            <a:off x="762000" y="2286000"/>
            <a:ext cx="5334000" cy="3810001"/>
          </a:xfrm>
        </p:spPr>
        <p:txBody>
          <a:bodyPr>
            <a:normAutofit/>
          </a:bodyPr>
          <a:lstStyle/>
          <a:p>
            <a:pPr marL="0" indent="0">
              <a:buNone/>
            </a:pPr>
            <a:r>
              <a:rPr lang="pl-PL" sz="2400"/>
              <a:t>Value Stream Management to podejście polegające na mierzeniu całego przepływu wartości od pomysłu do dostarczenia produktu klientowi. Zamiast analizować pojedyncze zadania, organizacja obserwuje cały proces tworzenia wartości.</a:t>
            </a:r>
          </a:p>
        </p:txBody>
      </p:sp>
      <p:sp>
        <p:nvSpPr>
          <p:cNvPr id="2" name="Tytuł 1">
            <a:extLst>
              <a:ext uri="{FF2B5EF4-FFF2-40B4-BE49-F238E27FC236}">
                <a16:creationId xmlns:a16="http://schemas.microsoft.com/office/drawing/2014/main" id="{5B0D686D-BD0D-8E6C-3ED9-B6BD2F0BF117}"/>
              </a:ext>
            </a:extLst>
          </p:cNvPr>
          <p:cNvSpPr>
            <a:spLocks noGrp="1"/>
          </p:cNvSpPr>
          <p:nvPr>
            <p:ph type="title"/>
          </p:nvPr>
        </p:nvSpPr>
        <p:spPr>
          <a:xfrm>
            <a:off x="762000" y="762000"/>
            <a:ext cx="5334000" cy="1524000"/>
          </a:xfrm>
        </p:spPr>
        <p:txBody>
          <a:bodyPr>
            <a:normAutofit/>
          </a:bodyPr>
          <a:lstStyle/>
          <a:p>
            <a:r>
              <a:rPr lang="pl-PL" sz="3200" dirty="0"/>
              <a:t>Przyszłość Value </a:t>
            </a:r>
            <a:r>
              <a:rPr lang="pl-PL" sz="3200" dirty="0" err="1"/>
              <a:t>Stream</a:t>
            </a:r>
            <a:r>
              <a:rPr lang="pl-PL" sz="3200" dirty="0"/>
              <a:t> Management</a:t>
            </a:r>
          </a:p>
        </p:txBody>
      </p:sp>
      <p:pic>
        <p:nvPicPr>
          <p:cNvPr id="5" name="Obraz 4">
            <a:extLst>
              <a:ext uri="{FF2B5EF4-FFF2-40B4-BE49-F238E27FC236}">
                <a16:creationId xmlns:a16="http://schemas.microsoft.com/office/drawing/2014/main" id="{9F3F4DDA-FDAC-4D86-A752-E837C129A3F8}"/>
              </a:ext>
            </a:extLst>
          </p:cNvPr>
          <p:cNvPicPr>
            <a:picLocks noChangeAspect="1"/>
          </p:cNvPicPr>
          <p:nvPr/>
        </p:nvPicPr>
        <p:blipFill>
          <a:blip r:embed="rId3"/>
          <a:stretch>
            <a:fillRect/>
          </a:stretch>
        </p:blipFill>
        <p:spPr>
          <a:xfrm>
            <a:off x="6858000" y="2065020"/>
            <a:ext cx="5334000" cy="2747010"/>
          </a:xfrm>
          <a:prstGeom prst="rect">
            <a:avLst/>
          </a:prstGeom>
        </p:spPr>
      </p:pic>
    </p:spTree>
    <p:extLst>
      <p:ext uri="{BB962C8B-B14F-4D97-AF65-F5344CB8AC3E}">
        <p14:creationId xmlns:p14="http://schemas.microsoft.com/office/powerpoint/2010/main" val="42156894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6" name="Rectangle 9">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1">
            <a:extLst>
              <a:ext uri="{FF2B5EF4-FFF2-40B4-BE49-F238E27FC236}">
                <a16:creationId xmlns:a16="http://schemas.microsoft.com/office/drawing/2014/main" id="{3D065C6D-EB42-400B-99C4-D0ACE936F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13174" y="0"/>
            <a:ext cx="5578824" cy="6028256"/>
          </a:xfrm>
          <a:custGeom>
            <a:avLst/>
            <a:gdLst>
              <a:gd name="connsiteX0" fmla="*/ 1681218 w 5578824"/>
              <a:gd name="connsiteY0" fmla="*/ 0 h 6028256"/>
              <a:gd name="connsiteX1" fmla="*/ 5578824 w 5578824"/>
              <a:gd name="connsiteY1" fmla="*/ 0 h 6028256"/>
              <a:gd name="connsiteX2" fmla="*/ 5578824 w 5578824"/>
              <a:gd name="connsiteY2" fmla="*/ 5760161 h 6028256"/>
              <a:gd name="connsiteX3" fmla="*/ 5441231 w 5578824"/>
              <a:gd name="connsiteY3" fmla="*/ 5804042 h 6028256"/>
              <a:gd name="connsiteX4" fmla="*/ 4253224 w 5578824"/>
              <a:gd name="connsiteY4" fmla="*/ 5980388 h 6028256"/>
              <a:gd name="connsiteX5" fmla="*/ 837278 w 5578824"/>
              <a:gd name="connsiteY5" fmla="*/ 4877588 h 6028256"/>
              <a:gd name="connsiteX6" fmla="*/ 109626 w 5578824"/>
              <a:gd name="connsiteY6" fmla="*/ 3329255 h 6028256"/>
              <a:gd name="connsiteX7" fmla="*/ 156962 w 5578824"/>
              <a:gd name="connsiteY7" fmla="*/ 1773839 h 6028256"/>
              <a:gd name="connsiteX8" fmla="*/ 904890 w 5578824"/>
              <a:gd name="connsiteY8" fmla="*/ 738354 h 6028256"/>
              <a:gd name="connsiteX9" fmla="*/ 1304592 w 5578824"/>
              <a:gd name="connsiteY9" fmla="*/ 360545 h 602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78824" h="6028256">
                <a:moveTo>
                  <a:pt x="1681218" y="0"/>
                </a:moveTo>
                <a:lnTo>
                  <a:pt x="5578824" y="0"/>
                </a:lnTo>
                <a:lnTo>
                  <a:pt x="5578824" y="5760161"/>
                </a:lnTo>
                <a:lnTo>
                  <a:pt x="5441231" y="5804042"/>
                </a:lnTo>
                <a:cubicBezTo>
                  <a:pt x="5079089" y="5907589"/>
                  <a:pt x="4674877" y="5944442"/>
                  <a:pt x="4253224" y="5980388"/>
                </a:cubicBezTo>
                <a:cubicBezTo>
                  <a:pt x="2813852" y="6102970"/>
                  <a:pt x="1551586" y="6071494"/>
                  <a:pt x="837278" y="4877588"/>
                </a:cubicBezTo>
                <a:cubicBezTo>
                  <a:pt x="529862" y="4363935"/>
                  <a:pt x="255162" y="3847185"/>
                  <a:pt x="109626" y="3329255"/>
                </a:cubicBezTo>
                <a:cubicBezTo>
                  <a:pt x="-35907" y="2811325"/>
                  <a:pt x="-52277" y="2292214"/>
                  <a:pt x="156962" y="1773839"/>
                </a:cubicBezTo>
                <a:cubicBezTo>
                  <a:pt x="296494" y="1428108"/>
                  <a:pt x="536161" y="1082881"/>
                  <a:pt x="904890" y="738354"/>
                </a:cubicBezTo>
                <a:cubicBezTo>
                  <a:pt x="1036690" y="615181"/>
                  <a:pt x="1169968" y="488910"/>
                  <a:pt x="1304592" y="360545"/>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3">
            <a:extLst>
              <a:ext uri="{FF2B5EF4-FFF2-40B4-BE49-F238E27FC236}">
                <a16:creationId xmlns:a16="http://schemas.microsoft.com/office/drawing/2014/main" id="{3362A0EA-3E81-4464-94B8-70BE5870E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87883"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3" name="Symbol zastępczy zawartości 2">
            <a:extLst>
              <a:ext uri="{FF2B5EF4-FFF2-40B4-BE49-F238E27FC236}">
                <a16:creationId xmlns:a16="http://schemas.microsoft.com/office/drawing/2014/main" id="{5043008A-397E-D181-FEBE-97AF16AA0B79}"/>
              </a:ext>
            </a:extLst>
          </p:cNvPr>
          <p:cNvSpPr>
            <a:spLocks noGrp="1"/>
          </p:cNvSpPr>
          <p:nvPr>
            <p:ph idx="1"/>
          </p:nvPr>
        </p:nvSpPr>
        <p:spPr>
          <a:xfrm>
            <a:off x="762000" y="2286000"/>
            <a:ext cx="5334000" cy="3810001"/>
          </a:xfrm>
        </p:spPr>
        <p:txBody>
          <a:bodyPr>
            <a:normAutofit/>
          </a:bodyPr>
          <a:lstStyle/>
          <a:p>
            <a:pPr marL="0" indent="0">
              <a:buNone/>
            </a:pPr>
            <a:r>
              <a:rPr lang="pl-PL" sz="2400" dirty="0"/>
              <a:t>Predykcje wskazują, że w kolejnych latach organizacje IT będą coraz częściej wykorzystywać VSM jako narzędzie strategiczne. Zamiast pytać </a:t>
            </a:r>
            <a:r>
              <a:rPr lang="en-US" sz="2400" dirty="0"/>
              <a:t>“</a:t>
            </a:r>
            <a:r>
              <a:rPr lang="pl-PL" sz="2400" dirty="0"/>
              <a:t>czy zespół pracuje szybko</a:t>
            </a:r>
            <a:r>
              <a:rPr lang="en-US" sz="2400" dirty="0"/>
              <a:t>”</a:t>
            </a:r>
            <a:r>
              <a:rPr lang="pl-PL" sz="2400" dirty="0"/>
              <a:t>, firmy będą pytały </a:t>
            </a:r>
            <a:r>
              <a:rPr lang="en-US" sz="2400" dirty="0"/>
              <a:t>“</a:t>
            </a:r>
            <a:r>
              <a:rPr lang="pl-PL" sz="2400" dirty="0"/>
              <a:t>czy wartość dociera szybko do klienta</a:t>
            </a:r>
            <a:r>
              <a:rPr lang="en-US" sz="2400" dirty="0"/>
              <a:t>”</a:t>
            </a:r>
            <a:endParaRPr lang="pl-PL" sz="2400" dirty="0"/>
          </a:p>
        </p:txBody>
      </p:sp>
      <p:sp>
        <p:nvSpPr>
          <p:cNvPr id="2" name="Tytuł 1">
            <a:extLst>
              <a:ext uri="{FF2B5EF4-FFF2-40B4-BE49-F238E27FC236}">
                <a16:creationId xmlns:a16="http://schemas.microsoft.com/office/drawing/2014/main" id="{98DF0842-8E4B-8A7F-2A1A-69B9D72FAA7F}"/>
              </a:ext>
            </a:extLst>
          </p:cNvPr>
          <p:cNvSpPr>
            <a:spLocks noGrp="1"/>
          </p:cNvSpPr>
          <p:nvPr>
            <p:ph type="title"/>
          </p:nvPr>
        </p:nvSpPr>
        <p:spPr>
          <a:xfrm>
            <a:off x="762000" y="762000"/>
            <a:ext cx="5334000" cy="1524000"/>
          </a:xfrm>
        </p:spPr>
        <p:txBody>
          <a:bodyPr>
            <a:normAutofit/>
          </a:bodyPr>
          <a:lstStyle/>
          <a:p>
            <a:r>
              <a:rPr lang="pl-PL" sz="3200"/>
              <a:t>Przyszłość Value Stream Management</a:t>
            </a:r>
          </a:p>
        </p:txBody>
      </p:sp>
      <p:pic>
        <p:nvPicPr>
          <p:cNvPr id="19" name="Graphic 6" descr="Bezpieczeństwo laptopa">
            <a:extLst>
              <a:ext uri="{FF2B5EF4-FFF2-40B4-BE49-F238E27FC236}">
                <a16:creationId xmlns:a16="http://schemas.microsoft.com/office/drawing/2014/main" id="{230C0BC5-E73A-048D-7356-C611A233E36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58000" y="771525"/>
            <a:ext cx="5334000" cy="5334000"/>
          </a:xfrm>
          <a:prstGeom prst="rect">
            <a:avLst/>
          </a:prstGeom>
        </p:spPr>
      </p:pic>
    </p:spTree>
    <p:extLst>
      <p:ext uri="{BB962C8B-B14F-4D97-AF65-F5344CB8AC3E}">
        <p14:creationId xmlns:p14="http://schemas.microsoft.com/office/powerpoint/2010/main" val="5181734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95E8271-D5FF-4A58-A151-6D825CF02D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39897" cy="3809999"/>
          </a:xfrm>
          <a:custGeom>
            <a:avLst/>
            <a:gdLst>
              <a:gd name="connsiteX0" fmla="*/ 0 w 4939897"/>
              <a:gd name="connsiteY0" fmla="*/ 0 h 1934415"/>
              <a:gd name="connsiteX1" fmla="*/ 4465929 w 4939897"/>
              <a:gd name="connsiteY1" fmla="*/ 0 h 1934415"/>
              <a:gd name="connsiteX2" fmla="*/ 4488924 w 4939897"/>
              <a:gd name="connsiteY2" fmla="*/ 19060 h 1934415"/>
              <a:gd name="connsiteX3" fmla="*/ 4930284 w 4939897"/>
              <a:gd name="connsiteY3" fmla="*/ 902192 h 1934415"/>
              <a:gd name="connsiteX4" fmla="*/ 4062070 w 4939897"/>
              <a:gd name="connsiteY4" fmla="*/ 1639180 h 1934415"/>
              <a:gd name="connsiteX5" fmla="*/ 2991177 w 4939897"/>
              <a:gd name="connsiteY5" fmla="*/ 1934355 h 1934415"/>
              <a:gd name="connsiteX6" fmla="*/ 1001442 w 4939897"/>
              <a:gd name="connsiteY6" fmla="*/ 1260124 h 1934415"/>
              <a:gd name="connsiteX7" fmla="*/ 294151 w 4939897"/>
              <a:gd name="connsiteY7" fmla="*/ 1060052 h 1934415"/>
              <a:gd name="connsiteX8" fmla="*/ 0 w 4939897"/>
              <a:gd name="connsiteY8" fmla="*/ 989104 h 1934415"/>
              <a:gd name="connsiteX9" fmla="*/ 0 w 4939897"/>
              <a:gd name="connsiteY9" fmla="*/ 0 h 1934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39897" h="1934415">
                <a:moveTo>
                  <a:pt x="0" y="0"/>
                </a:moveTo>
                <a:lnTo>
                  <a:pt x="4465929" y="0"/>
                </a:lnTo>
                <a:lnTo>
                  <a:pt x="4488924" y="19060"/>
                </a:lnTo>
                <a:cubicBezTo>
                  <a:pt x="4783094" y="277980"/>
                  <a:pt x="4987466" y="609911"/>
                  <a:pt x="4930284" y="902192"/>
                </a:cubicBezTo>
                <a:cubicBezTo>
                  <a:pt x="4861323" y="1254367"/>
                  <a:pt x="4448191" y="1461726"/>
                  <a:pt x="4062070" y="1639180"/>
                </a:cubicBezTo>
                <a:cubicBezTo>
                  <a:pt x="3741231" y="1786528"/>
                  <a:pt x="3401594" y="1937890"/>
                  <a:pt x="2991177" y="1934355"/>
                </a:cubicBezTo>
                <a:cubicBezTo>
                  <a:pt x="2307904" y="1928562"/>
                  <a:pt x="1665224" y="1509149"/>
                  <a:pt x="1001442" y="1260124"/>
                </a:cubicBezTo>
                <a:cubicBezTo>
                  <a:pt x="806589" y="1187040"/>
                  <a:pt x="560285" y="1124281"/>
                  <a:pt x="294151" y="1060052"/>
                </a:cubicBezTo>
                <a:lnTo>
                  <a:pt x="0" y="989104"/>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00">
              <a:solidFill>
                <a:prstClr val="white"/>
              </a:solidFill>
              <a:latin typeface="Avenir Next LT Pro" panose="020B0504020202020204" pitchFamily="34" charset="0"/>
            </a:endParaRPr>
          </a:p>
        </p:txBody>
      </p:sp>
      <p:sp>
        <p:nvSpPr>
          <p:cNvPr id="2" name="Tytuł 1">
            <a:extLst>
              <a:ext uri="{FF2B5EF4-FFF2-40B4-BE49-F238E27FC236}">
                <a16:creationId xmlns:a16="http://schemas.microsoft.com/office/drawing/2014/main" id="{CC793CFE-58DF-D071-C555-CB0446E3D9FE}"/>
              </a:ext>
            </a:extLst>
          </p:cNvPr>
          <p:cNvSpPr>
            <a:spLocks noGrp="1"/>
          </p:cNvSpPr>
          <p:nvPr>
            <p:ph type="title"/>
          </p:nvPr>
        </p:nvSpPr>
        <p:spPr>
          <a:xfrm>
            <a:off x="718750" y="762000"/>
            <a:ext cx="3853249" cy="2286000"/>
          </a:xfrm>
        </p:spPr>
        <p:txBody>
          <a:bodyPr anchor="t">
            <a:normAutofit/>
          </a:bodyPr>
          <a:lstStyle/>
          <a:p>
            <a:r>
              <a:rPr lang="pl-PL" sz="3000">
                <a:solidFill>
                  <a:srgbClr val="FFFFFF"/>
                </a:solidFill>
              </a:rPr>
              <a:t>Jak zespoły rozproszone wpływają na dobór narzędzi komunikacji</a:t>
            </a:r>
          </a:p>
        </p:txBody>
      </p:sp>
      <p:sp>
        <p:nvSpPr>
          <p:cNvPr id="13" name="Freeform: Shape 12">
            <a:extLst>
              <a:ext uri="{FF2B5EF4-FFF2-40B4-BE49-F238E27FC236}">
                <a16:creationId xmlns:a16="http://schemas.microsoft.com/office/drawing/2014/main" id="{E65E7DAE-0831-45F9-BBA2-9BBD2E397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15" name="Freeform: Shape 14">
            <a:extLst>
              <a:ext uri="{FF2B5EF4-FFF2-40B4-BE49-F238E27FC236}">
                <a16:creationId xmlns:a16="http://schemas.microsoft.com/office/drawing/2014/main" id="{F493E929-55A8-46F3-836C-1C37C8975B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graphicFrame>
        <p:nvGraphicFramePr>
          <p:cNvPr id="5" name="Symbol zastępczy zawartości 2">
            <a:extLst>
              <a:ext uri="{FF2B5EF4-FFF2-40B4-BE49-F238E27FC236}">
                <a16:creationId xmlns:a16="http://schemas.microsoft.com/office/drawing/2014/main" id="{CCBD0CE3-8E8B-03E2-01B8-CE0649836338}"/>
              </a:ext>
            </a:extLst>
          </p:cNvPr>
          <p:cNvGraphicFramePr>
            <a:graphicFrameLocks noGrp="1"/>
          </p:cNvGraphicFramePr>
          <p:nvPr>
            <p:ph idx="1"/>
            <p:extLst>
              <p:ext uri="{D42A27DB-BD31-4B8C-83A1-F6EECF244321}">
                <p14:modId xmlns:p14="http://schemas.microsoft.com/office/powerpoint/2010/main" val="973013851"/>
              </p:ext>
            </p:extLst>
          </p:nvPr>
        </p:nvGraphicFramePr>
        <p:xfrm>
          <a:off x="5290748" y="771726"/>
          <a:ext cx="6139252" cy="53242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107732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3F3A0F6C-EB8F-4A4C-8258-23F6D815E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8352" cy="6438900"/>
          </a:xfrm>
          <a:custGeom>
            <a:avLst/>
            <a:gdLst>
              <a:gd name="connsiteX0" fmla="*/ 0 w 12198352"/>
              <a:gd name="connsiteY0" fmla="*/ 0 h 6438900"/>
              <a:gd name="connsiteX1" fmla="*/ 12198352 w 12198352"/>
              <a:gd name="connsiteY1" fmla="*/ 0 h 6438900"/>
              <a:gd name="connsiteX2" fmla="*/ 12198352 w 12198352"/>
              <a:gd name="connsiteY2" fmla="*/ 5644414 h 6438900"/>
              <a:gd name="connsiteX3" fmla="*/ 12042486 w 12198352"/>
              <a:gd name="connsiteY3" fmla="*/ 5750064 h 6438900"/>
              <a:gd name="connsiteX4" fmla="*/ 9483672 w 12198352"/>
              <a:gd name="connsiteY4" fmla="*/ 6432438 h 6438900"/>
              <a:gd name="connsiteX5" fmla="*/ 8500895 w 12198352"/>
              <a:gd name="connsiteY5" fmla="*/ 6437925 h 6438900"/>
              <a:gd name="connsiteX6" fmla="*/ 1629409 w 12198352"/>
              <a:gd name="connsiteY6" fmla="*/ 5170893 h 6438900"/>
              <a:gd name="connsiteX7" fmla="*/ 433424 w 12198352"/>
              <a:gd name="connsiteY7" fmla="*/ 4633819 h 6438900"/>
              <a:gd name="connsiteX8" fmla="*/ 0 w 12198352"/>
              <a:gd name="connsiteY8" fmla="*/ 4450771 h 6438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8352" h="6438900">
                <a:moveTo>
                  <a:pt x="0" y="0"/>
                </a:moveTo>
                <a:lnTo>
                  <a:pt x="12198352" y="0"/>
                </a:lnTo>
                <a:lnTo>
                  <a:pt x="12198352" y="5644414"/>
                </a:lnTo>
                <a:lnTo>
                  <a:pt x="12042486" y="5750064"/>
                </a:lnTo>
                <a:cubicBezTo>
                  <a:pt x="11268689" y="6237466"/>
                  <a:pt x="10357585" y="6417714"/>
                  <a:pt x="9483672" y="6432438"/>
                </a:cubicBezTo>
                <a:cubicBezTo>
                  <a:pt x="9158751" y="6438062"/>
                  <a:pt x="8830819" y="6440385"/>
                  <a:pt x="8500895" y="6437925"/>
                </a:cubicBezTo>
                <a:cubicBezTo>
                  <a:pt x="6191416" y="6420695"/>
                  <a:pt x="3784289" y="6168856"/>
                  <a:pt x="1629409" y="5170893"/>
                </a:cubicBezTo>
                <a:cubicBezTo>
                  <a:pt x="1229906" y="4985892"/>
                  <a:pt x="831404" y="4807078"/>
                  <a:pt x="433424" y="4633819"/>
                </a:cubicBezTo>
                <a:lnTo>
                  <a:pt x="0" y="4450771"/>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500">
              <a:solidFill>
                <a:prstClr val="white"/>
              </a:solidFill>
              <a:latin typeface="Avenir Next LT Pro" panose="020B0504020202020204" pitchFamily="34" charset="0"/>
            </a:endParaRPr>
          </a:p>
        </p:txBody>
      </p:sp>
      <p:sp>
        <p:nvSpPr>
          <p:cNvPr id="13" name="Freeform: Shape 12">
            <a:extLst>
              <a:ext uri="{FF2B5EF4-FFF2-40B4-BE49-F238E27FC236}">
                <a16:creationId xmlns:a16="http://schemas.microsoft.com/office/drawing/2014/main" id="{6A9C92F4-A4A4-42E0-9391-C666AAED1E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3817925">
            <a:off x="2322363" y="-118377"/>
            <a:ext cx="7900749" cy="9821966"/>
          </a:xfrm>
          <a:custGeom>
            <a:avLst/>
            <a:gdLst>
              <a:gd name="connsiteX0" fmla="*/ 589029 w 7858893"/>
              <a:gd name="connsiteY0" fmla="*/ 9827096 h 9827096"/>
              <a:gd name="connsiteX1" fmla="*/ 0 w 7858893"/>
              <a:gd name="connsiteY1" fmla="*/ 9338053 h 9827096"/>
              <a:gd name="connsiteX2" fmla="*/ 50440 w 7858893"/>
              <a:gd name="connsiteY2" fmla="*/ 9011561 h 9827096"/>
              <a:gd name="connsiteX3" fmla="*/ 398242 w 7858893"/>
              <a:gd name="connsiteY3" fmla="*/ 7620242 h 9827096"/>
              <a:gd name="connsiteX4" fmla="*/ 6756719 w 7858893"/>
              <a:gd name="connsiteY4" fmla="*/ 593416 h 9827096"/>
              <a:gd name="connsiteX5" fmla="*/ 7642630 w 7858893"/>
              <a:gd name="connsiteY5" fmla="*/ 111525 h 9827096"/>
              <a:gd name="connsiteX6" fmla="*/ 7858893 w 7858893"/>
              <a:gd name="connsiteY6" fmla="*/ 0 h 9827096"/>
              <a:gd name="connsiteX0" fmla="*/ 589029 w 8190490"/>
              <a:gd name="connsiteY0" fmla="*/ 9787128 h 9787128"/>
              <a:gd name="connsiteX1" fmla="*/ 0 w 8190490"/>
              <a:gd name="connsiteY1" fmla="*/ 9298085 h 9787128"/>
              <a:gd name="connsiteX2" fmla="*/ 50440 w 8190490"/>
              <a:gd name="connsiteY2" fmla="*/ 8971593 h 9787128"/>
              <a:gd name="connsiteX3" fmla="*/ 398242 w 8190490"/>
              <a:gd name="connsiteY3" fmla="*/ 7580274 h 9787128"/>
              <a:gd name="connsiteX4" fmla="*/ 6756719 w 8190490"/>
              <a:gd name="connsiteY4" fmla="*/ 553448 h 9787128"/>
              <a:gd name="connsiteX5" fmla="*/ 7642630 w 8190490"/>
              <a:gd name="connsiteY5" fmla="*/ 71557 h 9787128"/>
              <a:gd name="connsiteX6" fmla="*/ 8190490 w 8190490"/>
              <a:gd name="connsiteY6" fmla="*/ 0 h 9787128"/>
              <a:gd name="connsiteX7" fmla="*/ 589029 w 8190490"/>
              <a:gd name="connsiteY7" fmla="*/ 9787128 h 9787128"/>
              <a:gd name="connsiteX0" fmla="*/ 589029 w 8281930"/>
              <a:gd name="connsiteY0" fmla="*/ 9722690 h 9722690"/>
              <a:gd name="connsiteX1" fmla="*/ 0 w 8281930"/>
              <a:gd name="connsiteY1" fmla="*/ 9233647 h 9722690"/>
              <a:gd name="connsiteX2" fmla="*/ 50440 w 8281930"/>
              <a:gd name="connsiteY2" fmla="*/ 8907155 h 9722690"/>
              <a:gd name="connsiteX3" fmla="*/ 398242 w 8281930"/>
              <a:gd name="connsiteY3" fmla="*/ 7515836 h 9722690"/>
              <a:gd name="connsiteX4" fmla="*/ 6756719 w 8281930"/>
              <a:gd name="connsiteY4" fmla="*/ 489010 h 9722690"/>
              <a:gd name="connsiteX5" fmla="*/ 7642630 w 8281930"/>
              <a:gd name="connsiteY5" fmla="*/ 7119 h 9722690"/>
              <a:gd name="connsiteX6" fmla="*/ 8281930 w 8281930"/>
              <a:gd name="connsiteY6" fmla="*/ 27002 h 9722690"/>
              <a:gd name="connsiteX0" fmla="*/ 589029 w 7911958"/>
              <a:gd name="connsiteY0" fmla="*/ 9802819 h 9802819"/>
              <a:gd name="connsiteX1" fmla="*/ 0 w 7911958"/>
              <a:gd name="connsiteY1" fmla="*/ 9313776 h 9802819"/>
              <a:gd name="connsiteX2" fmla="*/ 50440 w 7911958"/>
              <a:gd name="connsiteY2" fmla="*/ 8987284 h 9802819"/>
              <a:gd name="connsiteX3" fmla="*/ 398242 w 7911958"/>
              <a:gd name="connsiteY3" fmla="*/ 7595965 h 9802819"/>
              <a:gd name="connsiteX4" fmla="*/ 6756719 w 7911958"/>
              <a:gd name="connsiteY4" fmla="*/ 569139 h 9802819"/>
              <a:gd name="connsiteX5" fmla="*/ 7642630 w 7911958"/>
              <a:gd name="connsiteY5" fmla="*/ 87248 h 9802819"/>
              <a:gd name="connsiteX6" fmla="*/ 7911958 w 7911958"/>
              <a:gd name="connsiteY6" fmla="*/ 0 h 9802819"/>
              <a:gd name="connsiteX0" fmla="*/ 589029 w 7642630"/>
              <a:gd name="connsiteY0" fmla="*/ 9715571 h 9715571"/>
              <a:gd name="connsiteX1" fmla="*/ 0 w 7642630"/>
              <a:gd name="connsiteY1" fmla="*/ 9226528 h 9715571"/>
              <a:gd name="connsiteX2" fmla="*/ 50440 w 7642630"/>
              <a:gd name="connsiteY2" fmla="*/ 8900036 h 9715571"/>
              <a:gd name="connsiteX3" fmla="*/ 398242 w 7642630"/>
              <a:gd name="connsiteY3" fmla="*/ 7508717 h 9715571"/>
              <a:gd name="connsiteX4" fmla="*/ 6756719 w 7642630"/>
              <a:gd name="connsiteY4" fmla="*/ 481891 h 9715571"/>
              <a:gd name="connsiteX5" fmla="*/ 7642630 w 7642630"/>
              <a:gd name="connsiteY5" fmla="*/ 0 h 9715571"/>
              <a:gd name="connsiteX0" fmla="*/ 589029 w 7900749"/>
              <a:gd name="connsiteY0" fmla="*/ 9821966 h 9821966"/>
              <a:gd name="connsiteX1" fmla="*/ 0 w 7900749"/>
              <a:gd name="connsiteY1" fmla="*/ 9332923 h 9821966"/>
              <a:gd name="connsiteX2" fmla="*/ 50440 w 7900749"/>
              <a:gd name="connsiteY2" fmla="*/ 9006431 h 9821966"/>
              <a:gd name="connsiteX3" fmla="*/ 398242 w 7900749"/>
              <a:gd name="connsiteY3" fmla="*/ 7615112 h 9821966"/>
              <a:gd name="connsiteX4" fmla="*/ 6756719 w 7900749"/>
              <a:gd name="connsiteY4" fmla="*/ 588286 h 9821966"/>
              <a:gd name="connsiteX5" fmla="*/ 7900749 w 7900749"/>
              <a:gd name="connsiteY5" fmla="*/ 0 h 9821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00749" h="9821966">
                <a:moveTo>
                  <a:pt x="589029" y="9821966"/>
                </a:moveTo>
                <a:lnTo>
                  <a:pt x="0" y="9332923"/>
                </a:lnTo>
                <a:lnTo>
                  <a:pt x="50440" y="9006431"/>
                </a:lnTo>
                <a:cubicBezTo>
                  <a:pt x="119970" y="8604142"/>
                  <a:pt x="221982" y="8158814"/>
                  <a:pt x="398242" y="7615112"/>
                </a:cubicBezTo>
                <a:cubicBezTo>
                  <a:pt x="1372817" y="4608865"/>
                  <a:pt x="3887952" y="2237199"/>
                  <a:pt x="6756719" y="588286"/>
                </a:cubicBezTo>
                <a:cubicBezTo>
                  <a:pt x="6992735" y="452730"/>
                  <a:pt x="7549593" y="182994"/>
                  <a:pt x="7900749" y="0"/>
                </a:cubicBez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2" name="Tytuł 1">
            <a:extLst>
              <a:ext uri="{FF2B5EF4-FFF2-40B4-BE49-F238E27FC236}">
                <a16:creationId xmlns:a16="http://schemas.microsoft.com/office/drawing/2014/main" id="{4F662949-FB76-D894-7683-799A891D2206}"/>
              </a:ext>
            </a:extLst>
          </p:cNvPr>
          <p:cNvSpPr>
            <a:spLocks noGrp="1"/>
          </p:cNvSpPr>
          <p:nvPr>
            <p:ph type="title"/>
          </p:nvPr>
        </p:nvSpPr>
        <p:spPr>
          <a:xfrm>
            <a:off x="718751" y="762000"/>
            <a:ext cx="3598808" cy="2286000"/>
          </a:xfrm>
        </p:spPr>
        <p:txBody>
          <a:bodyPr anchor="t">
            <a:normAutofit/>
          </a:bodyPr>
          <a:lstStyle/>
          <a:p>
            <a:r>
              <a:rPr lang="en-US" sz="3200">
                <a:solidFill>
                  <a:srgbClr val="FFFFFF"/>
                </a:solidFill>
              </a:rPr>
              <a:t>DONE DRIFT</a:t>
            </a:r>
            <a:endParaRPr lang="pl-PL" sz="3200">
              <a:solidFill>
                <a:srgbClr val="FFFFFF"/>
              </a:solidFill>
            </a:endParaRPr>
          </a:p>
        </p:txBody>
      </p:sp>
      <p:graphicFrame>
        <p:nvGraphicFramePr>
          <p:cNvPr id="5" name="Symbol zastępczy zawartości 2">
            <a:extLst>
              <a:ext uri="{FF2B5EF4-FFF2-40B4-BE49-F238E27FC236}">
                <a16:creationId xmlns:a16="http://schemas.microsoft.com/office/drawing/2014/main" id="{A7AA444F-8BE1-5CBC-A51A-45D7A226DD9B}"/>
              </a:ext>
            </a:extLst>
          </p:cNvPr>
          <p:cNvGraphicFramePr>
            <a:graphicFrameLocks noGrp="1"/>
          </p:cNvGraphicFramePr>
          <p:nvPr>
            <p:ph idx="1"/>
            <p:extLst>
              <p:ext uri="{D42A27DB-BD31-4B8C-83A1-F6EECF244321}">
                <p14:modId xmlns:p14="http://schemas.microsoft.com/office/powerpoint/2010/main" val="1109012403"/>
              </p:ext>
            </p:extLst>
          </p:nvPr>
        </p:nvGraphicFramePr>
        <p:xfrm>
          <a:off x="4572000" y="771726"/>
          <a:ext cx="6858000" cy="45622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356346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C75CD783-E708-4711-B23C-5B7B72A3D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5578824" cy="6028256"/>
          </a:xfrm>
          <a:custGeom>
            <a:avLst/>
            <a:gdLst>
              <a:gd name="connsiteX0" fmla="*/ 0 w 5578824"/>
              <a:gd name="connsiteY0" fmla="*/ 0 h 6028256"/>
              <a:gd name="connsiteX1" fmla="*/ 3897606 w 5578824"/>
              <a:gd name="connsiteY1" fmla="*/ 0 h 6028256"/>
              <a:gd name="connsiteX2" fmla="*/ 4274232 w 5578824"/>
              <a:gd name="connsiteY2" fmla="*/ 360545 h 6028256"/>
              <a:gd name="connsiteX3" fmla="*/ 4673934 w 5578824"/>
              <a:gd name="connsiteY3" fmla="*/ 738354 h 6028256"/>
              <a:gd name="connsiteX4" fmla="*/ 5421862 w 5578824"/>
              <a:gd name="connsiteY4" fmla="*/ 1773839 h 6028256"/>
              <a:gd name="connsiteX5" fmla="*/ 5469199 w 5578824"/>
              <a:gd name="connsiteY5" fmla="*/ 3329255 h 6028256"/>
              <a:gd name="connsiteX6" fmla="*/ 4741546 w 5578824"/>
              <a:gd name="connsiteY6" fmla="*/ 4877588 h 6028256"/>
              <a:gd name="connsiteX7" fmla="*/ 1325600 w 5578824"/>
              <a:gd name="connsiteY7" fmla="*/ 5980388 h 6028256"/>
              <a:gd name="connsiteX8" fmla="*/ 137593 w 5578824"/>
              <a:gd name="connsiteY8" fmla="*/ 5804042 h 6028256"/>
              <a:gd name="connsiteX9" fmla="*/ 0 w 5578824"/>
              <a:gd name="connsiteY9" fmla="*/ 5760161 h 602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78824" h="6028256">
                <a:moveTo>
                  <a:pt x="0" y="0"/>
                </a:moveTo>
                <a:lnTo>
                  <a:pt x="3897606" y="0"/>
                </a:lnTo>
                <a:lnTo>
                  <a:pt x="4274232" y="360545"/>
                </a:lnTo>
                <a:cubicBezTo>
                  <a:pt x="4408856" y="488910"/>
                  <a:pt x="4542134" y="615181"/>
                  <a:pt x="4673934" y="738354"/>
                </a:cubicBezTo>
                <a:cubicBezTo>
                  <a:pt x="5042663" y="1082881"/>
                  <a:pt x="5282330" y="1428108"/>
                  <a:pt x="5421862" y="1773839"/>
                </a:cubicBezTo>
                <a:cubicBezTo>
                  <a:pt x="5631101" y="2292214"/>
                  <a:pt x="5614731" y="2811325"/>
                  <a:pt x="5469199" y="3329255"/>
                </a:cubicBezTo>
                <a:cubicBezTo>
                  <a:pt x="5323662" y="3847185"/>
                  <a:pt x="5048962" y="4363935"/>
                  <a:pt x="4741546" y="4877588"/>
                </a:cubicBezTo>
                <a:cubicBezTo>
                  <a:pt x="4027238" y="6071494"/>
                  <a:pt x="2764972" y="6102970"/>
                  <a:pt x="1325600" y="5980388"/>
                </a:cubicBezTo>
                <a:cubicBezTo>
                  <a:pt x="903947" y="5944442"/>
                  <a:pt x="499735" y="5907589"/>
                  <a:pt x="137593" y="5804042"/>
                </a:cubicBezTo>
                <a:lnTo>
                  <a:pt x="0" y="5760161"/>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E633B38B-B87A-4288-A20F-0223A6C27A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pic>
        <p:nvPicPr>
          <p:cNvPr id="7" name="Graphic 6" descr="Programista">
            <a:extLst>
              <a:ext uri="{FF2B5EF4-FFF2-40B4-BE49-F238E27FC236}">
                <a16:creationId xmlns:a16="http://schemas.microsoft.com/office/drawing/2014/main" id="{D59CC4ED-91F5-2708-C8C3-08E161776F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2827" y="1524000"/>
            <a:ext cx="4581173" cy="4581173"/>
          </a:xfrm>
          <a:prstGeom prst="rect">
            <a:avLst/>
          </a:prstGeom>
        </p:spPr>
      </p:pic>
      <p:sp>
        <p:nvSpPr>
          <p:cNvPr id="3" name="Symbol zastępczy zawartości 2">
            <a:extLst>
              <a:ext uri="{FF2B5EF4-FFF2-40B4-BE49-F238E27FC236}">
                <a16:creationId xmlns:a16="http://schemas.microsoft.com/office/drawing/2014/main" id="{17C9C423-85C5-CC47-07F8-B630C9B383B9}"/>
              </a:ext>
            </a:extLst>
          </p:cNvPr>
          <p:cNvSpPr>
            <a:spLocks noGrp="1"/>
          </p:cNvSpPr>
          <p:nvPr>
            <p:ph idx="1"/>
          </p:nvPr>
        </p:nvSpPr>
        <p:spPr>
          <a:xfrm>
            <a:off x="6096000" y="2286000"/>
            <a:ext cx="5334000" cy="3810001"/>
          </a:xfrm>
        </p:spPr>
        <p:txBody>
          <a:bodyPr>
            <a:normAutofit/>
          </a:bodyPr>
          <a:lstStyle/>
          <a:p>
            <a:pPr marL="0" indent="0">
              <a:buNone/>
            </a:pPr>
            <a:r>
              <a:rPr lang="pl-PL" sz="2400"/>
              <a:t>Jeszcze kilka lat temu jakość oprogramowania była oceniana głównie przez pryzmat wydajności, stabilności oraz bezpieczeństwa. Obecnie coraz częściej pojawia się nowy wymiar jakości </a:t>
            </a:r>
            <a:r>
              <a:rPr lang="en-US" sz="2400"/>
              <a:t>–</a:t>
            </a:r>
            <a:r>
              <a:rPr lang="pl-PL" sz="2400"/>
              <a:t> odpowiedzialność etyczna systemów cyfrowych.</a:t>
            </a:r>
          </a:p>
        </p:txBody>
      </p:sp>
      <p:sp>
        <p:nvSpPr>
          <p:cNvPr id="2" name="Tytuł 1">
            <a:extLst>
              <a:ext uri="{FF2B5EF4-FFF2-40B4-BE49-F238E27FC236}">
                <a16:creationId xmlns:a16="http://schemas.microsoft.com/office/drawing/2014/main" id="{CEE9E1C5-F8BF-9330-04FC-7FEA67CF99F2}"/>
              </a:ext>
            </a:extLst>
          </p:cNvPr>
          <p:cNvSpPr>
            <a:spLocks noGrp="1"/>
          </p:cNvSpPr>
          <p:nvPr>
            <p:ph type="title"/>
          </p:nvPr>
        </p:nvSpPr>
        <p:spPr>
          <a:xfrm>
            <a:off x="6096000" y="762000"/>
            <a:ext cx="5334000" cy="1524000"/>
          </a:xfrm>
        </p:spPr>
        <p:txBody>
          <a:bodyPr>
            <a:normAutofit/>
          </a:bodyPr>
          <a:lstStyle/>
          <a:p>
            <a:r>
              <a:rPr lang="pl-PL" sz="3200" dirty="0"/>
              <a:t>Etyka i </a:t>
            </a:r>
            <a:r>
              <a:rPr lang="pl-PL" sz="3200" dirty="0" err="1"/>
              <a:t>fairness</a:t>
            </a:r>
            <a:r>
              <a:rPr lang="pl-PL" sz="3200" dirty="0"/>
              <a:t> jako nowe wymaganie jakościowe</a:t>
            </a:r>
          </a:p>
        </p:txBody>
      </p:sp>
    </p:spTree>
    <p:extLst>
      <p:ext uri="{BB962C8B-B14F-4D97-AF65-F5344CB8AC3E}">
        <p14:creationId xmlns:p14="http://schemas.microsoft.com/office/powerpoint/2010/main" val="4538150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63F9B41-8FA7-C2D0-1A5B-B4BBC08452E1}"/>
              </a:ext>
            </a:extLst>
          </p:cNvPr>
          <p:cNvSpPr>
            <a:spLocks noGrp="1"/>
          </p:cNvSpPr>
          <p:nvPr>
            <p:ph type="title"/>
          </p:nvPr>
        </p:nvSpPr>
        <p:spPr/>
        <p:txBody>
          <a:bodyPr/>
          <a:lstStyle/>
          <a:p>
            <a:r>
              <a:rPr lang="pl-PL" dirty="0"/>
              <a:t>Etyka i </a:t>
            </a:r>
            <a:r>
              <a:rPr lang="pl-PL" dirty="0" err="1"/>
              <a:t>fairness</a:t>
            </a:r>
            <a:r>
              <a:rPr lang="pl-PL" dirty="0"/>
              <a:t> jako nowe wymaganie jakościowe</a:t>
            </a:r>
          </a:p>
        </p:txBody>
      </p:sp>
      <p:graphicFrame>
        <p:nvGraphicFramePr>
          <p:cNvPr id="5" name="Symbol zastępczy zawartości 2">
            <a:extLst>
              <a:ext uri="{FF2B5EF4-FFF2-40B4-BE49-F238E27FC236}">
                <a16:creationId xmlns:a16="http://schemas.microsoft.com/office/drawing/2014/main" id="{5EF55D5A-42B3-556F-C351-B734C750EA0E}"/>
              </a:ext>
            </a:extLst>
          </p:cNvPr>
          <p:cNvGraphicFramePr>
            <a:graphicFrameLocks noGrp="1"/>
          </p:cNvGraphicFramePr>
          <p:nvPr>
            <p:ph idx="1"/>
          </p:nvPr>
        </p:nvGraphicFramePr>
        <p:xfrm>
          <a:off x="762000" y="2286000"/>
          <a:ext cx="10668000" cy="38180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93219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9">
            <a:extLst>
              <a:ext uri="{FF2B5EF4-FFF2-40B4-BE49-F238E27FC236}">
                <a16:creationId xmlns:a16="http://schemas.microsoft.com/office/drawing/2014/main" id="{B1EFC49C-62C3-4D0F-A5E0-B5856867B3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58000"/>
          </a:xfrm>
          <a:custGeom>
            <a:avLst/>
            <a:gdLst>
              <a:gd name="connsiteX0" fmla="*/ 0 w 6096000"/>
              <a:gd name="connsiteY0" fmla="*/ 0 h 6858000"/>
              <a:gd name="connsiteX1" fmla="*/ 2758239 w 6096000"/>
              <a:gd name="connsiteY1" fmla="*/ 0 h 6858000"/>
              <a:gd name="connsiteX2" fmla="*/ 2916747 w 6096000"/>
              <a:gd name="connsiteY2" fmla="*/ 218181 h 6858000"/>
              <a:gd name="connsiteX3" fmla="*/ 4839749 w 6096000"/>
              <a:gd name="connsiteY3" fmla="*/ 2631787 h 6858000"/>
              <a:gd name="connsiteX4" fmla="*/ 6095001 w 6096000"/>
              <a:gd name="connsiteY4" fmla="*/ 5672947 h 6858000"/>
              <a:gd name="connsiteX5" fmla="*/ 5792922 w 6096000"/>
              <a:gd name="connsiteY5" fmla="*/ 6612444 h 6858000"/>
              <a:gd name="connsiteX6" fmla="*/ 5671607 w 6096000"/>
              <a:gd name="connsiteY6" fmla="*/ 6771753 h 6858000"/>
              <a:gd name="connsiteX7" fmla="*/ 5591643 w 6096000"/>
              <a:gd name="connsiteY7" fmla="*/ 6858000 h 6858000"/>
              <a:gd name="connsiteX8" fmla="*/ 0 w 6096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6000" h="6858000">
                <a:moveTo>
                  <a:pt x="0" y="0"/>
                </a:moveTo>
                <a:lnTo>
                  <a:pt x="2758239" y="0"/>
                </a:lnTo>
                <a:lnTo>
                  <a:pt x="2916747" y="218181"/>
                </a:lnTo>
                <a:cubicBezTo>
                  <a:pt x="3525935" y="1023180"/>
                  <a:pt x="4281133" y="1818277"/>
                  <a:pt x="4839749" y="2631787"/>
                </a:cubicBezTo>
                <a:cubicBezTo>
                  <a:pt x="5571203" y="3696928"/>
                  <a:pt x="6122704" y="4799581"/>
                  <a:pt x="6095001" y="5672947"/>
                </a:cubicBezTo>
                <a:cubicBezTo>
                  <a:pt x="6083564" y="6040467"/>
                  <a:pt x="5972980" y="6348559"/>
                  <a:pt x="5792922" y="6612444"/>
                </a:cubicBezTo>
                <a:cubicBezTo>
                  <a:pt x="5755410" y="6667420"/>
                  <a:pt x="5714882" y="6720477"/>
                  <a:pt x="5671607" y="6771753"/>
                </a:cubicBezTo>
                <a:lnTo>
                  <a:pt x="5591643" y="6858000"/>
                </a:lnTo>
                <a:lnTo>
                  <a:pt x="0" y="685800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1">
            <a:extLst>
              <a:ext uri="{FF2B5EF4-FFF2-40B4-BE49-F238E27FC236}">
                <a16:creationId xmlns:a16="http://schemas.microsoft.com/office/drawing/2014/main" id="{E3588014-99E8-44C1-BB9D-26C13B241D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7789134">
            <a:off x="1570515" y="454890"/>
            <a:ext cx="3969651" cy="5948221"/>
          </a:xfrm>
          <a:custGeom>
            <a:avLst/>
            <a:gdLst>
              <a:gd name="connsiteX0" fmla="*/ 4594048 w 9861488"/>
              <a:gd name="connsiteY0" fmla="*/ 11458472 h 11458472"/>
              <a:gd name="connsiteX1" fmla="*/ 0 w 9861488"/>
              <a:gd name="connsiteY1" fmla="*/ 5948221 h 11458472"/>
              <a:gd name="connsiteX2" fmla="*/ 1863 w 9861488"/>
              <a:gd name="connsiteY2" fmla="*/ 5698862 h 11458472"/>
              <a:gd name="connsiteX3" fmla="*/ 320025 w 9861488"/>
              <a:gd name="connsiteY3" fmla="*/ 3799836 h 11458472"/>
              <a:gd name="connsiteX4" fmla="*/ 3430486 w 9861488"/>
              <a:gd name="connsiteY4" fmla="*/ 295907 h 11458472"/>
              <a:gd name="connsiteX5" fmla="*/ 3863859 w 9861488"/>
              <a:gd name="connsiteY5" fmla="*/ 55612 h 11458472"/>
              <a:gd name="connsiteX6" fmla="*/ 3969651 w 9861488"/>
              <a:gd name="connsiteY6" fmla="*/ 0 h 11458472"/>
              <a:gd name="connsiteX7" fmla="*/ 9861488 w 9861488"/>
              <a:gd name="connsiteY7" fmla="*/ 7066862 h 11458472"/>
              <a:gd name="connsiteX8" fmla="*/ 4594048 w 9861488"/>
              <a:gd name="connsiteY8" fmla="*/ 11458472 h 11458472"/>
              <a:gd name="connsiteX0" fmla="*/ 0 w 9861488"/>
              <a:gd name="connsiteY0" fmla="*/ 5948221 h 11549912"/>
              <a:gd name="connsiteX1" fmla="*/ 1863 w 9861488"/>
              <a:gd name="connsiteY1" fmla="*/ 5698862 h 11549912"/>
              <a:gd name="connsiteX2" fmla="*/ 320025 w 9861488"/>
              <a:gd name="connsiteY2" fmla="*/ 3799836 h 11549912"/>
              <a:gd name="connsiteX3" fmla="*/ 3430486 w 9861488"/>
              <a:gd name="connsiteY3" fmla="*/ 295907 h 11549912"/>
              <a:gd name="connsiteX4" fmla="*/ 3863859 w 9861488"/>
              <a:gd name="connsiteY4" fmla="*/ 55612 h 11549912"/>
              <a:gd name="connsiteX5" fmla="*/ 3969651 w 9861488"/>
              <a:gd name="connsiteY5" fmla="*/ 0 h 11549912"/>
              <a:gd name="connsiteX6" fmla="*/ 9861488 w 9861488"/>
              <a:gd name="connsiteY6" fmla="*/ 7066862 h 11549912"/>
              <a:gd name="connsiteX7" fmla="*/ 4685488 w 9861488"/>
              <a:gd name="connsiteY7" fmla="*/ 11549912 h 11549912"/>
              <a:gd name="connsiteX0" fmla="*/ 0 w 9861488"/>
              <a:gd name="connsiteY0" fmla="*/ 5948221 h 7066862"/>
              <a:gd name="connsiteX1" fmla="*/ 1863 w 9861488"/>
              <a:gd name="connsiteY1" fmla="*/ 5698862 h 7066862"/>
              <a:gd name="connsiteX2" fmla="*/ 320025 w 9861488"/>
              <a:gd name="connsiteY2" fmla="*/ 3799836 h 7066862"/>
              <a:gd name="connsiteX3" fmla="*/ 3430486 w 9861488"/>
              <a:gd name="connsiteY3" fmla="*/ 295907 h 7066862"/>
              <a:gd name="connsiteX4" fmla="*/ 3863859 w 9861488"/>
              <a:gd name="connsiteY4" fmla="*/ 55612 h 7066862"/>
              <a:gd name="connsiteX5" fmla="*/ 3969651 w 9861488"/>
              <a:gd name="connsiteY5" fmla="*/ 0 h 7066862"/>
              <a:gd name="connsiteX6" fmla="*/ 9861488 w 9861488"/>
              <a:gd name="connsiteY6" fmla="*/ 7066862 h 7066862"/>
              <a:gd name="connsiteX0" fmla="*/ 0 w 3969651"/>
              <a:gd name="connsiteY0" fmla="*/ 5948221 h 5948221"/>
              <a:gd name="connsiteX1" fmla="*/ 1863 w 3969651"/>
              <a:gd name="connsiteY1" fmla="*/ 5698862 h 5948221"/>
              <a:gd name="connsiteX2" fmla="*/ 320025 w 3969651"/>
              <a:gd name="connsiteY2" fmla="*/ 3799836 h 5948221"/>
              <a:gd name="connsiteX3" fmla="*/ 3430486 w 3969651"/>
              <a:gd name="connsiteY3" fmla="*/ 295907 h 5948221"/>
              <a:gd name="connsiteX4" fmla="*/ 3863859 w 3969651"/>
              <a:gd name="connsiteY4" fmla="*/ 55612 h 5948221"/>
              <a:gd name="connsiteX5" fmla="*/ 3969651 w 3969651"/>
              <a:gd name="connsiteY5" fmla="*/ 0 h 5948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69651" h="5948221">
                <a:moveTo>
                  <a:pt x="0" y="5948221"/>
                </a:moveTo>
                <a:lnTo>
                  <a:pt x="1863" y="5698862"/>
                </a:lnTo>
                <a:cubicBezTo>
                  <a:pt x="27184" y="5017139"/>
                  <a:pt x="133214" y="4368297"/>
                  <a:pt x="320025" y="3799836"/>
                </a:cubicBezTo>
                <a:cubicBezTo>
                  <a:pt x="810579" y="2305232"/>
                  <a:pt x="2027133" y="1118138"/>
                  <a:pt x="3430486" y="295907"/>
                </a:cubicBezTo>
                <a:cubicBezTo>
                  <a:pt x="3545941" y="228312"/>
                  <a:pt x="3692079" y="146862"/>
                  <a:pt x="3863859" y="55612"/>
                </a:cubicBezTo>
                <a:lnTo>
                  <a:pt x="3969651" y="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 name="Tytuł 1">
            <a:extLst>
              <a:ext uri="{FF2B5EF4-FFF2-40B4-BE49-F238E27FC236}">
                <a16:creationId xmlns:a16="http://schemas.microsoft.com/office/drawing/2014/main" id="{16B078E9-969D-BCE5-776D-0BA3DFD7F93A}"/>
              </a:ext>
            </a:extLst>
          </p:cNvPr>
          <p:cNvSpPr>
            <a:spLocks noGrp="1"/>
          </p:cNvSpPr>
          <p:nvPr>
            <p:ph type="title"/>
          </p:nvPr>
        </p:nvSpPr>
        <p:spPr>
          <a:xfrm>
            <a:off x="997528" y="2286000"/>
            <a:ext cx="3018325" cy="4572000"/>
          </a:xfrm>
        </p:spPr>
        <p:txBody>
          <a:bodyPr anchor="t">
            <a:normAutofit/>
          </a:bodyPr>
          <a:lstStyle/>
          <a:p>
            <a:r>
              <a:rPr lang="pl-PL" sz="3200" dirty="0"/>
              <a:t>Jak </a:t>
            </a:r>
            <a:r>
              <a:rPr lang="pl-PL" sz="3200" dirty="0" err="1"/>
              <a:t>projektyfikacja</a:t>
            </a:r>
            <a:r>
              <a:rPr lang="pl-PL" sz="3200" dirty="0"/>
              <a:t> zmienia tradycyjne firmy</a:t>
            </a:r>
          </a:p>
        </p:txBody>
      </p:sp>
      <p:sp>
        <p:nvSpPr>
          <p:cNvPr id="3" name="Symbol zastępczy zawartości 2">
            <a:extLst>
              <a:ext uri="{FF2B5EF4-FFF2-40B4-BE49-F238E27FC236}">
                <a16:creationId xmlns:a16="http://schemas.microsoft.com/office/drawing/2014/main" id="{AE6249B7-7424-9B29-DCED-E2173EA98601}"/>
              </a:ext>
            </a:extLst>
          </p:cNvPr>
          <p:cNvSpPr>
            <a:spLocks noGrp="1"/>
          </p:cNvSpPr>
          <p:nvPr>
            <p:ph idx="1"/>
          </p:nvPr>
        </p:nvSpPr>
        <p:spPr>
          <a:xfrm>
            <a:off x="6096001" y="1524000"/>
            <a:ext cx="5334000" cy="4572001"/>
          </a:xfrm>
        </p:spPr>
        <p:txBody>
          <a:bodyPr>
            <a:normAutofit lnSpcReduction="10000"/>
          </a:bodyPr>
          <a:lstStyle/>
          <a:p>
            <a:pPr marL="0" indent="0">
              <a:lnSpc>
                <a:spcPct val="115000"/>
              </a:lnSpc>
              <a:buNone/>
            </a:pPr>
            <a:r>
              <a:rPr lang="pl-PL" sz="1600" dirty="0" err="1"/>
              <a:t>Projektyfikacja</a:t>
            </a:r>
            <a:r>
              <a:rPr lang="pl-PL" sz="1600" dirty="0"/>
              <a:t> oznacza stopniowe przechodzenie organizacji od sztywnej struktury działowej do modelu opartego na czasowych zespołach projektowych. Coraz więcej firm zaczyna funkcjonować nie jako zestaw stałych departamentów, lecz jako sieć dynamicznie tworzonych zespołów.</a:t>
            </a:r>
            <a:endParaRPr lang="en-US" sz="1600" dirty="0"/>
          </a:p>
          <a:p>
            <a:pPr marL="0" indent="0">
              <a:lnSpc>
                <a:spcPct val="115000"/>
              </a:lnSpc>
              <a:buNone/>
            </a:pPr>
            <a:endParaRPr lang="en-US" sz="1600" dirty="0"/>
          </a:p>
          <a:p>
            <a:pPr marL="0" indent="0">
              <a:lnSpc>
                <a:spcPct val="115000"/>
              </a:lnSpc>
              <a:buNone/>
            </a:pPr>
            <a:r>
              <a:rPr lang="pl-PL" sz="1600" dirty="0"/>
              <a:t>Taka zmiana wpływa na organizację w kilku obszarach:</a:t>
            </a:r>
          </a:p>
          <a:p>
            <a:pPr>
              <a:lnSpc>
                <a:spcPct val="115000"/>
              </a:lnSpc>
            </a:pPr>
            <a:r>
              <a:rPr lang="pl-PL" sz="1600" dirty="0"/>
              <a:t>zmniejsza hierarchię, </a:t>
            </a:r>
          </a:p>
          <a:p>
            <a:pPr>
              <a:lnSpc>
                <a:spcPct val="115000"/>
              </a:lnSpc>
            </a:pPr>
            <a:r>
              <a:rPr lang="pl-PL" sz="1600" dirty="0"/>
              <a:t>zwiększa elastyczność, </a:t>
            </a:r>
          </a:p>
          <a:p>
            <a:pPr>
              <a:lnSpc>
                <a:spcPct val="115000"/>
              </a:lnSpc>
            </a:pPr>
            <a:r>
              <a:rPr lang="pl-PL" sz="1600" dirty="0"/>
              <a:t>przyspiesza decyzje, </a:t>
            </a:r>
          </a:p>
          <a:p>
            <a:pPr>
              <a:lnSpc>
                <a:spcPct val="115000"/>
              </a:lnSpc>
            </a:pPr>
            <a:r>
              <a:rPr lang="pl-PL" sz="1600" dirty="0"/>
              <a:t>wzmacnia współpracę między specjalistami, </a:t>
            </a:r>
          </a:p>
          <a:p>
            <a:pPr>
              <a:lnSpc>
                <a:spcPct val="115000"/>
              </a:lnSpc>
            </a:pPr>
            <a:r>
              <a:rPr lang="pl-PL" sz="1600" dirty="0"/>
              <a:t>przesuwa odpowiedzialność bliżej wykonawców.</a:t>
            </a:r>
          </a:p>
          <a:p>
            <a:pPr marL="0" indent="0">
              <a:lnSpc>
                <a:spcPct val="115000"/>
              </a:lnSpc>
              <a:buNone/>
            </a:pPr>
            <a:endParaRPr lang="pl-PL" sz="1600" dirty="0"/>
          </a:p>
        </p:txBody>
      </p:sp>
    </p:spTree>
    <p:extLst>
      <p:ext uri="{BB962C8B-B14F-4D97-AF65-F5344CB8AC3E}">
        <p14:creationId xmlns:p14="http://schemas.microsoft.com/office/powerpoint/2010/main" val="26428226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87A0FBA-CC04-4256-A8EB-BB3C543E98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1F6F945-08BE-4D33-9FAA-86D383E8D2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578823" cy="6028256"/>
          </a:xfrm>
          <a:custGeom>
            <a:avLst/>
            <a:gdLst>
              <a:gd name="connsiteX0" fmla="*/ 0 w 5578823"/>
              <a:gd name="connsiteY0" fmla="*/ 0 h 6028256"/>
              <a:gd name="connsiteX1" fmla="*/ 3897606 w 5578823"/>
              <a:gd name="connsiteY1" fmla="*/ 0 h 6028256"/>
              <a:gd name="connsiteX2" fmla="*/ 4274232 w 5578823"/>
              <a:gd name="connsiteY2" fmla="*/ 360545 h 6028256"/>
              <a:gd name="connsiteX3" fmla="*/ 4673934 w 5578823"/>
              <a:gd name="connsiteY3" fmla="*/ 738354 h 6028256"/>
              <a:gd name="connsiteX4" fmla="*/ 5421862 w 5578823"/>
              <a:gd name="connsiteY4" fmla="*/ 1773839 h 6028256"/>
              <a:gd name="connsiteX5" fmla="*/ 5469198 w 5578823"/>
              <a:gd name="connsiteY5" fmla="*/ 3329255 h 6028256"/>
              <a:gd name="connsiteX6" fmla="*/ 4741546 w 5578823"/>
              <a:gd name="connsiteY6" fmla="*/ 4877588 h 6028256"/>
              <a:gd name="connsiteX7" fmla="*/ 1325600 w 5578823"/>
              <a:gd name="connsiteY7" fmla="*/ 5980388 h 6028256"/>
              <a:gd name="connsiteX8" fmla="*/ 137593 w 5578823"/>
              <a:gd name="connsiteY8" fmla="*/ 5804042 h 6028256"/>
              <a:gd name="connsiteX9" fmla="*/ 0 w 5578823"/>
              <a:gd name="connsiteY9" fmla="*/ 5760161 h 602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78823" h="6028256">
                <a:moveTo>
                  <a:pt x="0" y="0"/>
                </a:moveTo>
                <a:lnTo>
                  <a:pt x="3897606" y="0"/>
                </a:lnTo>
                <a:lnTo>
                  <a:pt x="4274232" y="360545"/>
                </a:lnTo>
                <a:cubicBezTo>
                  <a:pt x="4408856" y="488910"/>
                  <a:pt x="4542134" y="615181"/>
                  <a:pt x="4673934" y="738354"/>
                </a:cubicBezTo>
                <a:cubicBezTo>
                  <a:pt x="5042663" y="1082881"/>
                  <a:pt x="5282330" y="1428108"/>
                  <a:pt x="5421862" y="1773839"/>
                </a:cubicBezTo>
                <a:cubicBezTo>
                  <a:pt x="5631101" y="2292214"/>
                  <a:pt x="5614731" y="2811325"/>
                  <a:pt x="5469198" y="3329255"/>
                </a:cubicBezTo>
                <a:cubicBezTo>
                  <a:pt x="5323662" y="3847185"/>
                  <a:pt x="5048962" y="4363935"/>
                  <a:pt x="4741546" y="4877588"/>
                </a:cubicBezTo>
                <a:cubicBezTo>
                  <a:pt x="4027238" y="6071494"/>
                  <a:pt x="2764972" y="6102970"/>
                  <a:pt x="1325600" y="5980388"/>
                </a:cubicBezTo>
                <a:cubicBezTo>
                  <a:pt x="903947" y="5944442"/>
                  <a:pt x="499735" y="5907589"/>
                  <a:pt x="137593" y="5804042"/>
                </a:cubicBezTo>
                <a:lnTo>
                  <a:pt x="0" y="5760161"/>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E633B38B-B87A-4288-A20F-0223A6C27A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Avenir Next LT Pro Light"/>
            </a:endParaRPr>
          </a:p>
        </p:txBody>
      </p:sp>
      <p:sp>
        <p:nvSpPr>
          <p:cNvPr id="3" name="Symbol zastępczy zawartości 2">
            <a:extLst>
              <a:ext uri="{FF2B5EF4-FFF2-40B4-BE49-F238E27FC236}">
                <a16:creationId xmlns:a16="http://schemas.microsoft.com/office/drawing/2014/main" id="{E4744026-CA47-16D5-57AF-156BE13C3288}"/>
              </a:ext>
            </a:extLst>
          </p:cNvPr>
          <p:cNvSpPr>
            <a:spLocks noGrp="1"/>
          </p:cNvSpPr>
          <p:nvPr>
            <p:ph idx="1"/>
          </p:nvPr>
        </p:nvSpPr>
        <p:spPr>
          <a:xfrm>
            <a:off x="5704116" y="2286000"/>
            <a:ext cx="5725884" cy="3810001"/>
          </a:xfrm>
        </p:spPr>
        <p:txBody>
          <a:bodyPr>
            <a:normAutofit fontScale="92500"/>
          </a:bodyPr>
          <a:lstStyle/>
          <a:p>
            <a:pPr marL="0" indent="0">
              <a:lnSpc>
                <a:spcPct val="115000"/>
              </a:lnSpc>
              <a:buNone/>
            </a:pPr>
            <a:r>
              <a:rPr lang="pl-PL" sz="2000" dirty="0"/>
              <a:t>Praca zespołowa w IT przechodzi obecnie głęboką transformację. Zespoły rozproszone zmieniają sposób komunikacji, automatyzacja redefiniuje strukturę odpowiedzialności, a sztuczna inteligencja staje się partnerem codziennej pracy. Równocześnie rośnie znaczenie kompetencji ludzkich, takich jak inteligencja emocjonalna, zdolność adaptacji oraz odpowiedzialność etyczna. Organizacje przyszłości coraz częściej będą działały jako elastyczne systemy projektowe, a nie sztywne struktury hierarchiczne.</a:t>
            </a:r>
          </a:p>
        </p:txBody>
      </p:sp>
      <p:sp>
        <p:nvSpPr>
          <p:cNvPr id="2" name="Tytuł 1">
            <a:extLst>
              <a:ext uri="{FF2B5EF4-FFF2-40B4-BE49-F238E27FC236}">
                <a16:creationId xmlns:a16="http://schemas.microsoft.com/office/drawing/2014/main" id="{23A6DF80-38B6-1939-AD95-35689F0D3EF1}"/>
              </a:ext>
            </a:extLst>
          </p:cNvPr>
          <p:cNvSpPr>
            <a:spLocks noGrp="1"/>
          </p:cNvSpPr>
          <p:nvPr>
            <p:ph type="title"/>
          </p:nvPr>
        </p:nvSpPr>
        <p:spPr>
          <a:xfrm>
            <a:off x="6096000" y="762000"/>
            <a:ext cx="5334000" cy="1524000"/>
          </a:xfrm>
        </p:spPr>
        <p:txBody>
          <a:bodyPr>
            <a:normAutofit/>
          </a:bodyPr>
          <a:lstStyle/>
          <a:p>
            <a:r>
              <a:rPr lang="en-US" sz="3200" dirty="0"/>
              <a:t>PODSUMOWANIE</a:t>
            </a:r>
            <a:endParaRPr lang="pl-PL" sz="3200" dirty="0"/>
          </a:p>
        </p:txBody>
      </p:sp>
    </p:spTree>
    <p:extLst>
      <p:ext uri="{BB962C8B-B14F-4D97-AF65-F5344CB8AC3E}">
        <p14:creationId xmlns:p14="http://schemas.microsoft.com/office/powerpoint/2010/main" val="2679959454"/>
      </p:ext>
    </p:extLst>
  </p:cSld>
  <p:clrMapOvr>
    <a:masterClrMapping/>
  </p:clrMapOvr>
</p:sld>
</file>

<file path=ppt/theme/theme1.xml><?xml version="1.0" encoding="utf-8"?>
<a:theme xmlns:a="http://schemas.openxmlformats.org/drawingml/2006/main" name="PebbleVTI">
  <a:themeElements>
    <a:clrScheme name="Blush 3">
      <a:dk1>
        <a:sysClr val="windowText" lastClr="000000"/>
      </a:dk1>
      <a:lt1>
        <a:sysClr val="window" lastClr="FFFFFF"/>
      </a:lt1>
      <a:dk2>
        <a:srgbClr val="B15E4E"/>
      </a:dk2>
      <a:lt2>
        <a:srgbClr val="FFFFFF"/>
      </a:lt2>
      <a:accent1>
        <a:srgbClr val="C5B096"/>
      </a:accent1>
      <a:accent2>
        <a:srgbClr val="ECA855"/>
      </a:accent2>
      <a:accent3>
        <a:srgbClr val="9BBFB0"/>
      </a:accent3>
      <a:accent4>
        <a:srgbClr val="A9AEA7"/>
      </a:accent4>
      <a:accent5>
        <a:srgbClr val="6A787C"/>
      </a:accent5>
      <a:accent6>
        <a:srgbClr val="3B4345"/>
      </a:accent6>
      <a:hlink>
        <a:srgbClr val="ECA855"/>
      </a:hlink>
      <a:folHlink>
        <a:srgbClr val="6A392F"/>
      </a:folHlink>
    </a:clrScheme>
    <a:fontScheme name="Custom 4">
      <a:majorFont>
        <a:latin typeface="Sitka Subheading"/>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ebbleVTI" id="{8B4DB91D-6BB4-4BA3-973A-733D3AF2680E}" vid="{9A19CF0D-2077-4BF4-BAA5-86934C336D59}"/>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181</TotalTime>
  <Words>3414</Words>
  <Application>Microsoft Office PowerPoint</Application>
  <PresentationFormat>Panoramiczny</PresentationFormat>
  <Paragraphs>260</Paragraphs>
  <Slides>31</Slides>
  <Notes>29</Notes>
  <HiddenSlides>0</HiddenSlides>
  <MMClips>0</MMClips>
  <ScaleCrop>false</ScaleCrop>
  <HeadingPairs>
    <vt:vector size="6" baseType="variant">
      <vt:variant>
        <vt:lpstr>Używane czcionki</vt:lpstr>
      </vt:variant>
      <vt:variant>
        <vt:i4>5</vt:i4>
      </vt:variant>
      <vt:variant>
        <vt:lpstr>Motyw</vt:lpstr>
      </vt:variant>
      <vt:variant>
        <vt:i4>1</vt:i4>
      </vt:variant>
      <vt:variant>
        <vt:lpstr>Tytuły slajdów</vt:lpstr>
      </vt:variant>
      <vt:variant>
        <vt:i4>31</vt:i4>
      </vt:variant>
    </vt:vector>
  </HeadingPairs>
  <TitlesOfParts>
    <vt:vector size="37" baseType="lpstr">
      <vt:lpstr>Aptos</vt:lpstr>
      <vt:lpstr>Arial</vt:lpstr>
      <vt:lpstr>Avenir Next LT Pro</vt:lpstr>
      <vt:lpstr>Avenir Next LT Pro Light</vt:lpstr>
      <vt:lpstr>Sitka Subheading</vt:lpstr>
      <vt:lpstr>PebbleVTI</vt:lpstr>
      <vt:lpstr>AKTUALNE TRENDY I PREDYKCJE DOTYCZĄCE PRACY ZESPOŁOWEJ IT</vt:lpstr>
      <vt:lpstr>Wstęp </vt:lpstr>
      <vt:lpstr>Jak praca zdalna zmieniła zespoły IT</vt:lpstr>
      <vt:lpstr>Jak AI wspiera zespoły projektowe</vt:lpstr>
      <vt:lpstr>Jakie kompetencje będą kluczowe w przyszłości</vt:lpstr>
      <vt:lpstr>Jakie kompetencje będą kluczowe w przyszłości</vt:lpstr>
      <vt:lpstr>Jak zmienia się rola lidera zespołu IT</vt:lpstr>
      <vt:lpstr>Jak automatyzacja wpływa na strukturę zespołów</vt:lpstr>
      <vt:lpstr>Jak rozwija się DevOps i platform engineering</vt:lpstr>
      <vt:lpstr>Czym jest MLOps i dlaczego staje się standardem</vt:lpstr>
      <vt:lpstr>Jak zmienia się model odpowiedzialności za produkt</vt:lpstr>
      <vt:lpstr>Zagrożenia nadmiernej cyfryzacji pracy</vt:lpstr>
      <vt:lpstr>POZYTYWNE I NEGATYWNE STRONY CYFRYZACJI</vt:lpstr>
      <vt:lpstr>Jak mogą wyglądać zespoły IT za 5–10 lat</vt:lpstr>
      <vt:lpstr>Jak mogą wyglądać zespoły IT za 5–10 lat</vt:lpstr>
      <vt:lpstr>Podsumowanie potencjalnych zmian </vt:lpstr>
      <vt:lpstr>Jak przygotować się organizacyjnie na przyszłe zmiany</vt:lpstr>
      <vt:lpstr>Jak przygotować się organizacyjnie na przyszłe zmiany</vt:lpstr>
      <vt:lpstr>Organizacja jako maszyna i żywy organizm</vt:lpstr>
      <vt:lpstr>Organizacja jako maszyna i żywy organizm</vt:lpstr>
      <vt:lpstr>Jak CI/CD wpływa na wydajność zespołów</vt:lpstr>
      <vt:lpstr>Jak CI/CD wpływa na wydajność zespołów</vt:lpstr>
      <vt:lpstr>Dlaczego inteligencja emocjonalna staje się kluczowa</vt:lpstr>
      <vt:lpstr>Przyszłość Value Stream Management</vt:lpstr>
      <vt:lpstr>Przyszłość Value Stream Management</vt:lpstr>
      <vt:lpstr>Jak zespoły rozproszone wpływają na dobór narzędzi komunikacji</vt:lpstr>
      <vt:lpstr>DONE DRIFT</vt:lpstr>
      <vt:lpstr>Etyka i fairness jako nowe wymaganie jakościowe</vt:lpstr>
      <vt:lpstr>Etyka i fairness jako nowe wymaganie jakościowe</vt:lpstr>
      <vt:lpstr>Jak projektyfikacja zmienia tradycyjne firmy</vt:lpstr>
      <vt:lpstr>PODSUMOWANIE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Filip Hałys</dc:creator>
  <cp:lastModifiedBy>Filip Hałys</cp:lastModifiedBy>
  <cp:revision>24</cp:revision>
  <dcterms:created xsi:type="dcterms:W3CDTF">2026-04-18T08:16:07Z</dcterms:created>
  <dcterms:modified xsi:type="dcterms:W3CDTF">2026-04-18T11:17:30Z</dcterms:modified>
</cp:coreProperties>
</file>