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033" autoAdjust="0"/>
  </p:normalViewPr>
  <p:slideViewPr>
    <p:cSldViewPr snapToGrid="0">
      <p:cViewPr varScale="1">
        <p:scale>
          <a:sx n="62" d="100"/>
          <a:sy n="62" d="100"/>
        </p:scale>
        <p:origin x="148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ata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ata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ata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FB45BC-B1B5-4E6D-918B-36ED7F80286B}"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1971F678-D54E-4FA6-8B9A-4AB2505AB5C4}">
      <dgm:prSet/>
      <dgm:spPr/>
      <dgm:t>
        <a:bodyPr/>
        <a:lstStyle/>
        <a:p>
          <a:r>
            <a:rPr lang="pl-PL"/>
            <a:t>Projekt startupowy różni się od korporacyjnego przede wszystkim poziomem niepewności, dostępem do zasobów oraz celem działania.</a:t>
          </a:r>
          <a:endParaRPr lang="en-US"/>
        </a:p>
      </dgm:t>
    </dgm:pt>
    <dgm:pt modelId="{646BDD37-53CB-481A-AE80-4E9EEB828E53}" type="parTrans" cxnId="{C3F6B672-B993-4A6D-BACF-D549A18B41BC}">
      <dgm:prSet/>
      <dgm:spPr/>
      <dgm:t>
        <a:bodyPr/>
        <a:lstStyle/>
        <a:p>
          <a:endParaRPr lang="en-US"/>
        </a:p>
      </dgm:t>
    </dgm:pt>
    <dgm:pt modelId="{58DDEDDC-9EBF-4595-8C1E-361E8A0536D5}" type="sibTrans" cxnId="{C3F6B672-B993-4A6D-BACF-D549A18B41BC}">
      <dgm:prSet/>
      <dgm:spPr/>
      <dgm:t>
        <a:bodyPr/>
        <a:lstStyle/>
        <a:p>
          <a:endParaRPr lang="en-US"/>
        </a:p>
      </dgm:t>
    </dgm:pt>
    <dgm:pt modelId="{6E91A7D1-9919-47D0-9038-C7DC565C1720}">
      <dgm:prSet/>
      <dgm:spPr/>
      <dgm:t>
        <a:bodyPr/>
        <a:lstStyle/>
        <a:p>
          <a:r>
            <a:rPr lang="pl-PL"/>
            <a:t>Startup nie realizuje znanego i stabilnego planu, lecz poszukuje modelu biznesowego, który będzie działał na rynku.</a:t>
          </a:r>
          <a:endParaRPr lang="en-US"/>
        </a:p>
      </dgm:t>
    </dgm:pt>
    <dgm:pt modelId="{9E3A4210-5E3B-48C7-8063-384B830D2958}" type="parTrans" cxnId="{D4461C28-1163-422B-87C2-A5C1402462F1}">
      <dgm:prSet/>
      <dgm:spPr/>
      <dgm:t>
        <a:bodyPr/>
        <a:lstStyle/>
        <a:p>
          <a:endParaRPr lang="en-US"/>
        </a:p>
      </dgm:t>
    </dgm:pt>
    <dgm:pt modelId="{70FA02C5-2F96-4BA9-A5AD-C105232C79C8}" type="sibTrans" cxnId="{D4461C28-1163-422B-87C2-A5C1402462F1}">
      <dgm:prSet/>
      <dgm:spPr/>
      <dgm:t>
        <a:bodyPr/>
        <a:lstStyle/>
        <a:p>
          <a:endParaRPr lang="en-US"/>
        </a:p>
      </dgm:t>
    </dgm:pt>
    <dgm:pt modelId="{76429720-8534-4170-9C2A-69D7218312EE}" type="pres">
      <dgm:prSet presAssocID="{ECFB45BC-B1B5-4E6D-918B-36ED7F80286B}" presName="hierChild1" presStyleCnt="0">
        <dgm:presLayoutVars>
          <dgm:chPref val="1"/>
          <dgm:dir/>
          <dgm:animOne val="branch"/>
          <dgm:animLvl val="lvl"/>
          <dgm:resizeHandles/>
        </dgm:presLayoutVars>
      </dgm:prSet>
      <dgm:spPr/>
    </dgm:pt>
    <dgm:pt modelId="{2900B6B1-1EE0-4BA2-8FAE-8BAEA49B5B4C}" type="pres">
      <dgm:prSet presAssocID="{1971F678-D54E-4FA6-8B9A-4AB2505AB5C4}" presName="hierRoot1" presStyleCnt="0"/>
      <dgm:spPr/>
    </dgm:pt>
    <dgm:pt modelId="{7700533F-5359-4A43-B96A-CF0E2DABC59C}" type="pres">
      <dgm:prSet presAssocID="{1971F678-D54E-4FA6-8B9A-4AB2505AB5C4}" presName="composite" presStyleCnt="0"/>
      <dgm:spPr/>
    </dgm:pt>
    <dgm:pt modelId="{5F6B65D0-DE54-4AFA-8DBA-5715A3121C0E}" type="pres">
      <dgm:prSet presAssocID="{1971F678-D54E-4FA6-8B9A-4AB2505AB5C4}" presName="background" presStyleLbl="node0" presStyleIdx="0" presStyleCnt="2"/>
      <dgm:spPr/>
    </dgm:pt>
    <dgm:pt modelId="{CB8F9648-A625-475B-B535-6F02EE0A2E0B}" type="pres">
      <dgm:prSet presAssocID="{1971F678-D54E-4FA6-8B9A-4AB2505AB5C4}" presName="text" presStyleLbl="fgAcc0" presStyleIdx="0" presStyleCnt="2">
        <dgm:presLayoutVars>
          <dgm:chPref val="3"/>
        </dgm:presLayoutVars>
      </dgm:prSet>
      <dgm:spPr/>
    </dgm:pt>
    <dgm:pt modelId="{EE3B203C-0949-4737-8CD1-8E2BBE2A8A9F}" type="pres">
      <dgm:prSet presAssocID="{1971F678-D54E-4FA6-8B9A-4AB2505AB5C4}" presName="hierChild2" presStyleCnt="0"/>
      <dgm:spPr/>
    </dgm:pt>
    <dgm:pt modelId="{CA96A47F-B731-45C6-AF3D-E35B6C2A37D7}" type="pres">
      <dgm:prSet presAssocID="{6E91A7D1-9919-47D0-9038-C7DC565C1720}" presName="hierRoot1" presStyleCnt="0"/>
      <dgm:spPr/>
    </dgm:pt>
    <dgm:pt modelId="{0BC9EDB6-F9C3-4CA8-8CF4-16B56E3CC089}" type="pres">
      <dgm:prSet presAssocID="{6E91A7D1-9919-47D0-9038-C7DC565C1720}" presName="composite" presStyleCnt="0"/>
      <dgm:spPr/>
    </dgm:pt>
    <dgm:pt modelId="{6DC5FEFB-8C8E-4115-82E6-0813829061A0}" type="pres">
      <dgm:prSet presAssocID="{6E91A7D1-9919-47D0-9038-C7DC565C1720}" presName="background" presStyleLbl="node0" presStyleIdx="1" presStyleCnt="2"/>
      <dgm:spPr/>
    </dgm:pt>
    <dgm:pt modelId="{C124B3B5-2A9E-41B3-B7E4-1B2B5A66A005}" type="pres">
      <dgm:prSet presAssocID="{6E91A7D1-9919-47D0-9038-C7DC565C1720}" presName="text" presStyleLbl="fgAcc0" presStyleIdx="1" presStyleCnt="2">
        <dgm:presLayoutVars>
          <dgm:chPref val="3"/>
        </dgm:presLayoutVars>
      </dgm:prSet>
      <dgm:spPr/>
    </dgm:pt>
    <dgm:pt modelId="{87950080-B2FA-43D3-9828-9E06F9CCA00C}" type="pres">
      <dgm:prSet presAssocID="{6E91A7D1-9919-47D0-9038-C7DC565C1720}" presName="hierChild2" presStyleCnt="0"/>
      <dgm:spPr/>
    </dgm:pt>
  </dgm:ptLst>
  <dgm:cxnLst>
    <dgm:cxn modelId="{B6A14A15-68F5-46FC-8D99-0ED50DB5BFD5}" type="presOf" srcId="{6E91A7D1-9919-47D0-9038-C7DC565C1720}" destId="{C124B3B5-2A9E-41B3-B7E4-1B2B5A66A005}" srcOrd="0" destOrd="0" presId="urn:microsoft.com/office/officeart/2005/8/layout/hierarchy1"/>
    <dgm:cxn modelId="{D4461C28-1163-422B-87C2-A5C1402462F1}" srcId="{ECFB45BC-B1B5-4E6D-918B-36ED7F80286B}" destId="{6E91A7D1-9919-47D0-9038-C7DC565C1720}" srcOrd="1" destOrd="0" parTransId="{9E3A4210-5E3B-48C7-8063-384B830D2958}" sibTransId="{70FA02C5-2F96-4BA9-A5AD-C105232C79C8}"/>
    <dgm:cxn modelId="{75B96347-2930-4DB2-93EB-C0A8F22C086F}" type="presOf" srcId="{ECFB45BC-B1B5-4E6D-918B-36ED7F80286B}" destId="{76429720-8534-4170-9C2A-69D7218312EE}" srcOrd="0" destOrd="0" presId="urn:microsoft.com/office/officeart/2005/8/layout/hierarchy1"/>
    <dgm:cxn modelId="{688B0E4D-7157-473D-988D-DD06E15544C1}" type="presOf" srcId="{1971F678-D54E-4FA6-8B9A-4AB2505AB5C4}" destId="{CB8F9648-A625-475B-B535-6F02EE0A2E0B}" srcOrd="0" destOrd="0" presId="urn:microsoft.com/office/officeart/2005/8/layout/hierarchy1"/>
    <dgm:cxn modelId="{C3F6B672-B993-4A6D-BACF-D549A18B41BC}" srcId="{ECFB45BC-B1B5-4E6D-918B-36ED7F80286B}" destId="{1971F678-D54E-4FA6-8B9A-4AB2505AB5C4}" srcOrd="0" destOrd="0" parTransId="{646BDD37-53CB-481A-AE80-4E9EEB828E53}" sibTransId="{58DDEDDC-9EBF-4595-8C1E-361E8A0536D5}"/>
    <dgm:cxn modelId="{4F0FB134-6E03-4312-8557-30700AF577A6}" type="presParOf" srcId="{76429720-8534-4170-9C2A-69D7218312EE}" destId="{2900B6B1-1EE0-4BA2-8FAE-8BAEA49B5B4C}" srcOrd="0" destOrd="0" presId="urn:microsoft.com/office/officeart/2005/8/layout/hierarchy1"/>
    <dgm:cxn modelId="{FBEC3D02-E5A6-45FD-BDAA-5B4FBDAB4E69}" type="presParOf" srcId="{2900B6B1-1EE0-4BA2-8FAE-8BAEA49B5B4C}" destId="{7700533F-5359-4A43-B96A-CF0E2DABC59C}" srcOrd="0" destOrd="0" presId="urn:microsoft.com/office/officeart/2005/8/layout/hierarchy1"/>
    <dgm:cxn modelId="{284F1AD9-7F91-4727-9855-24D8E4C82764}" type="presParOf" srcId="{7700533F-5359-4A43-B96A-CF0E2DABC59C}" destId="{5F6B65D0-DE54-4AFA-8DBA-5715A3121C0E}" srcOrd="0" destOrd="0" presId="urn:microsoft.com/office/officeart/2005/8/layout/hierarchy1"/>
    <dgm:cxn modelId="{DA7DD7C1-638E-4BE0-924E-DDF910BC7AF3}" type="presParOf" srcId="{7700533F-5359-4A43-B96A-CF0E2DABC59C}" destId="{CB8F9648-A625-475B-B535-6F02EE0A2E0B}" srcOrd="1" destOrd="0" presId="urn:microsoft.com/office/officeart/2005/8/layout/hierarchy1"/>
    <dgm:cxn modelId="{1456FCC8-17F3-46B5-B0C7-C87333D32F38}" type="presParOf" srcId="{2900B6B1-1EE0-4BA2-8FAE-8BAEA49B5B4C}" destId="{EE3B203C-0949-4737-8CD1-8E2BBE2A8A9F}" srcOrd="1" destOrd="0" presId="urn:microsoft.com/office/officeart/2005/8/layout/hierarchy1"/>
    <dgm:cxn modelId="{E6419729-85D1-4D90-B040-FBAACAF36D84}" type="presParOf" srcId="{76429720-8534-4170-9C2A-69D7218312EE}" destId="{CA96A47F-B731-45C6-AF3D-E35B6C2A37D7}" srcOrd="1" destOrd="0" presId="urn:microsoft.com/office/officeart/2005/8/layout/hierarchy1"/>
    <dgm:cxn modelId="{7CE51FEA-C63C-48DE-A2A6-5D569B812CDF}" type="presParOf" srcId="{CA96A47F-B731-45C6-AF3D-E35B6C2A37D7}" destId="{0BC9EDB6-F9C3-4CA8-8CF4-16B56E3CC089}" srcOrd="0" destOrd="0" presId="urn:microsoft.com/office/officeart/2005/8/layout/hierarchy1"/>
    <dgm:cxn modelId="{B5A9C285-8F06-4C26-8626-E5617070ABB4}" type="presParOf" srcId="{0BC9EDB6-F9C3-4CA8-8CF4-16B56E3CC089}" destId="{6DC5FEFB-8C8E-4115-82E6-0813829061A0}" srcOrd="0" destOrd="0" presId="urn:microsoft.com/office/officeart/2005/8/layout/hierarchy1"/>
    <dgm:cxn modelId="{C9ED36A0-C0BD-4645-819B-EA9C7F199C34}" type="presParOf" srcId="{0BC9EDB6-F9C3-4CA8-8CF4-16B56E3CC089}" destId="{C124B3B5-2A9E-41B3-B7E4-1B2B5A66A005}" srcOrd="1" destOrd="0" presId="urn:microsoft.com/office/officeart/2005/8/layout/hierarchy1"/>
    <dgm:cxn modelId="{485D16F2-7999-46EA-92E4-9739E37AD57B}" type="presParOf" srcId="{CA96A47F-B731-45C6-AF3D-E35B6C2A37D7}" destId="{87950080-B2FA-43D3-9828-9E06F9CCA00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E3C8B1-D088-449E-9252-1B468474E32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2EEFAFC-797A-46BA-BEBE-B22A287B35A4}">
      <dgm:prSet/>
      <dgm:spPr/>
      <dgm:t>
        <a:bodyPr/>
        <a:lstStyle/>
        <a:p>
          <a:r>
            <a:rPr lang="pl-PL"/>
            <a:t>Hipoteza produktowa to założenie dotyczące tego, co użytkownik zrobi, czego potrzebuje i za co zapłaci.</a:t>
          </a:r>
          <a:r>
            <a:rPr lang="en-US"/>
            <a:t> </a:t>
          </a:r>
          <a:r>
            <a:rPr lang="pl-PL"/>
            <a:t>Nie jest to fakt, lecz przypuszczenie wymagające weryfikacji.</a:t>
          </a:r>
          <a:endParaRPr lang="en-US"/>
        </a:p>
      </dgm:t>
    </dgm:pt>
    <dgm:pt modelId="{98DA653C-76C3-4113-83C8-AE5AF1F3D0A8}" type="parTrans" cxnId="{A0C61CE1-8071-4EF7-A4E3-7BAB3CD5DD6E}">
      <dgm:prSet/>
      <dgm:spPr/>
      <dgm:t>
        <a:bodyPr/>
        <a:lstStyle/>
        <a:p>
          <a:endParaRPr lang="en-US"/>
        </a:p>
      </dgm:t>
    </dgm:pt>
    <dgm:pt modelId="{C33BB2EE-0D24-4193-BBD6-265ED40532EC}" type="sibTrans" cxnId="{A0C61CE1-8071-4EF7-A4E3-7BAB3CD5DD6E}">
      <dgm:prSet/>
      <dgm:spPr/>
      <dgm:t>
        <a:bodyPr/>
        <a:lstStyle/>
        <a:p>
          <a:endParaRPr lang="en-US"/>
        </a:p>
      </dgm:t>
    </dgm:pt>
    <dgm:pt modelId="{4AC7B05A-C560-4E16-93CE-BAB787DA6846}">
      <dgm:prSet/>
      <dgm:spPr/>
      <dgm:t>
        <a:bodyPr/>
        <a:lstStyle/>
        <a:p>
          <a:r>
            <a:rPr lang="en-US"/>
            <a:t>Przykład: </a:t>
          </a:r>
          <a:r>
            <a:rPr lang="pl-PL"/>
            <a:t>Kierowcy EV zapłacą za optymalizację trasy ładowania</a:t>
          </a:r>
          <a:endParaRPr lang="en-US"/>
        </a:p>
      </dgm:t>
    </dgm:pt>
    <dgm:pt modelId="{7267CC5C-6014-4020-AD5A-74005A7C49E5}" type="parTrans" cxnId="{4520BC68-BD2B-460B-A83F-469647C30DF9}">
      <dgm:prSet/>
      <dgm:spPr/>
      <dgm:t>
        <a:bodyPr/>
        <a:lstStyle/>
        <a:p>
          <a:endParaRPr lang="en-US"/>
        </a:p>
      </dgm:t>
    </dgm:pt>
    <dgm:pt modelId="{01122C02-0F5C-4247-AAB1-1A4C955D01F3}" type="sibTrans" cxnId="{4520BC68-BD2B-460B-A83F-469647C30DF9}">
      <dgm:prSet/>
      <dgm:spPr/>
      <dgm:t>
        <a:bodyPr/>
        <a:lstStyle/>
        <a:p>
          <a:endParaRPr lang="en-US"/>
        </a:p>
      </dgm:t>
    </dgm:pt>
    <dgm:pt modelId="{E286BB2B-56A9-4717-A6B9-8DEB4F03BF00}" type="pres">
      <dgm:prSet presAssocID="{04E3C8B1-D088-449E-9252-1B468474E32E}" presName="root" presStyleCnt="0">
        <dgm:presLayoutVars>
          <dgm:dir/>
          <dgm:resizeHandles val="exact"/>
        </dgm:presLayoutVars>
      </dgm:prSet>
      <dgm:spPr/>
    </dgm:pt>
    <dgm:pt modelId="{3ABF9CDB-EF0F-4046-9CF5-67AFF9F39844}" type="pres">
      <dgm:prSet presAssocID="{32EEFAFC-797A-46BA-BEBE-B22A287B35A4}" presName="compNode" presStyleCnt="0"/>
      <dgm:spPr/>
    </dgm:pt>
    <dgm:pt modelId="{525B4E50-552B-4900-BB08-13A4F28BBAC8}" type="pres">
      <dgm:prSet presAssocID="{32EEFAFC-797A-46BA-BEBE-B22A287B35A4}" presName="bgRect" presStyleLbl="bgShp" presStyleIdx="0" presStyleCnt="2"/>
      <dgm:spPr/>
    </dgm:pt>
    <dgm:pt modelId="{C5F6F042-6D2E-4AAC-B81C-249D55B01A4C}" type="pres">
      <dgm:prSet presAssocID="{32EEFAFC-797A-46BA-BEBE-B22A287B35A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2626E372-F0B0-4933-9946-D7FD04B38303}" type="pres">
      <dgm:prSet presAssocID="{32EEFAFC-797A-46BA-BEBE-B22A287B35A4}" presName="spaceRect" presStyleCnt="0"/>
      <dgm:spPr/>
    </dgm:pt>
    <dgm:pt modelId="{09F7F510-F316-4606-895A-D5D205B26918}" type="pres">
      <dgm:prSet presAssocID="{32EEFAFC-797A-46BA-BEBE-B22A287B35A4}" presName="parTx" presStyleLbl="revTx" presStyleIdx="0" presStyleCnt="2">
        <dgm:presLayoutVars>
          <dgm:chMax val="0"/>
          <dgm:chPref val="0"/>
        </dgm:presLayoutVars>
      </dgm:prSet>
      <dgm:spPr/>
    </dgm:pt>
    <dgm:pt modelId="{2D58BB72-977F-46FB-B143-28A004BA8BB1}" type="pres">
      <dgm:prSet presAssocID="{C33BB2EE-0D24-4193-BBD6-265ED40532EC}" presName="sibTrans" presStyleCnt="0"/>
      <dgm:spPr/>
    </dgm:pt>
    <dgm:pt modelId="{CC1ED70B-4CB0-4A5C-B07C-EDE3B0DB4631}" type="pres">
      <dgm:prSet presAssocID="{4AC7B05A-C560-4E16-93CE-BAB787DA6846}" presName="compNode" presStyleCnt="0"/>
      <dgm:spPr/>
    </dgm:pt>
    <dgm:pt modelId="{FEF158C0-8BAE-4100-A942-BF0A8203C812}" type="pres">
      <dgm:prSet presAssocID="{4AC7B05A-C560-4E16-93CE-BAB787DA6846}" presName="bgRect" presStyleLbl="bgShp" presStyleIdx="1" presStyleCnt="2"/>
      <dgm:spPr/>
    </dgm:pt>
    <dgm:pt modelId="{FA2F1DD8-B12A-41E5-87C7-FC4726AE6931}" type="pres">
      <dgm:prSet presAssocID="{4AC7B05A-C560-4E16-93CE-BAB787DA684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amochód"/>
        </a:ext>
      </dgm:extLst>
    </dgm:pt>
    <dgm:pt modelId="{755B22C5-5167-4656-89C9-90E7F37FBEBB}" type="pres">
      <dgm:prSet presAssocID="{4AC7B05A-C560-4E16-93CE-BAB787DA6846}" presName="spaceRect" presStyleCnt="0"/>
      <dgm:spPr/>
    </dgm:pt>
    <dgm:pt modelId="{FA9D40CB-C8A2-4AC8-8110-86A909A6B771}" type="pres">
      <dgm:prSet presAssocID="{4AC7B05A-C560-4E16-93CE-BAB787DA6846}" presName="parTx" presStyleLbl="revTx" presStyleIdx="1" presStyleCnt="2">
        <dgm:presLayoutVars>
          <dgm:chMax val="0"/>
          <dgm:chPref val="0"/>
        </dgm:presLayoutVars>
      </dgm:prSet>
      <dgm:spPr/>
    </dgm:pt>
  </dgm:ptLst>
  <dgm:cxnLst>
    <dgm:cxn modelId="{AD11282C-CA08-4FCE-8B21-4F9E17412D57}" type="presOf" srcId="{04E3C8B1-D088-449E-9252-1B468474E32E}" destId="{E286BB2B-56A9-4717-A6B9-8DEB4F03BF00}" srcOrd="0" destOrd="0" presId="urn:microsoft.com/office/officeart/2018/2/layout/IconVerticalSolidList"/>
    <dgm:cxn modelId="{75091F32-7B02-4944-A939-A75DDFCAE08C}" type="presOf" srcId="{4AC7B05A-C560-4E16-93CE-BAB787DA6846}" destId="{FA9D40CB-C8A2-4AC8-8110-86A909A6B771}" srcOrd="0" destOrd="0" presId="urn:microsoft.com/office/officeart/2018/2/layout/IconVerticalSolidList"/>
    <dgm:cxn modelId="{4520BC68-BD2B-460B-A83F-469647C30DF9}" srcId="{04E3C8B1-D088-449E-9252-1B468474E32E}" destId="{4AC7B05A-C560-4E16-93CE-BAB787DA6846}" srcOrd="1" destOrd="0" parTransId="{7267CC5C-6014-4020-AD5A-74005A7C49E5}" sibTransId="{01122C02-0F5C-4247-AAB1-1A4C955D01F3}"/>
    <dgm:cxn modelId="{77C9EFB6-D221-4294-93B0-8A6731B04EA6}" type="presOf" srcId="{32EEFAFC-797A-46BA-BEBE-B22A287B35A4}" destId="{09F7F510-F316-4606-895A-D5D205B26918}" srcOrd="0" destOrd="0" presId="urn:microsoft.com/office/officeart/2018/2/layout/IconVerticalSolidList"/>
    <dgm:cxn modelId="{A0C61CE1-8071-4EF7-A4E3-7BAB3CD5DD6E}" srcId="{04E3C8B1-D088-449E-9252-1B468474E32E}" destId="{32EEFAFC-797A-46BA-BEBE-B22A287B35A4}" srcOrd="0" destOrd="0" parTransId="{98DA653C-76C3-4113-83C8-AE5AF1F3D0A8}" sibTransId="{C33BB2EE-0D24-4193-BBD6-265ED40532EC}"/>
    <dgm:cxn modelId="{01C576BB-8962-43E3-B7C9-8873C896731D}" type="presParOf" srcId="{E286BB2B-56A9-4717-A6B9-8DEB4F03BF00}" destId="{3ABF9CDB-EF0F-4046-9CF5-67AFF9F39844}" srcOrd="0" destOrd="0" presId="urn:microsoft.com/office/officeart/2018/2/layout/IconVerticalSolidList"/>
    <dgm:cxn modelId="{F9FFFFD2-F3FE-477A-812F-84BE4C39ECC6}" type="presParOf" srcId="{3ABF9CDB-EF0F-4046-9CF5-67AFF9F39844}" destId="{525B4E50-552B-4900-BB08-13A4F28BBAC8}" srcOrd="0" destOrd="0" presId="urn:microsoft.com/office/officeart/2018/2/layout/IconVerticalSolidList"/>
    <dgm:cxn modelId="{7F2728D1-A0D0-403F-BC4F-9980271B8547}" type="presParOf" srcId="{3ABF9CDB-EF0F-4046-9CF5-67AFF9F39844}" destId="{C5F6F042-6D2E-4AAC-B81C-249D55B01A4C}" srcOrd="1" destOrd="0" presId="urn:microsoft.com/office/officeart/2018/2/layout/IconVerticalSolidList"/>
    <dgm:cxn modelId="{EC1BB40E-BA49-4A72-B773-BC0AA1314725}" type="presParOf" srcId="{3ABF9CDB-EF0F-4046-9CF5-67AFF9F39844}" destId="{2626E372-F0B0-4933-9946-D7FD04B38303}" srcOrd="2" destOrd="0" presId="urn:microsoft.com/office/officeart/2018/2/layout/IconVerticalSolidList"/>
    <dgm:cxn modelId="{7A293C14-1F06-4AE5-9333-381B006B9860}" type="presParOf" srcId="{3ABF9CDB-EF0F-4046-9CF5-67AFF9F39844}" destId="{09F7F510-F316-4606-895A-D5D205B26918}" srcOrd="3" destOrd="0" presId="urn:microsoft.com/office/officeart/2018/2/layout/IconVerticalSolidList"/>
    <dgm:cxn modelId="{DCB54D51-8D23-4428-AEB3-E209196CAAAB}" type="presParOf" srcId="{E286BB2B-56A9-4717-A6B9-8DEB4F03BF00}" destId="{2D58BB72-977F-46FB-B143-28A004BA8BB1}" srcOrd="1" destOrd="0" presId="urn:microsoft.com/office/officeart/2018/2/layout/IconVerticalSolidList"/>
    <dgm:cxn modelId="{25EBC789-6C8C-4D08-84C4-647581D108A9}" type="presParOf" srcId="{E286BB2B-56A9-4717-A6B9-8DEB4F03BF00}" destId="{CC1ED70B-4CB0-4A5C-B07C-EDE3B0DB4631}" srcOrd="2" destOrd="0" presId="urn:microsoft.com/office/officeart/2018/2/layout/IconVerticalSolidList"/>
    <dgm:cxn modelId="{2BBA9226-1F85-4263-8B5F-B42E4759EEF5}" type="presParOf" srcId="{CC1ED70B-4CB0-4A5C-B07C-EDE3B0DB4631}" destId="{FEF158C0-8BAE-4100-A942-BF0A8203C812}" srcOrd="0" destOrd="0" presId="urn:microsoft.com/office/officeart/2018/2/layout/IconVerticalSolidList"/>
    <dgm:cxn modelId="{9396E2EB-CFE6-411F-BA2A-4BBD185D458C}" type="presParOf" srcId="{CC1ED70B-4CB0-4A5C-B07C-EDE3B0DB4631}" destId="{FA2F1DD8-B12A-41E5-87C7-FC4726AE6931}" srcOrd="1" destOrd="0" presId="urn:microsoft.com/office/officeart/2018/2/layout/IconVerticalSolidList"/>
    <dgm:cxn modelId="{08BAF99E-FC70-4CDC-8301-79C51E179972}" type="presParOf" srcId="{CC1ED70B-4CB0-4A5C-B07C-EDE3B0DB4631}" destId="{755B22C5-5167-4656-89C9-90E7F37FBEBB}" srcOrd="2" destOrd="0" presId="urn:microsoft.com/office/officeart/2018/2/layout/IconVerticalSolidList"/>
    <dgm:cxn modelId="{3054FC7F-416A-4454-98D6-4CEDE18DEF34}" type="presParOf" srcId="{CC1ED70B-4CB0-4A5C-B07C-EDE3B0DB4631}" destId="{FA9D40CB-C8A2-4AC8-8110-86A909A6B77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501B0D-99BB-4132-BEBA-CE39AB407C8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CF816E9-4C55-4692-A77E-4C98831221AD}">
      <dgm:prSet/>
      <dgm:spPr/>
      <dgm:t>
        <a:bodyPr/>
        <a:lstStyle/>
        <a:p>
          <a:r>
            <a:rPr lang="pl-PL"/>
            <a:t>Niepewność w startupie oznacza brak wiedzy o:</a:t>
          </a:r>
          <a:endParaRPr lang="en-US"/>
        </a:p>
      </dgm:t>
    </dgm:pt>
    <dgm:pt modelId="{6D2203A8-1843-4DD8-B4E9-8DE4681F02C2}" type="parTrans" cxnId="{0874ACB4-9AFC-422A-AC73-6B313521EFE9}">
      <dgm:prSet/>
      <dgm:spPr/>
      <dgm:t>
        <a:bodyPr/>
        <a:lstStyle/>
        <a:p>
          <a:endParaRPr lang="en-US"/>
        </a:p>
      </dgm:t>
    </dgm:pt>
    <dgm:pt modelId="{8BEB0E08-FE23-4ABB-8E68-B78D44DDA288}" type="sibTrans" cxnId="{0874ACB4-9AFC-422A-AC73-6B313521EFE9}">
      <dgm:prSet/>
      <dgm:spPr/>
      <dgm:t>
        <a:bodyPr/>
        <a:lstStyle/>
        <a:p>
          <a:endParaRPr lang="en-US"/>
        </a:p>
      </dgm:t>
    </dgm:pt>
    <dgm:pt modelId="{8F364415-07BC-4412-9CA0-931820A152E3}">
      <dgm:prSet/>
      <dgm:spPr/>
      <dgm:t>
        <a:bodyPr/>
        <a:lstStyle/>
        <a:p>
          <a:r>
            <a:rPr lang="en-US" dirty="0"/>
            <a:t>- </a:t>
          </a:r>
          <a:r>
            <a:rPr lang="pl-PL" dirty="0"/>
            <a:t>potrzebach klientów, </a:t>
          </a:r>
          <a:endParaRPr lang="en-US" dirty="0"/>
        </a:p>
      </dgm:t>
    </dgm:pt>
    <dgm:pt modelId="{2E3E57B8-3D4C-47D6-B22D-515637230D55}" type="parTrans" cxnId="{C9077C76-ABA0-49F2-9102-38083DA3080C}">
      <dgm:prSet/>
      <dgm:spPr/>
      <dgm:t>
        <a:bodyPr/>
        <a:lstStyle/>
        <a:p>
          <a:endParaRPr lang="en-US"/>
        </a:p>
      </dgm:t>
    </dgm:pt>
    <dgm:pt modelId="{3D951367-0A3E-47B9-BBDA-6F7534AD822F}" type="sibTrans" cxnId="{C9077C76-ABA0-49F2-9102-38083DA3080C}">
      <dgm:prSet/>
      <dgm:spPr/>
      <dgm:t>
        <a:bodyPr/>
        <a:lstStyle/>
        <a:p>
          <a:endParaRPr lang="en-US"/>
        </a:p>
      </dgm:t>
    </dgm:pt>
    <dgm:pt modelId="{447DB05F-CA04-4A7B-A289-C624E00F7CD0}">
      <dgm:prSet/>
      <dgm:spPr/>
      <dgm:t>
        <a:bodyPr/>
        <a:lstStyle/>
        <a:p>
          <a:r>
            <a:rPr lang="en-US" dirty="0"/>
            <a:t>- </a:t>
          </a:r>
          <a:r>
            <a:rPr lang="pl-PL" dirty="0"/>
            <a:t>modelu biznesowym, </a:t>
          </a:r>
          <a:endParaRPr lang="en-US" dirty="0"/>
        </a:p>
      </dgm:t>
    </dgm:pt>
    <dgm:pt modelId="{185C3936-FA3E-43CF-B822-83742DA8A245}" type="parTrans" cxnId="{03D6D9CD-6CD7-4220-9E22-ECB827CCBA82}">
      <dgm:prSet/>
      <dgm:spPr/>
      <dgm:t>
        <a:bodyPr/>
        <a:lstStyle/>
        <a:p>
          <a:endParaRPr lang="en-US"/>
        </a:p>
      </dgm:t>
    </dgm:pt>
    <dgm:pt modelId="{C7850494-131D-4D30-9161-FF8B1E47A11A}" type="sibTrans" cxnId="{03D6D9CD-6CD7-4220-9E22-ECB827CCBA82}">
      <dgm:prSet/>
      <dgm:spPr/>
      <dgm:t>
        <a:bodyPr/>
        <a:lstStyle/>
        <a:p>
          <a:endParaRPr lang="en-US"/>
        </a:p>
      </dgm:t>
    </dgm:pt>
    <dgm:pt modelId="{1BFBE9A4-EB0A-4C62-BE78-6D271D1D713A}">
      <dgm:prSet/>
      <dgm:spPr/>
      <dgm:t>
        <a:bodyPr/>
        <a:lstStyle/>
        <a:p>
          <a:r>
            <a:rPr lang="en-US" dirty="0"/>
            <a:t>- </a:t>
          </a:r>
          <a:r>
            <a:rPr lang="pl-PL" dirty="0"/>
            <a:t>technologii, </a:t>
          </a:r>
          <a:endParaRPr lang="en-US" dirty="0"/>
        </a:p>
      </dgm:t>
    </dgm:pt>
    <dgm:pt modelId="{B0D5D7C5-6861-4347-AB3E-EC7EC0E71E34}" type="parTrans" cxnId="{2ECE1A21-90F5-453B-BAEC-30AEF85ECB08}">
      <dgm:prSet/>
      <dgm:spPr/>
      <dgm:t>
        <a:bodyPr/>
        <a:lstStyle/>
        <a:p>
          <a:endParaRPr lang="en-US"/>
        </a:p>
      </dgm:t>
    </dgm:pt>
    <dgm:pt modelId="{944A2D76-51CC-489F-AC62-C714988113CD}" type="sibTrans" cxnId="{2ECE1A21-90F5-453B-BAEC-30AEF85ECB08}">
      <dgm:prSet/>
      <dgm:spPr/>
      <dgm:t>
        <a:bodyPr/>
        <a:lstStyle/>
        <a:p>
          <a:endParaRPr lang="en-US"/>
        </a:p>
      </dgm:t>
    </dgm:pt>
    <dgm:pt modelId="{CD1C5925-EA61-4CBD-B74E-A2BE4B0A628A}">
      <dgm:prSet/>
      <dgm:spPr/>
      <dgm:t>
        <a:bodyPr/>
        <a:lstStyle/>
        <a:p>
          <a:r>
            <a:rPr lang="en-US" dirty="0"/>
            <a:t>- </a:t>
          </a:r>
          <a:r>
            <a:rPr lang="pl-PL" dirty="0"/>
            <a:t>konkurencji.</a:t>
          </a:r>
          <a:endParaRPr lang="en-US" dirty="0"/>
        </a:p>
      </dgm:t>
    </dgm:pt>
    <dgm:pt modelId="{4CDEC206-1D82-486E-8356-2514723C24DC}" type="parTrans" cxnId="{D6029E5B-246D-40BA-85E3-E107B4FB94F5}">
      <dgm:prSet/>
      <dgm:spPr/>
      <dgm:t>
        <a:bodyPr/>
        <a:lstStyle/>
        <a:p>
          <a:endParaRPr lang="en-US"/>
        </a:p>
      </dgm:t>
    </dgm:pt>
    <dgm:pt modelId="{0BBB94B9-FDC0-4691-B637-2BBF43436C8F}" type="sibTrans" cxnId="{D6029E5B-246D-40BA-85E3-E107B4FB94F5}">
      <dgm:prSet/>
      <dgm:spPr/>
      <dgm:t>
        <a:bodyPr/>
        <a:lstStyle/>
        <a:p>
          <a:endParaRPr lang="en-US"/>
        </a:p>
      </dgm:t>
    </dgm:pt>
    <dgm:pt modelId="{75E9FD5F-715C-45D1-A612-892012397A90}" type="pres">
      <dgm:prSet presAssocID="{D5501B0D-99BB-4132-BEBA-CE39AB407C8E}" presName="vert0" presStyleCnt="0">
        <dgm:presLayoutVars>
          <dgm:dir/>
          <dgm:animOne val="branch"/>
          <dgm:animLvl val="lvl"/>
        </dgm:presLayoutVars>
      </dgm:prSet>
      <dgm:spPr/>
    </dgm:pt>
    <dgm:pt modelId="{0D1C522F-0AE3-4E3F-A061-08B2931EBEB4}" type="pres">
      <dgm:prSet presAssocID="{6CF816E9-4C55-4692-A77E-4C98831221AD}" presName="thickLine" presStyleLbl="alignNode1" presStyleIdx="0" presStyleCnt="5"/>
      <dgm:spPr/>
    </dgm:pt>
    <dgm:pt modelId="{4918E652-4946-4F73-A11C-4FA11C9F164C}" type="pres">
      <dgm:prSet presAssocID="{6CF816E9-4C55-4692-A77E-4C98831221AD}" presName="horz1" presStyleCnt="0"/>
      <dgm:spPr/>
    </dgm:pt>
    <dgm:pt modelId="{D102D91E-3C53-46AA-A964-21A7953E2E8B}" type="pres">
      <dgm:prSet presAssocID="{6CF816E9-4C55-4692-A77E-4C98831221AD}" presName="tx1" presStyleLbl="revTx" presStyleIdx="0" presStyleCnt="5"/>
      <dgm:spPr/>
    </dgm:pt>
    <dgm:pt modelId="{37B0D648-B43E-4AB6-A07E-C2CF30437BBB}" type="pres">
      <dgm:prSet presAssocID="{6CF816E9-4C55-4692-A77E-4C98831221AD}" presName="vert1" presStyleCnt="0"/>
      <dgm:spPr/>
    </dgm:pt>
    <dgm:pt modelId="{4222F192-7EA7-4131-A67D-BFB879040BE1}" type="pres">
      <dgm:prSet presAssocID="{8F364415-07BC-4412-9CA0-931820A152E3}" presName="thickLine" presStyleLbl="alignNode1" presStyleIdx="1" presStyleCnt="5"/>
      <dgm:spPr/>
    </dgm:pt>
    <dgm:pt modelId="{80A276E5-AAA0-4B7D-B75C-48062FEC49BA}" type="pres">
      <dgm:prSet presAssocID="{8F364415-07BC-4412-9CA0-931820A152E3}" presName="horz1" presStyleCnt="0"/>
      <dgm:spPr/>
    </dgm:pt>
    <dgm:pt modelId="{E42F5E27-445A-4910-B85A-6D6C03758F03}" type="pres">
      <dgm:prSet presAssocID="{8F364415-07BC-4412-9CA0-931820A152E3}" presName="tx1" presStyleLbl="revTx" presStyleIdx="1" presStyleCnt="5"/>
      <dgm:spPr/>
    </dgm:pt>
    <dgm:pt modelId="{89D2AC16-40E5-41C2-A28B-E78A2E4795C9}" type="pres">
      <dgm:prSet presAssocID="{8F364415-07BC-4412-9CA0-931820A152E3}" presName="vert1" presStyleCnt="0"/>
      <dgm:spPr/>
    </dgm:pt>
    <dgm:pt modelId="{7DCA54B9-0EA8-4459-B535-3E91EE8A82CD}" type="pres">
      <dgm:prSet presAssocID="{447DB05F-CA04-4A7B-A289-C624E00F7CD0}" presName="thickLine" presStyleLbl="alignNode1" presStyleIdx="2" presStyleCnt="5"/>
      <dgm:spPr/>
    </dgm:pt>
    <dgm:pt modelId="{C8C9316A-4A6D-45AC-ACD2-2BFB2BD1C866}" type="pres">
      <dgm:prSet presAssocID="{447DB05F-CA04-4A7B-A289-C624E00F7CD0}" presName="horz1" presStyleCnt="0"/>
      <dgm:spPr/>
    </dgm:pt>
    <dgm:pt modelId="{6440D53A-78ED-4B88-80A8-356D1D19C6AC}" type="pres">
      <dgm:prSet presAssocID="{447DB05F-CA04-4A7B-A289-C624E00F7CD0}" presName="tx1" presStyleLbl="revTx" presStyleIdx="2" presStyleCnt="5"/>
      <dgm:spPr/>
    </dgm:pt>
    <dgm:pt modelId="{FD4CBA7B-1523-4BB7-876D-EA51DD1F7E05}" type="pres">
      <dgm:prSet presAssocID="{447DB05F-CA04-4A7B-A289-C624E00F7CD0}" presName="vert1" presStyleCnt="0"/>
      <dgm:spPr/>
    </dgm:pt>
    <dgm:pt modelId="{79939ACD-96C1-4087-9EEA-E0E7C50D9E7D}" type="pres">
      <dgm:prSet presAssocID="{1BFBE9A4-EB0A-4C62-BE78-6D271D1D713A}" presName="thickLine" presStyleLbl="alignNode1" presStyleIdx="3" presStyleCnt="5"/>
      <dgm:spPr/>
    </dgm:pt>
    <dgm:pt modelId="{110975FF-3BDB-4F52-A210-F018D269A955}" type="pres">
      <dgm:prSet presAssocID="{1BFBE9A4-EB0A-4C62-BE78-6D271D1D713A}" presName="horz1" presStyleCnt="0"/>
      <dgm:spPr/>
    </dgm:pt>
    <dgm:pt modelId="{1D44E982-85E9-4A89-BB0D-79DB227FE23C}" type="pres">
      <dgm:prSet presAssocID="{1BFBE9A4-EB0A-4C62-BE78-6D271D1D713A}" presName="tx1" presStyleLbl="revTx" presStyleIdx="3" presStyleCnt="5"/>
      <dgm:spPr/>
    </dgm:pt>
    <dgm:pt modelId="{DA5AF065-D2EA-464F-B091-7991568300F6}" type="pres">
      <dgm:prSet presAssocID="{1BFBE9A4-EB0A-4C62-BE78-6D271D1D713A}" presName="vert1" presStyleCnt="0"/>
      <dgm:spPr/>
    </dgm:pt>
    <dgm:pt modelId="{B20D5089-9C26-4B71-BD67-21F3DF1B9E53}" type="pres">
      <dgm:prSet presAssocID="{CD1C5925-EA61-4CBD-B74E-A2BE4B0A628A}" presName="thickLine" presStyleLbl="alignNode1" presStyleIdx="4" presStyleCnt="5"/>
      <dgm:spPr/>
    </dgm:pt>
    <dgm:pt modelId="{769059AC-E6E4-494E-9390-421DD2CD96F3}" type="pres">
      <dgm:prSet presAssocID="{CD1C5925-EA61-4CBD-B74E-A2BE4B0A628A}" presName="horz1" presStyleCnt="0"/>
      <dgm:spPr/>
    </dgm:pt>
    <dgm:pt modelId="{F036980B-2459-4AA1-AE80-D098A9314699}" type="pres">
      <dgm:prSet presAssocID="{CD1C5925-EA61-4CBD-B74E-A2BE4B0A628A}" presName="tx1" presStyleLbl="revTx" presStyleIdx="4" presStyleCnt="5"/>
      <dgm:spPr/>
    </dgm:pt>
    <dgm:pt modelId="{6DC023E2-61F6-4368-AF88-3398E153431D}" type="pres">
      <dgm:prSet presAssocID="{CD1C5925-EA61-4CBD-B74E-A2BE4B0A628A}" presName="vert1" presStyleCnt="0"/>
      <dgm:spPr/>
    </dgm:pt>
  </dgm:ptLst>
  <dgm:cxnLst>
    <dgm:cxn modelId="{BEFF4F1E-9244-4424-8020-3FF59E86F9B5}" type="presOf" srcId="{1BFBE9A4-EB0A-4C62-BE78-6D271D1D713A}" destId="{1D44E982-85E9-4A89-BB0D-79DB227FE23C}" srcOrd="0" destOrd="0" presId="urn:microsoft.com/office/officeart/2008/layout/LinedList"/>
    <dgm:cxn modelId="{2ECE1A21-90F5-453B-BAEC-30AEF85ECB08}" srcId="{D5501B0D-99BB-4132-BEBA-CE39AB407C8E}" destId="{1BFBE9A4-EB0A-4C62-BE78-6D271D1D713A}" srcOrd="3" destOrd="0" parTransId="{B0D5D7C5-6861-4347-AB3E-EC7EC0E71E34}" sibTransId="{944A2D76-51CC-489F-AC62-C714988113CD}"/>
    <dgm:cxn modelId="{9BBB1D38-8635-4833-9A8D-02DE78CDABEB}" type="presOf" srcId="{8F364415-07BC-4412-9CA0-931820A152E3}" destId="{E42F5E27-445A-4910-B85A-6D6C03758F03}" srcOrd="0" destOrd="0" presId="urn:microsoft.com/office/officeart/2008/layout/LinedList"/>
    <dgm:cxn modelId="{D6029E5B-246D-40BA-85E3-E107B4FB94F5}" srcId="{D5501B0D-99BB-4132-BEBA-CE39AB407C8E}" destId="{CD1C5925-EA61-4CBD-B74E-A2BE4B0A628A}" srcOrd="4" destOrd="0" parTransId="{4CDEC206-1D82-486E-8356-2514723C24DC}" sibTransId="{0BBB94B9-FDC0-4691-B637-2BBF43436C8F}"/>
    <dgm:cxn modelId="{923C2A6E-F251-498B-9B86-BF64EC85E4C4}" type="presOf" srcId="{CD1C5925-EA61-4CBD-B74E-A2BE4B0A628A}" destId="{F036980B-2459-4AA1-AE80-D098A9314699}" srcOrd="0" destOrd="0" presId="urn:microsoft.com/office/officeart/2008/layout/LinedList"/>
    <dgm:cxn modelId="{C9077C76-ABA0-49F2-9102-38083DA3080C}" srcId="{D5501B0D-99BB-4132-BEBA-CE39AB407C8E}" destId="{8F364415-07BC-4412-9CA0-931820A152E3}" srcOrd="1" destOrd="0" parTransId="{2E3E57B8-3D4C-47D6-B22D-515637230D55}" sibTransId="{3D951367-0A3E-47B9-BBDA-6F7534AD822F}"/>
    <dgm:cxn modelId="{A6709F87-72F6-4FC4-B6A1-CBB6128B9971}" type="presOf" srcId="{6CF816E9-4C55-4692-A77E-4C98831221AD}" destId="{D102D91E-3C53-46AA-A964-21A7953E2E8B}" srcOrd="0" destOrd="0" presId="urn:microsoft.com/office/officeart/2008/layout/LinedList"/>
    <dgm:cxn modelId="{0874ACB4-9AFC-422A-AC73-6B313521EFE9}" srcId="{D5501B0D-99BB-4132-BEBA-CE39AB407C8E}" destId="{6CF816E9-4C55-4692-A77E-4C98831221AD}" srcOrd="0" destOrd="0" parTransId="{6D2203A8-1843-4DD8-B4E9-8DE4681F02C2}" sibTransId="{8BEB0E08-FE23-4ABB-8E68-B78D44DDA288}"/>
    <dgm:cxn modelId="{03D6D9CD-6CD7-4220-9E22-ECB827CCBA82}" srcId="{D5501B0D-99BB-4132-BEBA-CE39AB407C8E}" destId="{447DB05F-CA04-4A7B-A289-C624E00F7CD0}" srcOrd="2" destOrd="0" parTransId="{185C3936-FA3E-43CF-B822-83742DA8A245}" sibTransId="{C7850494-131D-4D30-9161-FF8B1E47A11A}"/>
    <dgm:cxn modelId="{BB80D4D0-9132-41C4-87F4-E4E1080622A0}" type="presOf" srcId="{D5501B0D-99BB-4132-BEBA-CE39AB407C8E}" destId="{75E9FD5F-715C-45D1-A612-892012397A90}" srcOrd="0" destOrd="0" presId="urn:microsoft.com/office/officeart/2008/layout/LinedList"/>
    <dgm:cxn modelId="{75F20AD8-852D-40A3-BC0B-3939CF0F6289}" type="presOf" srcId="{447DB05F-CA04-4A7B-A289-C624E00F7CD0}" destId="{6440D53A-78ED-4B88-80A8-356D1D19C6AC}" srcOrd="0" destOrd="0" presId="urn:microsoft.com/office/officeart/2008/layout/LinedList"/>
    <dgm:cxn modelId="{4251D967-5C01-4E42-9EDE-FD61D7C65C3F}" type="presParOf" srcId="{75E9FD5F-715C-45D1-A612-892012397A90}" destId="{0D1C522F-0AE3-4E3F-A061-08B2931EBEB4}" srcOrd="0" destOrd="0" presId="urn:microsoft.com/office/officeart/2008/layout/LinedList"/>
    <dgm:cxn modelId="{52573ACD-2088-4297-9C63-1EC764B1CB68}" type="presParOf" srcId="{75E9FD5F-715C-45D1-A612-892012397A90}" destId="{4918E652-4946-4F73-A11C-4FA11C9F164C}" srcOrd="1" destOrd="0" presId="urn:microsoft.com/office/officeart/2008/layout/LinedList"/>
    <dgm:cxn modelId="{7153A352-8FA3-49C5-BA01-1651339DB346}" type="presParOf" srcId="{4918E652-4946-4F73-A11C-4FA11C9F164C}" destId="{D102D91E-3C53-46AA-A964-21A7953E2E8B}" srcOrd="0" destOrd="0" presId="urn:microsoft.com/office/officeart/2008/layout/LinedList"/>
    <dgm:cxn modelId="{A45AE780-F4D2-4ED1-B3D5-3856F230F7B8}" type="presParOf" srcId="{4918E652-4946-4F73-A11C-4FA11C9F164C}" destId="{37B0D648-B43E-4AB6-A07E-C2CF30437BBB}" srcOrd="1" destOrd="0" presId="urn:microsoft.com/office/officeart/2008/layout/LinedList"/>
    <dgm:cxn modelId="{798BC0C0-9F11-43B9-A7F1-4236F482D467}" type="presParOf" srcId="{75E9FD5F-715C-45D1-A612-892012397A90}" destId="{4222F192-7EA7-4131-A67D-BFB879040BE1}" srcOrd="2" destOrd="0" presId="urn:microsoft.com/office/officeart/2008/layout/LinedList"/>
    <dgm:cxn modelId="{EAB2EBF0-654F-438E-8F84-9318D1A251D7}" type="presParOf" srcId="{75E9FD5F-715C-45D1-A612-892012397A90}" destId="{80A276E5-AAA0-4B7D-B75C-48062FEC49BA}" srcOrd="3" destOrd="0" presId="urn:microsoft.com/office/officeart/2008/layout/LinedList"/>
    <dgm:cxn modelId="{3EFED7FE-1246-483E-82D9-7192F4095659}" type="presParOf" srcId="{80A276E5-AAA0-4B7D-B75C-48062FEC49BA}" destId="{E42F5E27-445A-4910-B85A-6D6C03758F03}" srcOrd="0" destOrd="0" presId="urn:microsoft.com/office/officeart/2008/layout/LinedList"/>
    <dgm:cxn modelId="{3E6324D5-2045-4192-8761-58010232A07F}" type="presParOf" srcId="{80A276E5-AAA0-4B7D-B75C-48062FEC49BA}" destId="{89D2AC16-40E5-41C2-A28B-E78A2E4795C9}" srcOrd="1" destOrd="0" presId="urn:microsoft.com/office/officeart/2008/layout/LinedList"/>
    <dgm:cxn modelId="{1FCCE677-9F24-4678-81EE-9DA0F48FCE4F}" type="presParOf" srcId="{75E9FD5F-715C-45D1-A612-892012397A90}" destId="{7DCA54B9-0EA8-4459-B535-3E91EE8A82CD}" srcOrd="4" destOrd="0" presId="urn:microsoft.com/office/officeart/2008/layout/LinedList"/>
    <dgm:cxn modelId="{FF3E33B1-A3B2-4DC6-A9FB-C4D9DF370550}" type="presParOf" srcId="{75E9FD5F-715C-45D1-A612-892012397A90}" destId="{C8C9316A-4A6D-45AC-ACD2-2BFB2BD1C866}" srcOrd="5" destOrd="0" presId="urn:microsoft.com/office/officeart/2008/layout/LinedList"/>
    <dgm:cxn modelId="{21B1360B-D98E-4C30-B5C7-9EF4C4FD199B}" type="presParOf" srcId="{C8C9316A-4A6D-45AC-ACD2-2BFB2BD1C866}" destId="{6440D53A-78ED-4B88-80A8-356D1D19C6AC}" srcOrd="0" destOrd="0" presId="urn:microsoft.com/office/officeart/2008/layout/LinedList"/>
    <dgm:cxn modelId="{A240139F-3169-4015-B173-5C48DDAC327A}" type="presParOf" srcId="{C8C9316A-4A6D-45AC-ACD2-2BFB2BD1C866}" destId="{FD4CBA7B-1523-4BB7-876D-EA51DD1F7E05}" srcOrd="1" destOrd="0" presId="urn:microsoft.com/office/officeart/2008/layout/LinedList"/>
    <dgm:cxn modelId="{0DA6BEAA-44D5-4F27-87CC-F1815A5F9578}" type="presParOf" srcId="{75E9FD5F-715C-45D1-A612-892012397A90}" destId="{79939ACD-96C1-4087-9EEA-E0E7C50D9E7D}" srcOrd="6" destOrd="0" presId="urn:microsoft.com/office/officeart/2008/layout/LinedList"/>
    <dgm:cxn modelId="{8E08940B-6765-421A-AD28-83CE3EC0A0D9}" type="presParOf" srcId="{75E9FD5F-715C-45D1-A612-892012397A90}" destId="{110975FF-3BDB-4F52-A210-F018D269A955}" srcOrd="7" destOrd="0" presId="urn:microsoft.com/office/officeart/2008/layout/LinedList"/>
    <dgm:cxn modelId="{91876E7B-94BD-44A1-873F-C105F3C83F34}" type="presParOf" srcId="{110975FF-3BDB-4F52-A210-F018D269A955}" destId="{1D44E982-85E9-4A89-BB0D-79DB227FE23C}" srcOrd="0" destOrd="0" presId="urn:microsoft.com/office/officeart/2008/layout/LinedList"/>
    <dgm:cxn modelId="{155A8C91-11E9-49C4-AA71-447646326491}" type="presParOf" srcId="{110975FF-3BDB-4F52-A210-F018D269A955}" destId="{DA5AF065-D2EA-464F-B091-7991568300F6}" srcOrd="1" destOrd="0" presId="urn:microsoft.com/office/officeart/2008/layout/LinedList"/>
    <dgm:cxn modelId="{738BDFCF-4960-4BB4-85C0-C5D85AE42210}" type="presParOf" srcId="{75E9FD5F-715C-45D1-A612-892012397A90}" destId="{B20D5089-9C26-4B71-BD67-21F3DF1B9E53}" srcOrd="8" destOrd="0" presId="urn:microsoft.com/office/officeart/2008/layout/LinedList"/>
    <dgm:cxn modelId="{4D23DE90-DA5A-4F39-BB3B-821B0082E77E}" type="presParOf" srcId="{75E9FD5F-715C-45D1-A612-892012397A90}" destId="{769059AC-E6E4-494E-9390-421DD2CD96F3}" srcOrd="9" destOrd="0" presId="urn:microsoft.com/office/officeart/2008/layout/LinedList"/>
    <dgm:cxn modelId="{66D65E6E-9DE7-4B53-ABD2-2E222F041F4A}" type="presParOf" srcId="{769059AC-E6E4-494E-9390-421DD2CD96F3}" destId="{F036980B-2459-4AA1-AE80-D098A9314699}" srcOrd="0" destOrd="0" presId="urn:microsoft.com/office/officeart/2008/layout/LinedList"/>
    <dgm:cxn modelId="{28B577AA-FCD7-4AA0-AA43-4D90CB782E79}" type="presParOf" srcId="{769059AC-E6E4-494E-9390-421DD2CD96F3}" destId="{6DC023E2-61F6-4368-AF88-3398E153431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BC66A5-259C-460C-B0A5-D0CB37C49A84}" type="doc">
      <dgm:prSet loTypeId="urn:microsoft.com/office/officeart/2005/8/layout/vProcess5" loCatId="process" qsTypeId="urn:microsoft.com/office/officeart/2005/8/quickstyle/simple4" qsCatId="simple" csTypeId="urn:microsoft.com/office/officeart/2005/8/colors/colorful5" csCatId="colorful"/>
      <dgm:spPr/>
      <dgm:t>
        <a:bodyPr/>
        <a:lstStyle/>
        <a:p>
          <a:endParaRPr lang="en-US"/>
        </a:p>
      </dgm:t>
    </dgm:pt>
    <dgm:pt modelId="{43C71332-87EF-4ED9-BB67-D96C83B81CF8}">
      <dgm:prSet/>
      <dgm:spPr/>
      <dgm:t>
        <a:bodyPr/>
        <a:lstStyle/>
        <a:p>
          <a:r>
            <a:rPr lang="pl-PL"/>
            <a:t>Niepewność zarządza się poprzez:</a:t>
          </a:r>
          <a:endParaRPr lang="en-US"/>
        </a:p>
      </dgm:t>
    </dgm:pt>
    <dgm:pt modelId="{7A0933FE-3601-4639-B0DF-1DBDA7D02C15}" type="parTrans" cxnId="{54A2882C-A762-4A0F-99B2-5EAF8917E5D8}">
      <dgm:prSet/>
      <dgm:spPr/>
      <dgm:t>
        <a:bodyPr/>
        <a:lstStyle/>
        <a:p>
          <a:endParaRPr lang="en-US"/>
        </a:p>
      </dgm:t>
    </dgm:pt>
    <dgm:pt modelId="{7B5317E1-AC85-4422-8A4B-CD19AA73423C}" type="sibTrans" cxnId="{54A2882C-A762-4A0F-99B2-5EAF8917E5D8}">
      <dgm:prSet/>
      <dgm:spPr/>
      <dgm:t>
        <a:bodyPr/>
        <a:lstStyle/>
        <a:p>
          <a:endParaRPr lang="en-US"/>
        </a:p>
      </dgm:t>
    </dgm:pt>
    <dgm:pt modelId="{1F539611-CE7D-40DB-A770-9C12AB7FEE07}">
      <dgm:prSet/>
      <dgm:spPr/>
      <dgm:t>
        <a:bodyPr/>
        <a:lstStyle/>
        <a:p>
          <a:r>
            <a:rPr lang="pl-PL"/>
            <a:t>szybkie eksperymenty, </a:t>
          </a:r>
          <a:endParaRPr lang="en-US"/>
        </a:p>
      </dgm:t>
    </dgm:pt>
    <dgm:pt modelId="{AA4CB04E-7B49-4E12-880D-D282ED506F11}" type="parTrans" cxnId="{69C9AC46-068F-4A93-AD65-6EBA8887853D}">
      <dgm:prSet/>
      <dgm:spPr/>
      <dgm:t>
        <a:bodyPr/>
        <a:lstStyle/>
        <a:p>
          <a:endParaRPr lang="en-US"/>
        </a:p>
      </dgm:t>
    </dgm:pt>
    <dgm:pt modelId="{DB13BDCE-7B87-4374-9DDC-FF7D9EFAD6BD}" type="sibTrans" cxnId="{69C9AC46-068F-4A93-AD65-6EBA8887853D}">
      <dgm:prSet/>
      <dgm:spPr/>
      <dgm:t>
        <a:bodyPr/>
        <a:lstStyle/>
        <a:p>
          <a:endParaRPr lang="en-US"/>
        </a:p>
      </dgm:t>
    </dgm:pt>
    <dgm:pt modelId="{936BD00B-A4F0-4EB1-AEFE-B578C34D11B8}">
      <dgm:prSet/>
      <dgm:spPr/>
      <dgm:t>
        <a:bodyPr/>
        <a:lstStyle/>
        <a:p>
          <a:r>
            <a:rPr lang="pl-PL"/>
            <a:t>iteracyjne podejście, </a:t>
          </a:r>
          <a:endParaRPr lang="en-US"/>
        </a:p>
      </dgm:t>
    </dgm:pt>
    <dgm:pt modelId="{CB100A25-C1A8-457D-8D90-8458D4711C5F}" type="parTrans" cxnId="{874F539C-EC42-4F6E-898A-5D079BF88D0B}">
      <dgm:prSet/>
      <dgm:spPr/>
      <dgm:t>
        <a:bodyPr/>
        <a:lstStyle/>
        <a:p>
          <a:endParaRPr lang="en-US"/>
        </a:p>
      </dgm:t>
    </dgm:pt>
    <dgm:pt modelId="{F3B9BC8F-C55A-49E9-A666-18A77ECF59DB}" type="sibTrans" cxnId="{874F539C-EC42-4F6E-898A-5D079BF88D0B}">
      <dgm:prSet/>
      <dgm:spPr/>
      <dgm:t>
        <a:bodyPr/>
        <a:lstStyle/>
        <a:p>
          <a:endParaRPr lang="en-US"/>
        </a:p>
      </dgm:t>
    </dgm:pt>
    <dgm:pt modelId="{F6DB7CD6-BFFA-4F49-BCD2-2E9961F828EE}">
      <dgm:prSet/>
      <dgm:spPr/>
      <dgm:t>
        <a:bodyPr/>
        <a:lstStyle/>
        <a:p>
          <a:r>
            <a:rPr lang="pl-PL"/>
            <a:t>częste feedbacki, </a:t>
          </a:r>
          <a:endParaRPr lang="en-US"/>
        </a:p>
      </dgm:t>
    </dgm:pt>
    <dgm:pt modelId="{EA686D31-D295-40B3-A2FC-ED4F6D30E390}" type="parTrans" cxnId="{27E8C541-8DCE-4249-AFA4-5CECD8C6B66E}">
      <dgm:prSet/>
      <dgm:spPr/>
      <dgm:t>
        <a:bodyPr/>
        <a:lstStyle/>
        <a:p>
          <a:endParaRPr lang="en-US"/>
        </a:p>
      </dgm:t>
    </dgm:pt>
    <dgm:pt modelId="{12586778-7561-48BE-9751-4EDE0CC3B262}" type="sibTrans" cxnId="{27E8C541-8DCE-4249-AFA4-5CECD8C6B66E}">
      <dgm:prSet/>
      <dgm:spPr/>
      <dgm:t>
        <a:bodyPr/>
        <a:lstStyle/>
        <a:p>
          <a:endParaRPr lang="en-US"/>
        </a:p>
      </dgm:t>
    </dgm:pt>
    <dgm:pt modelId="{905DE6C3-6F16-4F6F-872F-B666D0C34AC4}">
      <dgm:prSet/>
      <dgm:spPr/>
      <dgm:t>
        <a:bodyPr/>
        <a:lstStyle/>
        <a:p>
          <a:r>
            <a:rPr lang="pl-PL"/>
            <a:t>minimalizację kosztów błędów.</a:t>
          </a:r>
          <a:endParaRPr lang="en-US"/>
        </a:p>
      </dgm:t>
    </dgm:pt>
    <dgm:pt modelId="{9704222F-3787-4012-A0AD-23531B4F8D13}" type="parTrans" cxnId="{10253E3D-A887-4DEA-B9E3-6645C21BE9DE}">
      <dgm:prSet/>
      <dgm:spPr/>
      <dgm:t>
        <a:bodyPr/>
        <a:lstStyle/>
        <a:p>
          <a:endParaRPr lang="en-US"/>
        </a:p>
      </dgm:t>
    </dgm:pt>
    <dgm:pt modelId="{96EAED3D-0D29-4734-8E53-30DD8AFF7B6A}" type="sibTrans" cxnId="{10253E3D-A887-4DEA-B9E3-6645C21BE9DE}">
      <dgm:prSet/>
      <dgm:spPr/>
      <dgm:t>
        <a:bodyPr/>
        <a:lstStyle/>
        <a:p>
          <a:endParaRPr lang="en-US"/>
        </a:p>
      </dgm:t>
    </dgm:pt>
    <dgm:pt modelId="{99C7E42E-761A-4D25-AC22-12B3CF95F2E4}" type="pres">
      <dgm:prSet presAssocID="{99BC66A5-259C-460C-B0A5-D0CB37C49A84}" presName="outerComposite" presStyleCnt="0">
        <dgm:presLayoutVars>
          <dgm:chMax val="5"/>
          <dgm:dir/>
          <dgm:resizeHandles val="exact"/>
        </dgm:presLayoutVars>
      </dgm:prSet>
      <dgm:spPr/>
    </dgm:pt>
    <dgm:pt modelId="{0E77D60B-47F4-4840-BA46-01E22D8BFD6B}" type="pres">
      <dgm:prSet presAssocID="{99BC66A5-259C-460C-B0A5-D0CB37C49A84}" presName="dummyMaxCanvas" presStyleCnt="0">
        <dgm:presLayoutVars/>
      </dgm:prSet>
      <dgm:spPr/>
    </dgm:pt>
    <dgm:pt modelId="{31BB4BE8-0D66-4F5D-9243-0D1F4E2EEAAF}" type="pres">
      <dgm:prSet presAssocID="{99BC66A5-259C-460C-B0A5-D0CB37C49A84}" presName="FiveNodes_1" presStyleLbl="node1" presStyleIdx="0" presStyleCnt="5">
        <dgm:presLayoutVars>
          <dgm:bulletEnabled val="1"/>
        </dgm:presLayoutVars>
      </dgm:prSet>
      <dgm:spPr/>
    </dgm:pt>
    <dgm:pt modelId="{A92E83DA-6F53-4275-B52B-915A27B1DD6B}" type="pres">
      <dgm:prSet presAssocID="{99BC66A5-259C-460C-B0A5-D0CB37C49A84}" presName="FiveNodes_2" presStyleLbl="node1" presStyleIdx="1" presStyleCnt="5">
        <dgm:presLayoutVars>
          <dgm:bulletEnabled val="1"/>
        </dgm:presLayoutVars>
      </dgm:prSet>
      <dgm:spPr/>
    </dgm:pt>
    <dgm:pt modelId="{E0284E2C-29D8-4FA9-802B-EE0243815842}" type="pres">
      <dgm:prSet presAssocID="{99BC66A5-259C-460C-B0A5-D0CB37C49A84}" presName="FiveNodes_3" presStyleLbl="node1" presStyleIdx="2" presStyleCnt="5">
        <dgm:presLayoutVars>
          <dgm:bulletEnabled val="1"/>
        </dgm:presLayoutVars>
      </dgm:prSet>
      <dgm:spPr/>
    </dgm:pt>
    <dgm:pt modelId="{2F10B362-FC50-4919-9078-CB2D068D1B81}" type="pres">
      <dgm:prSet presAssocID="{99BC66A5-259C-460C-B0A5-D0CB37C49A84}" presName="FiveNodes_4" presStyleLbl="node1" presStyleIdx="3" presStyleCnt="5">
        <dgm:presLayoutVars>
          <dgm:bulletEnabled val="1"/>
        </dgm:presLayoutVars>
      </dgm:prSet>
      <dgm:spPr/>
    </dgm:pt>
    <dgm:pt modelId="{28D9AD0B-55B4-4998-A8D5-8704754B9E8A}" type="pres">
      <dgm:prSet presAssocID="{99BC66A5-259C-460C-B0A5-D0CB37C49A84}" presName="FiveNodes_5" presStyleLbl="node1" presStyleIdx="4" presStyleCnt="5">
        <dgm:presLayoutVars>
          <dgm:bulletEnabled val="1"/>
        </dgm:presLayoutVars>
      </dgm:prSet>
      <dgm:spPr/>
    </dgm:pt>
    <dgm:pt modelId="{BFD8DC96-7E72-4E86-B382-AD6DECC019C1}" type="pres">
      <dgm:prSet presAssocID="{99BC66A5-259C-460C-B0A5-D0CB37C49A84}" presName="FiveConn_1-2" presStyleLbl="fgAccFollowNode1" presStyleIdx="0" presStyleCnt="4">
        <dgm:presLayoutVars>
          <dgm:bulletEnabled val="1"/>
        </dgm:presLayoutVars>
      </dgm:prSet>
      <dgm:spPr/>
    </dgm:pt>
    <dgm:pt modelId="{BB756D2A-8475-411D-B559-5A50AADC9FC3}" type="pres">
      <dgm:prSet presAssocID="{99BC66A5-259C-460C-B0A5-D0CB37C49A84}" presName="FiveConn_2-3" presStyleLbl="fgAccFollowNode1" presStyleIdx="1" presStyleCnt="4">
        <dgm:presLayoutVars>
          <dgm:bulletEnabled val="1"/>
        </dgm:presLayoutVars>
      </dgm:prSet>
      <dgm:spPr/>
    </dgm:pt>
    <dgm:pt modelId="{6972717C-BE6E-4298-8747-B3951029635A}" type="pres">
      <dgm:prSet presAssocID="{99BC66A5-259C-460C-B0A5-D0CB37C49A84}" presName="FiveConn_3-4" presStyleLbl="fgAccFollowNode1" presStyleIdx="2" presStyleCnt="4">
        <dgm:presLayoutVars>
          <dgm:bulletEnabled val="1"/>
        </dgm:presLayoutVars>
      </dgm:prSet>
      <dgm:spPr/>
    </dgm:pt>
    <dgm:pt modelId="{D4062FAE-ED90-404C-BF30-A2AB2D97E819}" type="pres">
      <dgm:prSet presAssocID="{99BC66A5-259C-460C-B0A5-D0CB37C49A84}" presName="FiveConn_4-5" presStyleLbl="fgAccFollowNode1" presStyleIdx="3" presStyleCnt="4">
        <dgm:presLayoutVars>
          <dgm:bulletEnabled val="1"/>
        </dgm:presLayoutVars>
      </dgm:prSet>
      <dgm:spPr/>
    </dgm:pt>
    <dgm:pt modelId="{DF6F649E-0824-46ED-B0EC-C1D4694D631C}" type="pres">
      <dgm:prSet presAssocID="{99BC66A5-259C-460C-B0A5-D0CB37C49A84}" presName="FiveNodes_1_text" presStyleLbl="node1" presStyleIdx="4" presStyleCnt="5">
        <dgm:presLayoutVars>
          <dgm:bulletEnabled val="1"/>
        </dgm:presLayoutVars>
      </dgm:prSet>
      <dgm:spPr/>
    </dgm:pt>
    <dgm:pt modelId="{FB60B377-9841-47B7-8643-8E864B65E38C}" type="pres">
      <dgm:prSet presAssocID="{99BC66A5-259C-460C-B0A5-D0CB37C49A84}" presName="FiveNodes_2_text" presStyleLbl="node1" presStyleIdx="4" presStyleCnt="5">
        <dgm:presLayoutVars>
          <dgm:bulletEnabled val="1"/>
        </dgm:presLayoutVars>
      </dgm:prSet>
      <dgm:spPr/>
    </dgm:pt>
    <dgm:pt modelId="{132D8E9F-4F64-4CF3-8F74-686EFAB72ACF}" type="pres">
      <dgm:prSet presAssocID="{99BC66A5-259C-460C-B0A5-D0CB37C49A84}" presName="FiveNodes_3_text" presStyleLbl="node1" presStyleIdx="4" presStyleCnt="5">
        <dgm:presLayoutVars>
          <dgm:bulletEnabled val="1"/>
        </dgm:presLayoutVars>
      </dgm:prSet>
      <dgm:spPr/>
    </dgm:pt>
    <dgm:pt modelId="{4D07DEE4-2BD5-4041-9615-E066413CA039}" type="pres">
      <dgm:prSet presAssocID="{99BC66A5-259C-460C-B0A5-D0CB37C49A84}" presName="FiveNodes_4_text" presStyleLbl="node1" presStyleIdx="4" presStyleCnt="5">
        <dgm:presLayoutVars>
          <dgm:bulletEnabled val="1"/>
        </dgm:presLayoutVars>
      </dgm:prSet>
      <dgm:spPr/>
    </dgm:pt>
    <dgm:pt modelId="{6403DCD4-8344-4D42-8D98-94E83114C609}" type="pres">
      <dgm:prSet presAssocID="{99BC66A5-259C-460C-B0A5-D0CB37C49A84}" presName="FiveNodes_5_text" presStyleLbl="node1" presStyleIdx="4" presStyleCnt="5">
        <dgm:presLayoutVars>
          <dgm:bulletEnabled val="1"/>
        </dgm:presLayoutVars>
      </dgm:prSet>
      <dgm:spPr/>
    </dgm:pt>
  </dgm:ptLst>
  <dgm:cxnLst>
    <dgm:cxn modelId="{6834B31A-3004-4AEC-9FE6-180B2B476162}" type="presOf" srcId="{43C71332-87EF-4ED9-BB67-D96C83B81CF8}" destId="{DF6F649E-0824-46ED-B0EC-C1D4694D631C}" srcOrd="1" destOrd="0" presId="urn:microsoft.com/office/officeart/2005/8/layout/vProcess5"/>
    <dgm:cxn modelId="{54A2882C-A762-4A0F-99B2-5EAF8917E5D8}" srcId="{99BC66A5-259C-460C-B0A5-D0CB37C49A84}" destId="{43C71332-87EF-4ED9-BB67-D96C83B81CF8}" srcOrd="0" destOrd="0" parTransId="{7A0933FE-3601-4639-B0DF-1DBDA7D02C15}" sibTransId="{7B5317E1-AC85-4422-8A4B-CD19AA73423C}"/>
    <dgm:cxn modelId="{5947123B-AB0F-49E2-8429-F4CCAA8082F0}" type="presOf" srcId="{936BD00B-A4F0-4EB1-AEFE-B578C34D11B8}" destId="{132D8E9F-4F64-4CF3-8F74-686EFAB72ACF}" srcOrd="1" destOrd="0" presId="urn:microsoft.com/office/officeart/2005/8/layout/vProcess5"/>
    <dgm:cxn modelId="{10253E3D-A887-4DEA-B9E3-6645C21BE9DE}" srcId="{99BC66A5-259C-460C-B0A5-D0CB37C49A84}" destId="{905DE6C3-6F16-4F6F-872F-B666D0C34AC4}" srcOrd="4" destOrd="0" parTransId="{9704222F-3787-4012-A0AD-23531B4F8D13}" sibTransId="{96EAED3D-0D29-4734-8E53-30DD8AFF7B6A}"/>
    <dgm:cxn modelId="{27E8C541-8DCE-4249-AFA4-5CECD8C6B66E}" srcId="{99BC66A5-259C-460C-B0A5-D0CB37C49A84}" destId="{F6DB7CD6-BFFA-4F49-BCD2-2E9961F828EE}" srcOrd="3" destOrd="0" parTransId="{EA686D31-D295-40B3-A2FC-ED4F6D30E390}" sibTransId="{12586778-7561-48BE-9751-4EDE0CC3B262}"/>
    <dgm:cxn modelId="{69C9AC46-068F-4A93-AD65-6EBA8887853D}" srcId="{99BC66A5-259C-460C-B0A5-D0CB37C49A84}" destId="{1F539611-CE7D-40DB-A770-9C12AB7FEE07}" srcOrd="1" destOrd="0" parTransId="{AA4CB04E-7B49-4E12-880D-D282ED506F11}" sibTransId="{DB13BDCE-7B87-4374-9DDC-FF7D9EFAD6BD}"/>
    <dgm:cxn modelId="{39F08D51-137E-482A-BA47-227B9F4790C3}" type="presOf" srcId="{1F539611-CE7D-40DB-A770-9C12AB7FEE07}" destId="{A92E83DA-6F53-4275-B52B-915A27B1DD6B}" srcOrd="0" destOrd="0" presId="urn:microsoft.com/office/officeart/2005/8/layout/vProcess5"/>
    <dgm:cxn modelId="{874F539C-EC42-4F6E-898A-5D079BF88D0B}" srcId="{99BC66A5-259C-460C-B0A5-D0CB37C49A84}" destId="{936BD00B-A4F0-4EB1-AEFE-B578C34D11B8}" srcOrd="2" destOrd="0" parTransId="{CB100A25-C1A8-457D-8D90-8458D4711C5F}" sibTransId="{F3B9BC8F-C55A-49E9-A666-18A77ECF59DB}"/>
    <dgm:cxn modelId="{754B9DA0-0FAB-471A-AA9F-4E2B668E4C61}" type="presOf" srcId="{12586778-7561-48BE-9751-4EDE0CC3B262}" destId="{D4062FAE-ED90-404C-BF30-A2AB2D97E819}" srcOrd="0" destOrd="0" presId="urn:microsoft.com/office/officeart/2005/8/layout/vProcess5"/>
    <dgm:cxn modelId="{EFB2A9A1-506A-4AD8-8557-C56522012DAA}" type="presOf" srcId="{DB13BDCE-7B87-4374-9DDC-FF7D9EFAD6BD}" destId="{BB756D2A-8475-411D-B559-5A50AADC9FC3}" srcOrd="0" destOrd="0" presId="urn:microsoft.com/office/officeart/2005/8/layout/vProcess5"/>
    <dgm:cxn modelId="{AE688CB0-0797-43BA-A9DC-1E7FE8E16B02}" type="presOf" srcId="{936BD00B-A4F0-4EB1-AEFE-B578C34D11B8}" destId="{E0284E2C-29D8-4FA9-802B-EE0243815842}" srcOrd="0" destOrd="0" presId="urn:microsoft.com/office/officeart/2005/8/layout/vProcess5"/>
    <dgm:cxn modelId="{0F4BE4B5-DF8C-4E79-8D55-C16042BF1816}" type="presOf" srcId="{905DE6C3-6F16-4F6F-872F-B666D0C34AC4}" destId="{28D9AD0B-55B4-4998-A8D5-8704754B9E8A}" srcOrd="0" destOrd="0" presId="urn:microsoft.com/office/officeart/2005/8/layout/vProcess5"/>
    <dgm:cxn modelId="{23D554C1-AE71-4E4A-964D-35EED8889789}" type="presOf" srcId="{1F539611-CE7D-40DB-A770-9C12AB7FEE07}" destId="{FB60B377-9841-47B7-8643-8E864B65E38C}" srcOrd="1" destOrd="0" presId="urn:microsoft.com/office/officeart/2005/8/layout/vProcess5"/>
    <dgm:cxn modelId="{3020DBC1-73AB-42A4-AEB8-EFF60D5F7674}" type="presOf" srcId="{7B5317E1-AC85-4422-8A4B-CD19AA73423C}" destId="{BFD8DC96-7E72-4E86-B382-AD6DECC019C1}" srcOrd="0" destOrd="0" presId="urn:microsoft.com/office/officeart/2005/8/layout/vProcess5"/>
    <dgm:cxn modelId="{009EB1D4-4438-47E9-B608-C5B359C9777E}" type="presOf" srcId="{F3B9BC8F-C55A-49E9-A666-18A77ECF59DB}" destId="{6972717C-BE6E-4298-8747-B3951029635A}" srcOrd="0" destOrd="0" presId="urn:microsoft.com/office/officeart/2005/8/layout/vProcess5"/>
    <dgm:cxn modelId="{A1E6B1D4-DF36-4421-9363-C3AB7DB6CA11}" type="presOf" srcId="{F6DB7CD6-BFFA-4F49-BCD2-2E9961F828EE}" destId="{2F10B362-FC50-4919-9078-CB2D068D1B81}" srcOrd="0" destOrd="0" presId="urn:microsoft.com/office/officeart/2005/8/layout/vProcess5"/>
    <dgm:cxn modelId="{726920E8-307B-4549-9E92-1F968F4D8C82}" type="presOf" srcId="{99BC66A5-259C-460C-B0A5-D0CB37C49A84}" destId="{99C7E42E-761A-4D25-AC22-12B3CF95F2E4}" srcOrd="0" destOrd="0" presId="urn:microsoft.com/office/officeart/2005/8/layout/vProcess5"/>
    <dgm:cxn modelId="{648D9AEB-7FE6-43C4-AE82-DD51BBDD78CB}" type="presOf" srcId="{905DE6C3-6F16-4F6F-872F-B666D0C34AC4}" destId="{6403DCD4-8344-4D42-8D98-94E83114C609}" srcOrd="1" destOrd="0" presId="urn:microsoft.com/office/officeart/2005/8/layout/vProcess5"/>
    <dgm:cxn modelId="{DEBBDCF3-6F6D-4F79-9FFA-51D6B97032B6}" type="presOf" srcId="{43C71332-87EF-4ED9-BB67-D96C83B81CF8}" destId="{31BB4BE8-0D66-4F5D-9243-0D1F4E2EEAAF}" srcOrd="0" destOrd="0" presId="urn:microsoft.com/office/officeart/2005/8/layout/vProcess5"/>
    <dgm:cxn modelId="{83E790FB-8CD2-484C-9DE8-557FB4E5B69E}" type="presOf" srcId="{F6DB7CD6-BFFA-4F49-BCD2-2E9961F828EE}" destId="{4D07DEE4-2BD5-4041-9615-E066413CA039}" srcOrd="1" destOrd="0" presId="urn:microsoft.com/office/officeart/2005/8/layout/vProcess5"/>
    <dgm:cxn modelId="{D607FA4A-57D0-4348-821D-B3C421CB8A6A}" type="presParOf" srcId="{99C7E42E-761A-4D25-AC22-12B3CF95F2E4}" destId="{0E77D60B-47F4-4840-BA46-01E22D8BFD6B}" srcOrd="0" destOrd="0" presId="urn:microsoft.com/office/officeart/2005/8/layout/vProcess5"/>
    <dgm:cxn modelId="{FFC98487-F988-4189-9BB7-09645768152F}" type="presParOf" srcId="{99C7E42E-761A-4D25-AC22-12B3CF95F2E4}" destId="{31BB4BE8-0D66-4F5D-9243-0D1F4E2EEAAF}" srcOrd="1" destOrd="0" presId="urn:microsoft.com/office/officeart/2005/8/layout/vProcess5"/>
    <dgm:cxn modelId="{05DEC70A-6B8B-4A2C-B875-B9B3CC822E3E}" type="presParOf" srcId="{99C7E42E-761A-4D25-AC22-12B3CF95F2E4}" destId="{A92E83DA-6F53-4275-B52B-915A27B1DD6B}" srcOrd="2" destOrd="0" presId="urn:microsoft.com/office/officeart/2005/8/layout/vProcess5"/>
    <dgm:cxn modelId="{4A34BE6F-053B-4012-83F7-957A465612DD}" type="presParOf" srcId="{99C7E42E-761A-4D25-AC22-12B3CF95F2E4}" destId="{E0284E2C-29D8-4FA9-802B-EE0243815842}" srcOrd="3" destOrd="0" presId="urn:microsoft.com/office/officeart/2005/8/layout/vProcess5"/>
    <dgm:cxn modelId="{E5FDC01B-B0D7-48E4-BFD3-12F7D9DDD8EA}" type="presParOf" srcId="{99C7E42E-761A-4D25-AC22-12B3CF95F2E4}" destId="{2F10B362-FC50-4919-9078-CB2D068D1B81}" srcOrd="4" destOrd="0" presId="urn:microsoft.com/office/officeart/2005/8/layout/vProcess5"/>
    <dgm:cxn modelId="{AE8EC283-8DDA-40B3-887B-8265D5ED9D9D}" type="presParOf" srcId="{99C7E42E-761A-4D25-AC22-12B3CF95F2E4}" destId="{28D9AD0B-55B4-4998-A8D5-8704754B9E8A}" srcOrd="5" destOrd="0" presId="urn:microsoft.com/office/officeart/2005/8/layout/vProcess5"/>
    <dgm:cxn modelId="{210735D5-DC71-4561-B260-F1A1A2AA687C}" type="presParOf" srcId="{99C7E42E-761A-4D25-AC22-12B3CF95F2E4}" destId="{BFD8DC96-7E72-4E86-B382-AD6DECC019C1}" srcOrd="6" destOrd="0" presId="urn:microsoft.com/office/officeart/2005/8/layout/vProcess5"/>
    <dgm:cxn modelId="{1880A389-3F98-470D-A039-7953EDE0DAE9}" type="presParOf" srcId="{99C7E42E-761A-4D25-AC22-12B3CF95F2E4}" destId="{BB756D2A-8475-411D-B559-5A50AADC9FC3}" srcOrd="7" destOrd="0" presId="urn:microsoft.com/office/officeart/2005/8/layout/vProcess5"/>
    <dgm:cxn modelId="{05179A06-AC54-4DE3-9AEC-469CFAC8DFB0}" type="presParOf" srcId="{99C7E42E-761A-4D25-AC22-12B3CF95F2E4}" destId="{6972717C-BE6E-4298-8747-B3951029635A}" srcOrd="8" destOrd="0" presId="urn:microsoft.com/office/officeart/2005/8/layout/vProcess5"/>
    <dgm:cxn modelId="{BF5C21DF-550D-4726-80B4-A3555E896556}" type="presParOf" srcId="{99C7E42E-761A-4D25-AC22-12B3CF95F2E4}" destId="{D4062FAE-ED90-404C-BF30-A2AB2D97E819}" srcOrd="9" destOrd="0" presId="urn:microsoft.com/office/officeart/2005/8/layout/vProcess5"/>
    <dgm:cxn modelId="{AAB575DC-91C9-481D-9376-B1AD272634BA}" type="presParOf" srcId="{99C7E42E-761A-4D25-AC22-12B3CF95F2E4}" destId="{DF6F649E-0824-46ED-B0EC-C1D4694D631C}" srcOrd="10" destOrd="0" presId="urn:microsoft.com/office/officeart/2005/8/layout/vProcess5"/>
    <dgm:cxn modelId="{83348AD0-E04D-48C7-9256-B52196FF85D5}" type="presParOf" srcId="{99C7E42E-761A-4D25-AC22-12B3CF95F2E4}" destId="{FB60B377-9841-47B7-8643-8E864B65E38C}" srcOrd="11" destOrd="0" presId="urn:microsoft.com/office/officeart/2005/8/layout/vProcess5"/>
    <dgm:cxn modelId="{2B10B5B0-858B-426A-A1E8-830810A1DCB9}" type="presParOf" srcId="{99C7E42E-761A-4D25-AC22-12B3CF95F2E4}" destId="{132D8E9F-4F64-4CF3-8F74-686EFAB72ACF}" srcOrd="12" destOrd="0" presId="urn:microsoft.com/office/officeart/2005/8/layout/vProcess5"/>
    <dgm:cxn modelId="{1F31FA68-FD54-4315-BAEA-70E807FF2582}" type="presParOf" srcId="{99C7E42E-761A-4D25-AC22-12B3CF95F2E4}" destId="{4D07DEE4-2BD5-4041-9615-E066413CA039}" srcOrd="13" destOrd="0" presId="urn:microsoft.com/office/officeart/2005/8/layout/vProcess5"/>
    <dgm:cxn modelId="{C260ECCA-5856-4605-AC46-D27387D8BF57}" type="presParOf" srcId="{99C7E42E-761A-4D25-AC22-12B3CF95F2E4}" destId="{6403DCD4-8344-4D42-8D98-94E83114C609}"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57AB35F-C374-4548-B344-59D12123F056}"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98CA63F8-F6C3-4351-A285-BCB003E6DFCE}">
      <dgm:prSet/>
      <dgm:spPr/>
      <dgm:t>
        <a:bodyPr/>
        <a:lstStyle/>
        <a:p>
          <a:r>
            <a:rPr lang="pl-PL"/>
            <a:t>Traction w startupie oznacza realne zainteresowanie produktem i tempo jego adopcji przez użytkowników. Jest to jeden z najważniejszych wskaźników, ponieważ pokazuje, czy startup faktycznie zdobywa rynek, czy jedynie rozwija produkt bez realnego zapotrzebowania.</a:t>
          </a:r>
          <a:endParaRPr lang="en-US"/>
        </a:p>
      </dgm:t>
    </dgm:pt>
    <dgm:pt modelId="{2E4AC87C-FA3F-4CFD-A17B-FB19A1BE35C9}" type="parTrans" cxnId="{92FFF2D9-C894-4FFC-8CC7-293D2E10D8E7}">
      <dgm:prSet/>
      <dgm:spPr/>
      <dgm:t>
        <a:bodyPr/>
        <a:lstStyle/>
        <a:p>
          <a:endParaRPr lang="en-US"/>
        </a:p>
      </dgm:t>
    </dgm:pt>
    <dgm:pt modelId="{1D3E9D2F-A23F-486F-9217-60B9551FDCE6}" type="sibTrans" cxnId="{92FFF2D9-C894-4FFC-8CC7-293D2E10D8E7}">
      <dgm:prSet/>
      <dgm:spPr/>
      <dgm:t>
        <a:bodyPr/>
        <a:lstStyle/>
        <a:p>
          <a:endParaRPr lang="en-US"/>
        </a:p>
      </dgm:t>
    </dgm:pt>
    <dgm:pt modelId="{722B5567-BA0E-4316-9EAF-AF0E61B67665}">
      <dgm:prSet/>
      <dgm:spPr/>
      <dgm:t>
        <a:bodyPr/>
        <a:lstStyle/>
        <a:p>
          <a:r>
            <a:rPr lang="pl-PL"/>
            <a:t>Traction można również analizować poprzez wskaźniki jakościowe, takie jak opinie użytkowników, poziom satysfakcji czy gotowość do polecania produktu innym. W początkowej fazie rozwoju startupu nawet niewielka liczba aktywnych użytkowników może być istotna, jeśli wykazuje wysokie zaangażowanie.</a:t>
          </a:r>
          <a:endParaRPr lang="en-US"/>
        </a:p>
      </dgm:t>
    </dgm:pt>
    <dgm:pt modelId="{B9E4917F-44D5-4463-BE18-DF1A2D3E09CA}" type="parTrans" cxnId="{9539C406-649A-40B2-B3CF-E3CFBA18FDC9}">
      <dgm:prSet/>
      <dgm:spPr/>
      <dgm:t>
        <a:bodyPr/>
        <a:lstStyle/>
        <a:p>
          <a:endParaRPr lang="en-US"/>
        </a:p>
      </dgm:t>
    </dgm:pt>
    <dgm:pt modelId="{3EAF4ECC-47DB-4356-8F2E-C76C65CED173}" type="sibTrans" cxnId="{9539C406-649A-40B2-B3CF-E3CFBA18FDC9}">
      <dgm:prSet/>
      <dgm:spPr/>
      <dgm:t>
        <a:bodyPr/>
        <a:lstStyle/>
        <a:p>
          <a:endParaRPr lang="en-US"/>
        </a:p>
      </dgm:t>
    </dgm:pt>
    <dgm:pt modelId="{53305031-C104-4C16-A575-98FFD03A0CF0}" type="pres">
      <dgm:prSet presAssocID="{C57AB35F-C374-4548-B344-59D12123F056}" presName="hierChild1" presStyleCnt="0">
        <dgm:presLayoutVars>
          <dgm:chPref val="1"/>
          <dgm:dir/>
          <dgm:animOne val="branch"/>
          <dgm:animLvl val="lvl"/>
          <dgm:resizeHandles/>
        </dgm:presLayoutVars>
      </dgm:prSet>
      <dgm:spPr/>
    </dgm:pt>
    <dgm:pt modelId="{F6DFDBF1-35B0-43BE-97CF-14452AE27688}" type="pres">
      <dgm:prSet presAssocID="{98CA63F8-F6C3-4351-A285-BCB003E6DFCE}" presName="hierRoot1" presStyleCnt="0"/>
      <dgm:spPr/>
    </dgm:pt>
    <dgm:pt modelId="{2C8B1631-453A-408B-A969-EAE8DBD1F33C}" type="pres">
      <dgm:prSet presAssocID="{98CA63F8-F6C3-4351-A285-BCB003E6DFCE}" presName="composite" presStyleCnt="0"/>
      <dgm:spPr/>
    </dgm:pt>
    <dgm:pt modelId="{01A34AC7-CDAE-4613-85F2-486CB84469C4}" type="pres">
      <dgm:prSet presAssocID="{98CA63F8-F6C3-4351-A285-BCB003E6DFCE}" presName="background" presStyleLbl="node0" presStyleIdx="0" presStyleCnt="2"/>
      <dgm:spPr/>
    </dgm:pt>
    <dgm:pt modelId="{493B4966-3740-400B-8761-55B081C75D6E}" type="pres">
      <dgm:prSet presAssocID="{98CA63F8-F6C3-4351-A285-BCB003E6DFCE}" presName="text" presStyleLbl="fgAcc0" presStyleIdx="0" presStyleCnt="2">
        <dgm:presLayoutVars>
          <dgm:chPref val="3"/>
        </dgm:presLayoutVars>
      </dgm:prSet>
      <dgm:spPr/>
    </dgm:pt>
    <dgm:pt modelId="{C45BE690-0733-40BC-BBFD-E2129FEDA255}" type="pres">
      <dgm:prSet presAssocID="{98CA63F8-F6C3-4351-A285-BCB003E6DFCE}" presName="hierChild2" presStyleCnt="0"/>
      <dgm:spPr/>
    </dgm:pt>
    <dgm:pt modelId="{4F078899-96A4-44CE-BE6E-065C77505236}" type="pres">
      <dgm:prSet presAssocID="{722B5567-BA0E-4316-9EAF-AF0E61B67665}" presName="hierRoot1" presStyleCnt="0"/>
      <dgm:spPr/>
    </dgm:pt>
    <dgm:pt modelId="{A854A54A-B370-4271-8131-A64D4EFF026E}" type="pres">
      <dgm:prSet presAssocID="{722B5567-BA0E-4316-9EAF-AF0E61B67665}" presName="composite" presStyleCnt="0"/>
      <dgm:spPr/>
    </dgm:pt>
    <dgm:pt modelId="{DBD8EB5A-47F9-4EF2-A9EC-9FB7BB0894A5}" type="pres">
      <dgm:prSet presAssocID="{722B5567-BA0E-4316-9EAF-AF0E61B67665}" presName="background" presStyleLbl="node0" presStyleIdx="1" presStyleCnt="2"/>
      <dgm:spPr/>
    </dgm:pt>
    <dgm:pt modelId="{3ED767D7-144D-46DA-8FDC-A33455FA4910}" type="pres">
      <dgm:prSet presAssocID="{722B5567-BA0E-4316-9EAF-AF0E61B67665}" presName="text" presStyleLbl="fgAcc0" presStyleIdx="1" presStyleCnt="2">
        <dgm:presLayoutVars>
          <dgm:chPref val="3"/>
        </dgm:presLayoutVars>
      </dgm:prSet>
      <dgm:spPr/>
    </dgm:pt>
    <dgm:pt modelId="{F26A8B1D-B378-43F6-9976-CEA4E0B1746D}" type="pres">
      <dgm:prSet presAssocID="{722B5567-BA0E-4316-9EAF-AF0E61B67665}" presName="hierChild2" presStyleCnt="0"/>
      <dgm:spPr/>
    </dgm:pt>
  </dgm:ptLst>
  <dgm:cxnLst>
    <dgm:cxn modelId="{9539C406-649A-40B2-B3CF-E3CFBA18FDC9}" srcId="{C57AB35F-C374-4548-B344-59D12123F056}" destId="{722B5567-BA0E-4316-9EAF-AF0E61B67665}" srcOrd="1" destOrd="0" parTransId="{B9E4917F-44D5-4463-BE18-DF1A2D3E09CA}" sibTransId="{3EAF4ECC-47DB-4356-8F2E-C76C65CED173}"/>
    <dgm:cxn modelId="{42382E68-934D-4334-8635-1522256F9CA7}" type="presOf" srcId="{C57AB35F-C374-4548-B344-59D12123F056}" destId="{53305031-C104-4C16-A575-98FFD03A0CF0}" srcOrd="0" destOrd="0" presId="urn:microsoft.com/office/officeart/2005/8/layout/hierarchy1"/>
    <dgm:cxn modelId="{149E89B5-78E7-4115-BA31-C9B9C41C9C36}" type="presOf" srcId="{98CA63F8-F6C3-4351-A285-BCB003E6DFCE}" destId="{493B4966-3740-400B-8761-55B081C75D6E}" srcOrd="0" destOrd="0" presId="urn:microsoft.com/office/officeart/2005/8/layout/hierarchy1"/>
    <dgm:cxn modelId="{92FFF2D9-C894-4FFC-8CC7-293D2E10D8E7}" srcId="{C57AB35F-C374-4548-B344-59D12123F056}" destId="{98CA63F8-F6C3-4351-A285-BCB003E6DFCE}" srcOrd="0" destOrd="0" parTransId="{2E4AC87C-FA3F-4CFD-A17B-FB19A1BE35C9}" sibTransId="{1D3E9D2F-A23F-486F-9217-60B9551FDCE6}"/>
    <dgm:cxn modelId="{667492FF-70CE-490F-A275-440DCBBEB1F5}" type="presOf" srcId="{722B5567-BA0E-4316-9EAF-AF0E61B67665}" destId="{3ED767D7-144D-46DA-8FDC-A33455FA4910}" srcOrd="0" destOrd="0" presId="urn:microsoft.com/office/officeart/2005/8/layout/hierarchy1"/>
    <dgm:cxn modelId="{322D2D6A-5954-4E6D-A82A-D12D0712824B}" type="presParOf" srcId="{53305031-C104-4C16-A575-98FFD03A0CF0}" destId="{F6DFDBF1-35B0-43BE-97CF-14452AE27688}" srcOrd="0" destOrd="0" presId="urn:microsoft.com/office/officeart/2005/8/layout/hierarchy1"/>
    <dgm:cxn modelId="{5166E08C-B952-4B27-8F49-C2354DBDDDE5}" type="presParOf" srcId="{F6DFDBF1-35B0-43BE-97CF-14452AE27688}" destId="{2C8B1631-453A-408B-A969-EAE8DBD1F33C}" srcOrd="0" destOrd="0" presId="urn:microsoft.com/office/officeart/2005/8/layout/hierarchy1"/>
    <dgm:cxn modelId="{F0D88523-472E-4EA4-A53D-5B1E403E577C}" type="presParOf" srcId="{2C8B1631-453A-408B-A969-EAE8DBD1F33C}" destId="{01A34AC7-CDAE-4613-85F2-486CB84469C4}" srcOrd="0" destOrd="0" presId="urn:microsoft.com/office/officeart/2005/8/layout/hierarchy1"/>
    <dgm:cxn modelId="{46D6BCBC-A512-4BD0-B73F-D3C39CA92A29}" type="presParOf" srcId="{2C8B1631-453A-408B-A969-EAE8DBD1F33C}" destId="{493B4966-3740-400B-8761-55B081C75D6E}" srcOrd="1" destOrd="0" presId="urn:microsoft.com/office/officeart/2005/8/layout/hierarchy1"/>
    <dgm:cxn modelId="{5C176153-68B1-4D3C-9521-4F1C8304773F}" type="presParOf" srcId="{F6DFDBF1-35B0-43BE-97CF-14452AE27688}" destId="{C45BE690-0733-40BC-BBFD-E2129FEDA255}" srcOrd="1" destOrd="0" presId="urn:microsoft.com/office/officeart/2005/8/layout/hierarchy1"/>
    <dgm:cxn modelId="{8965E668-9469-4C9D-8AFB-D3BFD9437947}" type="presParOf" srcId="{53305031-C104-4C16-A575-98FFD03A0CF0}" destId="{4F078899-96A4-44CE-BE6E-065C77505236}" srcOrd="1" destOrd="0" presId="urn:microsoft.com/office/officeart/2005/8/layout/hierarchy1"/>
    <dgm:cxn modelId="{E69A261B-D5FE-40E1-BC94-5C0C48ECC760}" type="presParOf" srcId="{4F078899-96A4-44CE-BE6E-065C77505236}" destId="{A854A54A-B370-4271-8131-A64D4EFF026E}" srcOrd="0" destOrd="0" presId="urn:microsoft.com/office/officeart/2005/8/layout/hierarchy1"/>
    <dgm:cxn modelId="{C5486605-1FC4-4844-9046-C775AD9B3FF6}" type="presParOf" srcId="{A854A54A-B370-4271-8131-A64D4EFF026E}" destId="{DBD8EB5A-47F9-4EF2-A9EC-9FB7BB0894A5}" srcOrd="0" destOrd="0" presId="urn:microsoft.com/office/officeart/2005/8/layout/hierarchy1"/>
    <dgm:cxn modelId="{8D9C3287-659B-4AF7-9C10-D523365A3FEC}" type="presParOf" srcId="{A854A54A-B370-4271-8131-A64D4EFF026E}" destId="{3ED767D7-144D-46DA-8FDC-A33455FA4910}" srcOrd="1" destOrd="0" presId="urn:microsoft.com/office/officeart/2005/8/layout/hierarchy1"/>
    <dgm:cxn modelId="{040E4A26-200B-4671-B2DF-58447B970992}" type="presParOf" srcId="{4F078899-96A4-44CE-BE6E-065C77505236}" destId="{F26A8B1D-B378-43F6-9976-CEA4E0B1746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D561B5A-FDDA-40FC-9175-029658C7EB0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C1E86-C99C-4EA1-B273-E9EC5D024043}">
      <dgm:prSet/>
      <dgm:spPr/>
      <dgm:t>
        <a:bodyPr/>
        <a:lstStyle/>
        <a:p>
          <a:r>
            <a:rPr lang="pl-PL"/>
            <a:t>Osiągnięcie product–market fit oznacza moment, w którym produkt zaczyna realnie odpowiadać na potrzeby rynku i użytkownicy wykazują naturalne zainteresowanie jego używaniem bez intensywnego marketingu. Dopiero po osiągnięciu tego etapu startup może rozpocząć skalowanie.</a:t>
          </a:r>
          <a:endParaRPr lang="en-US"/>
        </a:p>
      </dgm:t>
    </dgm:pt>
    <dgm:pt modelId="{7B825C0C-C05B-4966-95C5-37AA11F2442F}" type="parTrans" cxnId="{B0EE49B5-FC62-4902-81FD-BAEC40C963FA}">
      <dgm:prSet/>
      <dgm:spPr/>
      <dgm:t>
        <a:bodyPr/>
        <a:lstStyle/>
        <a:p>
          <a:endParaRPr lang="en-US"/>
        </a:p>
      </dgm:t>
    </dgm:pt>
    <dgm:pt modelId="{ABF06994-AD2A-474A-BD12-AA65D4A08A89}" type="sibTrans" cxnId="{B0EE49B5-FC62-4902-81FD-BAEC40C963FA}">
      <dgm:prSet/>
      <dgm:spPr/>
      <dgm:t>
        <a:bodyPr/>
        <a:lstStyle/>
        <a:p>
          <a:endParaRPr lang="en-US"/>
        </a:p>
      </dgm:t>
    </dgm:pt>
    <dgm:pt modelId="{485771F5-33B7-4AC3-868D-6AC4E28BC328}">
      <dgm:prSet/>
      <dgm:spPr/>
      <dgm:t>
        <a:bodyPr/>
        <a:lstStyle/>
        <a:p>
          <a:r>
            <a:rPr lang="pl-PL"/>
            <a:t>Skalowanie wymaga uporządkowania procesów wewnętrznych, ponieważ organizacja przestaje działać w trybie eksperymentalnym i zaczyna działać w trybie wzrostu. Oznacza to większą formalizację decyzji, lepsze planowanie oraz rozwój struktur zarządzania.</a:t>
          </a:r>
          <a:endParaRPr lang="en-US"/>
        </a:p>
      </dgm:t>
    </dgm:pt>
    <dgm:pt modelId="{CA506796-9977-4D2F-B17E-8ABD4D98C1BA}" type="parTrans" cxnId="{B44EC9EF-1841-4D7A-8B3D-6673CFE91209}">
      <dgm:prSet/>
      <dgm:spPr/>
      <dgm:t>
        <a:bodyPr/>
        <a:lstStyle/>
        <a:p>
          <a:endParaRPr lang="en-US"/>
        </a:p>
      </dgm:t>
    </dgm:pt>
    <dgm:pt modelId="{587790A8-2525-458D-A027-82B25C322621}" type="sibTrans" cxnId="{B44EC9EF-1841-4D7A-8B3D-6673CFE91209}">
      <dgm:prSet/>
      <dgm:spPr/>
      <dgm:t>
        <a:bodyPr/>
        <a:lstStyle/>
        <a:p>
          <a:endParaRPr lang="en-US"/>
        </a:p>
      </dgm:t>
    </dgm:pt>
    <dgm:pt modelId="{C046143A-C5DC-435D-8163-C32B4BF3D84D}">
      <dgm:prSet/>
      <dgm:spPr/>
      <dgm:t>
        <a:bodyPr/>
        <a:lstStyle/>
        <a:p>
          <a:r>
            <a:rPr lang="pl-PL"/>
            <a:t>Bardzo ważne jest również utrzymanie jakości produktu przy rosnącej liczbie użytkowników, co wymaga inwestycji w stabilność systemu i monitoring.</a:t>
          </a:r>
          <a:endParaRPr lang="en-US"/>
        </a:p>
      </dgm:t>
    </dgm:pt>
    <dgm:pt modelId="{8C6D80B3-3FF6-4A3E-BBBF-EFF0661299EE}" type="parTrans" cxnId="{3F0DE834-8434-49BC-881F-E31B6EB19E36}">
      <dgm:prSet/>
      <dgm:spPr/>
      <dgm:t>
        <a:bodyPr/>
        <a:lstStyle/>
        <a:p>
          <a:endParaRPr lang="en-US"/>
        </a:p>
      </dgm:t>
    </dgm:pt>
    <dgm:pt modelId="{175DBBD3-D303-4C04-B42F-ECF8C3CB6F24}" type="sibTrans" cxnId="{3F0DE834-8434-49BC-881F-E31B6EB19E36}">
      <dgm:prSet/>
      <dgm:spPr/>
      <dgm:t>
        <a:bodyPr/>
        <a:lstStyle/>
        <a:p>
          <a:endParaRPr lang="en-US"/>
        </a:p>
      </dgm:t>
    </dgm:pt>
    <dgm:pt modelId="{5A89D278-B430-4D6A-85E5-FCD186EABB7A}" type="pres">
      <dgm:prSet presAssocID="{4D561B5A-FDDA-40FC-9175-029658C7EB01}" presName="root" presStyleCnt="0">
        <dgm:presLayoutVars>
          <dgm:dir/>
          <dgm:resizeHandles val="exact"/>
        </dgm:presLayoutVars>
      </dgm:prSet>
      <dgm:spPr/>
    </dgm:pt>
    <dgm:pt modelId="{5442F1A4-21A8-4325-9863-172FF28D872F}" type="pres">
      <dgm:prSet presAssocID="{3CFC1E86-C99C-4EA1-B273-E9EC5D024043}" presName="compNode" presStyleCnt="0"/>
      <dgm:spPr/>
    </dgm:pt>
    <dgm:pt modelId="{B31CF8BE-4922-49C2-8895-CBA09107F802}" type="pres">
      <dgm:prSet presAssocID="{3CFC1E86-C99C-4EA1-B273-E9EC5D024043}" presName="bgRect" presStyleLbl="bgShp" presStyleIdx="0" presStyleCnt="3"/>
      <dgm:spPr/>
    </dgm:pt>
    <dgm:pt modelId="{A6657DB6-9918-4453-9972-63F14B50D61C}" type="pres">
      <dgm:prSet presAssocID="{3CFC1E86-C99C-4EA1-B273-E9EC5D02404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klama"/>
        </a:ext>
      </dgm:extLst>
    </dgm:pt>
    <dgm:pt modelId="{F67E1517-78A3-46D6-AC56-FE576B645F20}" type="pres">
      <dgm:prSet presAssocID="{3CFC1E86-C99C-4EA1-B273-E9EC5D024043}" presName="spaceRect" presStyleCnt="0"/>
      <dgm:spPr/>
    </dgm:pt>
    <dgm:pt modelId="{E733EF39-F231-4D91-86D5-1C115E0A05A3}" type="pres">
      <dgm:prSet presAssocID="{3CFC1E86-C99C-4EA1-B273-E9EC5D024043}" presName="parTx" presStyleLbl="revTx" presStyleIdx="0" presStyleCnt="3">
        <dgm:presLayoutVars>
          <dgm:chMax val="0"/>
          <dgm:chPref val="0"/>
        </dgm:presLayoutVars>
      </dgm:prSet>
      <dgm:spPr/>
    </dgm:pt>
    <dgm:pt modelId="{4CB0183C-DEC3-4D00-95B9-F87C8E5D8789}" type="pres">
      <dgm:prSet presAssocID="{ABF06994-AD2A-474A-BD12-AA65D4A08A89}" presName="sibTrans" presStyleCnt="0"/>
      <dgm:spPr/>
    </dgm:pt>
    <dgm:pt modelId="{F7EFA562-B663-416A-9D6C-26373FB00078}" type="pres">
      <dgm:prSet presAssocID="{485771F5-33B7-4AC3-868D-6AC4E28BC328}" presName="compNode" presStyleCnt="0"/>
      <dgm:spPr/>
    </dgm:pt>
    <dgm:pt modelId="{E6E78702-32DD-44E0-A578-297DBD0C4DFF}" type="pres">
      <dgm:prSet presAssocID="{485771F5-33B7-4AC3-868D-6AC4E28BC328}" presName="bgRect" presStyleLbl="bgShp" presStyleIdx="1" presStyleCnt="3"/>
      <dgm:spPr/>
    </dgm:pt>
    <dgm:pt modelId="{DA17172F-69C1-4D0E-B1A7-38781E30E0D3}" type="pres">
      <dgm:prSet presAssocID="{485771F5-33B7-4AC3-868D-6AC4E28BC32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ia"/>
        </a:ext>
      </dgm:extLst>
    </dgm:pt>
    <dgm:pt modelId="{EEA3809D-B928-4B83-AB51-C00FA8E25931}" type="pres">
      <dgm:prSet presAssocID="{485771F5-33B7-4AC3-868D-6AC4E28BC328}" presName="spaceRect" presStyleCnt="0"/>
      <dgm:spPr/>
    </dgm:pt>
    <dgm:pt modelId="{E7A63B84-3ECC-4427-81AD-D89D3CEBC6D8}" type="pres">
      <dgm:prSet presAssocID="{485771F5-33B7-4AC3-868D-6AC4E28BC328}" presName="parTx" presStyleLbl="revTx" presStyleIdx="1" presStyleCnt="3">
        <dgm:presLayoutVars>
          <dgm:chMax val="0"/>
          <dgm:chPref val="0"/>
        </dgm:presLayoutVars>
      </dgm:prSet>
      <dgm:spPr/>
    </dgm:pt>
    <dgm:pt modelId="{1C177207-401F-45DF-AAF8-305F03488B17}" type="pres">
      <dgm:prSet presAssocID="{587790A8-2525-458D-A027-82B25C322621}" presName="sibTrans" presStyleCnt="0"/>
      <dgm:spPr/>
    </dgm:pt>
    <dgm:pt modelId="{3CB2429D-C7AC-4F44-BBAE-9700C7688797}" type="pres">
      <dgm:prSet presAssocID="{C046143A-C5DC-435D-8163-C32B4BF3D84D}" presName="compNode" presStyleCnt="0"/>
      <dgm:spPr/>
    </dgm:pt>
    <dgm:pt modelId="{C66BB15E-8D61-413E-ABCD-CA12AF4E6AEB}" type="pres">
      <dgm:prSet presAssocID="{C046143A-C5DC-435D-8163-C32B4BF3D84D}" presName="bgRect" presStyleLbl="bgShp" presStyleIdx="2" presStyleCnt="3"/>
      <dgm:spPr/>
    </dgm:pt>
    <dgm:pt modelId="{934A3920-763F-46F0-8F8C-B37DCF266AE1}" type="pres">
      <dgm:prSet presAssocID="{C046143A-C5DC-435D-8163-C32B4BF3D84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arzędzia"/>
        </a:ext>
      </dgm:extLst>
    </dgm:pt>
    <dgm:pt modelId="{3CFF9849-32C1-4C3C-BD2D-2D3327225067}" type="pres">
      <dgm:prSet presAssocID="{C046143A-C5DC-435D-8163-C32B4BF3D84D}" presName="spaceRect" presStyleCnt="0"/>
      <dgm:spPr/>
    </dgm:pt>
    <dgm:pt modelId="{BEE49481-247B-49F5-928E-E2A60B506B41}" type="pres">
      <dgm:prSet presAssocID="{C046143A-C5DC-435D-8163-C32B4BF3D84D}" presName="parTx" presStyleLbl="revTx" presStyleIdx="2" presStyleCnt="3">
        <dgm:presLayoutVars>
          <dgm:chMax val="0"/>
          <dgm:chPref val="0"/>
        </dgm:presLayoutVars>
      </dgm:prSet>
      <dgm:spPr/>
    </dgm:pt>
  </dgm:ptLst>
  <dgm:cxnLst>
    <dgm:cxn modelId="{AD0AF704-B91E-44DE-9087-498B08F04878}" type="presOf" srcId="{3CFC1E86-C99C-4EA1-B273-E9EC5D024043}" destId="{E733EF39-F231-4D91-86D5-1C115E0A05A3}" srcOrd="0" destOrd="0" presId="urn:microsoft.com/office/officeart/2018/2/layout/IconVerticalSolidList"/>
    <dgm:cxn modelId="{D82FF505-13CD-4FBB-A019-6D58508E44F0}" type="presOf" srcId="{C046143A-C5DC-435D-8163-C32B4BF3D84D}" destId="{BEE49481-247B-49F5-928E-E2A60B506B41}" srcOrd="0" destOrd="0" presId="urn:microsoft.com/office/officeart/2018/2/layout/IconVerticalSolidList"/>
    <dgm:cxn modelId="{3F0DE834-8434-49BC-881F-E31B6EB19E36}" srcId="{4D561B5A-FDDA-40FC-9175-029658C7EB01}" destId="{C046143A-C5DC-435D-8163-C32B4BF3D84D}" srcOrd="2" destOrd="0" parTransId="{8C6D80B3-3FF6-4A3E-BBBF-EFF0661299EE}" sibTransId="{175DBBD3-D303-4C04-B42F-ECF8C3CB6F24}"/>
    <dgm:cxn modelId="{42DF8D84-6F1D-47B3-A237-5F2D16226B89}" type="presOf" srcId="{485771F5-33B7-4AC3-868D-6AC4E28BC328}" destId="{E7A63B84-3ECC-4427-81AD-D89D3CEBC6D8}" srcOrd="0" destOrd="0" presId="urn:microsoft.com/office/officeart/2018/2/layout/IconVerticalSolidList"/>
    <dgm:cxn modelId="{B0EE49B5-FC62-4902-81FD-BAEC40C963FA}" srcId="{4D561B5A-FDDA-40FC-9175-029658C7EB01}" destId="{3CFC1E86-C99C-4EA1-B273-E9EC5D024043}" srcOrd="0" destOrd="0" parTransId="{7B825C0C-C05B-4966-95C5-37AA11F2442F}" sibTransId="{ABF06994-AD2A-474A-BD12-AA65D4A08A89}"/>
    <dgm:cxn modelId="{B44EC9EF-1841-4D7A-8B3D-6673CFE91209}" srcId="{4D561B5A-FDDA-40FC-9175-029658C7EB01}" destId="{485771F5-33B7-4AC3-868D-6AC4E28BC328}" srcOrd="1" destOrd="0" parTransId="{CA506796-9977-4D2F-B17E-8ABD4D98C1BA}" sibTransId="{587790A8-2525-458D-A027-82B25C322621}"/>
    <dgm:cxn modelId="{55D3ABF2-9467-4DDB-9417-922F6A6C2BFF}" type="presOf" srcId="{4D561B5A-FDDA-40FC-9175-029658C7EB01}" destId="{5A89D278-B430-4D6A-85E5-FCD186EABB7A}" srcOrd="0" destOrd="0" presId="urn:microsoft.com/office/officeart/2018/2/layout/IconVerticalSolidList"/>
    <dgm:cxn modelId="{E1165776-3478-4771-A616-8CAC8545FD7F}" type="presParOf" srcId="{5A89D278-B430-4D6A-85E5-FCD186EABB7A}" destId="{5442F1A4-21A8-4325-9863-172FF28D872F}" srcOrd="0" destOrd="0" presId="urn:microsoft.com/office/officeart/2018/2/layout/IconVerticalSolidList"/>
    <dgm:cxn modelId="{5327A93E-310D-4888-9D15-53F7B8A58190}" type="presParOf" srcId="{5442F1A4-21A8-4325-9863-172FF28D872F}" destId="{B31CF8BE-4922-49C2-8895-CBA09107F802}" srcOrd="0" destOrd="0" presId="urn:microsoft.com/office/officeart/2018/2/layout/IconVerticalSolidList"/>
    <dgm:cxn modelId="{BF0AC585-2489-41A2-BA99-1166DC664204}" type="presParOf" srcId="{5442F1A4-21A8-4325-9863-172FF28D872F}" destId="{A6657DB6-9918-4453-9972-63F14B50D61C}" srcOrd="1" destOrd="0" presId="urn:microsoft.com/office/officeart/2018/2/layout/IconVerticalSolidList"/>
    <dgm:cxn modelId="{536194B2-3332-4003-BC2A-3D81A9C76970}" type="presParOf" srcId="{5442F1A4-21A8-4325-9863-172FF28D872F}" destId="{F67E1517-78A3-46D6-AC56-FE576B645F20}" srcOrd="2" destOrd="0" presId="urn:microsoft.com/office/officeart/2018/2/layout/IconVerticalSolidList"/>
    <dgm:cxn modelId="{54CE9536-B473-4C46-ACBC-09F345F8B209}" type="presParOf" srcId="{5442F1A4-21A8-4325-9863-172FF28D872F}" destId="{E733EF39-F231-4D91-86D5-1C115E0A05A3}" srcOrd="3" destOrd="0" presId="urn:microsoft.com/office/officeart/2018/2/layout/IconVerticalSolidList"/>
    <dgm:cxn modelId="{AAB988EC-88CF-46D2-8495-E0586B3EDC0B}" type="presParOf" srcId="{5A89D278-B430-4D6A-85E5-FCD186EABB7A}" destId="{4CB0183C-DEC3-4D00-95B9-F87C8E5D8789}" srcOrd="1" destOrd="0" presId="urn:microsoft.com/office/officeart/2018/2/layout/IconVerticalSolidList"/>
    <dgm:cxn modelId="{C4F6F69B-35DC-4580-9DA3-EF609080DE96}" type="presParOf" srcId="{5A89D278-B430-4D6A-85E5-FCD186EABB7A}" destId="{F7EFA562-B663-416A-9D6C-26373FB00078}" srcOrd="2" destOrd="0" presId="urn:microsoft.com/office/officeart/2018/2/layout/IconVerticalSolidList"/>
    <dgm:cxn modelId="{06CE4672-0244-4EFE-8447-8A1C1C2428EE}" type="presParOf" srcId="{F7EFA562-B663-416A-9D6C-26373FB00078}" destId="{E6E78702-32DD-44E0-A578-297DBD0C4DFF}" srcOrd="0" destOrd="0" presId="urn:microsoft.com/office/officeart/2018/2/layout/IconVerticalSolidList"/>
    <dgm:cxn modelId="{8C31D04C-B0F0-4605-BF7F-9AED2494BAE3}" type="presParOf" srcId="{F7EFA562-B663-416A-9D6C-26373FB00078}" destId="{DA17172F-69C1-4D0E-B1A7-38781E30E0D3}" srcOrd="1" destOrd="0" presId="urn:microsoft.com/office/officeart/2018/2/layout/IconVerticalSolidList"/>
    <dgm:cxn modelId="{24AB7DF5-9A46-4A21-B18E-88F0D0839E7D}" type="presParOf" srcId="{F7EFA562-B663-416A-9D6C-26373FB00078}" destId="{EEA3809D-B928-4B83-AB51-C00FA8E25931}" srcOrd="2" destOrd="0" presId="urn:microsoft.com/office/officeart/2018/2/layout/IconVerticalSolidList"/>
    <dgm:cxn modelId="{B48A29B1-8B21-49A7-A5E7-5C1479A72E2C}" type="presParOf" srcId="{F7EFA562-B663-416A-9D6C-26373FB00078}" destId="{E7A63B84-3ECC-4427-81AD-D89D3CEBC6D8}" srcOrd="3" destOrd="0" presId="urn:microsoft.com/office/officeart/2018/2/layout/IconVerticalSolidList"/>
    <dgm:cxn modelId="{1A1D922C-AC1F-42EA-9BFA-79A2039235B3}" type="presParOf" srcId="{5A89D278-B430-4D6A-85E5-FCD186EABB7A}" destId="{1C177207-401F-45DF-AAF8-305F03488B17}" srcOrd="3" destOrd="0" presId="urn:microsoft.com/office/officeart/2018/2/layout/IconVerticalSolidList"/>
    <dgm:cxn modelId="{46EF8E50-78A5-4A17-A046-5D8F6A388AD9}" type="presParOf" srcId="{5A89D278-B430-4D6A-85E5-FCD186EABB7A}" destId="{3CB2429D-C7AC-4F44-BBAE-9700C7688797}" srcOrd="4" destOrd="0" presId="urn:microsoft.com/office/officeart/2018/2/layout/IconVerticalSolidList"/>
    <dgm:cxn modelId="{1093E26A-BEBE-43A7-8553-44705CABD699}" type="presParOf" srcId="{3CB2429D-C7AC-4F44-BBAE-9700C7688797}" destId="{C66BB15E-8D61-413E-ABCD-CA12AF4E6AEB}" srcOrd="0" destOrd="0" presId="urn:microsoft.com/office/officeart/2018/2/layout/IconVerticalSolidList"/>
    <dgm:cxn modelId="{78F582E4-C9BF-44D3-B7A9-B53C25400C21}" type="presParOf" srcId="{3CB2429D-C7AC-4F44-BBAE-9700C7688797}" destId="{934A3920-763F-46F0-8F8C-B37DCF266AE1}" srcOrd="1" destOrd="0" presId="urn:microsoft.com/office/officeart/2018/2/layout/IconVerticalSolidList"/>
    <dgm:cxn modelId="{362A589E-7DB7-451A-925D-1843534379FB}" type="presParOf" srcId="{3CB2429D-C7AC-4F44-BBAE-9700C7688797}" destId="{3CFF9849-32C1-4C3C-BD2D-2D3327225067}" srcOrd="2" destOrd="0" presId="urn:microsoft.com/office/officeart/2018/2/layout/IconVerticalSolidList"/>
    <dgm:cxn modelId="{F2767800-44EE-4E77-831A-33C4ED4F665B}" type="presParOf" srcId="{3CB2429D-C7AC-4F44-BBAE-9700C7688797}" destId="{BEE49481-247B-49F5-928E-E2A60B506B4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0D77F1-B10F-4F0A-AE2C-71D47CA6DEA5}"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3800F9E-0EC7-4DBE-9907-255101C6E526}">
      <dgm:prSet/>
      <dgm:spPr/>
      <dgm:t>
        <a:bodyPr/>
        <a:lstStyle/>
        <a:p>
          <a:r>
            <a:rPr lang="pl-PL"/>
            <a:t>Podejście model-first polega na rozpoczęciu pracy od budowy i optymalizacji modelu uczenia maszynowego, który następnie jest integrowany z produktem. W tym podejściu kluczowe znaczenie ma jakość predykcji, dokładność modelu oraz jego zdolność do generalizacji. Dopiero później buduje się aplikację, która wykorzystuje model.</a:t>
          </a:r>
          <a:endParaRPr lang="en-US"/>
        </a:p>
      </dgm:t>
    </dgm:pt>
    <dgm:pt modelId="{E06E22EF-B606-41C4-BCCF-8D264560E6E5}" type="parTrans" cxnId="{FF428A03-92A3-46A8-BF4C-4C9DD3361A34}">
      <dgm:prSet/>
      <dgm:spPr/>
      <dgm:t>
        <a:bodyPr/>
        <a:lstStyle/>
        <a:p>
          <a:endParaRPr lang="en-US"/>
        </a:p>
      </dgm:t>
    </dgm:pt>
    <dgm:pt modelId="{DC6D34C0-9498-4BF0-8939-477813136A27}" type="sibTrans" cxnId="{FF428A03-92A3-46A8-BF4C-4C9DD3361A34}">
      <dgm:prSet/>
      <dgm:spPr/>
      <dgm:t>
        <a:bodyPr/>
        <a:lstStyle/>
        <a:p>
          <a:endParaRPr lang="en-US"/>
        </a:p>
      </dgm:t>
    </dgm:pt>
    <dgm:pt modelId="{34E6DD52-B5B1-4F67-AC54-BF1FC46564D2}">
      <dgm:prSet/>
      <dgm:spPr/>
      <dgm:t>
        <a:bodyPr/>
        <a:lstStyle/>
        <a:p>
          <a:r>
            <a:rPr lang="pl-PL"/>
            <a:t>Podejście product-first zakłada odwrotną kolejność, czyli najpierw tworzy się produkt i jego funkcjonalności, a dopiero później dodaje się komponenty ML, które wspierają istniejące procesy. W tym podejściu większy nacisk kładzie się na wartość użytkową niż na jakość samego modelu.</a:t>
          </a:r>
          <a:endParaRPr lang="en-US"/>
        </a:p>
      </dgm:t>
    </dgm:pt>
    <dgm:pt modelId="{124874E5-A254-4CE1-B85B-75BDFB8076EF}" type="parTrans" cxnId="{B720C307-2E39-4659-B8B4-646C52F14558}">
      <dgm:prSet/>
      <dgm:spPr/>
      <dgm:t>
        <a:bodyPr/>
        <a:lstStyle/>
        <a:p>
          <a:endParaRPr lang="en-US"/>
        </a:p>
      </dgm:t>
    </dgm:pt>
    <dgm:pt modelId="{6F193677-EEF3-4ED3-B2F7-286EA907AA15}" type="sibTrans" cxnId="{B720C307-2E39-4659-B8B4-646C52F14558}">
      <dgm:prSet/>
      <dgm:spPr/>
      <dgm:t>
        <a:bodyPr/>
        <a:lstStyle/>
        <a:p>
          <a:endParaRPr lang="en-US"/>
        </a:p>
      </dgm:t>
    </dgm:pt>
    <dgm:pt modelId="{67384C07-698D-41B7-91F7-51E5FA97CD24}" type="pres">
      <dgm:prSet presAssocID="{450D77F1-B10F-4F0A-AE2C-71D47CA6DEA5}" presName="linear" presStyleCnt="0">
        <dgm:presLayoutVars>
          <dgm:animLvl val="lvl"/>
          <dgm:resizeHandles val="exact"/>
        </dgm:presLayoutVars>
      </dgm:prSet>
      <dgm:spPr/>
    </dgm:pt>
    <dgm:pt modelId="{3B8F9AE7-2618-4C7A-AECD-2F715493374D}" type="pres">
      <dgm:prSet presAssocID="{D3800F9E-0EC7-4DBE-9907-255101C6E526}" presName="parentText" presStyleLbl="node1" presStyleIdx="0" presStyleCnt="2">
        <dgm:presLayoutVars>
          <dgm:chMax val="0"/>
          <dgm:bulletEnabled val="1"/>
        </dgm:presLayoutVars>
      </dgm:prSet>
      <dgm:spPr/>
    </dgm:pt>
    <dgm:pt modelId="{EE87B99B-2351-4007-A04D-C991DA7CF685}" type="pres">
      <dgm:prSet presAssocID="{DC6D34C0-9498-4BF0-8939-477813136A27}" presName="spacer" presStyleCnt="0"/>
      <dgm:spPr/>
    </dgm:pt>
    <dgm:pt modelId="{BC68E502-3C67-4475-B679-51B433CE07C2}" type="pres">
      <dgm:prSet presAssocID="{34E6DD52-B5B1-4F67-AC54-BF1FC46564D2}" presName="parentText" presStyleLbl="node1" presStyleIdx="1" presStyleCnt="2">
        <dgm:presLayoutVars>
          <dgm:chMax val="0"/>
          <dgm:bulletEnabled val="1"/>
        </dgm:presLayoutVars>
      </dgm:prSet>
      <dgm:spPr/>
    </dgm:pt>
  </dgm:ptLst>
  <dgm:cxnLst>
    <dgm:cxn modelId="{FF428A03-92A3-46A8-BF4C-4C9DD3361A34}" srcId="{450D77F1-B10F-4F0A-AE2C-71D47CA6DEA5}" destId="{D3800F9E-0EC7-4DBE-9907-255101C6E526}" srcOrd="0" destOrd="0" parTransId="{E06E22EF-B606-41C4-BCCF-8D264560E6E5}" sibTransId="{DC6D34C0-9498-4BF0-8939-477813136A27}"/>
    <dgm:cxn modelId="{B720C307-2E39-4659-B8B4-646C52F14558}" srcId="{450D77F1-B10F-4F0A-AE2C-71D47CA6DEA5}" destId="{34E6DD52-B5B1-4F67-AC54-BF1FC46564D2}" srcOrd="1" destOrd="0" parTransId="{124874E5-A254-4CE1-B85B-75BDFB8076EF}" sibTransId="{6F193677-EEF3-4ED3-B2F7-286EA907AA15}"/>
    <dgm:cxn modelId="{3FA4BA25-F5CC-4FFA-8A0D-AE99A45F4ABD}" type="presOf" srcId="{450D77F1-B10F-4F0A-AE2C-71D47CA6DEA5}" destId="{67384C07-698D-41B7-91F7-51E5FA97CD24}" srcOrd="0" destOrd="0" presId="urn:microsoft.com/office/officeart/2005/8/layout/vList2"/>
    <dgm:cxn modelId="{A6406434-821E-4147-ADBB-FF3137D34F42}" type="presOf" srcId="{D3800F9E-0EC7-4DBE-9907-255101C6E526}" destId="{3B8F9AE7-2618-4C7A-AECD-2F715493374D}" srcOrd="0" destOrd="0" presId="urn:microsoft.com/office/officeart/2005/8/layout/vList2"/>
    <dgm:cxn modelId="{71D0D9D0-0DDE-47ED-A94A-E5B07020A000}" type="presOf" srcId="{34E6DD52-B5B1-4F67-AC54-BF1FC46564D2}" destId="{BC68E502-3C67-4475-B679-51B433CE07C2}" srcOrd="0" destOrd="0" presId="urn:microsoft.com/office/officeart/2005/8/layout/vList2"/>
    <dgm:cxn modelId="{4B675736-DCDC-4BC9-9429-C187A088E8AF}" type="presParOf" srcId="{67384C07-698D-41B7-91F7-51E5FA97CD24}" destId="{3B8F9AE7-2618-4C7A-AECD-2F715493374D}" srcOrd="0" destOrd="0" presId="urn:microsoft.com/office/officeart/2005/8/layout/vList2"/>
    <dgm:cxn modelId="{3F539BF6-8016-4773-80CB-4CA1D1879A12}" type="presParOf" srcId="{67384C07-698D-41B7-91F7-51E5FA97CD24}" destId="{EE87B99B-2351-4007-A04D-C991DA7CF685}" srcOrd="1" destOrd="0" presId="urn:microsoft.com/office/officeart/2005/8/layout/vList2"/>
    <dgm:cxn modelId="{862B4079-018A-4AA1-803E-B95D40F00ABE}" type="presParOf" srcId="{67384C07-698D-41B7-91F7-51E5FA97CD24}" destId="{BC68E502-3C67-4475-B679-51B433CE07C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505D6B2-D076-49E0-AE02-49372825FFBD}"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37DC9A0C-081E-495C-A90A-F8A72DAAA456}">
      <dgm:prSet custT="1"/>
      <dgm:spPr/>
      <dgm:t>
        <a:bodyPr/>
        <a:lstStyle/>
        <a:p>
          <a:r>
            <a:rPr lang="pl-PL" sz="1300" dirty="0"/>
            <a:t>W startupach wykorzystujących sztuczną inteligencję pojawia się dodatkowa warstwa złożoności, ponieważ zespół nie rozwija wyłącznie aplikacji, ale równocześnie buduje modele danych, infrastrukturę analityczną i produkt użytkowy.</a:t>
          </a:r>
          <a:endParaRPr lang="en-US" sz="1300" dirty="0"/>
        </a:p>
      </dgm:t>
    </dgm:pt>
    <dgm:pt modelId="{CC8F364E-26A2-4058-8566-036AC3666017}" type="parTrans" cxnId="{6F29529E-1E0B-4718-B619-AAE46365BB3E}">
      <dgm:prSet/>
      <dgm:spPr/>
      <dgm:t>
        <a:bodyPr/>
        <a:lstStyle/>
        <a:p>
          <a:endParaRPr lang="en-US"/>
        </a:p>
      </dgm:t>
    </dgm:pt>
    <dgm:pt modelId="{E910B634-00FC-456A-B8A6-B92CBF6D3DAF}" type="sibTrans" cxnId="{6F29529E-1E0B-4718-B619-AAE46365BB3E}">
      <dgm:prSet/>
      <dgm:spPr/>
      <dgm:t>
        <a:bodyPr/>
        <a:lstStyle/>
        <a:p>
          <a:endParaRPr lang="en-US"/>
        </a:p>
      </dgm:t>
    </dgm:pt>
    <dgm:pt modelId="{8D1B8948-D987-4C23-AC57-C04BEF3B04F0}">
      <dgm:prSet custT="1"/>
      <dgm:spPr/>
      <dgm:t>
        <a:bodyPr/>
        <a:lstStyle/>
        <a:p>
          <a:r>
            <a:rPr lang="pl-PL" sz="1300"/>
            <a:t>Unikalnym wyzwaniem AI engineering jest trudność w przewidywaniu efektów pracy. W klasycznym programowaniu wiadomo, jaki rezultat powinien dać napisany kod. W projektach AI rezultat jest probabilistyczny i często zależy od jakości danych. To oznacza, że część pracy ma charakter badawczy, a nie produkcyjny.</a:t>
          </a:r>
          <a:endParaRPr lang="en-US" sz="1300"/>
        </a:p>
      </dgm:t>
    </dgm:pt>
    <dgm:pt modelId="{60DDB7A5-3411-43B2-BD9F-5A2FFCFFADD9}" type="parTrans" cxnId="{41DC7D63-B90A-41A6-AB81-55D6D87C801A}">
      <dgm:prSet/>
      <dgm:spPr/>
      <dgm:t>
        <a:bodyPr/>
        <a:lstStyle/>
        <a:p>
          <a:endParaRPr lang="en-US"/>
        </a:p>
      </dgm:t>
    </dgm:pt>
    <dgm:pt modelId="{D0191CF9-64F9-4BB3-817B-1C306B3A47D1}" type="sibTrans" cxnId="{41DC7D63-B90A-41A6-AB81-55D6D87C801A}">
      <dgm:prSet/>
      <dgm:spPr/>
      <dgm:t>
        <a:bodyPr/>
        <a:lstStyle/>
        <a:p>
          <a:endParaRPr lang="en-US"/>
        </a:p>
      </dgm:t>
    </dgm:pt>
    <dgm:pt modelId="{E3B29DD0-8FBC-40D8-9F13-03C93570172F}">
      <dgm:prSet custT="1"/>
      <dgm:spPr/>
      <dgm:t>
        <a:bodyPr/>
        <a:lstStyle/>
        <a:p>
          <a:r>
            <a:rPr lang="pl-PL" sz="1300"/>
            <a:t>Drugim problemem jest utrzymanie modeli po wdrożeniu. Model może działać poprawnie dziś, ale po kilku miesiącach jego skuteczność może spaść, jeśli zmienią się dane wejściowe. Startup musi więc nie tylko tworzyć model, ale również stale monitorować jego działanie.</a:t>
          </a:r>
          <a:endParaRPr lang="en-US" sz="1300"/>
        </a:p>
      </dgm:t>
    </dgm:pt>
    <dgm:pt modelId="{90447671-6D86-4760-B62E-B151589FF9F6}" type="parTrans" cxnId="{D99197CE-26C5-4526-B2CA-8E1145A79745}">
      <dgm:prSet/>
      <dgm:spPr/>
      <dgm:t>
        <a:bodyPr/>
        <a:lstStyle/>
        <a:p>
          <a:endParaRPr lang="en-US"/>
        </a:p>
      </dgm:t>
    </dgm:pt>
    <dgm:pt modelId="{AC572FD1-3D1A-4454-82BB-371352C3B9D2}" type="sibTrans" cxnId="{D99197CE-26C5-4526-B2CA-8E1145A79745}">
      <dgm:prSet/>
      <dgm:spPr/>
      <dgm:t>
        <a:bodyPr/>
        <a:lstStyle/>
        <a:p>
          <a:endParaRPr lang="en-US"/>
        </a:p>
      </dgm:t>
    </dgm:pt>
    <dgm:pt modelId="{63CD7BE9-E5E6-4DDE-BD5E-DD7EDC1891A0}" type="pres">
      <dgm:prSet presAssocID="{0505D6B2-D076-49E0-AE02-49372825FFBD}" presName="hierChild1" presStyleCnt="0">
        <dgm:presLayoutVars>
          <dgm:chPref val="1"/>
          <dgm:dir/>
          <dgm:animOne val="branch"/>
          <dgm:animLvl val="lvl"/>
          <dgm:resizeHandles/>
        </dgm:presLayoutVars>
      </dgm:prSet>
      <dgm:spPr/>
    </dgm:pt>
    <dgm:pt modelId="{DCD7A78C-3EF7-4913-9ED1-B9E92F63632E}" type="pres">
      <dgm:prSet presAssocID="{37DC9A0C-081E-495C-A90A-F8A72DAAA456}" presName="hierRoot1" presStyleCnt="0"/>
      <dgm:spPr/>
    </dgm:pt>
    <dgm:pt modelId="{C33F372D-D1A0-4164-AE92-907929D71064}" type="pres">
      <dgm:prSet presAssocID="{37DC9A0C-081E-495C-A90A-F8A72DAAA456}" presName="composite" presStyleCnt="0"/>
      <dgm:spPr/>
    </dgm:pt>
    <dgm:pt modelId="{AC18EA8D-A424-460F-8FF9-D45140E4D040}" type="pres">
      <dgm:prSet presAssocID="{37DC9A0C-081E-495C-A90A-F8A72DAAA456}" presName="background" presStyleLbl="node0" presStyleIdx="0" presStyleCnt="3"/>
      <dgm:spPr/>
    </dgm:pt>
    <dgm:pt modelId="{7926E75D-1C0F-420A-BA6C-15E74615A2C0}" type="pres">
      <dgm:prSet presAssocID="{37DC9A0C-081E-495C-A90A-F8A72DAAA456}" presName="text" presStyleLbl="fgAcc0" presStyleIdx="0" presStyleCnt="3">
        <dgm:presLayoutVars>
          <dgm:chPref val="3"/>
        </dgm:presLayoutVars>
      </dgm:prSet>
      <dgm:spPr/>
    </dgm:pt>
    <dgm:pt modelId="{502C87CE-CF9C-4B7A-B808-DE203AA904C8}" type="pres">
      <dgm:prSet presAssocID="{37DC9A0C-081E-495C-A90A-F8A72DAAA456}" presName="hierChild2" presStyleCnt="0"/>
      <dgm:spPr/>
    </dgm:pt>
    <dgm:pt modelId="{A1004562-011B-4031-8F78-FF453B8A2614}" type="pres">
      <dgm:prSet presAssocID="{8D1B8948-D987-4C23-AC57-C04BEF3B04F0}" presName="hierRoot1" presStyleCnt="0"/>
      <dgm:spPr/>
    </dgm:pt>
    <dgm:pt modelId="{80DE0FD4-5D54-40FB-9A18-F33CBE747CFD}" type="pres">
      <dgm:prSet presAssocID="{8D1B8948-D987-4C23-AC57-C04BEF3B04F0}" presName="composite" presStyleCnt="0"/>
      <dgm:spPr/>
    </dgm:pt>
    <dgm:pt modelId="{29ABF79A-8E1C-4165-A0FC-3E50EAE466AF}" type="pres">
      <dgm:prSet presAssocID="{8D1B8948-D987-4C23-AC57-C04BEF3B04F0}" presName="background" presStyleLbl="node0" presStyleIdx="1" presStyleCnt="3"/>
      <dgm:spPr/>
    </dgm:pt>
    <dgm:pt modelId="{3A81E516-05D0-4271-B9A5-6D2014204762}" type="pres">
      <dgm:prSet presAssocID="{8D1B8948-D987-4C23-AC57-C04BEF3B04F0}" presName="text" presStyleLbl="fgAcc0" presStyleIdx="1" presStyleCnt="3">
        <dgm:presLayoutVars>
          <dgm:chPref val="3"/>
        </dgm:presLayoutVars>
      </dgm:prSet>
      <dgm:spPr/>
    </dgm:pt>
    <dgm:pt modelId="{A3909BEC-5BF3-470A-8533-87685DF6B1F0}" type="pres">
      <dgm:prSet presAssocID="{8D1B8948-D987-4C23-AC57-C04BEF3B04F0}" presName="hierChild2" presStyleCnt="0"/>
      <dgm:spPr/>
    </dgm:pt>
    <dgm:pt modelId="{11EE5EEB-A3E8-41AD-9D10-C55E001FB02B}" type="pres">
      <dgm:prSet presAssocID="{E3B29DD0-8FBC-40D8-9F13-03C93570172F}" presName="hierRoot1" presStyleCnt="0"/>
      <dgm:spPr/>
    </dgm:pt>
    <dgm:pt modelId="{AC0BD78C-ECB2-4885-9EF6-7CD89CA08221}" type="pres">
      <dgm:prSet presAssocID="{E3B29DD0-8FBC-40D8-9F13-03C93570172F}" presName="composite" presStyleCnt="0"/>
      <dgm:spPr/>
    </dgm:pt>
    <dgm:pt modelId="{C20D0F15-E866-4801-A03D-E089A3924C25}" type="pres">
      <dgm:prSet presAssocID="{E3B29DD0-8FBC-40D8-9F13-03C93570172F}" presName="background" presStyleLbl="node0" presStyleIdx="2" presStyleCnt="3"/>
      <dgm:spPr/>
    </dgm:pt>
    <dgm:pt modelId="{1E9D2C31-511D-40B6-8D39-A4F90AB1CD18}" type="pres">
      <dgm:prSet presAssocID="{E3B29DD0-8FBC-40D8-9F13-03C93570172F}" presName="text" presStyleLbl="fgAcc0" presStyleIdx="2" presStyleCnt="3">
        <dgm:presLayoutVars>
          <dgm:chPref val="3"/>
        </dgm:presLayoutVars>
      </dgm:prSet>
      <dgm:spPr/>
    </dgm:pt>
    <dgm:pt modelId="{D529EFD2-05D8-4FB8-88C5-B84A2E1F18B9}" type="pres">
      <dgm:prSet presAssocID="{E3B29DD0-8FBC-40D8-9F13-03C93570172F}" presName="hierChild2" presStyleCnt="0"/>
      <dgm:spPr/>
    </dgm:pt>
  </dgm:ptLst>
  <dgm:cxnLst>
    <dgm:cxn modelId="{9F486A03-91DB-464C-B206-2E9CEA9FEAC9}" type="presOf" srcId="{E3B29DD0-8FBC-40D8-9F13-03C93570172F}" destId="{1E9D2C31-511D-40B6-8D39-A4F90AB1CD18}" srcOrd="0" destOrd="0" presId="urn:microsoft.com/office/officeart/2005/8/layout/hierarchy1"/>
    <dgm:cxn modelId="{5D8F0208-3A7E-4DE6-944C-C4BF3C9F0374}" type="presOf" srcId="{8D1B8948-D987-4C23-AC57-C04BEF3B04F0}" destId="{3A81E516-05D0-4271-B9A5-6D2014204762}" srcOrd="0" destOrd="0" presId="urn:microsoft.com/office/officeart/2005/8/layout/hierarchy1"/>
    <dgm:cxn modelId="{41DC7D63-B90A-41A6-AB81-55D6D87C801A}" srcId="{0505D6B2-D076-49E0-AE02-49372825FFBD}" destId="{8D1B8948-D987-4C23-AC57-C04BEF3B04F0}" srcOrd="1" destOrd="0" parTransId="{60DDB7A5-3411-43B2-BD9F-5A2FFCFFADD9}" sibTransId="{D0191CF9-64F9-4BB3-817B-1C306B3A47D1}"/>
    <dgm:cxn modelId="{6A976F51-8641-4D88-A5F5-240DC93529A1}" type="presOf" srcId="{37DC9A0C-081E-495C-A90A-F8A72DAAA456}" destId="{7926E75D-1C0F-420A-BA6C-15E74615A2C0}" srcOrd="0" destOrd="0" presId="urn:microsoft.com/office/officeart/2005/8/layout/hierarchy1"/>
    <dgm:cxn modelId="{6F29529E-1E0B-4718-B619-AAE46365BB3E}" srcId="{0505D6B2-D076-49E0-AE02-49372825FFBD}" destId="{37DC9A0C-081E-495C-A90A-F8A72DAAA456}" srcOrd="0" destOrd="0" parTransId="{CC8F364E-26A2-4058-8566-036AC3666017}" sibTransId="{E910B634-00FC-456A-B8A6-B92CBF6D3DAF}"/>
    <dgm:cxn modelId="{D99197CE-26C5-4526-B2CA-8E1145A79745}" srcId="{0505D6B2-D076-49E0-AE02-49372825FFBD}" destId="{E3B29DD0-8FBC-40D8-9F13-03C93570172F}" srcOrd="2" destOrd="0" parTransId="{90447671-6D86-4760-B62E-B151589FF9F6}" sibTransId="{AC572FD1-3D1A-4454-82BB-371352C3B9D2}"/>
    <dgm:cxn modelId="{C905A9F2-7CF9-40E7-9E7B-FB9402E516C8}" type="presOf" srcId="{0505D6B2-D076-49E0-AE02-49372825FFBD}" destId="{63CD7BE9-E5E6-4DDE-BD5E-DD7EDC1891A0}" srcOrd="0" destOrd="0" presId="urn:microsoft.com/office/officeart/2005/8/layout/hierarchy1"/>
    <dgm:cxn modelId="{696BA5B6-AE1B-45F7-975C-40975EBE9BF9}" type="presParOf" srcId="{63CD7BE9-E5E6-4DDE-BD5E-DD7EDC1891A0}" destId="{DCD7A78C-3EF7-4913-9ED1-B9E92F63632E}" srcOrd="0" destOrd="0" presId="urn:microsoft.com/office/officeart/2005/8/layout/hierarchy1"/>
    <dgm:cxn modelId="{85FFA26F-8535-4B29-88F0-DA0AD1081040}" type="presParOf" srcId="{DCD7A78C-3EF7-4913-9ED1-B9E92F63632E}" destId="{C33F372D-D1A0-4164-AE92-907929D71064}" srcOrd="0" destOrd="0" presId="urn:microsoft.com/office/officeart/2005/8/layout/hierarchy1"/>
    <dgm:cxn modelId="{4143A015-F124-4A46-809A-4C6BA09D63C8}" type="presParOf" srcId="{C33F372D-D1A0-4164-AE92-907929D71064}" destId="{AC18EA8D-A424-460F-8FF9-D45140E4D040}" srcOrd="0" destOrd="0" presId="urn:microsoft.com/office/officeart/2005/8/layout/hierarchy1"/>
    <dgm:cxn modelId="{617A110C-3869-4E8C-B426-024124EDDF2B}" type="presParOf" srcId="{C33F372D-D1A0-4164-AE92-907929D71064}" destId="{7926E75D-1C0F-420A-BA6C-15E74615A2C0}" srcOrd="1" destOrd="0" presId="urn:microsoft.com/office/officeart/2005/8/layout/hierarchy1"/>
    <dgm:cxn modelId="{F5E67185-DAF6-47A8-90D0-DFBFF9FC68AF}" type="presParOf" srcId="{DCD7A78C-3EF7-4913-9ED1-B9E92F63632E}" destId="{502C87CE-CF9C-4B7A-B808-DE203AA904C8}" srcOrd="1" destOrd="0" presId="urn:microsoft.com/office/officeart/2005/8/layout/hierarchy1"/>
    <dgm:cxn modelId="{3243A360-8F3A-45DB-A453-0B81A46CE075}" type="presParOf" srcId="{63CD7BE9-E5E6-4DDE-BD5E-DD7EDC1891A0}" destId="{A1004562-011B-4031-8F78-FF453B8A2614}" srcOrd="1" destOrd="0" presId="urn:microsoft.com/office/officeart/2005/8/layout/hierarchy1"/>
    <dgm:cxn modelId="{C55EA0C5-7234-425B-B874-FA3D3E40FDF5}" type="presParOf" srcId="{A1004562-011B-4031-8F78-FF453B8A2614}" destId="{80DE0FD4-5D54-40FB-9A18-F33CBE747CFD}" srcOrd="0" destOrd="0" presId="urn:microsoft.com/office/officeart/2005/8/layout/hierarchy1"/>
    <dgm:cxn modelId="{49DD6BC8-67A4-4C44-89AF-FFDDFAD3E4C6}" type="presParOf" srcId="{80DE0FD4-5D54-40FB-9A18-F33CBE747CFD}" destId="{29ABF79A-8E1C-4165-A0FC-3E50EAE466AF}" srcOrd="0" destOrd="0" presId="urn:microsoft.com/office/officeart/2005/8/layout/hierarchy1"/>
    <dgm:cxn modelId="{71F1DE3F-0EB9-46F9-90B7-9E0D641BC3FC}" type="presParOf" srcId="{80DE0FD4-5D54-40FB-9A18-F33CBE747CFD}" destId="{3A81E516-05D0-4271-B9A5-6D2014204762}" srcOrd="1" destOrd="0" presId="urn:microsoft.com/office/officeart/2005/8/layout/hierarchy1"/>
    <dgm:cxn modelId="{DA860E46-38C5-4CAC-85CB-2FF826C3DED4}" type="presParOf" srcId="{A1004562-011B-4031-8F78-FF453B8A2614}" destId="{A3909BEC-5BF3-470A-8533-87685DF6B1F0}" srcOrd="1" destOrd="0" presId="urn:microsoft.com/office/officeart/2005/8/layout/hierarchy1"/>
    <dgm:cxn modelId="{4D5A17BB-A74D-4C06-A1DF-B00C04E3BE48}" type="presParOf" srcId="{63CD7BE9-E5E6-4DDE-BD5E-DD7EDC1891A0}" destId="{11EE5EEB-A3E8-41AD-9D10-C55E001FB02B}" srcOrd="2" destOrd="0" presId="urn:microsoft.com/office/officeart/2005/8/layout/hierarchy1"/>
    <dgm:cxn modelId="{E844CE73-CD32-4CE0-814B-7087C0790B8E}" type="presParOf" srcId="{11EE5EEB-A3E8-41AD-9D10-C55E001FB02B}" destId="{AC0BD78C-ECB2-4885-9EF6-7CD89CA08221}" srcOrd="0" destOrd="0" presId="urn:microsoft.com/office/officeart/2005/8/layout/hierarchy1"/>
    <dgm:cxn modelId="{9ACB4137-BA16-497A-8D00-C96719EB9E04}" type="presParOf" srcId="{AC0BD78C-ECB2-4885-9EF6-7CD89CA08221}" destId="{C20D0F15-E866-4801-A03D-E089A3924C25}" srcOrd="0" destOrd="0" presId="urn:microsoft.com/office/officeart/2005/8/layout/hierarchy1"/>
    <dgm:cxn modelId="{CA83D188-858C-4A11-A073-B9C859D28F76}" type="presParOf" srcId="{AC0BD78C-ECB2-4885-9EF6-7CD89CA08221}" destId="{1E9D2C31-511D-40B6-8D39-A4F90AB1CD18}" srcOrd="1" destOrd="0" presId="urn:microsoft.com/office/officeart/2005/8/layout/hierarchy1"/>
    <dgm:cxn modelId="{F396B5E4-DFDA-4BB7-8243-4142683FD9A4}" type="presParOf" srcId="{11EE5EEB-A3E8-41AD-9D10-C55E001FB02B}" destId="{D529EFD2-05D8-4FB8-88C5-B84A2E1F18B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5CD0DE3-DA7F-4FC6-B2C5-5B1F9EFDE28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FA076AC-5816-461D-B31B-85F22AAF5DBF}">
      <dgm:prSet/>
      <dgm:spPr/>
      <dgm:t>
        <a:bodyPr/>
        <a:lstStyle/>
        <a:p>
          <a:r>
            <a:rPr lang="pl-PL"/>
            <a:t>Szybka pętla informacji zwrotnej jest jednym z najważniejszych mechanizmów przetrwania startupu, ponieważ umożliwia szybkie uczenie się i korygowanie błędnych decyzji zanim staną się kosztowne.</a:t>
          </a:r>
          <a:endParaRPr lang="en-US"/>
        </a:p>
      </dgm:t>
    </dgm:pt>
    <dgm:pt modelId="{FFF43B6F-4936-4364-844C-42F825170B73}" type="parTrans" cxnId="{A9B9586D-7879-41AF-ABFB-D2C9C84A162D}">
      <dgm:prSet/>
      <dgm:spPr/>
      <dgm:t>
        <a:bodyPr/>
        <a:lstStyle/>
        <a:p>
          <a:endParaRPr lang="en-US"/>
        </a:p>
      </dgm:t>
    </dgm:pt>
    <dgm:pt modelId="{5B0E2414-DFDD-43F1-B25F-4D3C039913CD}" type="sibTrans" cxnId="{A9B9586D-7879-41AF-ABFB-D2C9C84A162D}">
      <dgm:prSet/>
      <dgm:spPr/>
      <dgm:t>
        <a:bodyPr/>
        <a:lstStyle/>
        <a:p>
          <a:endParaRPr lang="en-US"/>
        </a:p>
      </dgm:t>
    </dgm:pt>
    <dgm:pt modelId="{D71C3EEA-0C42-4558-8DD9-0675DD44000F}">
      <dgm:prSet/>
      <dgm:spPr/>
      <dgm:t>
        <a:bodyPr/>
        <a:lstStyle/>
        <a:p>
          <a:r>
            <a:rPr lang="pl-PL"/>
            <a:t>Szybka informacja zwrotna działa na kilku poziomach</a:t>
          </a:r>
          <a:r>
            <a:rPr lang="en-US"/>
            <a:t>:</a:t>
          </a:r>
        </a:p>
      </dgm:t>
    </dgm:pt>
    <dgm:pt modelId="{6F23EEE9-64CD-48D8-ABF3-ADF162F3E2D2}" type="parTrans" cxnId="{122DF1CA-9262-4BC6-8047-7AA4C82F9B68}">
      <dgm:prSet/>
      <dgm:spPr/>
      <dgm:t>
        <a:bodyPr/>
        <a:lstStyle/>
        <a:p>
          <a:endParaRPr lang="en-US"/>
        </a:p>
      </dgm:t>
    </dgm:pt>
    <dgm:pt modelId="{5BEA1A48-1B66-428E-8866-AB48314C3417}" type="sibTrans" cxnId="{122DF1CA-9262-4BC6-8047-7AA4C82F9B68}">
      <dgm:prSet/>
      <dgm:spPr/>
      <dgm:t>
        <a:bodyPr/>
        <a:lstStyle/>
        <a:p>
          <a:endParaRPr lang="en-US"/>
        </a:p>
      </dgm:t>
    </dgm:pt>
    <dgm:pt modelId="{7AC6CCA7-E287-47D6-91B6-EAC224F3F153}">
      <dgm:prSet/>
      <dgm:spPr/>
      <dgm:t>
        <a:bodyPr/>
        <a:lstStyle/>
        <a:p>
          <a:r>
            <a:rPr lang="pl-PL"/>
            <a:t>Dotyczy produktu, ponieważ użytkownik pokazuje czy funkcja jest potrzebna.</a:t>
          </a:r>
          <a:endParaRPr lang="en-US"/>
        </a:p>
      </dgm:t>
    </dgm:pt>
    <dgm:pt modelId="{E2711360-6804-439F-84CA-EB93A619684D}" type="parTrans" cxnId="{5C6E1240-F07F-454E-92B1-9C77170D3557}">
      <dgm:prSet/>
      <dgm:spPr/>
      <dgm:t>
        <a:bodyPr/>
        <a:lstStyle/>
        <a:p>
          <a:endParaRPr lang="en-US"/>
        </a:p>
      </dgm:t>
    </dgm:pt>
    <dgm:pt modelId="{78E79D9F-5F40-4146-9D16-F84A0FC8228B}" type="sibTrans" cxnId="{5C6E1240-F07F-454E-92B1-9C77170D3557}">
      <dgm:prSet/>
      <dgm:spPr/>
      <dgm:t>
        <a:bodyPr/>
        <a:lstStyle/>
        <a:p>
          <a:endParaRPr lang="en-US"/>
        </a:p>
      </dgm:t>
    </dgm:pt>
    <dgm:pt modelId="{0B476C9C-8A60-45B2-8BAB-5041359F7D75}">
      <dgm:prSet/>
      <dgm:spPr/>
      <dgm:t>
        <a:bodyPr/>
        <a:lstStyle/>
        <a:p>
          <a:r>
            <a:rPr lang="pl-PL"/>
            <a:t>Dotyczy technologii, ponieważ zespół szybciej wykrywa problemy techniczne.</a:t>
          </a:r>
          <a:endParaRPr lang="en-US"/>
        </a:p>
      </dgm:t>
    </dgm:pt>
    <dgm:pt modelId="{9216EEEC-CAF1-43C0-8114-928F1D3B6D50}" type="parTrans" cxnId="{238BE384-58AB-4236-B38C-93E3E134D1E9}">
      <dgm:prSet/>
      <dgm:spPr/>
      <dgm:t>
        <a:bodyPr/>
        <a:lstStyle/>
        <a:p>
          <a:endParaRPr lang="en-US"/>
        </a:p>
      </dgm:t>
    </dgm:pt>
    <dgm:pt modelId="{1B570CAE-C3A6-4243-8E68-887A749E20DC}" type="sibTrans" cxnId="{238BE384-58AB-4236-B38C-93E3E134D1E9}">
      <dgm:prSet/>
      <dgm:spPr/>
      <dgm:t>
        <a:bodyPr/>
        <a:lstStyle/>
        <a:p>
          <a:endParaRPr lang="en-US"/>
        </a:p>
      </dgm:t>
    </dgm:pt>
    <dgm:pt modelId="{C345FF2D-1090-4B36-BD91-AF14A780299A}">
      <dgm:prSet/>
      <dgm:spPr/>
      <dgm:t>
        <a:bodyPr/>
        <a:lstStyle/>
        <a:p>
          <a:r>
            <a:rPr lang="pl-PL"/>
            <a:t>Dotyczy również modelu biznesowego, ponieważ firma wcześniej zauważa, czy klienci są gotowi płacić.</a:t>
          </a:r>
          <a:endParaRPr lang="en-US"/>
        </a:p>
      </dgm:t>
    </dgm:pt>
    <dgm:pt modelId="{54A3FE79-F4BD-4940-B554-ED31C75159F9}" type="parTrans" cxnId="{E8F93A9F-4451-4ADE-8E82-6A85D7705655}">
      <dgm:prSet/>
      <dgm:spPr/>
      <dgm:t>
        <a:bodyPr/>
        <a:lstStyle/>
        <a:p>
          <a:endParaRPr lang="en-US"/>
        </a:p>
      </dgm:t>
    </dgm:pt>
    <dgm:pt modelId="{7F645E27-E35B-4F4E-96D7-77751C4D6434}" type="sibTrans" cxnId="{E8F93A9F-4451-4ADE-8E82-6A85D7705655}">
      <dgm:prSet/>
      <dgm:spPr/>
      <dgm:t>
        <a:bodyPr/>
        <a:lstStyle/>
        <a:p>
          <a:endParaRPr lang="en-US"/>
        </a:p>
      </dgm:t>
    </dgm:pt>
    <dgm:pt modelId="{D7E94BDE-7150-492F-906B-706C5F72ED95}" type="pres">
      <dgm:prSet presAssocID="{45CD0DE3-DA7F-4FC6-B2C5-5B1F9EFDE282}" presName="root" presStyleCnt="0">
        <dgm:presLayoutVars>
          <dgm:dir/>
          <dgm:resizeHandles val="exact"/>
        </dgm:presLayoutVars>
      </dgm:prSet>
      <dgm:spPr/>
    </dgm:pt>
    <dgm:pt modelId="{C7AB58AA-B11B-4753-B867-2DA946FD7955}" type="pres">
      <dgm:prSet presAssocID="{EFA076AC-5816-461D-B31B-85F22AAF5DBF}" presName="compNode" presStyleCnt="0"/>
      <dgm:spPr/>
    </dgm:pt>
    <dgm:pt modelId="{ECCFAD74-0489-4303-BCEC-7B01CE8EDF1B}" type="pres">
      <dgm:prSet presAssocID="{EFA076AC-5816-461D-B31B-85F22AAF5DBF}" presName="bgRect" presStyleLbl="bgShp" presStyleIdx="0" presStyleCnt="5"/>
      <dgm:spPr/>
    </dgm:pt>
    <dgm:pt modelId="{591945DE-9713-4CB7-96F0-5C14C93AD7F1}" type="pres">
      <dgm:prSet presAssocID="{EFA076AC-5816-461D-B31B-85F22AAF5DBF}"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377FB7BA-D3E5-4E3D-AA5D-C729B6B3D7E9}" type="pres">
      <dgm:prSet presAssocID="{EFA076AC-5816-461D-B31B-85F22AAF5DBF}" presName="spaceRect" presStyleCnt="0"/>
      <dgm:spPr/>
    </dgm:pt>
    <dgm:pt modelId="{C9056649-BF5C-4965-B4BA-94B1F22FDBC5}" type="pres">
      <dgm:prSet presAssocID="{EFA076AC-5816-461D-B31B-85F22AAF5DBF}" presName="parTx" presStyleLbl="revTx" presStyleIdx="0" presStyleCnt="5">
        <dgm:presLayoutVars>
          <dgm:chMax val="0"/>
          <dgm:chPref val="0"/>
        </dgm:presLayoutVars>
      </dgm:prSet>
      <dgm:spPr/>
    </dgm:pt>
    <dgm:pt modelId="{00F91B20-BF15-4C7A-802A-2A8388E7AE3B}" type="pres">
      <dgm:prSet presAssocID="{5B0E2414-DFDD-43F1-B25F-4D3C039913CD}" presName="sibTrans" presStyleCnt="0"/>
      <dgm:spPr/>
    </dgm:pt>
    <dgm:pt modelId="{BDC5F090-1EC8-45B4-87B4-B715EEFC575C}" type="pres">
      <dgm:prSet presAssocID="{D71C3EEA-0C42-4558-8DD9-0675DD44000F}" presName="compNode" presStyleCnt="0"/>
      <dgm:spPr/>
    </dgm:pt>
    <dgm:pt modelId="{8694062B-1AC4-4033-B193-56665ACB86CC}" type="pres">
      <dgm:prSet presAssocID="{D71C3EEA-0C42-4558-8DD9-0675DD44000F}" presName="bgRect" presStyleLbl="bgShp" presStyleIdx="1" presStyleCnt="5"/>
      <dgm:spPr/>
    </dgm:pt>
    <dgm:pt modelId="{3153B5DF-8FB2-4302-A7F1-004360C514EC}" type="pres">
      <dgm:prSet presAssocID="{D71C3EEA-0C42-4558-8DD9-0675DD44000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rger and Drink"/>
        </a:ext>
      </dgm:extLst>
    </dgm:pt>
    <dgm:pt modelId="{0DFB71CA-0BE5-475D-92EE-EEB3C1F9D792}" type="pres">
      <dgm:prSet presAssocID="{D71C3EEA-0C42-4558-8DD9-0675DD44000F}" presName="spaceRect" presStyleCnt="0"/>
      <dgm:spPr/>
    </dgm:pt>
    <dgm:pt modelId="{CF89A8FD-4BD3-4AFF-8F82-6D7F9349F3BE}" type="pres">
      <dgm:prSet presAssocID="{D71C3EEA-0C42-4558-8DD9-0675DD44000F}" presName="parTx" presStyleLbl="revTx" presStyleIdx="1" presStyleCnt="5">
        <dgm:presLayoutVars>
          <dgm:chMax val="0"/>
          <dgm:chPref val="0"/>
        </dgm:presLayoutVars>
      </dgm:prSet>
      <dgm:spPr/>
    </dgm:pt>
    <dgm:pt modelId="{F78435F8-4147-4711-AB67-BED5D1E2AE6E}" type="pres">
      <dgm:prSet presAssocID="{5BEA1A48-1B66-428E-8866-AB48314C3417}" presName="sibTrans" presStyleCnt="0"/>
      <dgm:spPr/>
    </dgm:pt>
    <dgm:pt modelId="{690F2D2E-4084-420B-91C1-9A84D9C7B5EF}" type="pres">
      <dgm:prSet presAssocID="{7AC6CCA7-E287-47D6-91B6-EAC224F3F153}" presName="compNode" presStyleCnt="0"/>
      <dgm:spPr/>
    </dgm:pt>
    <dgm:pt modelId="{0D7BC451-1314-4E52-8374-84E48D829129}" type="pres">
      <dgm:prSet presAssocID="{7AC6CCA7-E287-47D6-91B6-EAC224F3F153}" presName="bgRect" presStyleLbl="bgShp" presStyleIdx="2" presStyleCnt="5"/>
      <dgm:spPr/>
    </dgm:pt>
    <dgm:pt modelId="{E282D578-0197-4C87-B012-459A25B6B0C6}" type="pres">
      <dgm:prSet presAssocID="{7AC6CCA7-E287-47D6-91B6-EAC224F3F153}"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dioactive Sign"/>
        </a:ext>
      </dgm:extLst>
    </dgm:pt>
    <dgm:pt modelId="{47B5433C-5121-4E84-8173-A4A2A52CCE27}" type="pres">
      <dgm:prSet presAssocID="{7AC6CCA7-E287-47D6-91B6-EAC224F3F153}" presName="spaceRect" presStyleCnt="0"/>
      <dgm:spPr/>
    </dgm:pt>
    <dgm:pt modelId="{A70C3C1F-1D7E-4B05-A17D-83EA0D9E7A07}" type="pres">
      <dgm:prSet presAssocID="{7AC6CCA7-E287-47D6-91B6-EAC224F3F153}" presName="parTx" presStyleLbl="revTx" presStyleIdx="2" presStyleCnt="5">
        <dgm:presLayoutVars>
          <dgm:chMax val="0"/>
          <dgm:chPref val="0"/>
        </dgm:presLayoutVars>
      </dgm:prSet>
      <dgm:spPr/>
    </dgm:pt>
    <dgm:pt modelId="{C0E89CF7-C175-4CD5-9312-A48A12E26B5F}" type="pres">
      <dgm:prSet presAssocID="{78E79D9F-5F40-4146-9D16-F84A0FC8228B}" presName="sibTrans" presStyleCnt="0"/>
      <dgm:spPr/>
    </dgm:pt>
    <dgm:pt modelId="{E12FC368-F19A-4180-BF9B-A804D8027041}" type="pres">
      <dgm:prSet presAssocID="{0B476C9C-8A60-45B2-8BAB-5041359F7D75}" presName="compNode" presStyleCnt="0"/>
      <dgm:spPr/>
    </dgm:pt>
    <dgm:pt modelId="{11EB62EA-DA75-4D28-8C14-2FFA5F7620C7}" type="pres">
      <dgm:prSet presAssocID="{0B476C9C-8A60-45B2-8BAB-5041359F7D75}" presName="bgRect" presStyleLbl="bgShp" presStyleIdx="3" presStyleCnt="5"/>
      <dgm:spPr/>
    </dgm:pt>
    <dgm:pt modelId="{3249859C-E033-45C3-B6F2-8C6F560DF1B9}" type="pres">
      <dgm:prSet presAssocID="{0B476C9C-8A60-45B2-8BAB-5041359F7D7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FBBEAC09-8448-4971-8B71-1E96A89986F2}" type="pres">
      <dgm:prSet presAssocID="{0B476C9C-8A60-45B2-8BAB-5041359F7D75}" presName="spaceRect" presStyleCnt="0"/>
      <dgm:spPr/>
    </dgm:pt>
    <dgm:pt modelId="{B8DCD6DA-E682-4A04-9835-B99A243A9498}" type="pres">
      <dgm:prSet presAssocID="{0B476C9C-8A60-45B2-8BAB-5041359F7D75}" presName="parTx" presStyleLbl="revTx" presStyleIdx="3" presStyleCnt="5">
        <dgm:presLayoutVars>
          <dgm:chMax val="0"/>
          <dgm:chPref val="0"/>
        </dgm:presLayoutVars>
      </dgm:prSet>
      <dgm:spPr/>
    </dgm:pt>
    <dgm:pt modelId="{BD4D0EC2-658A-491C-8777-FA61915B19D2}" type="pres">
      <dgm:prSet presAssocID="{1B570CAE-C3A6-4243-8E68-887A749E20DC}" presName="sibTrans" presStyleCnt="0"/>
      <dgm:spPr/>
    </dgm:pt>
    <dgm:pt modelId="{C8DF5FAA-90CF-4C06-BD18-89711EF760AB}" type="pres">
      <dgm:prSet presAssocID="{C345FF2D-1090-4B36-BD91-AF14A780299A}" presName="compNode" presStyleCnt="0"/>
      <dgm:spPr/>
    </dgm:pt>
    <dgm:pt modelId="{A0943BFF-D7F7-42E1-A5C6-A09AA30DD801}" type="pres">
      <dgm:prSet presAssocID="{C345FF2D-1090-4B36-BD91-AF14A780299A}" presName="bgRect" presStyleLbl="bgShp" presStyleIdx="4" presStyleCnt="5"/>
      <dgm:spPr/>
    </dgm:pt>
    <dgm:pt modelId="{8E641CA6-3D2F-4B66-9FE6-B75D9D9F9317}" type="pres">
      <dgm:prSet presAssocID="{C345FF2D-1090-4B36-BD91-AF14A780299A}"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ubstancja drażniąca"/>
        </a:ext>
      </dgm:extLst>
    </dgm:pt>
    <dgm:pt modelId="{07A129DA-4621-443A-87A2-42F5742B7825}" type="pres">
      <dgm:prSet presAssocID="{C345FF2D-1090-4B36-BD91-AF14A780299A}" presName="spaceRect" presStyleCnt="0"/>
      <dgm:spPr/>
    </dgm:pt>
    <dgm:pt modelId="{CD5F9471-EDF3-4146-92B5-1887E49C9310}" type="pres">
      <dgm:prSet presAssocID="{C345FF2D-1090-4B36-BD91-AF14A780299A}" presName="parTx" presStyleLbl="revTx" presStyleIdx="4" presStyleCnt="5">
        <dgm:presLayoutVars>
          <dgm:chMax val="0"/>
          <dgm:chPref val="0"/>
        </dgm:presLayoutVars>
      </dgm:prSet>
      <dgm:spPr/>
    </dgm:pt>
  </dgm:ptLst>
  <dgm:cxnLst>
    <dgm:cxn modelId="{5C6E1240-F07F-454E-92B1-9C77170D3557}" srcId="{45CD0DE3-DA7F-4FC6-B2C5-5B1F9EFDE282}" destId="{7AC6CCA7-E287-47D6-91B6-EAC224F3F153}" srcOrd="2" destOrd="0" parTransId="{E2711360-6804-439F-84CA-EB93A619684D}" sibTransId="{78E79D9F-5F40-4146-9D16-F84A0FC8228B}"/>
    <dgm:cxn modelId="{6B8F9B4B-30B4-4023-A258-FD9784A4AE5B}" type="presOf" srcId="{EFA076AC-5816-461D-B31B-85F22AAF5DBF}" destId="{C9056649-BF5C-4965-B4BA-94B1F22FDBC5}" srcOrd="0" destOrd="0" presId="urn:microsoft.com/office/officeart/2018/2/layout/IconVerticalSolidList"/>
    <dgm:cxn modelId="{543C2E4D-58FD-4C16-8D7D-857C6EC7621E}" type="presOf" srcId="{C345FF2D-1090-4B36-BD91-AF14A780299A}" destId="{CD5F9471-EDF3-4146-92B5-1887E49C9310}" srcOrd="0" destOrd="0" presId="urn:microsoft.com/office/officeart/2018/2/layout/IconVerticalSolidList"/>
    <dgm:cxn modelId="{A9B9586D-7879-41AF-ABFB-D2C9C84A162D}" srcId="{45CD0DE3-DA7F-4FC6-B2C5-5B1F9EFDE282}" destId="{EFA076AC-5816-461D-B31B-85F22AAF5DBF}" srcOrd="0" destOrd="0" parTransId="{FFF43B6F-4936-4364-844C-42F825170B73}" sibTransId="{5B0E2414-DFDD-43F1-B25F-4D3C039913CD}"/>
    <dgm:cxn modelId="{238BE384-58AB-4236-B38C-93E3E134D1E9}" srcId="{45CD0DE3-DA7F-4FC6-B2C5-5B1F9EFDE282}" destId="{0B476C9C-8A60-45B2-8BAB-5041359F7D75}" srcOrd="3" destOrd="0" parTransId="{9216EEEC-CAF1-43C0-8114-928F1D3B6D50}" sibTransId="{1B570CAE-C3A6-4243-8E68-887A749E20DC}"/>
    <dgm:cxn modelId="{B373F78C-457C-46E3-99C6-9B56D383A982}" type="presOf" srcId="{45CD0DE3-DA7F-4FC6-B2C5-5B1F9EFDE282}" destId="{D7E94BDE-7150-492F-906B-706C5F72ED95}" srcOrd="0" destOrd="0" presId="urn:microsoft.com/office/officeart/2018/2/layout/IconVerticalSolidList"/>
    <dgm:cxn modelId="{2E821998-E010-4FE8-85F3-B619C9E398A3}" type="presOf" srcId="{7AC6CCA7-E287-47D6-91B6-EAC224F3F153}" destId="{A70C3C1F-1D7E-4B05-A17D-83EA0D9E7A07}" srcOrd="0" destOrd="0" presId="urn:microsoft.com/office/officeart/2018/2/layout/IconVerticalSolidList"/>
    <dgm:cxn modelId="{E8F93A9F-4451-4ADE-8E82-6A85D7705655}" srcId="{45CD0DE3-DA7F-4FC6-B2C5-5B1F9EFDE282}" destId="{C345FF2D-1090-4B36-BD91-AF14A780299A}" srcOrd="4" destOrd="0" parTransId="{54A3FE79-F4BD-4940-B554-ED31C75159F9}" sibTransId="{7F645E27-E35B-4F4E-96D7-77751C4D6434}"/>
    <dgm:cxn modelId="{122DF1CA-9262-4BC6-8047-7AA4C82F9B68}" srcId="{45CD0DE3-DA7F-4FC6-B2C5-5B1F9EFDE282}" destId="{D71C3EEA-0C42-4558-8DD9-0675DD44000F}" srcOrd="1" destOrd="0" parTransId="{6F23EEE9-64CD-48D8-ABF3-ADF162F3E2D2}" sibTransId="{5BEA1A48-1B66-428E-8866-AB48314C3417}"/>
    <dgm:cxn modelId="{732499E8-AAD5-4D77-96E3-8F0F369555FD}" type="presOf" srcId="{D71C3EEA-0C42-4558-8DD9-0675DD44000F}" destId="{CF89A8FD-4BD3-4AFF-8F82-6D7F9349F3BE}" srcOrd="0" destOrd="0" presId="urn:microsoft.com/office/officeart/2018/2/layout/IconVerticalSolidList"/>
    <dgm:cxn modelId="{56B7D6F2-BD7F-40B4-871B-A1E076A457CB}" type="presOf" srcId="{0B476C9C-8A60-45B2-8BAB-5041359F7D75}" destId="{B8DCD6DA-E682-4A04-9835-B99A243A9498}" srcOrd="0" destOrd="0" presId="urn:microsoft.com/office/officeart/2018/2/layout/IconVerticalSolidList"/>
    <dgm:cxn modelId="{A299007A-7843-4C39-A2F3-8B19E5143015}" type="presParOf" srcId="{D7E94BDE-7150-492F-906B-706C5F72ED95}" destId="{C7AB58AA-B11B-4753-B867-2DA946FD7955}" srcOrd="0" destOrd="0" presId="urn:microsoft.com/office/officeart/2018/2/layout/IconVerticalSolidList"/>
    <dgm:cxn modelId="{8B342E13-96F5-4A3D-88A6-01B8E64D50BF}" type="presParOf" srcId="{C7AB58AA-B11B-4753-B867-2DA946FD7955}" destId="{ECCFAD74-0489-4303-BCEC-7B01CE8EDF1B}" srcOrd="0" destOrd="0" presId="urn:microsoft.com/office/officeart/2018/2/layout/IconVerticalSolidList"/>
    <dgm:cxn modelId="{2458453D-5FF1-4DF6-BFEE-CA57EBB45AF4}" type="presParOf" srcId="{C7AB58AA-B11B-4753-B867-2DA946FD7955}" destId="{591945DE-9713-4CB7-96F0-5C14C93AD7F1}" srcOrd="1" destOrd="0" presId="urn:microsoft.com/office/officeart/2018/2/layout/IconVerticalSolidList"/>
    <dgm:cxn modelId="{BA96FA54-C571-4B8D-AB51-5D85C4560AEB}" type="presParOf" srcId="{C7AB58AA-B11B-4753-B867-2DA946FD7955}" destId="{377FB7BA-D3E5-4E3D-AA5D-C729B6B3D7E9}" srcOrd="2" destOrd="0" presId="urn:microsoft.com/office/officeart/2018/2/layout/IconVerticalSolidList"/>
    <dgm:cxn modelId="{903D4F62-F2BA-46B8-B9FB-4027D275A93D}" type="presParOf" srcId="{C7AB58AA-B11B-4753-B867-2DA946FD7955}" destId="{C9056649-BF5C-4965-B4BA-94B1F22FDBC5}" srcOrd="3" destOrd="0" presId="urn:microsoft.com/office/officeart/2018/2/layout/IconVerticalSolidList"/>
    <dgm:cxn modelId="{16C76E40-0068-40EE-AE06-D8311DB32861}" type="presParOf" srcId="{D7E94BDE-7150-492F-906B-706C5F72ED95}" destId="{00F91B20-BF15-4C7A-802A-2A8388E7AE3B}" srcOrd="1" destOrd="0" presId="urn:microsoft.com/office/officeart/2018/2/layout/IconVerticalSolidList"/>
    <dgm:cxn modelId="{3D019EEF-7256-42D2-A907-6C8C407D0CA4}" type="presParOf" srcId="{D7E94BDE-7150-492F-906B-706C5F72ED95}" destId="{BDC5F090-1EC8-45B4-87B4-B715EEFC575C}" srcOrd="2" destOrd="0" presId="urn:microsoft.com/office/officeart/2018/2/layout/IconVerticalSolidList"/>
    <dgm:cxn modelId="{81E55D4B-8217-4189-8022-8C103C2E66EB}" type="presParOf" srcId="{BDC5F090-1EC8-45B4-87B4-B715EEFC575C}" destId="{8694062B-1AC4-4033-B193-56665ACB86CC}" srcOrd="0" destOrd="0" presId="urn:microsoft.com/office/officeart/2018/2/layout/IconVerticalSolidList"/>
    <dgm:cxn modelId="{A15312C7-7F8B-4018-80C9-477470C0AC6B}" type="presParOf" srcId="{BDC5F090-1EC8-45B4-87B4-B715EEFC575C}" destId="{3153B5DF-8FB2-4302-A7F1-004360C514EC}" srcOrd="1" destOrd="0" presId="urn:microsoft.com/office/officeart/2018/2/layout/IconVerticalSolidList"/>
    <dgm:cxn modelId="{CF5FAA24-CD4D-492E-8353-1BE4694303F9}" type="presParOf" srcId="{BDC5F090-1EC8-45B4-87B4-B715EEFC575C}" destId="{0DFB71CA-0BE5-475D-92EE-EEB3C1F9D792}" srcOrd="2" destOrd="0" presId="urn:microsoft.com/office/officeart/2018/2/layout/IconVerticalSolidList"/>
    <dgm:cxn modelId="{4726BFE8-4BFC-42FD-B863-A3C402C7FF04}" type="presParOf" srcId="{BDC5F090-1EC8-45B4-87B4-B715EEFC575C}" destId="{CF89A8FD-4BD3-4AFF-8F82-6D7F9349F3BE}" srcOrd="3" destOrd="0" presId="urn:microsoft.com/office/officeart/2018/2/layout/IconVerticalSolidList"/>
    <dgm:cxn modelId="{CA0B35D7-3CCF-427B-81E5-59BC3E0D7D75}" type="presParOf" srcId="{D7E94BDE-7150-492F-906B-706C5F72ED95}" destId="{F78435F8-4147-4711-AB67-BED5D1E2AE6E}" srcOrd="3" destOrd="0" presId="urn:microsoft.com/office/officeart/2018/2/layout/IconVerticalSolidList"/>
    <dgm:cxn modelId="{65DED1F2-0285-4D3D-B0E8-420309A80E52}" type="presParOf" srcId="{D7E94BDE-7150-492F-906B-706C5F72ED95}" destId="{690F2D2E-4084-420B-91C1-9A84D9C7B5EF}" srcOrd="4" destOrd="0" presId="urn:microsoft.com/office/officeart/2018/2/layout/IconVerticalSolidList"/>
    <dgm:cxn modelId="{377DE5B0-E27D-44A7-9291-29DB15EAFAC4}" type="presParOf" srcId="{690F2D2E-4084-420B-91C1-9A84D9C7B5EF}" destId="{0D7BC451-1314-4E52-8374-84E48D829129}" srcOrd="0" destOrd="0" presId="urn:microsoft.com/office/officeart/2018/2/layout/IconVerticalSolidList"/>
    <dgm:cxn modelId="{244DFB82-ACEA-4F39-AFE0-C2B18D371BCD}" type="presParOf" srcId="{690F2D2E-4084-420B-91C1-9A84D9C7B5EF}" destId="{E282D578-0197-4C87-B012-459A25B6B0C6}" srcOrd="1" destOrd="0" presId="urn:microsoft.com/office/officeart/2018/2/layout/IconVerticalSolidList"/>
    <dgm:cxn modelId="{5E57D29F-5CD9-4C02-976B-3A73534DE68E}" type="presParOf" srcId="{690F2D2E-4084-420B-91C1-9A84D9C7B5EF}" destId="{47B5433C-5121-4E84-8173-A4A2A52CCE27}" srcOrd="2" destOrd="0" presId="urn:microsoft.com/office/officeart/2018/2/layout/IconVerticalSolidList"/>
    <dgm:cxn modelId="{1FF0F97C-964A-46B6-828E-F3F7E5FE48D2}" type="presParOf" srcId="{690F2D2E-4084-420B-91C1-9A84D9C7B5EF}" destId="{A70C3C1F-1D7E-4B05-A17D-83EA0D9E7A07}" srcOrd="3" destOrd="0" presId="urn:microsoft.com/office/officeart/2018/2/layout/IconVerticalSolidList"/>
    <dgm:cxn modelId="{2DAE5A79-5DF1-4994-B234-BC7DBF8246CE}" type="presParOf" srcId="{D7E94BDE-7150-492F-906B-706C5F72ED95}" destId="{C0E89CF7-C175-4CD5-9312-A48A12E26B5F}" srcOrd="5" destOrd="0" presId="urn:microsoft.com/office/officeart/2018/2/layout/IconVerticalSolidList"/>
    <dgm:cxn modelId="{FC2F0B21-8708-4BF1-9203-8A8C02AC3526}" type="presParOf" srcId="{D7E94BDE-7150-492F-906B-706C5F72ED95}" destId="{E12FC368-F19A-4180-BF9B-A804D8027041}" srcOrd="6" destOrd="0" presId="urn:microsoft.com/office/officeart/2018/2/layout/IconVerticalSolidList"/>
    <dgm:cxn modelId="{6A810572-CF22-47A2-9A2A-215900B4DC3A}" type="presParOf" srcId="{E12FC368-F19A-4180-BF9B-A804D8027041}" destId="{11EB62EA-DA75-4D28-8C14-2FFA5F7620C7}" srcOrd="0" destOrd="0" presId="urn:microsoft.com/office/officeart/2018/2/layout/IconVerticalSolidList"/>
    <dgm:cxn modelId="{6F3223DC-1AE7-403E-80DC-FA44089628DC}" type="presParOf" srcId="{E12FC368-F19A-4180-BF9B-A804D8027041}" destId="{3249859C-E033-45C3-B6F2-8C6F560DF1B9}" srcOrd="1" destOrd="0" presId="urn:microsoft.com/office/officeart/2018/2/layout/IconVerticalSolidList"/>
    <dgm:cxn modelId="{C08B02CF-09DA-41B8-9A47-80897DE6C382}" type="presParOf" srcId="{E12FC368-F19A-4180-BF9B-A804D8027041}" destId="{FBBEAC09-8448-4971-8B71-1E96A89986F2}" srcOrd="2" destOrd="0" presId="urn:microsoft.com/office/officeart/2018/2/layout/IconVerticalSolidList"/>
    <dgm:cxn modelId="{BD480FA2-DD58-4C57-9EE9-294CD2517B55}" type="presParOf" srcId="{E12FC368-F19A-4180-BF9B-A804D8027041}" destId="{B8DCD6DA-E682-4A04-9835-B99A243A9498}" srcOrd="3" destOrd="0" presId="urn:microsoft.com/office/officeart/2018/2/layout/IconVerticalSolidList"/>
    <dgm:cxn modelId="{E5D70963-81AA-4D9A-96FD-31FDDDD2C957}" type="presParOf" srcId="{D7E94BDE-7150-492F-906B-706C5F72ED95}" destId="{BD4D0EC2-658A-491C-8777-FA61915B19D2}" srcOrd="7" destOrd="0" presId="urn:microsoft.com/office/officeart/2018/2/layout/IconVerticalSolidList"/>
    <dgm:cxn modelId="{C4E5F90D-F8DA-4E1F-9002-C9DD1022772C}" type="presParOf" srcId="{D7E94BDE-7150-492F-906B-706C5F72ED95}" destId="{C8DF5FAA-90CF-4C06-BD18-89711EF760AB}" srcOrd="8" destOrd="0" presId="urn:microsoft.com/office/officeart/2018/2/layout/IconVerticalSolidList"/>
    <dgm:cxn modelId="{9D699F74-D5C7-42F2-AAE8-6DAC63602247}" type="presParOf" srcId="{C8DF5FAA-90CF-4C06-BD18-89711EF760AB}" destId="{A0943BFF-D7F7-42E1-A5C6-A09AA30DD801}" srcOrd="0" destOrd="0" presId="urn:microsoft.com/office/officeart/2018/2/layout/IconVerticalSolidList"/>
    <dgm:cxn modelId="{3759D8F5-34B7-4E18-BA9B-B6B1A09635DD}" type="presParOf" srcId="{C8DF5FAA-90CF-4C06-BD18-89711EF760AB}" destId="{8E641CA6-3D2F-4B66-9FE6-B75D9D9F9317}" srcOrd="1" destOrd="0" presId="urn:microsoft.com/office/officeart/2018/2/layout/IconVerticalSolidList"/>
    <dgm:cxn modelId="{CC85DB2A-09AE-440D-AE09-E805DB3EA728}" type="presParOf" srcId="{C8DF5FAA-90CF-4C06-BD18-89711EF760AB}" destId="{07A129DA-4621-443A-87A2-42F5742B7825}" srcOrd="2" destOrd="0" presId="urn:microsoft.com/office/officeart/2018/2/layout/IconVerticalSolidList"/>
    <dgm:cxn modelId="{8B17B1C6-1B53-4203-B563-DF0F9F34854C}" type="presParOf" srcId="{C8DF5FAA-90CF-4C06-BD18-89711EF760AB}" destId="{CD5F9471-EDF3-4146-92B5-1887E49C931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51C9DA9-703F-49FB-B662-530B096540D5}"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97B4E44F-6833-431C-BCF8-8A0D93AE7300}">
      <dgm:prSet/>
      <dgm:spPr/>
      <dgm:t>
        <a:bodyPr/>
        <a:lstStyle/>
        <a:p>
          <a:r>
            <a:rPr lang="pl-PL"/>
            <a:t>Dług techniczny to konsekwencja podejmowania szybkich decyzji technologicznych, które przyspieszają rozwój produktu w krótkim okresie, ale zwiększają koszty utrzymania systemu w przyszłości.</a:t>
          </a:r>
          <a:endParaRPr lang="en-US"/>
        </a:p>
      </dgm:t>
    </dgm:pt>
    <dgm:pt modelId="{AC6CDF78-762A-4A4E-9028-9D82ED0234CC}" type="parTrans" cxnId="{0BA21E9A-8A2B-4CDB-861D-AF9151ADE5AD}">
      <dgm:prSet/>
      <dgm:spPr/>
      <dgm:t>
        <a:bodyPr/>
        <a:lstStyle/>
        <a:p>
          <a:endParaRPr lang="en-US"/>
        </a:p>
      </dgm:t>
    </dgm:pt>
    <dgm:pt modelId="{420EDBA2-AB6F-445D-BB78-74F5ABEE037E}" type="sibTrans" cxnId="{0BA21E9A-8A2B-4CDB-861D-AF9151ADE5AD}">
      <dgm:prSet/>
      <dgm:spPr/>
      <dgm:t>
        <a:bodyPr/>
        <a:lstStyle/>
        <a:p>
          <a:endParaRPr lang="en-US"/>
        </a:p>
      </dgm:t>
    </dgm:pt>
    <dgm:pt modelId="{622A4B81-A71E-4BD8-99D6-DA3B889F4D8E}">
      <dgm:prSet/>
      <dgm:spPr/>
      <dgm:t>
        <a:bodyPr/>
        <a:lstStyle/>
        <a:p>
          <a:r>
            <a:rPr lang="pl-PL"/>
            <a:t>Dług techniczny nie zawsze jest błędem. Czasami jest świadomą decyzją biznesową. Problem pojawia się wtedy, gdy organizacja przestaje go kontrolować i kolejne tymczasowe rozwiązania zaczynają tworzyć niestabilny system.</a:t>
          </a:r>
          <a:endParaRPr lang="en-US"/>
        </a:p>
      </dgm:t>
    </dgm:pt>
    <dgm:pt modelId="{9B174955-C11C-46D6-9C96-5849F00D1903}" type="parTrans" cxnId="{00B86519-E41D-4433-B8ED-53B8940F8B1C}">
      <dgm:prSet/>
      <dgm:spPr/>
      <dgm:t>
        <a:bodyPr/>
        <a:lstStyle/>
        <a:p>
          <a:endParaRPr lang="en-US"/>
        </a:p>
      </dgm:t>
    </dgm:pt>
    <dgm:pt modelId="{E095337E-8570-408C-82B6-39021EBDED07}" type="sibTrans" cxnId="{00B86519-E41D-4433-B8ED-53B8940F8B1C}">
      <dgm:prSet/>
      <dgm:spPr/>
      <dgm:t>
        <a:bodyPr/>
        <a:lstStyle/>
        <a:p>
          <a:endParaRPr lang="en-US"/>
        </a:p>
      </dgm:t>
    </dgm:pt>
    <dgm:pt modelId="{0A365B1D-05B9-477B-9CB1-9C337CCA2DCA}">
      <dgm:prSet/>
      <dgm:spPr/>
      <dgm:t>
        <a:bodyPr/>
        <a:lstStyle/>
        <a:p>
          <a:r>
            <a:rPr lang="pl-PL"/>
            <a:t>W dynamicznym środowisku startupowym technical debt powstaje szczególnie łatwo, ponieważ presja czasu często jest silniejsza niż potrzeba długoterminowej jakości. Każdy skrót technologiczny może być uzasadniony w danym momencie, ale ich suma może później spowolnić całą organizację.</a:t>
          </a:r>
          <a:endParaRPr lang="en-US"/>
        </a:p>
      </dgm:t>
    </dgm:pt>
    <dgm:pt modelId="{9B5ED11F-AA7F-4D69-B7E1-464C1334379E}" type="parTrans" cxnId="{7D322076-D53E-4706-8DBD-9FD4B7405510}">
      <dgm:prSet/>
      <dgm:spPr/>
      <dgm:t>
        <a:bodyPr/>
        <a:lstStyle/>
        <a:p>
          <a:endParaRPr lang="en-US"/>
        </a:p>
      </dgm:t>
    </dgm:pt>
    <dgm:pt modelId="{1DBF15CF-D75A-4D18-AC62-0C38F3AD1711}" type="sibTrans" cxnId="{7D322076-D53E-4706-8DBD-9FD4B7405510}">
      <dgm:prSet/>
      <dgm:spPr/>
      <dgm:t>
        <a:bodyPr/>
        <a:lstStyle/>
        <a:p>
          <a:endParaRPr lang="en-US"/>
        </a:p>
      </dgm:t>
    </dgm:pt>
    <dgm:pt modelId="{51AA40A4-2300-48C4-AD62-C54F9BBB0359}" type="pres">
      <dgm:prSet presAssocID="{151C9DA9-703F-49FB-B662-530B096540D5}" presName="hierChild1" presStyleCnt="0">
        <dgm:presLayoutVars>
          <dgm:chPref val="1"/>
          <dgm:dir/>
          <dgm:animOne val="branch"/>
          <dgm:animLvl val="lvl"/>
          <dgm:resizeHandles/>
        </dgm:presLayoutVars>
      </dgm:prSet>
      <dgm:spPr/>
    </dgm:pt>
    <dgm:pt modelId="{FEFDFD67-B69E-4F2D-ABD2-889A4611DDBC}" type="pres">
      <dgm:prSet presAssocID="{97B4E44F-6833-431C-BCF8-8A0D93AE7300}" presName="hierRoot1" presStyleCnt="0"/>
      <dgm:spPr/>
    </dgm:pt>
    <dgm:pt modelId="{CBB2DB63-7F46-4D8A-A2F8-88BE8F0FC8CB}" type="pres">
      <dgm:prSet presAssocID="{97B4E44F-6833-431C-BCF8-8A0D93AE7300}" presName="composite" presStyleCnt="0"/>
      <dgm:spPr/>
    </dgm:pt>
    <dgm:pt modelId="{3B7AE700-93FD-4F2C-A660-6BFF9A54B927}" type="pres">
      <dgm:prSet presAssocID="{97B4E44F-6833-431C-BCF8-8A0D93AE7300}" presName="background" presStyleLbl="node0" presStyleIdx="0" presStyleCnt="3"/>
      <dgm:spPr/>
    </dgm:pt>
    <dgm:pt modelId="{FD3942AE-0151-4F31-AFB3-8125FB56D5A9}" type="pres">
      <dgm:prSet presAssocID="{97B4E44F-6833-431C-BCF8-8A0D93AE7300}" presName="text" presStyleLbl="fgAcc0" presStyleIdx="0" presStyleCnt="3">
        <dgm:presLayoutVars>
          <dgm:chPref val="3"/>
        </dgm:presLayoutVars>
      </dgm:prSet>
      <dgm:spPr/>
    </dgm:pt>
    <dgm:pt modelId="{EFACF9DE-CC36-4A17-A6F9-A4EA61994645}" type="pres">
      <dgm:prSet presAssocID="{97B4E44F-6833-431C-BCF8-8A0D93AE7300}" presName="hierChild2" presStyleCnt="0"/>
      <dgm:spPr/>
    </dgm:pt>
    <dgm:pt modelId="{A8639BA5-47DC-4109-97A1-E7C4AB6A55CA}" type="pres">
      <dgm:prSet presAssocID="{622A4B81-A71E-4BD8-99D6-DA3B889F4D8E}" presName="hierRoot1" presStyleCnt="0"/>
      <dgm:spPr/>
    </dgm:pt>
    <dgm:pt modelId="{F0D01A16-E5F7-4734-9259-67ACF1C0DAAD}" type="pres">
      <dgm:prSet presAssocID="{622A4B81-A71E-4BD8-99D6-DA3B889F4D8E}" presName="composite" presStyleCnt="0"/>
      <dgm:spPr/>
    </dgm:pt>
    <dgm:pt modelId="{DFEFF015-47B8-47F0-859F-97B0B22483F0}" type="pres">
      <dgm:prSet presAssocID="{622A4B81-A71E-4BD8-99D6-DA3B889F4D8E}" presName="background" presStyleLbl="node0" presStyleIdx="1" presStyleCnt="3"/>
      <dgm:spPr/>
    </dgm:pt>
    <dgm:pt modelId="{8CFDF306-0143-46D7-8132-EF8696474532}" type="pres">
      <dgm:prSet presAssocID="{622A4B81-A71E-4BD8-99D6-DA3B889F4D8E}" presName="text" presStyleLbl="fgAcc0" presStyleIdx="1" presStyleCnt="3">
        <dgm:presLayoutVars>
          <dgm:chPref val="3"/>
        </dgm:presLayoutVars>
      </dgm:prSet>
      <dgm:spPr/>
    </dgm:pt>
    <dgm:pt modelId="{0C53CF2B-774B-4CE6-AD09-6FB323F10938}" type="pres">
      <dgm:prSet presAssocID="{622A4B81-A71E-4BD8-99D6-DA3B889F4D8E}" presName="hierChild2" presStyleCnt="0"/>
      <dgm:spPr/>
    </dgm:pt>
    <dgm:pt modelId="{BC3B41BB-8D0F-4A0F-A3E2-F13E27861D95}" type="pres">
      <dgm:prSet presAssocID="{0A365B1D-05B9-477B-9CB1-9C337CCA2DCA}" presName="hierRoot1" presStyleCnt="0"/>
      <dgm:spPr/>
    </dgm:pt>
    <dgm:pt modelId="{A5508919-2188-44F8-B0F2-B6C49C15C246}" type="pres">
      <dgm:prSet presAssocID="{0A365B1D-05B9-477B-9CB1-9C337CCA2DCA}" presName="composite" presStyleCnt="0"/>
      <dgm:spPr/>
    </dgm:pt>
    <dgm:pt modelId="{B3AE1033-95D3-4ADE-8CBE-7F81C94024DE}" type="pres">
      <dgm:prSet presAssocID="{0A365B1D-05B9-477B-9CB1-9C337CCA2DCA}" presName="background" presStyleLbl="node0" presStyleIdx="2" presStyleCnt="3"/>
      <dgm:spPr/>
    </dgm:pt>
    <dgm:pt modelId="{2D1476EE-C5EE-49D8-A277-08BE2AEC5EA0}" type="pres">
      <dgm:prSet presAssocID="{0A365B1D-05B9-477B-9CB1-9C337CCA2DCA}" presName="text" presStyleLbl="fgAcc0" presStyleIdx="2" presStyleCnt="3">
        <dgm:presLayoutVars>
          <dgm:chPref val="3"/>
        </dgm:presLayoutVars>
      </dgm:prSet>
      <dgm:spPr/>
    </dgm:pt>
    <dgm:pt modelId="{7BC61BE4-0E27-46B4-BB1B-C01204137336}" type="pres">
      <dgm:prSet presAssocID="{0A365B1D-05B9-477B-9CB1-9C337CCA2DCA}" presName="hierChild2" presStyleCnt="0"/>
      <dgm:spPr/>
    </dgm:pt>
  </dgm:ptLst>
  <dgm:cxnLst>
    <dgm:cxn modelId="{00B86519-E41D-4433-B8ED-53B8940F8B1C}" srcId="{151C9DA9-703F-49FB-B662-530B096540D5}" destId="{622A4B81-A71E-4BD8-99D6-DA3B889F4D8E}" srcOrd="1" destOrd="0" parTransId="{9B174955-C11C-46D6-9C96-5849F00D1903}" sibTransId="{E095337E-8570-408C-82B6-39021EBDED07}"/>
    <dgm:cxn modelId="{7A6E1B1C-6C23-415C-895B-1FBF11FF0A4C}" type="presOf" srcId="{0A365B1D-05B9-477B-9CB1-9C337CCA2DCA}" destId="{2D1476EE-C5EE-49D8-A277-08BE2AEC5EA0}" srcOrd="0" destOrd="0" presId="urn:microsoft.com/office/officeart/2005/8/layout/hierarchy1"/>
    <dgm:cxn modelId="{935E3E6A-110A-46C1-BD88-BA0CB5BFAEB5}" type="presOf" srcId="{97B4E44F-6833-431C-BCF8-8A0D93AE7300}" destId="{FD3942AE-0151-4F31-AFB3-8125FB56D5A9}" srcOrd="0" destOrd="0" presId="urn:microsoft.com/office/officeart/2005/8/layout/hierarchy1"/>
    <dgm:cxn modelId="{7D322076-D53E-4706-8DBD-9FD4B7405510}" srcId="{151C9DA9-703F-49FB-B662-530B096540D5}" destId="{0A365B1D-05B9-477B-9CB1-9C337CCA2DCA}" srcOrd="2" destOrd="0" parTransId="{9B5ED11F-AA7F-4D69-B7E1-464C1334379E}" sibTransId="{1DBF15CF-D75A-4D18-AC62-0C38F3AD1711}"/>
    <dgm:cxn modelId="{A2CE8786-7ADA-463E-B0E3-FD5E1739A506}" type="presOf" srcId="{151C9DA9-703F-49FB-B662-530B096540D5}" destId="{51AA40A4-2300-48C4-AD62-C54F9BBB0359}" srcOrd="0" destOrd="0" presId="urn:microsoft.com/office/officeart/2005/8/layout/hierarchy1"/>
    <dgm:cxn modelId="{0BA21E9A-8A2B-4CDB-861D-AF9151ADE5AD}" srcId="{151C9DA9-703F-49FB-B662-530B096540D5}" destId="{97B4E44F-6833-431C-BCF8-8A0D93AE7300}" srcOrd="0" destOrd="0" parTransId="{AC6CDF78-762A-4A4E-9028-9D82ED0234CC}" sibTransId="{420EDBA2-AB6F-445D-BB78-74F5ABEE037E}"/>
    <dgm:cxn modelId="{AA3F55BA-712D-4A6E-9676-FFC460E60E7E}" type="presOf" srcId="{622A4B81-A71E-4BD8-99D6-DA3B889F4D8E}" destId="{8CFDF306-0143-46D7-8132-EF8696474532}" srcOrd="0" destOrd="0" presId="urn:microsoft.com/office/officeart/2005/8/layout/hierarchy1"/>
    <dgm:cxn modelId="{F8368D15-E19A-4388-92ED-5281026FD41B}" type="presParOf" srcId="{51AA40A4-2300-48C4-AD62-C54F9BBB0359}" destId="{FEFDFD67-B69E-4F2D-ABD2-889A4611DDBC}" srcOrd="0" destOrd="0" presId="urn:microsoft.com/office/officeart/2005/8/layout/hierarchy1"/>
    <dgm:cxn modelId="{E7D4C35A-F9FA-4185-8FDC-9EB1BC0D6DE3}" type="presParOf" srcId="{FEFDFD67-B69E-4F2D-ABD2-889A4611DDBC}" destId="{CBB2DB63-7F46-4D8A-A2F8-88BE8F0FC8CB}" srcOrd="0" destOrd="0" presId="urn:microsoft.com/office/officeart/2005/8/layout/hierarchy1"/>
    <dgm:cxn modelId="{2DB832C0-04E4-4778-855A-427F95E6770B}" type="presParOf" srcId="{CBB2DB63-7F46-4D8A-A2F8-88BE8F0FC8CB}" destId="{3B7AE700-93FD-4F2C-A660-6BFF9A54B927}" srcOrd="0" destOrd="0" presId="urn:microsoft.com/office/officeart/2005/8/layout/hierarchy1"/>
    <dgm:cxn modelId="{6E156B34-D8AA-4077-89CC-56CBD364346F}" type="presParOf" srcId="{CBB2DB63-7F46-4D8A-A2F8-88BE8F0FC8CB}" destId="{FD3942AE-0151-4F31-AFB3-8125FB56D5A9}" srcOrd="1" destOrd="0" presId="urn:microsoft.com/office/officeart/2005/8/layout/hierarchy1"/>
    <dgm:cxn modelId="{9D417EB1-9EBA-4ACD-8461-E1F2E0A62E9C}" type="presParOf" srcId="{FEFDFD67-B69E-4F2D-ABD2-889A4611DDBC}" destId="{EFACF9DE-CC36-4A17-A6F9-A4EA61994645}" srcOrd="1" destOrd="0" presId="urn:microsoft.com/office/officeart/2005/8/layout/hierarchy1"/>
    <dgm:cxn modelId="{DA6AC348-0B1D-4C45-B1F2-34DD7DCA7BB0}" type="presParOf" srcId="{51AA40A4-2300-48C4-AD62-C54F9BBB0359}" destId="{A8639BA5-47DC-4109-97A1-E7C4AB6A55CA}" srcOrd="1" destOrd="0" presId="urn:microsoft.com/office/officeart/2005/8/layout/hierarchy1"/>
    <dgm:cxn modelId="{CBC8C893-2C91-483A-B93D-6DDB5A1949B5}" type="presParOf" srcId="{A8639BA5-47DC-4109-97A1-E7C4AB6A55CA}" destId="{F0D01A16-E5F7-4734-9259-67ACF1C0DAAD}" srcOrd="0" destOrd="0" presId="urn:microsoft.com/office/officeart/2005/8/layout/hierarchy1"/>
    <dgm:cxn modelId="{1BD8380C-BEE2-4BE4-A26E-DDF29BE746D2}" type="presParOf" srcId="{F0D01A16-E5F7-4734-9259-67ACF1C0DAAD}" destId="{DFEFF015-47B8-47F0-859F-97B0B22483F0}" srcOrd="0" destOrd="0" presId="urn:microsoft.com/office/officeart/2005/8/layout/hierarchy1"/>
    <dgm:cxn modelId="{A923951F-3F97-4C76-92A2-718C7B01C192}" type="presParOf" srcId="{F0D01A16-E5F7-4734-9259-67ACF1C0DAAD}" destId="{8CFDF306-0143-46D7-8132-EF8696474532}" srcOrd="1" destOrd="0" presId="urn:microsoft.com/office/officeart/2005/8/layout/hierarchy1"/>
    <dgm:cxn modelId="{005031F9-BFF5-4E72-930E-B95EBFBA3F41}" type="presParOf" srcId="{A8639BA5-47DC-4109-97A1-E7C4AB6A55CA}" destId="{0C53CF2B-774B-4CE6-AD09-6FB323F10938}" srcOrd="1" destOrd="0" presId="urn:microsoft.com/office/officeart/2005/8/layout/hierarchy1"/>
    <dgm:cxn modelId="{FB5AC9D6-C968-4E12-BE8D-C087565A8CF0}" type="presParOf" srcId="{51AA40A4-2300-48C4-AD62-C54F9BBB0359}" destId="{BC3B41BB-8D0F-4A0F-A3E2-F13E27861D95}" srcOrd="2" destOrd="0" presId="urn:microsoft.com/office/officeart/2005/8/layout/hierarchy1"/>
    <dgm:cxn modelId="{39DAB089-0C5F-4575-92CA-E1A2B98C1084}" type="presParOf" srcId="{BC3B41BB-8D0F-4A0F-A3E2-F13E27861D95}" destId="{A5508919-2188-44F8-B0F2-B6C49C15C246}" srcOrd="0" destOrd="0" presId="urn:microsoft.com/office/officeart/2005/8/layout/hierarchy1"/>
    <dgm:cxn modelId="{B7966146-F126-41A9-9A1E-35069DA1BC3C}" type="presParOf" srcId="{A5508919-2188-44F8-B0F2-B6C49C15C246}" destId="{B3AE1033-95D3-4ADE-8CBE-7F81C94024DE}" srcOrd="0" destOrd="0" presId="urn:microsoft.com/office/officeart/2005/8/layout/hierarchy1"/>
    <dgm:cxn modelId="{0F90EBB1-B5D4-4294-8670-47E59EDC5E4A}" type="presParOf" srcId="{A5508919-2188-44F8-B0F2-B6C49C15C246}" destId="{2D1476EE-C5EE-49D8-A277-08BE2AEC5EA0}" srcOrd="1" destOrd="0" presId="urn:microsoft.com/office/officeart/2005/8/layout/hierarchy1"/>
    <dgm:cxn modelId="{4B633267-D9DC-47BC-8A92-D1EF563B17E6}" type="presParOf" srcId="{BC3B41BB-8D0F-4A0F-A3E2-F13E27861D95}" destId="{7BC61BE4-0E27-46B4-BB1B-C0120413733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09A0BF8-0026-4C32-B862-E666484FA57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1DEFEA5-1803-4C2E-9456-1D9EF2D64399}">
      <dgm:prSet/>
      <dgm:spPr/>
      <dgm:t>
        <a:bodyPr/>
        <a:lstStyle/>
        <a:p>
          <a:r>
            <a:rPr lang="pl-PL"/>
            <a:t>Najczęściej startup napotyka kilka trudności jednocześnie:</a:t>
          </a:r>
          <a:endParaRPr lang="en-US"/>
        </a:p>
      </dgm:t>
    </dgm:pt>
    <dgm:pt modelId="{C374EE4F-DEFF-4F83-8163-E4031AECFEEA}" type="parTrans" cxnId="{C906D21C-A2A0-4BB7-8F6C-DA54677B5A31}">
      <dgm:prSet/>
      <dgm:spPr/>
      <dgm:t>
        <a:bodyPr/>
        <a:lstStyle/>
        <a:p>
          <a:endParaRPr lang="en-US"/>
        </a:p>
      </dgm:t>
    </dgm:pt>
    <dgm:pt modelId="{4C7540C9-AB89-4ABA-A345-51C6AB3079A2}" type="sibTrans" cxnId="{C906D21C-A2A0-4BB7-8F6C-DA54677B5A31}">
      <dgm:prSet/>
      <dgm:spPr/>
      <dgm:t>
        <a:bodyPr/>
        <a:lstStyle/>
        <a:p>
          <a:endParaRPr lang="en-US"/>
        </a:p>
      </dgm:t>
    </dgm:pt>
    <dgm:pt modelId="{64212302-980E-4CD6-BC08-9A3F3B5B31C5}">
      <dgm:prSet/>
      <dgm:spPr/>
      <dgm:t>
        <a:bodyPr/>
        <a:lstStyle/>
        <a:p>
          <a:r>
            <a:rPr lang="pl-PL"/>
            <a:t>dane są zbyt małe ilościowo, </a:t>
          </a:r>
          <a:endParaRPr lang="en-US"/>
        </a:p>
      </dgm:t>
    </dgm:pt>
    <dgm:pt modelId="{CAD0B42E-712A-41C5-A98A-B9F3BF3B50AE}" type="parTrans" cxnId="{C8DC0934-9535-4698-A8C5-3DD912E7DAB4}">
      <dgm:prSet/>
      <dgm:spPr/>
      <dgm:t>
        <a:bodyPr/>
        <a:lstStyle/>
        <a:p>
          <a:endParaRPr lang="en-US"/>
        </a:p>
      </dgm:t>
    </dgm:pt>
    <dgm:pt modelId="{0FFBB8B2-1445-4BBD-AFE9-46366D043EF4}" type="sibTrans" cxnId="{C8DC0934-9535-4698-A8C5-3DD912E7DAB4}">
      <dgm:prSet/>
      <dgm:spPr/>
      <dgm:t>
        <a:bodyPr/>
        <a:lstStyle/>
        <a:p>
          <a:endParaRPr lang="en-US"/>
        </a:p>
      </dgm:t>
    </dgm:pt>
    <dgm:pt modelId="{D69BBA6D-BCDF-4D60-BB35-327616FC41F9}">
      <dgm:prSet/>
      <dgm:spPr/>
      <dgm:t>
        <a:bodyPr/>
        <a:lstStyle/>
        <a:p>
          <a:r>
            <a:rPr lang="pl-PL"/>
            <a:t>dane są niespójne, </a:t>
          </a:r>
          <a:endParaRPr lang="en-US"/>
        </a:p>
      </dgm:t>
    </dgm:pt>
    <dgm:pt modelId="{0AA976E3-604B-400A-8AA5-A0F21737F881}" type="parTrans" cxnId="{D65C1474-BDD6-4042-A418-9539B173E466}">
      <dgm:prSet/>
      <dgm:spPr/>
      <dgm:t>
        <a:bodyPr/>
        <a:lstStyle/>
        <a:p>
          <a:endParaRPr lang="en-US"/>
        </a:p>
      </dgm:t>
    </dgm:pt>
    <dgm:pt modelId="{237355C0-AFF8-4D2A-BDF7-F056598F80B2}" type="sibTrans" cxnId="{D65C1474-BDD6-4042-A418-9539B173E466}">
      <dgm:prSet/>
      <dgm:spPr/>
      <dgm:t>
        <a:bodyPr/>
        <a:lstStyle/>
        <a:p>
          <a:endParaRPr lang="en-US"/>
        </a:p>
      </dgm:t>
    </dgm:pt>
    <dgm:pt modelId="{17094ADD-8279-4712-937F-892EA4BCA727}">
      <dgm:prSet/>
      <dgm:spPr/>
      <dgm:t>
        <a:bodyPr/>
        <a:lstStyle/>
        <a:p>
          <a:r>
            <a:rPr lang="pl-PL"/>
            <a:t>dane pochodzą z wielu źródeł, </a:t>
          </a:r>
          <a:endParaRPr lang="en-US"/>
        </a:p>
      </dgm:t>
    </dgm:pt>
    <dgm:pt modelId="{1D9B20B7-CC5D-4409-84F3-EFF56CC1D6C5}" type="parTrans" cxnId="{B22F9C90-563C-440A-92FA-482522D3336F}">
      <dgm:prSet/>
      <dgm:spPr/>
      <dgm:t>
        <a:bodyPr/>
        <a:lstStyle/>
        <a:p>
          <a:endParaRPr lang="en-US"/>
        </a:p>
      </dgm:t>
    </dgm:pt>
    <dgm:pt modelId="{7A5CEED7-278B-4347-8A14-8F133DA1CAD3}" type="sibTrans" cxnId="{B22F9C90-563C-440A-92FA-482522D3336F}">
      <dgm:prSet/>
      <dgm:spPr/>
      <dgm:t>
        <a:bodyPr/>
        <a:lstStyle/>
        <a:p>
          <a:endParaRPr lang="en-US"/>
        </a:p>
      </dgm:t>
    </dgm:pt>
    <dgm:pt modelId="{F48B0935-0784-453F-AD63-D184A25D82C4}">
      <dgm:prSet/>
      <dgm:spPr/>
      <dgm:t>
        <a:bodyPr/>
        <a:lstStyle/>
        <a:p>
          <a:r>
            <a:rPr lang="pl-PL"/>
            <a:t>dane bywają kosztowne, </a:t>
          </a:r>
          <a:endParaRPr lang="en-US"/>
        </a:p>
      </dgm:t>
    </dgm:pt>
    <dgm:pt modelId="{4CBF38BB-B438-46FF-9A8D-8ECC8FD5285B}" type="parTrans" cxnId="{C5549C42-937A-45BD-A4B6-E73460EFAFB6}">
      <dgm:prSet/>
      <dgm:spPr/>
      <dgm:t>
        <a:bodyPr/>
        <a:lstStyle/>
        <a:p>
          <a:endParaRPr lang="en-US"/>
        </a:p>
      </dgm:t>
    </dgm:pt>
    <dgm:pt modelId="{1922B8BE-5E40-4722-91F8-E92ECF11B1BA}" type="sibTrans" cxnId="{C5549C42-937A-45BD-A4B6-E73460EFAFB6}">
      <dgm:prSet/>
      <dgm:spPr/>
      <dgm:t>
        <a:bodyPr/>
        <a:lstStyle/>
        <a:p>
          <a:endParaRPr lang="en-US"/>
        </a:p>
      </dgm:t>
    </dgm:pt>
    <dgm:pt modelId="{63795913-0E3F-4465-B94F-ED677E54C47B}">
      <dgm:prSet/>
      <dgm:spPr/>
      <dgm:t>
        <a:bodyPr/>
        <a:lstStyle/>
        <a:p>
          <a:r>
            <a:rPr lang="pl-PL"/>
            <a:t>dane mogą być ograniczone prawnie.</a:t>
          </a:r>
          <a:endParaRPr lang="en-US"/>
        </a:p>
      </dgm:t>
    </dgm:pt>
    <dgm:pt modelId="{91E74274-055D-4573-9245-89A653E2437B}" type="parTrans" cxnId="{BF794BFD-9D51-4418-AD7E-04D62D84FC90}">
      <dgm:prSet/>
      <dgm:spPr/>
      <dgm:t>
        <a:bodyPr/>
        <a:lstStyle/>
        <a:p>
          <a:endParaRPr lang="en-US"/>
        </a:p>
      </dgm:t>
    </dgm:pt>
    <dgm:pt modelId="{52CA3411-32A8-44BC-8E29-2FD77A12AFEE}" type="sibTrans" cxnId="{BF794BFD-9D51-4418-AD7E-04D62D84FC90}">
      <dgm:prSet/>
      <dgm:spPr/>
      <dgm:t>
        <a:bodyPr/>
        <a:lstStyle/>
        <a:p>
          <a:endParaRPr lang="en-US"/>
        </a:p>
      </dgm:t>
    </dgm:pt>
    <dgm:pt modelId="{05D2D1A1-094D-4A90-BE5A-3E052FC38A42}" type="pres">
      <dgm:prSet presAssocID="{D09A0BF8-0026-4C32-B862-E666484FA570}" presName="root" presStyleCnt="0">
        <dgm:presLayoutVars>
          <dgm:dir/>
          <dgm:resizeHandles val="exact"/>
        </dgm:presLayoutVars>
      </dgm:prSet>
      <dgm:spPr/>
    </dgm:pt>
    <dgm:pt modelId="{47B0D9D5-8C50-4D8A-943D-7CDE34D7690C}" type="pres">
      <dgm:prSet presAssocID="{01DEFEA5-1803-4C2E-9456-1D9EF2D64399}" presName="compNode" presStyleCnt="0"/>
      <dgm:spPr/>
    </dgm:pt>
    <dgm:pt modelId="{7BAC954A-D3C6-4441-B06D-E189C49223C6}" type="pres">
      <dgm:prSet presAssocID="{01DEFEA5-1803-4C2E-9456-1D9EF2D64399}" presName="bgRect" presStyleLbl="bgShp" presStyleIdx="0" presStyleCnt="6"/>
      <dgm:spPr/>
    </dgm:pt>
    <dgm:pt modelId="{B0B81154-20E6-414A-8920-7BBDD5D6A4C6}" type="pres">
      <dgm:prSet presAssocID="{01DEFEA5-1803-4C2E-9456-1D9EF2D64399}"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iorun"/>
        </a:ext>
      </dgm:extLst>
    </dgm:pt>
    <dgm:pt modelId="{FA7DB5F0-5EEF-4747-A31D-0481CE415117}" type="pres">
      <dgm:prSet presAssocID="{01DEFEA5-1803-4C2E-9456-1D9EF2D64399}" presName="spaceRect" presStyleCnt="0"/>
      <dgm:spPr/>
    </dgm:pt>
    <dgm:pt modelId="{C57F9221-AEFA-42D4-AE5B-894239EEE125}" type="pres">
      <dgm:prSet presAssocID="{01DEFEA5-1803-4C2E-9456-1D9EF2D64399}" presName="parTx" presStyleLbl="revTx" presStyleIdx="0" presStyleCnt="6">
        <dgm:presLayoutVars>
          <dgm:chMax val="0"/>
          <dgm:chPref val="0"/>
        </dgm:presLayoutVars>
      </dgm:prSet>
      <dgm:spPr/>
    </dgm:pt>
    <dgm:pt modelId="{C298D72B-DF9B-49C7-BFE5-FD4B2F5E0498}" type="pres">
      <dgm:prSet presAssocID="{4C7540C9-AB89-4ABA-A345-51C6AB3079A2}" presName="sibTrans" presStyleCnt="0"/>
      <dgm:spPr/>
    </dgm:pt>
    <dgm:pt modelId="{D85A8B75-A590-40BE-B44B-953AE1D3E01D}" type="pres">
      <dgm:prSet presAssocID="{64212302-980E-4CD6-BC08-9A3F3B5B31C5}" presName="compNode" presStyleCnt="0"/>
      <dgm:spPr/>
    </dgm:pt>
    <dgm:pt modelId="{CDE906BD-D149-42AD-ACDE-4F334ED30FBF}" type="pres">
      <dgm:prSet presAssocID="{64212302-980E-4CD6-BC08-9A3F3B5B31C5}" presName="bgRect" presStyleLbl="bgShp" presStyleIdx="1" presStyleCnt="6"/>
      <dgm:spPr/>
    </dgm:pt>
    <dgm:pt modelId="{80F5AA7F-CCCF-493B-A51B-44B2C9F2BC8A}" type="pres">
      <dgm:prSet presAssocID="{64212302-980E-4CD6-BC08-9A3F3B5B31C5}"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lkulator"/>
        </a:ext>
      </dgm:extLst>
    </dgm:pt>
    <dgm:pt modelId="{33FC9EF8-5590-4FD3-8EF3-86DE4B19A0FB}" type="pres">
      <dgm:prSet presAssocID="{64212302-980E-4CD6-BC08-9A3F3B5B31C5}" presName="spaceRect" presStyleCnt="0"/>
      <dgm:spPr/>
    </dgm:pt>
    <dgm:pt modelId="{62854675-0F55-4BF4-A6E1-4A2B166A44AF}" type="pres">
      <dgm:prSet presAssocID="{64212302-980E-4CD6-BC08-9A3F3B5B31C5}" presName="parTx" presStyleLbl="revTx" presStyleIdx="1" presStyleCnt="6">
        <dgm:presLayoutVars>
          <dgm:chMax val="0"/>
          <dgm:chPref val="0"/>
        </dgm:presLayoutVars>
      </dgm:prSet>
      <dgm:spPr/>
    </dgm:pt>
    <dgm:pt modelId="{AA8F7B6C-617A-4055-B0AF-83D340F45127}" type="pres">
      <dgm:prSet presAssocID="{0FFBB8B2-1445-4BBD-AFE9-46366D043EF4}" presName="sibTrans" presStyleCnt="0"/>
      <dgm:spPr/>
    </dgm:pt>
    <dgm:pt modelId="{BF082240-5E57-40F1-97F6-61C6A1770384}" type="pres">
      <dgm:prSet presAssocID="{D69BBA6D-BCDF-4D60-BB35-327616FC41F9}" presName="compNode" presStyleCnt="0"/>
      <dgm:spPr/>
    </dgm:pt>
    <dgm:pt modelId="{1D1E4C7E-B461-49B1-A09B-69AF181E23FF}" type="pres">
      <dgm:prSet presAssocID="{D69BBA6D-BCDF-4D60-BB35-327616FC41F9}" presName="bgRect" presStyleLbl="bgShp" presStyleIdx="2" presStyleCnt="6"/>
      <dgm:spPr/>
    </dgm:pt>
    <dgm:pt modelId="{5ABC7210-E266-421F-9328-6388BC4AFA7E}" type="pres">
      <dgm:prSet presAssocID="{D69BBA6D-BCDF-4D60-BB35-327616FC41F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abirynt"/>
        </a:ext>
      </dgm:extLst>
    </dgm:pt>
    <dgm:pt modelId="{E6EBD8B6-5B30-459F-89F7-654B20C39F75}" type="pres">
      <dgm:prSet presAssocID="{D69BBA6D-BCDF-4D60-BB35-327616FC41F9}" presName="spaceRect" presStyleCnt="0"/>
      <dgm:spPr/>
    </dgm:pt>
    <dgm:pt modelId="{8A14A0AD-8F1C-43AD-BE4B-239C9AF80C73}" type="pres">
      <dgm:prSet presAssocID="{D69BBA6D-BCDF-4D60-BB35-327616FC41F9}" presName="parTx" presStyleLbl="revTx" presStyleIdx="2" presStyleCnt="6">
        <dgm:presLayoutVars>
          <dgm:chMax val="0"/>
          <dgm:chPref val="0"/>
        </dgm:presLayoutVars>
      </dgm:prSet>
      <dgm:spPr/>
    </dgm:pt>
    <dgm:pt modelId="{EB9CC418-0996-468C-98DA-949264660E8F}" type="pres">
      <dgm:prSet presAssocID="{237355C0-AFF8-4D2A-BDF7-F056598F80B2}" presName="sibTrans" presStyleCnt="0"/>
      <dgm:spPr/>
    </dgm:pt>
    <dgm:pt modelId="{C484D99F-91F4-4B54-920B-0E5C6B45B8AA}" type="pres">
      <dgm:prSet presAssocID="{17094ADD-8279-4712-937F-892EA4BCA727}" presName="compNode" presStyleCnt="0"/>
      <dgm:spPr/>
    </dgm:pt>
    <dgm:pt modelId="{4377B034-2D20-40E7-B8B7-13E2DCE5F2D7}" type="pres">
      <dgm:prSet presAssocID="{17094ADD-8279-4712-937F-892EA4BCA727}" presName="bgRect" presStyleLbl="bgShp" presStyleIdx="3" presStyleCnt="6"/>
      <dgm:spPr/>
    </dgm:pt>
    <dgm:pt modelId="{2D51A69A-F2FB-40EF-BD1C-1E038A7BA2EC}" type="pres">
      <dgm:prSet presAssocID="{17094ADD-8279-4712-937F-892EA4BCA72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ieskończoność"/>
        </a:ext>
      </dgm:extLst>
    </dgm:pt>
    <dgm:pt modelId="{A3BDE5C6-028E-4ADC-AC7A-D5E0C65B17EB}" type="pres">
      <dgm:prSet presAssocID="{17094ADD-8279-4712-937F-892EA4BCA727}" presName="spaceRect" presStyleCnt="0"/>
      <dgm:spPr/>
    </dgm:pt>
    <dgm:pt modelId="{C1612B95-E7BA-4547-B175-541B9A999E9F}" type="pres">
      <dgm:prSet presAssocID="{17094ADD-8279-4712-937F-892EA4BCA727}" presName="parTx" presStyleLbl="revTx" presStyleIdx="3" presStyleCnt="6">
        <dgm:presLayoutVars>
          <dgm:chMax val="0"/>
          <dgm:chPref val="0"/>
        </dgm:presLayoutVars>
      </dgm:prSet>
      <dgm:spPr/>
    </dgm:pt>
    <dgm:pt modelId="{01FC455B-BDAA-408C-BF77-13C3D2A0474A}" type="pres">
      <dgm:prSet presAssocID="{7A5CEED7-278B-4347-8A14-8F133DA1CAD3}" presName="sibTrans" presStyleCnt="0"/>
      <dgm:spPr/>
    </dgm:pt>
    <dgm:pt modelId="{20FE0BA5-2528-44C8-BDA3-99EB738B66D6}" type="pres">
      <dgm:prSet presAssocID="{F48B0935-0784-453F-AD63-D184A25D82C4}" presName="compNode" presStyleCnt="0"/>
      <dgm:spPr/>
    </dgm:pt>
    <dgm:pt modelId="{06CC1D82-4A58-4A07-A28D-980197AEE097}" type="pres">
      <dgm:prSet presAssocID="{F48B0935-0784-453F-AD63-D184A25D82C4}" presName="bgRect" presStyleLbl="bgShp" presStyleIdx="4" presStyleCnt="6"/>
      <dgm:spPr/>
    </dgm:pt>
    <dgm:pt modelId="{B8FAF7E1-BFF0-4136-BB97-1E3976AB5133}" type="pres">
      <dgm:prSet presAssocID="{F48B0935-0784-453F-AD63-D184A25D82C4}"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ieniądze"/>
        </a:ext>
      </dgm:extLst>
    </dgm:pt>
    <dgm:pt modelId="{32C21A34-047D-47B7-B052-387C7A16627B}" type="pres">
      <dgm:prSet presAssocID="{F48B0935-0784-453F-AD63-D184A25D82C4}" presName="spaceRect" presStyleCnt="0"/>
      <dgm:spPr/>
    </dgm:pt>
    <dgm:pt modelId="{99DD2C81-0C27-4BEF-8A5D-82200021E259}" type="pres">
      <dgm:prSet presAssocID="{F48B0935-0784-453F-AD63-D184A25D82C4}" presName="parTx" presStyleLbl="revTx" presStyleIdx="4" presStyleCnt="6">
        <dgm:presLayoutVars>
          <dgm:chMax val="0"/>
          <dgm:chPref val="0"/>
        </dgm:presLayoutVars>
      </dgm:prSet>
      <dgm:spPr/>
    </dgm:pt>
    <dgm:pt modelId="{161D7994-4EB1-4976-9CF5-F54A7AEEA965}" type="pres">
      <dgm:prSet presAssocID="{1922B8BE-5E40-4722-91F8-E92ECF11B1BA}" presName="sibTrans" presStyleCnt="0"/>
      <dgm:spPr/>
    </dgm:pt>
    <dgm:pt modelId="{AD45F66C-7994-4133-B980-B9C59C473151}" type="pres">
      <dgm:prSet presAssocID="{63795913-0E3F-4465-B94F-ED677E54C47B}" presName="compNode" presStyleCnt="0"/>
      <dgm:spPr/>
    </dgm:pt>
    <dgm:pt modelId="{FBE40D40-7072-48A2-9FC5-D460CA1A2948}" type="pres">
      <dgm:prSet presAssocID="{63795913-0E3F-4465-B94F-ED677E54C47B}" presName="bgRect" presStyleLbl="bgShp" presStyleIdx="5" presStyleCnt="6"/>
      <dgm:spPr/>
    </dgm:pt>
    <dgm:pt modelId="{31A44DA2-C386-4C53-A0EF-FA682AD60446}" type="pres">
      <dgm:prSet presAssocID="{63795913-0E3F-4465-B94F-ED677E54C47B}"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nger Print"/>
        </a:ext>
      </dgm:extLst>
    </dgm:pt>
    <dgm:pt modelId="{9BDCB241-6CD1-46EF-A753-4D36DD71EB89}" type="pres">
      <dgm:prSet presAssocID="{63795913-0E3F-4465-B94F-ED677E54C47B}" presName="spaceRect" presStyleCnt="0"/>
      <dgm:spPr/>
    </dgm:pt>
    <dgm:pt modelId="{CA182173-824F-451E-9B0E-36B57969EF28}" type="pres">
      <dgm:prSet presAssocID="{63795913-0E3F-4465-B94F-ED677E54C47B}" presName="parTx" presStyleLbl="revTx" presStyleIdx="5" presStyleCnt="6">
        <dgm:presLayoutVars>
          <dgm:chMax val="0"/>
          <dgm:chPref val="0"/>
        </dgm:presLayoutVars>
      </dgm:prSet>
      <dgm:spPr/>
    </dgm:pt>
  </dgm:ptLst>
  <dgm:cxnLst>
    <dgm:cxn modelId="{C906D21C-A2A0-4BB7-8F6C-DA54677B5A31}" srcId="{D09A0BF8-0026-4C32-B862-E666484FA570}" destId="{01DEFEA5-1803-4C2E-9456-1D9EF2D64399}" srcOrd="0" destOrd="0" parTransId="{C374EE4F-DEFF-4F83-8163-E4031AECFEEA}" sibTransId="{4C7540C9-AB89-4ABA-A345-51C6AB3079A2}"/>
    <dgm:cxn modelId="{C8DC0934-9535-4698-A8C5-3DD912E7DAB4}" srcId="{D09A0BF8-0026-4C32-B862-E666484FA570}" destId="{64212302-980E-4CD6-BC08-9A3F3B5B31C5}" srcOrd="1" destOrd="0" parTransId="{CAD0B42E-712A-41C5-A98A-B9F3BF3B50AE}" sibTransId="{0FFBB8B2-1445-4BBD-AFE9-46366D043EF4}"/>
    <dgm:cxn modelId="{C5549C42-937A-45BD-A4B6-E73460EFAFB6}" srcId="{D09A0BF8-0026-4C32-B862-E666484FA570}" destId="{F48B0935-0784-453F-AD63-D184A25D82C4}" srcOrd="4" destOrd="0" parTransId="{4CBF38BB-B438-46FF-9A8D-8ECC8FD5285B}" sibTransId="{1922B8BE-5E40-4722-91F8-E92ECF11B1BA}"/>
    <dgm:cxn modelId="{D65C1474-BDD6-4042-A418-9539B173E466}" srcId="{D09A0BF8-0026-4C32-B862-E666484FA570}" destId="{D69BBA6D-BCDF-4D60-BB35-327616FC41F9}" srcOrd="2" destOrd="0" parTransId="{0AA976E3-604B-400A-8AA5-A0F21737F881}" sibTransId="{237355C0-AFF8-4D2A-BDF7-F056598F80B2}"/>
    <dgm:cxn modelId="{D4164757-0C30-4180-A27C-122F56BFFB47}" type="presOf" srcId="{F48B0935-0784-453F-AD63-D184A25D82C4}" destId="{99DD2C81-0C27-4BEF-8A5D-82200021E259}" srcOrd="0" destOrd="0" presId="urn:microsoft.com/office/officeart/2018/2/layout/IconVerticalSolidList"/>
    <dgm:cxn modelId="{B22F9C90-563C-440A-92FA-482522D3336F}" srcId="{D09A0BF8-0026-4C32-B862-E666484FA570}" destId="{17094ADD-8279-4712-937F-892EA4BCA727}" srcOrd="3" destOrd="0" parTransId="{1D9B20B7-CC5D-4409-84F3-EFF56CC1D6C5}" sibTransId="{7A5CEED7-278B-4347-8A14-8F133DA1CAD3}"/>
    <dgm:cxn modelId="{9AB17B93-D40D-40E9-8B9C-E90D25A4ED1B}" type="presOf" srcId="{D09A0BF8-0026-4C32-B862-E666484FA570}" destId="{05D2D1A1-094D-4A90-BE5A-3E052FC38A42}" srcOrd="0" destOrd="0" presId="urn:microsoft.com/office/officeart/2018/2/layout/IconVerticalSolidList"/>
    <dgm:cxn modelId="{9B772297-2CC0-4FA0-8887-0B1931F24824}" type="presOf" srcId="{64212302-980E-4CD6-BC08-9A3F3B5B31C5}" destId="{62854675-0F55-4BF4-A6E1-4A2B166A44AF}" srcOrd="0" destOrd="0" presId="urn:microsoft.com/office/officeart/2018/2/layout/IconVerticalSolidList"/>
    <dgm:cxn modelId="{D5470BA6-CCE9-4B79-8CBE-F15BCE1C2772}" type="presOf" srcId="{63795913-0E3F-4465-B94F-ED677E54C47B}" destId="{CA182173-824F-451E-9B0E-36B57969EF28}" srcOrd="0" destOrd="0" presId="urn:microsoft.com/office/officeart/2018/2/layout/IconVerticalSolidList"/>
    <dgm:cxn modelId="{C45137AF-BBB2-4076-A0FE-C76FBA133446}" type="presOf" srcId="{17094ADD-8279-4712-937F-892EA4BCA727}" destId="{C1612B95-E7BA-4547-B175-541B9A999E9F}" srcOrd="0" destOrd="0" presId="urn:microsoft.com/office/officeart/2018/2/layout/IconVerticalSolidList"/>
    <dgm:cxn modelId="{51C7E9B1-A0AE-4428-A3E4-D5898552E730}" type="presOf" srcId="{01DEFEA5-1803-4C2E-9456-1D9EF2D64399}" destId="{C57F9221-AEFA-42D4-AE5B-894239EEE125}" srcOrd="0" destOrd="0" presId="urn:microsoft.com/office/officeart/2018/2/layout/IconVerticalSolidList"/>
    <dgm:cxn modelId="{ED1377F4-196D-45E4-9965-B847104522FD}" type="presOf" srcId="{D69BBA6D-BCDF-4D60-BB35-327616FC41F9}" destId="{8A14A0AD-8F1C-43AD-BE4B-239C9AF80C73}" srcOrd="0" destOrd="0" presId="urn:microsoft.com/office/officeart/2018/2/layout/IconVerticalSolidList"/>
    <dgm:cxn modelId="{BF794BFD-9D51-4418-AD7E-04D62D84FC90}" srcId="{D09A0BF8-0026-4C32-B862-E666484FA570}" destId="{63795913-0E3F-4465-B94F-ED677E54C47B}" srcOrd="5" destOrd="0" parTransId="{91E74274-055D-4573-9245-89A653E2437B}" sibTransId="{52CA3411-32A8-44BC-8E29-2FD77A12AFEE}"/>
    <dgm:cxn modelId="{56DE988E-A1B4-4E09-8C77-71597820F072}" type="presParOf" srcId="{05D2D1A1-094D-4A90-BE5A-3E052FC38A42}" destId="{47B0D9D5-8C50-4D8A-943D-7CDE34D7690C}" srcOrd="0" destOrd="0" presId="urn:microsoft.com/office/officeart/2018/2/layout/IconVerticalSolidList"/>
    <dgm:cxn modelId="{F12D883A-C665-4398-B53D-5AF85197B1EC}" type="presParOf" srcId="{47B0D9D5-8C50-4D8A-943D-7CDE34D7690C}" destId="{7BAC954A-D3C6-4441-B06D-E189C49223C6}" srcOrd="0" destOrd="0" presId="urn:microsoft.com/office/officeart/2018/2/layout/IconVerticalSolidList"/>
    <dgm:cxn modelId="{3538174A-470D-44EF-B5B7-BE499F38E12A}" type="presParOf" srcId="{47B0D9D5-8C50-4D8A-943D-7CDE34D7690C}" destId="{B0B81154-20E6-414A-8920-7BBDD5D6A4C6}" srcOrd="1" destOrd="0" presId="urn:microsoft.com/office/officeart/2018/2/layout/IconVerticalSolidList"/>
    <dgm:cxn modelId="{1E530C80-A2C7-4B35-B6C2-C147E179D9F8}" type="presParOf" srcId="{47B0D9D5-8C50-4D8A-943D-7CDE34D7690C}" destId="{FA7DB5F0-5EEF-4747-A31D-0481CE415117}" srcOrd="2" destOrd="0" presId="urn:microsoft.com/office/officeart/2018/2/layout/IconVerticalSolidList"/>
    <dgm:cxn modelId="{B8E6A239-CCD9-4122-BDA1-0581572D2936}" type="presParOf" srcId="{47B0D9D5-8C50-4D8A-943D-7CDE34D7690C}" destId="{C57F9221-AEFA-42D4-AE5B-894239EEE125}" srcOrd="3" destOrd="0" presId="urn:microsoft.com/office/officeart/2018/2/layout/IconVerticalSolidList"/>
    <dgm:cxn modelId="{6AA23E8C-32DE-457F-9FD3-6F7D4B04D671}" type="presParOf" srcId="{05D2D1A1-094D-4A90-BE5A-3E052FC38A42}" destId="{C298D72B-DF9B-49C7-BFE5-FD4B2F5E0498}" srcOrd="1" destOrd="0" presId="urn:microsoft.com/office/officeart/2018/2/layout/IconVerticalSolidList"/>
    <dgm:cxn modelId="{E6A158CC-481A-4EBC-A554-4AC68A4BD48A}" type="presParOf" srcId="{05D2D1A1-094D-4A90-BE5A-3E052FC38A42}" destId="{D85A8B75-A590-40BE-B44B-953AE1D3E01D}" srcOrd="2" destOrd="0" presId="urn:microsoft.com/office/officeart/2018/2/layout/IconVerticalSolidList"/>
    <dgm:cxn modelId="{D9EFDE8A-2DAB-420B-9202-A6D8E1615FE0}" type="presParOf" srcId="{D85A8B75-A590-40BE-B44B-953AE1D3E01D}" destId="{CDE906BD-D149-42AD-ACDE-4F334ED30FBF}" srcOrd="0" destOrd="0" presId="urn:microsoft.com/office/officeart/2018/2/layout/IconVerticalSolidList"/>
    <dgm:cxn modelId="{6B1E81FE-BAAB-4FF7-824A-C3196975AB49}" type="presParOf" srcId="{D85A8B75-A590-40BE-B44B-953AE1D3E01D}" destId="{80F5AA7F-CCCF-493B-A51B-44B2C9F2BC8A}" srcOrd="1" destOrd="0" presId="urn:microsoft.com/office/officeart/2018/2/layout/IconVerticalSolidList"/>
    <dgm:cxn modelId="{C8DA4F32-2B49-4A57-B06C-AB595B76C872}" type="presParOf" srcId="{D85A8B75-A590-40BE-B44B-953AE1D3E01D}" destId="{33FC9EF8-5590-4FD3-8EF3-86DE4B19A0FB}" srcOrd="2" destOrd="0" presId="urn:microsoft.com/office/officeart/2018/2/layout/IconVerticalSolidList"/>
    <dgm:cxn modelId="{89A39461-2099-4ACF-BA93-656608D54779}" type="presParOf" srcId="{D85A8B75-A590-40BE-B44B-953AE1D3E01D}" destId="{62854675-0F55-4BF4-A6E1-4A2B166A44AF}" srcOrd="3" destOrd="0" presId="urn:microsoft.com/office/officeart/2018/2/layout/IconVerticalSolidList"/>
    <dgm:cxn modelId="{D9C59F48-1954-45D1-8CE3-D5FCC045332A}" type="presParOf" srcId="{05D2D1A1-094D-4A90-BE5A-3E052FC38A42}" destId="{AA8F7B6C-617A-4055-B0AF-83D340F45127}" srcOrd="3" destOrd="0" presId="urn:microsoft.com/office/officeart/2018/2/layout/IconVerticalSolidList"/>
    <dgm:cxn modelId="{59804FDD-BE67-4F26-BFB6-940F3FC49E57}" type="presParOf" srcId="{05D2D1A1-094D-4A90-BE5A-3E052FC38A42}" destId="{BF082240-5E57-40F1-97F6-61C6A1770384}" srcOrd="4" destOrd="0" presId="urn:microsoft.com/office/officeart/2018/2/layout/IconVerticalSolidList"/>
    <dgm:cxn modelId="{946BD662-84DD-4E76-B21A-9D66FEA32088}" type="presParOf" srcId="{BF082240-5E57-40F1-97F6-61C6A1770384}" destId="{1D1E4C7E-B461-49B1-A09B-69AF181E23FF}" srcOrd="0" destOrd="0" presId="urn:microsoft.com/office/officeart/2018/2/layout/IconVerticalSolidList"/>
    <dgm:cxn modelId="{E1A8F5AB-4AA3-4BC3-B9CF-E34C7D2B39BD}" type="presParOf" srcId="{BF082240-5E57-40F1-97F6-61C6A1770384}" destId="{5ABC7210-E266-421F-9328-6388BC4AFA7E}" srcOrd="1" destOrd="0" presId="urn:microsoft.com/office/officeart/2018/2/layout/IconVerticalSolidList"/>
    <dgm:cxn modelId="{556EB352-A9DF-43B6-A662-F51FE902CAB1}" type="presParOf" srcId="{BF082240-5E57-40F1-97F6-61C6A1770384}" destId="{E6EBD8B6-5B30-459F-89F7-654B20C39F75}" srcOrd="2" destOrd="0" presId="urn:microsoft.com/office/officeart/2018/2/layout/IconVerticalSolidList"/>
    <dgm:cxn modelId="{523D6265-0D9C-4271-8A2A-D223F2D96233}" type="presParOf" srcId="{BF082240-5E57-40F1-97F6-61C6A1770384}" destId="{8A14A0AD-8F1C-43AD-BE4B-239C9AF80C73}" srcOrd="3" destOrd="0" presId="urn:microsoft.com/office/officeart/2018/2/layout/IconVerticalSolidList"/>
    <dgm:cxn modelId="{1E485D6B-14E5-41A3-AFA0-EFB2688CE0F2}" type="presParOf" srcId="{05D2D1A1-094D-4A90-BE5A-3E052FC38A42}" destId="{EB9CC418-0996-468C-98DA-949264660E8F}" srcOrd="5" destOrd="0" presId="urn:microsoft.com/office/officeart/2018/2/layout/IconVerticalSolidList"/>
    <dgm:cxn modelId="{60E0B1D9-83AA-421E-AAB8-41716AE78BFF}" type="presParOf" srcId="{05D2D1A1-094D-4A90-BE5A-3E052FC38A42}" destId="{C484D99F-91F4-4B54-920B-0E5C6B45B8AA}" srcOrd="6" destOrd="0" presId="urn:microsoft.com/office/officeart/2018/2/layout/IconVerticalSolidList"/>
    <dgm:cxn modelId="{E90C1560-8E6D-4A15-AA1E-99B8AD0AC919}" type="presParOf" srcId="{C484D99F-91F4-4B54-920B-0E5C6B45B8AA}" destId="{4377B034-2D20-40E7-B8B7-13E2DCE5F2D7}" srcOrd="0" destOrd="0" presId="urn:microsoft.com/office/officeart/2018/2/layout/IconVerticalSolidList"/>
    <dgm:cxn modelId="{D40E36A5-EE77-4F70-9767-4B1AF3DF0C6A}" type="presParOf" srcId="{C484D99F-91F4-4B54-920B-0E5C6B45B8AA}" destId="{2D51A69A-F2FB-40EF-BD1C-1E038A7BA2EC}" srcOrd="1" destOrd="0" presId="urn:microsoft.com/office/officeart/2018/2/layout/IconVerticalSolidList"/>
    <dgm:cxn modelId="{152867DA-AEE6-4956-B281-69CA1FD9979E}" type="presParOf" srcId="{C484D99F-91F4-4B54-920B-0E5C6B45B8AA}" destId="{A3BDE5C6-028E-4ADC-AC7A-D5E0C65B17EB}" srcOrd="2" destOrd="0" presId="urn:microsoft.com/office/officeart/2018/2/layout/IconVerticalSolidList"/>
    <dgm:cxn modelId="{5A574B68-419F-4209-9EC0-5BB4CA7D7EE8}" type="presParOf" srcId="{C484D99F-91F4-4B54-920B-0E5C6B45B8AA}" destId="{C1612B95-E7BA-4547-B175-541B9A999E9F}" srcOrd="3" destOrd="0" presId="urn:microsoft.com/office/officeart/2018/2/layout/IconVerticalSolidList"/>
    <dgm:cxn modelId="{48BF1389-A934-4E9D-9449-38ED6A743A48}" type="presParOf" srcId="{05D2D1A1-094D-4A90-BE5A-3E052FC38A42}" destId="{01FC455B-BDAA-408C-BF77-13C3D2A0474A}" srcOrd="7" destOrd="0" presId="urn:microsoft.com/office/officeart/2018/2/layout/IconVerticalSolidList"/>
    <dgm:cxn modelId="{97942535-1D26-4C71-967E-B72F2D61AEDD}" type="presParOf" srcId="{05D2D1A1-094D-4A90-BE5A-3E052FC38A42}" destId="{20FE0BA5-2528-44C8-BDA3-99EB738B66D6}" srcOrd="8" destOrd="0" presId="urn:microsoft.com/office/officeart/2018/2/layout/IconVerticalSolidList"/>
    <dgm:cxn modelId="{2846490C-04F4-44DD-BC01-8862AF2D33F6}" type="presParOf" srcId="{20FE0BA5-2528-44C8-BDA3-99EB738B66D6}" destId="{06CC1D82-4A58-4A07-A28D-980197AEE097}" srcOrd="0" destOrd="0" presId="urn:microsoft.com/office/officeart/2018/2/layout/IconVerticalSolidList"/>
    <dgm:cxn modelId="{52811C41-48D3-44AF-8CB9-168FA5BA8524}" type="presParOf" srcId="{20FE0BA5-2528-44C8-BDA3-99EB738B66D6}" destId="{B8FAF7E1-BFF0-4136-BB97-1E3976AB5133}" srcOrd="1" destOrd="0" presId="urn:microsoft.com/office/officeart/2018/2/layout/IconVerticalSolidList"/>
    <dgm:cxn modelId="{8F0A37B5-AE58-49E8-9E9F-7816C80309E4}" type="presParOf" srcId="{20FE0BA5-2528-44C8-BDA3-99EB738B66D6}" destId="{32C21A34-047D-47B7-B052-387C7A16627B}" srcOrd="2" destOrd="0" presId="urn:microsoft.com/office/officeart/2018/2/layout/IconVerticalSolidList"/>
    <dgm:cxn modelId="{834BB2D0-DFFE-41BB-921E-4178C8C99DA8}" type="presParOf" srcId="{20FE0BA5-2528-44C8-BDA3-99EB738B66D6}" destId="{99DD2C81-0C27-4BEF-8A5D-82200021E259}" srcOrd="3" destOrd="0" presId="urn:microsoft.com/office/officeart/2018/2/layout/IconVerticalSolidList"/>
    <dgm:cxn modelId="{87EF8811-1C67-4FC1-A673-94CC19DF9936}" type="presParOf" srcId="{05D2D1A1-094D-4A90-BE5A-3E052FC38A42}" destId="{161D7994-4EB1-4976-9CF5-F54A7AEEA965}" srcOrd="9" destOrd="0" presId="urn:microsoft.com/office/officeart/2018/2/layout/IconVerticalSolidList"/>
    <dgm:cxn modelId="{AE067ADC-A3D6-4CC6-A51A-D3CD6A9FAEB9}" type="presParOf" srcId="{05D2D1A1-094D-4A90-BE5A-3E052FC38A42}" destId="{AD45F66C-7994-4133-B980-B9C59C473151}" srcOrd="10" destOrd="0" presId="urn:microsoft.com/office/officeart/2018/2/layout/IconVerticalSolidList"/>
    <dgm:cxn modelId="{5A67E61A-AFDC-47F4-8B8E-F41924554C6D}" type="presParOf" srcId="{AD45F66C-7994-4133-B980-B9C59C473151}" destId="{FBE40D40-7072-48A2-9FC5-D460CA1A2948}" srcOrd="0" destOrd="0" presId="urn:microsoft.com/office/officeart/2018/2/layout/IconVerticalSolidList"/>
    <dgm:cxn modelId="{853F993D-22E0-4168-810B-06A31CE318F8}" type="presParOf" srcId="{AD45F66C-7994-4133-B980-B9C59C473151}" destId="{31A44DA2-C386-4C53-A0EF-FA682AD60446}" srcOrd="1" destOrd="0" presId="urn:microsoft.com/office/officeart/2018/2/layout/IconVerticalSolidList"/>
    <dgm:cxn modelId="{7C9541FE-2598-4370-8B87-A57594671835}" type="presParOf" srcId="{AD45F66C-7994-4133-B980-B9C59C473151}" destId="{9BDCB241-6CD1-46EF-A753-4D36DD71EB89}" srcOrd="2" destOrd="0" presId="urn:microsoft.com/office/officeart/2018/2/layout/IconVerticalSolidList"/>
    <dgm:cxn modelId="{FA9DAF2A-D160-4308-8A34-E6E2935B781E}" type="presParOf" srcId="{AD45F66C-7994-4133-B980-B9C59C473151}" destId="{CA182173-824F-451E-9B0E-36B57969EF2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B65D0-DE54-4AFA-8DBA-5715A3121C0E}">
      <dsp:nvSpPr>
        <dsp:cNvPr id="0" name=""/>
        <dsp:cNvSpPr/>
      </dsp:nvSpPr>
      <dsp:spPr>
        <a:xfrm>
          <a:off x="86794" y="606"/>
          <a:ext cx="4686893" cy="2976177"/>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CB8F9648-A625-475B-B535-6F02EE0A2E0B}">
      <dsp:nvSpPr>
        <dsp:cNvPr id="0" name=""/>
        <dsp:cNvSpPr/>
      </dsp:nvSpPr>
      <dsp:spPr>
        <a:xfrm>
          <a:off x="607560" y="495334"/>
          <a:ext cx="4686893" cy="2976177"/>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pl-PL" sz="3000" kern="1200"/>
            <a:t>Projekt startupowy różni się od korporacyjnego przede wszystkim poziomem niepewności, dostępem do zasobów oraz celem działania.</a:t>
          </a:r>
          <a:endParaRPr lang="en-US" sz="3000" kern="1200"/>
        </a:p>
      </dsp:txBody>
      <dsp:txXfrm>
        <a:off x="694729" y="582503"/>
        <a:ext cx="4512555" cy="2801839"/>
      </dsp:txXfrm>
    </dsp:sp>
    <dsp:sp modelId="{6DC5FEFB-8C8E-4115-82E6-0813829061A0}">
      <dsp:nvSpPr>
        <dsp:cNvPr id="0" name=""/>
        <dsp:cNvSpPr/>
      </dsp:nvSpPr>
      <dsp:spPr>
        <a:xfrm>
          <a:off x="5815219" y="606"/>
          <a:ext cx="4686893" cy="2976177"/>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C124B3B5-2A9E-41B3-B7E4-1B2B5A66A005}">
      <dsp:nvSpPr>
        <dsp:cNvPr id="0" name=""/>
        <dsp:cNvSpPr/>
      </dsp:nvSpPr>
      <dsp:spPr>
        <a:xfrm>
          <a:off x="6335985" y="495334"/>
          <a:ext cx="4686893" cy="2976177"/>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pl-PL" sz="3000" kern="1200"/>
            <a:t>Startup nie realizuje znanego i stabilnego planu, lecz poszukuje modelu biznesowego, który będzie działał na rynku.</a:t>
          </a:r>
          <a:endParaRPr lang="en-US" sz="3000" kern="1200"/>
        </a:p>
      </dsp:txBody>
      <dsp:txXfrm>
        <a:off x="6423154" y="582503"/>
        <a:ext cx="4512555" cy="28018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B4E50-552B-4900-BB08-13A4F28BBAC8}">
      <dsp:nvSpPr>
        <dsp:cNvPr id="0" name=""/>
        <dsp:cNvSpPr/>
      </dsp:nvSpPr>
      <dsp:spPr>
        <a:xfrm>
          <a:off x="0" y="938924"/>
          <a:ext cx="6669431" cy="17334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F6F042-6D2E-4AAC-B81C-249D55B01A4C}">
      <dsp:nvSpPr>
        <dsp:cNvPr id="0" name=""/>
        <dsp:cNvSpPr/>
      </dsp:nvSpPr>
      <dsp:spPr>
        <a:xfrm>
          <a:off x="524353" y="1328940"/>
          <a:ext cx="953370" cy="953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F7F510-F316-4606-895A-D5D205B26918}">
      <dsp:nvSpPr>
        <dsp:cNvPr id="0" name=""/>
        <dsp:cNvSpPr/>
      </dsp:nvSpPr>
      <dsp:spPr>
        <a:xfrm>
          <a:off x="2002077" y="938924"/>
          <a:ext cx="4667353" cy="173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452" tIns="183452" rIns="183452" bIns="183452" numCol="1" spcCol="1270" anchor="ctr" anchorCtr="0">
          <a:noAutofit/>
        </a:bodyPr>
        <a:lstStyle/>
        <a:p>
          <a:pPr marL="0" lvl="0" indent="0" algn="l" defTabSz="844550">
            <a:lnSpc>
              <a:spcPct val="90000"/>
            </a:lnSpc>
            <a:spcBef>
              <a:spcPct val="0"/>
            </a:spcBef>
            <a:spcAft>
              <a:spcPct val="35000"/>
            </a:spcAft>
            <a:buNone/>
          </a:pPr>
          <a:r>
            <a:rPr lang="pl-PL" sz="1900" kern="1200"/>
            <a:t>Hipoteza produktowa to założenie dotyczące tego, co użytkownik zrobi, czego potrzebuje i za co zapłaci.</a:t>
          </a:r>
          <a:r>
            <a:rPr lang="en-US" sz="1900" kern="1200"/>
            <a:t> </a:t>
          </a:r>
          <a:r>
            <a:rPr lang="pl-PL" sz="1900" kern="1200"/>
            <a:t>Nie jest to fakt, lecz przypuszczenie wymagające weryfikacji.</a:t>
          </a:r>
          <a:endParaRPr lang="en-US" sz="1900" kern="1200"/>
        </a:p>
      </dsp:txBody>
      <dsp:txXfrm>
        <a:off x="2002077" y="938924"/>
        <a:ext cx="4667353" cy="1733400"/>
      </dsp:txXfrm>
    </dsp:sp>
    <dsp:sp modelId="{FEF158C0-8BAE-4100-A942-BF0A8203C812}">
      <dsp:nvSpPr>
        <dsp:cNvPr id="0" name=""/>
        <dsp:cNvSpPr/>
      </dsp:nvSpPr>
      <dsp:spPr>
        <a:xfrm>
          <a:off x="0" y="3105675"/>
          <a:ext cx="6669431" cy="17334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2F1DD8-B12A-41E5-87C7-FC4726AE6931}">
      <dsp:nvSpPr>
        <dsp:cNvPr id="0" name=""/>
        <dsp:cNvSpPr/>
      </dsp:nvSpPr>
      <dsp:spPr>
        <a:xfrm>
          <a:off x="524353" y="3495690"/>
          <a:ext cx="953370" cy="953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9D40CB-C8A2-4AC8-8110-86A909A6B771}">
      <dsp:nvSpPr>
        <dsp:cNvPr id="0" name=""/>
        <dsp:cNvSpPr/>
      </dsp:nvSpPr>
      <dsp:spPr>
        <a:xfrm>
          <a:off x="2002077" y="3105675"/>
          <a:ext cx="4667353" cy="173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452" tIns="183452" rIns="183452" bIns="183452" numCol="1" spcCol="1270" anchor="ctr" anchorCtr="0">
          <a:noAutofit/>
        </a:bodyPr>
        <a:lstStyle/>
        <a:p>
          <a:pPr marL="0" lvl="0" indent="0" algn="l" defTabSz="844550">
            <a:lnSpc>
              <a:spcPct val="90000"/>
            </a:lnSpc>
            <a:spcBef>
              <a:spcPct val="0"/>
            </a:spcBef>
            <a:spcAft>
              <a:spcPct val="35000"/>
            </a:spcAft>
            <a:buNone/>
          </a:pPr>
          <a:r>
            <a:rPr lang="en-US" sz="1900" kern="1200"/>
            <a:t>Przykład: </a:t>
          </a:r>
          <a:r>
            <a:rPr lang="pl-PL" sz="1900" kern="1200"/>
            <a:t>Kierowcy EV zapłacą za optymalizację trasy ładowania</a:t>
          </a:r>
          <a:endParaRPr lang="en-US" sz="1900" kern="1200"/>
        </a:p>
      </dsp:txBody>
      <dsp:txXfrm>
        <a:off x="2002077" y="3105675"/>
        <a:ext cx="4667353" cy="1733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1C522F-0AE3-4E3F-A061-08B2931EBEB4}">
      <dsp:nvSpPr>
        <dsp:cNvPr id="0" name=""/>
        <dsp:cNvSpPr/>
      </dsp:nvSpPr>
      <dsp:spPr>
        <a:xfrm>
          <a:off x="0" y="485"/>
          <a:ext cx="1002665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02D91E-3C53-46AA-A964-21A7953E2E8B}">
      <dsp:nvSpPr>
        <dsp:cNvPr id="0" name=""/>
        <dsp:cNvSpPr/>
      </dsp:nvSpPr>
      <dsp:spPr>
        <a:xfrm>
          <a:off x="0" y="485"/>
          <a:ext cx="10026650" cy="79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pl-PL" sz="3500" kern="1200"/>
            <a:t>Niepewność w startupie oznacza brak wiedzy o:</a:t>
          </a:r>
          <a:endParaRPr lang="en-US" sz="3500" kern="1200"/>
        </a:p>
      </dsp:txBody>
      <dsp:txXfrm>
        <a:off x="0" y="485"/>
        <a:ext cx="10026650" cy="795460"/>
      </dsp:txXfrm>
    </dsp:sp>
    <dsp:sp modelId="{4222F192-7EA7-4131-A67D-BFB879040BE1}">
      <dsp:nvSpPr>
        <dsp:cNvPr id="0" name=""/>
        <dsp:cNvSpPr/>
      </dsp:nvSpPr>
      <dsp:spPr>
        <a:xfrm>
          <a:off x="0" y="795946"/>
          <a:ext cx="1002665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2F5E27-445A-4910-B85A-6D6C03758F03}">
      <dsp:nvSpPr>
        <dsp:cNvPr id="0" name=""/>
        <dsp:cNvSpPr/>
      </dsp:nvSpPr>
      <dsp:spPr>
        <a:xfrm>
          <a:off x="0" y="795946"/>
          <a:ext cx="10026650" cy="79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 </a:t>
          </a:r>
          <a:r>
            <a:rPr lang="pl-PL" sz="3500" kern="1200" dirty="0"/>
            <a:t>potrzebach klientów, </a:t>
          </a:r>
          <a:endParaRPr lang="en-US" sz="3500" kern="1200" dirty="0"/>
        </a:p>
      </dsp:txBody>
      <dsp:txXfrm>
        <a:off x="0" y="795946"/>
        <a:ext cx="10026650" cy="795460"/>
      </dsp:txXfrm>
    </dsp:sp>
    <dsp:sp modelId="{7DCA54B9-0EA8-4459-B535-3E91EE8A82CD}">
      <dsp:nvSpPr>
        <dsp:cNvPr id="0" name=""/>
        <dsp:cNvSpPr/>
      </dsp:nvSpPr>
      <dsp:spPr>
        <a:xfrm>
          <a:off x="0" y="1591407"/>
          <a:ext cx="1002665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40D53A-78ED-4B88-80A8-356D1D19C6AC}">
      <dsp:nvSpPr>
        <dsp:cNvPr id="0" name=""/>
        <dsp:cNvSpPr/>
      </dsp:nvSpPr>
      <dsp:spPr>
        <a:xfrm>
          <a:off x="0" y="1591407"/>
          <a:ext cx="10026650" cy="79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 </a:t>
          </a:r>
          <a:r>
            <a:rPr lang="pl-PL" sz="3500" kern="1200" dirty="0"/>
            <a:t>modelu biznesowym, </a:t>
          </a:r>
          <a:endParaRPr lang="en-US" sz="3500" kern="1200" dirty="0"/>
        </a:p>
      </dsp:txBody>
      <dsp:txXfrm>
        <a:off x="0" y="1591407"/>
        <a:ext cx="10026650" cy="795460"/>
      </dsp:txXfrm>
    </dsp:sp>
    <dsp:sp modelId="{79939ACD-96C1-4087-9EEA-E0E7C50D9E7D}">
      <dsp:nvSpPr>
        <dsp:cNvPr id="0" name=""/>
        <dsp:cNvSpPr/>
      </dsp:nvSpPr>
      <dsp:spPr>
        <a:xfrm>
          <a:off x="0" y="2386867"/>
          <a:ext cx="1002665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44E982-85E9-4A89-BB0D-79DB227FE23C}">
      <dsp:nvSpPr>
        <dsp:cNvPr id="0" name=""/>
        <dsp:cNvSpPr/>
      </dsp:nvSpPr>
      <dsp:spPr>
        <a:xfrm>
          <a:off x="0" y="2386867"/>
          <a:ext cx="10026650" cy="79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 </a:t>
          </a:r>
          <a:r>
            <a:rPr lang="pl-PL" sz="3500" kern="1200" dirty="0"/>
            <a:t>technologii, </a:t>
          </a:r>
          <a:endParaRPr lang="en-US" sz="3500" kern="1200" dirty="0"/>
        </a:p>
      </dsp:txBody>
      <dsp:txXfrm>
        <a:off x="0" y="2386867"/>
        <a:ext cx="10026650" cy="795460"/>
      </dsp:txXfrm>
    </dsp:sp>
    <dsp:sp modelId="{B20D5089-9C26-4B71-BD67-21F3DF1B9E53}">
      <dsp:nvSpPr>
        <dsp:cNvPr id="0" name=""/>
        <dsp:cNvSpPr/>
      </dsp:nvSpPr>
      <dsp:spPr>
        <a:xfrm>
          <a:off x="0" y="3182328"/>
          <a:ext cx="10026650" cy="0"/>
        </a:xfrm>
        <a:prstGeom prst="line">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36980B-2459-4AA1-AE80-D098A9314699}">
      <dsp:nvSpPr>
        <dsp:cNvPr id="0" name=""/>
        <dsp:cNvSpPr/>
      </dsp:nvSpPr>
      <dsp:spPr>
        <a:xfrm>
          <a:off x="0" y="3182328"/>
          <a:ext cx="10026650" cy="79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 </a:t>
          </a:r>
          <a:r>
            <a:rPr lang="pl-PL" sz="3500" kern="1200" dirty="0"/>
            <a:t>konkurencji.</a:t>
          </a:r>
          <a:endParaRPr lang="en-US" sz="3500" kern="1200" dirty="0"/>
        </a:p>
      </dsp:txBody>
      <dsp:txXfrm>
        <a:off x="0" y="3182328"/>
        <a:ext cx="10026650" cy="7954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B4BE8-0D66-4F5D-9243-0D1F4E2EEAAF}">
      <dsp:nvSpPr>
        <dsp:cNvPr id="0" name=""/>
        <dsp:cNvSpPr/>
      </dsp:nvSpPr>
      <dsp:spPr>
        <a:xfrm>
          <a:off x="0" y="0"/>
          <a:ext cx="3847079" cy="104103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l-PL" sz="2000" kern="1200"/>
            <a:t>Niepewność zarządza się poprzez:</a:t>
          </a:r>
          <a:endParaRPr lang="en-US" sz="2000" kern="1200"/>
        </a:p>
      </dsp:txBody>
      <dsp:txXfrm>
        <a:off x="30491" y="30491"/>
        <a:ext cx="2601922" cy="980050"/>
      </dsp:txXfrm>
    </dsp:sp>
    <dsp:sp modelId="{A92E83DA-6F53-4275-B52B-915A27B1DD6B}">
      <dsp:nvSpPr>
        <dsp:cNvPr id="0" name=""/>
        <dsp:cNvSpPr/>
      </dsp:nvSpPr>
      <dsp:spPr>
        <a:xfrm>
          <a:off x="287281" y="1185620"/>
          <a:ext cx="3847079" cy="1041032"/>
        </a:xfrm>
        <a:prstGeom prst="roundRect">
          <a:avLst>
            <a:gd name="adj" fmla="val 10000"/>
          </a:avLst>
        </a:prstGeom>
        <a:solidFill>
          <a:schemeClr val="accent5">
            <a:hueOff val="-365724"/>
            <a:satOff val="1486"/>
            <a:lumOff val="-687"/>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l-PL" sz="2000" kern="1200"/>
            <a:t>szybkie eksperymenty, </a:t>
          </a:r>
          <a:endParaRPr lang="en-US" sz="2000" kern="1200"/>
        </a:p>
      </dsp:txBody>
      <dsp:txXfrm>
        <a:off x="317772" y="1216111"/>
        <a:ext cx="2822144" cy="980050"/>
      </dsp:txXfrm>
    </dsp:sp>
    <dsp:sp modelId="{E0284E2C-29D8-4FA9-802B-EE0243815842}">
      <dsp:nvSpPr>
        <dsp:cNvPr id="0" name=""/>
        <dsp:cNvSpPr/>
      </dsp:nvSpPr>
      <dsp:spPr>
        <a:xfrm>
          <a:off x="574563" y="2371241"/>
          <a:ext cx="3847079" cy="1041032"/>
        </a:xfrm>
        <a:prstGeom prst="roundRect">
          <a:avLst>
            <a:gd name="adj" fmla="val 10000"/>
          </a:avLst>
        </a:prstGeom>
        <a:solidFill>
          <a:schemeClr val="accent5">
            <a:hueOff val="-731448"/>
            <a:satOff val="2972"/>
            <a:lumOff val="-1373"/>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l-PL" sz="2000" kern="1200"/>
            <a:t>iteracyjne podejście, </a:t>
          </a:r>
          <a:endParaRPr lang="en-US" sz="2000" kern="1200"/>
        </a:p>
      </dsp:txBody>
      <dsp:txXfrm>
        <a:off x="605054" y="2401732"/>
        <a:ext cx="2822144" cy="980050"/>
      </dsp:txXfrm>
    </dsp:sp>
    <dsp:sp modelId="{2F10B362-FC50-4919-9078-CB2D068D1B81}">
      <dsp:nvSpPr>
        <dsp:cNvPr id="0" name=""/>
        <dsp:cNvSpPr/>
      </dsp:nvSpPr>
      <dsp:spPr>
        <a:xfrm>
          <a:off x="861845" y="3556862"/>
          <a:ext cx="3847079" cy="1041032"/>
        </a:xfrm>
        <a:prstGeom prst="roundRect">
          <a:avLst>
            <a:gd name="adj" fmla="val 10000"/>
          </a:avLst>
        </a:prstGeom>
        <a:solidFill>
          <a:schemeClr val="accent5">
            <a:hueOff val="-1097172"/>
            <a:satOff val="4457"/>
            <a:lumOff val="-206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l-PL" sz="2000" kern="1200"/>
            <a:t>częste feedbacki, </a:t>
          </a:r>
          <a:endParaRPr lang="en-US" sz="2000" kern="1200"/>
        </a:p>
      </dsp:txBody>
      <dsp:txXfrm>
        <a:off x="892336" y="3587353"/>
        <a:ext cx="2822144" cy="980050"/>
      </dsp:txXfrm>
    </dsp:sp>
    <dsp:sp modelId="{28D9AD0B-55B4-4998-A8D5-8704754B9E8A}">
      <dsp:nvSpPr>
        <dsp:cNvPr id="0" name=""/>
        <dsp:cNvSpPr/>
      </dsp:nvSpPr>
      <dsp:spPr>
        <a:xfrm>
          <a:off x="1149127" y="4742483"/>
          <a:ext cx="3847079" cy="1041032"/>
        </a:xfrm>
        <a:prstGeom prst="roundRect">
          <a:avLst>
            <a:gd name="adj" fmla="val 10000"/>
          </a:avLst>
        </a:prstGeom>
        <a:solidFill>
          <a:schemeClr val="accent5">
            <a:hueOff val="-1462896"/>
            <a:satOff val="5943"/>
            <a:lumOff val="-274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pl-PL" sz="2000" kern="1200"/>
            <a:t>minimalizację kosztów błędów.</a:t>
          </a:r>
          <a:endParaRPr lang="en-US" sz="2000" kern="1200"/>
        </a:p>
      </dsp:txBody>
      <dsp:txXfrm>
        <a:off x="1179618" y="4772974"/>
        <a:ext cx="2822144" cy="980050"/>
      </dsp:txXfrm>
    </dsp:sp>
    <dsp:sp modelId="{BFD8DC96-7E72-4E86-B382-AD6DECC019C1}">
      <dsp:nvSpPr>
        <dsp:cNvPr id="0" name=""/>
        <dsp:cNvSpPr/>
      </dsp:nvSpPr>
      <dsp:spPr>
        <a:xfrm>
          <a:off x="3170408" y="760532"/>
          <a:ext cx="676671" cy="676671"/>
        </a:xfrm>
        <a:prstGeom prst="downArrow">
          <a:avLst>
            <a:gd name="adj1" fmla="val 55000"/>
            <a:gd name="adj2" fmla="val 45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3322659" y="760532"/>
        <a:ext cx="372169" cy="509195"/>
      </dsp:txXfrm>
    </dsp:sp>
    <dsp:sp modelId="{BB756D2A-8475-411D-B559-5A50AADC9FC3}">
      <dsp:nvSpPr>
        <dsp:cNvPr id="0" name=""/>
        <dsp:cNvSpPr/>
      </dsp:nvSpPr>
      <dsp:spPr>
        <a:xfrm>
          <a:off x="3457689" y="1946153"/>
          <a:ext cx="676671" cy="676671"/>
        </a:xfrm>
        <a:prstGeom prst="downArrow">
          <a:avLst>
            <a:gd name="adj1" fmla="val 55000"/>
            <a:gd name="adj2" fmla="val 45000"/>
          </a:avLst>
        </a:prstGeom>
        <a:solidFill>
          <a:schemeClr val="accent5">
            <a:tint val="40000"/>
            <a:alpha val="90000"/>
            <a:hueOff val="-378325"/>
            <a:satOff val="519"/>
            <a:lumOff val="-48"/>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3609940" y="1946153"/>
        <a:ext cx="372169" cy="509195"/>
      </dsp:txXfrm>
    </dsp:sp>
    <dsp:sp modelId="{6972717C-BE6E-4298-8747-B3951029635A}">
      <dsp:nvSpPr>
        <dsp:cNvPr id="0" name=""/>
        <dsp:cNvSpPr/>
      </dsp:nvSpPr>
      <dsp:spPr>
        <a:xfrm>
          <a:off x="3744971" y="3114423"/>
          <a:ext cx="676671" cy="676671"/>
        </a:xfrm>
        <a:prstGeom prst="downArrow">
          <a:avLst>
            <a:gd name="adj1" fmla="val 55000"/>
            <a:gd name="adj2" fmla="val 45000"/>
          </a:avLst>
        </a:prstGeom>
        <a:solidFill>
          <a:schemeClr val="accent5">
            <a:tint val="40000"/>
            <a:alpha val="90000"/>
            <a:hueOff val="-756649"/>
            <a:satOff val="1038"/>
            <a:lumOff val="-95"/>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3897222" y="3114423"/>
        <a:ext cx="372169" cy="509195"/>
      </dsp:txXfrm>
    </dsp:sp>
    <dsp:sp modelId="{D4062FAE-ED90-404C-BF30-A2AB2D97E819}">
      <dsp:nvSpPr>
        <dsp:cNvPr id="0" name=""/>
        <dsp:cNvSpPr/>
      </dsp:nvSpPr>
      <dsp:spPr>
        <a:xfrm>
          <a:off x="4032253" y="4311611"/>
          <a:ext cx="676671" cy="676671"/>
        </a:xfrm>
        <a:prstGeom prst="downArrow">
          <a:avLst>
            <a:gd name="adj1" fmla="val 55000"/>
            <a:gd name="adj2" fmla="val 45000"/>
          </a:avLst>
        </a:prstGeom>
        <a:solidFill>
          <a:schemeClr val="accent5">
            <a:tint val="40000"/>
            <a:alpha val="90000"/>
            <a:hueOff val="-1134974"/>
            <a:satOff val="1557"/>
            <a:lumOff val="-143"/>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4184504" y="4311611"/>
        <a:ext cx="372169" cy="5091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34AC7-CDAE-4613-85F2-486CB84469C4}">
      <dsp:nvSpPr>
        <dsp:cNvPr id="0" name=""/>
        <dsp:cNvSpPr/>
      </dsp:nvSpPr>
      <dsp:spPr>
        <a:xfrm>
          <a:off x="86794" y="606"/>
          <a:ext cx="4686893" cy="2976177"/>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493B4966-3740-400B-8761-55B081C75D6E}">
      <dsp:nvSpPr>
        <dsp:cNvPr id="0" name=""/>
        <dsp:cNvSpPr/>
      </dsp:nvSpPr>
      <dsp:spPr>
        <a:xfrm>
          <a:off x="607560" y="495334"/>
          <a:ext cx="4686893" cy="2976177"/>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pl-PL" sz="2000" kern="1200"/>
            <a:t>Traction w startupie oznacza realne zainteresowanie produktem i tempo jego adopcji przez użytkowników. Jest to jeden z najważniejszych wskaźników, ponieważ pokazuje, czy startup faktycznie zdobywa rynek, czy jedynie rozwija produkt bez realnego zapotrzebowania.</a:t>
          </a:r>
          <a:endParaRPr lang="en-US" sz="2000" kern="1200"/>
        </a:p>
      </dsp:txBody>
      <dsp:txXfrm>
        <a:off x="694729" y="582503"/>
        <a:ext cx="4512555" cy="2801839"/>
      </dsp:txXfrm>
    </dsp:sp>
    <dsp:sp modelId="{DBD8EB5A-47F9-4EF2-A9EC-9FB7BB0894A5}">
      <dsp:nvSpPr>
        <dsp:cNvPr id="0" name=""/>
        <dsp:cNvSpPr/>
      </dsp:nvSpPr>
      <dsp:spPr>
        <a:xfrm>
          <a:off x="5815219" y="606"/>
          <a:ext cx="4686893" cy="2976177"/>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3ED767D7-144D-46DA-8FDC-A33455FA4910}">
      <dsp:nvSpPr>
        <dsp:cNvPr id="0" name=""/>
        <dsp:cNvSpPr/>
      </dsp:nvSpPr>
      <dsp:spPr>
        <a:xfrm>
          <a:off x="6335985" y="495334"/>
          <a:ext cx="4686893" cy="2976177"/>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pl-PL" sz="2000" kern="1200"/>
            <a:t>Traction można również analizować poprzez wskaźniki jakościowe, takie jak opinie użytkowników, poziom satysfakcji czy gotowość do polecania produktu innym. W początkowej fazie rozwoju startupu nawet niewielka liczba aktywnych użytkowników może być istotna, jeśli wykazuje wysokie zaangażowanie.</a:t>
          </a:r>
          <a:endParaRPr lang="en-US" sz="2000" kern="1200"/>
        </a:p>
      </dsp:txBody>
      <dsp:txXfrm>
        <a:off x="6423154" y="582503"/>
        <a:ext cx="4512555" cy="28018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1CF8BE-4922-49C2-8895-CBA09107F802}">
      <dsp:nvSpPr>
        <dsp:cNvPr id="0" name=""/>
        <dsp:cNvSpPr/>
      </dsp:nvSpPr>
      <dsp:spPr>
        <a:xfrm>
          <a:off x="0" y="705"/>
          <a:ext cx="6669431"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657DB6-9918-4453-9972-63F14B50D61C}">
      <dsp:nvSpPr>
        <dsp:cNvPr id="0" name=""/>
        <dsp:cNvSpPr/>
      </dsp:nvSpPr>
      <dsp:spPr>
        <a:xfrm>
          <a:off x="499262" y="372057"/>
          <a:ext cx="907749" cy="9077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33EF39-F231-4D91-86D5-1C115E0A05A3}">
      <dsp:nvSpPr>
        <dsp:cNvPr id="0" name=""/>
        <dsp:cNvSpPr/>
      </dsp:nvSpPr>
      <dsp:spPr>
        <a:xfrm>
          <a:off x="1906274" y="705"/>
          <a:ext cx="4763156"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622300">
            <a:lnSpc>
              <a:spcPct val="90000"/>
            </a:lnSpc>
            <a:spcBef>
              <a:spcPct val="0"/>
            </a:spcBef>
            <a:spcAft>
              <a:spcPct val="35000"/>
            </a:spcAft>
            <a:buNone/>
          </a:pPr>
          <a:r>
            <a:rPr lang="pl-PL" sz="1400" kern="1200"/>
            <a:t>Osiągnięcie product–market fit oznacza moment, w którym produkt zaczyna realnie odpowiadać na potrzeby rynku i użytkownicy wykazują naturalne zainteresowanie jego używaniem bez intensywnego marketingu. Dopiero po osiągnięciu tego etapu startup może rozpocząć skalowanie.</a:t>
          </a:r>
          <a:endParaRPr lang="en-US" sz="1400" kern="1200"/>
        </a:p>
      </dsp:txBody>
      <dsp:txXfrm>
        <a:off x="1906274" y="705"/>
        <a:ext cx="4763156" cy="1650454"/>
      </dsp:txXfrm>
    </dsp:sp>
    <dsp:sp modelId="{E6E78702-32DD-44E0-A578-297DBD0C4DFF}">
      <dsp:nvSpPr>
        <dsp:cNvPr id="0" name=""/>
        <dsp:cNvSpPr/>
      </dsp:nvSpPr>
      <dsp:spPr>
        <a:xfrm>
          <a:off x="0" y="2063772"/>
          <a:ext cx="6669431"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17172F-69C1-4D0E-B1A7-38781E30E0D3}">
      <dsp:nvSpPr>
        <dsp:cNvPr id="0" name=""/>
        <dsp:cNvSpPr/>
      </dsp:nvSpPr>
      <dsp:spPr>
        <a:xfrm>
          <a:off x="499262" y="2435125"/>
          <a:ext cx="907749" cy="9077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A63B84-3ECC-4427-81AD-D89D3CEBC6D8}">
      <dsp:nvSpPr>
        <dsp:cNvPr id="0" name=""/>
        <dsp:cNvSpPr/>
      </dsp:nvSpPr>
      <dsp:spPr>
        <a:xfrm>
          <a:off x="1906274" y="2063772"/>
          <a:ext cx="4763156"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622300">
            <a:lnSpc>
              <a:spcPct val="90000"/>
            </a:lnSpc>
            <a:spcBef>
              <a:spcPct val="0"/>
            </a:spcBef>
            <a:spcAft>
              <a:spcPct val="35000"/>
            </a:spcAft>
            <a:buNone/>
          </a:pPr>
          <a:r>
            <a:rPr lang="pl-PL" sz="1400" kern="1200"/>
            <a:t>Skalowanie wymaga uporządkowania procesów wewnętrznych, ponieważ organizacja przestaje działać w trybie eksperymentalnym i zaczyna działać w trybie wzrostu. Oznacza to większą formalizację decyzji, lepsze planowanie oraz rozwój struktur zarządzania.</a:t>
          </a:r>
          <a:endParaRPr lang="en-US" sz="1400" kern="1200"/>
        </a:p>
      </dsp:txBody>
      <dsp:txXfrm>
        <a:off x="1906274" y="2063772"/>
        <a:ext cx="4763156" cy="1650454"/>
      </dsp:txXfrm>
    </dsp:sp>
    <dsp:sp modelId="{C66BB15E-8D61-413E-ABCD-CA12AF4E6AEB}">
      <dsp:nvSpPr>
        <dsp:cNvPr id="0" name=""/>
        <dsp:cNvSpPr/>
      </dsp:nvSpPr>
      <dsp:spPr>
        <a:xfrm>
          <a:off x="0" y="4126840"/>
          <a:ext cx="6669431"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A3920-763F-46F0-8F8C-B37DCF266AE1}">
      <dsp:nvSpPr>
        <dsp:cNvPr id="0" name=""/>
        <dsp:cNvSpPr/>
      </dsp:nvSpPr>
      <dsp:spPr>
        <a:xfrm>
          <a:off x="499262" y="4498192"/>
          <a:ext cx="907749" cy="9077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E49481-247B-49F5-928E-E2A60B506B41}">
      <dsp:nvSpPr>
        <dsp:cNvPr id="0" name=""/>
        <dsp:cNvSpPr/>
      </dsp:nvSpPr>
      <dsp:spPr>
        <a:xfrm>
          <a:off x="1906274" y="4126840"/>
          <a:ext cx="4763156"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622300">
            <a:lnSpc>
              <a:spcPct val="90000"/>
            </a:lnSpc>
            <a:spcBef>
              <a:spcPct val="0"/>
            </a:spcBef>
            <a:spcAft>
              <a:spcPct val="35000"/>
            </a:spcAft>
            <a:buNone/>
          </a:pPr>
          <a:r>
            <a:rPr lang="pl-PL" sz="1400" kern="1200"/>
            <a:t>Bardzo ważne jest również utrzymanie jakości produktu przy rosnącej liczbie użytkowników, co wymaga inwestycji w stabilność systemu i monitoring.</a:t>
          </a:r>
          <a:endParaRPr lang="en-US" sz="1400" kern="1200"/>
        </a:p>
      </dsp:txBody>
      <dsp:txXfrm>
        <a:off x="1906274" y="4126840"/>
        <a:ext cx="4763156" cy="16504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F9AE7-2618-4C7A-AECD-2F715493374D}">
      <dsp:nvSpPr>
        <dsp:cNvPr id="0" name=""/>
        <dsp:cNvSpPr/>
      </dsp:nvSpPr>
      <dsp:spPr>
        <a:xfrm>
          <a:off x="0" y="283319"/>
          <a:ext cx="6669431" cy="2574000"/>
        </a:xfrm>
        <a:prstGeom prst="roundRect">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l-PL" sz="2200" kern="1200"/>
            <a:t>Podejście model-first polega na rozpoczęciu pracy od budowy i optymalizacji modelu uczenia maszynowego, który następnie jest integrowany z produktem. W tym podejściu kluczowe znaczenie ma jakość predykcji, dokładność modelu oraz jego zdolność do generalizacji. Dopiero później buduje się aplikację, która wykorzystuje model.</a:t>
          </a:r>
          <a:endParaRPr lang="en-US" sz="2200" kern="1200"/>
        </a:p>
      </dsp:txBody>
      <dsp:txXfrm>
        <a:off x="125652" y="408971"/>
        <a:ext cx="6418127" cy="2322696"/>
      </dsp:txXfrm>
    </dsp:sp>
    <dsp:sp modelId="{BC68E502-3C67-4475-B679-51B433CE07C2}">
      <dsp:nvSpPr>
        <dsp:cNvPr id="0" name=""/>
        <dsp:cNvSpPr/>
      </dsp:nvSpPr>
      <dsp:spPr>
        <a:xfrm>
          <a:off x="0" y="2920680"/>
          <a:ext cx="6669431" cy="2574000"/>
        </a:xfrm>
        <a:prstGeom prst="roundRect">
          <a:avLst/>
        </a:prstGeom>
        <a:solidFill>
          <a:schemeClr val="accent2">
            <a:hueOff val="6043017"/>
            <a:satOff val="-19810"/>
            <a:lumOff val="-4314"/>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l-PL" sz="2200" kern="1200"/>
            <a:t>Podejście product-first zakłada odwrotną kolejność, czyli najpierw tworzy się produkt i jego funkcjonalności, a dopiero później dodaje się komponenty ML, które wspierają istniejące procesy. W tym podejściu większy nacisk kładzie się na wartość użytkową niż na jakość samego modelu.</a:t>
          </a:r>
          <a:endParaRPr lang="en-US" sz="2200" kern="1200"/>
        </a:p>
      </dsp:txBody>
      <dsp:txXfrm>
        <a:off x="125652" y="3046332"/>
        <a:ext cx="6418127" cy="23226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8EA8D-A424-460F-8FF9-D45140E4D040}">
      <dsp:nvSpPr>
        <dsp:cNvPr id="0" name=""/>
        <dsp:cNvSpPr/>
      </dsp:nvSpPr>
      <dsp:spPr>
        <a:xfrm>
          <a:off x="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7926E75D-1C0F-420A-BA6C-15E74615A2C0}">
      <dsp:nvSpPr>
        <dsp:cNvPr id="0" name=""/>
        <dsp:cNvSpPr/>
      </dsp:nvSpPr>
      <dsp:spPr>
        <a:xfrm>
          <a:off x="347177"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dirty="0"/>
            <a:t>W startupach wykorzystujących sztuczną inteligencję pojawia się dodatkowa warstwa złożoności, ponieważ zespół nie rozwija wyłącznie aplikacji, ale równocześnie buduje modele danych, infrastrukturę analityczną i produkt użytkowy.</a:t>
          </a:r>
          <a:endParaRPr lang="en-US" sz="1300" kern="1200" dirty="0"/>
        </a:p>
      </dsp:txBody>
      <dsp:txXfrm>
        <a:off x="405290" y="967022"/>
        <a:ext cx="3008369" cy="1867892"/>
      </dsp:txXfrm>
    </dsp:sp>
    <dsp:sp modelId="{29ABF79A-8E1C-4165-A0FC-3E50EAE466AF}">
      <dsp:nvSpPr>
        <dsp:cNvPr id="0" name=""/>
        <dsp:cNvSpPr/>
      </dsp:nvSpPr>
      <dsp:spPr>
        <a:xfrm>
          <a:off x="381895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3A81E516-05D0-4271-B9A5-6D2014204762}">
      <dsp:nvSpPr>
        <dsp:cNvPr id="0" name=""/>
        <dsp:cNvSpPr/>
      </dsp:nvSpPr>
      <dsp:spPr>
        <a:xfrm>
          <a:off x="4166127"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Unikalnym wyzwaniem AI engineering jest trudność w przewidywaniu efektów pracy. W klasycznym programowaniu wiadomo, jaki rezultat powinien dać napisany kod. W projektach AI rezultat jest probabilistyczny i często zależy od jakości danych. To oznacza, że część pracy ma charakter badawczy, a nie produkcyjny.</a:t>
          </a:r>
          <a:endParaRPr lang="en-US" sz="1300" kern="1200"/>
        </a:p>
      </dsp:txBody>
      <dsp:txXfrm>
        <a:off x="4224240" y="967022"/>
        <a:ext cx="3008369" cy="1867892"/>
      </dsp:txXfrm>
    </dsp:sp>
    <dsp:sp modelId="{C20D0F15-E866-4801-A03D-E089A3924C25}">
      <dsp:nvSpPr>
        <dsp:cNvPr id="0" name=""/>
        <dsp:cNvSpPr/>
      </dsp:nvSpPr>
      <dsp:spPr>
        <a:xfrm>
          <a:off x="763790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1E9D2C31-511D-40B6-8D39-A4F90AB1CD18}">
      <dsp:nvSpPr>
        <dsp:cNvPr id="0" name=""/>
        <dsp:cNvSpPr/>
      </dsp:nvSpPr>
      <dsp:spPr>
        <a:xfrm>
          <a:off x="7985078"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Drugim problemem jest utrzymanie modeli po wdrożeniu. Model może działać poprawnie dziś, ale po kilku miesiącach jego skuteczność może spaść, jeśli zmienią się dane wejściowe. Startup musi więc nie tylko tworzyć model, ale również stale monitorować jego działanie.</a:t>
          </a:r>
          <a:endParaRPr lang="en-US" sz="1300" kern="1200"/>
        </a:p>
      </dsp:txBody>
      <dsp:txXfrm>
        <a:off x="8043191" y="967022"/>
        <a:ext cx="3008369" cy="18678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FAD74-0489-4303-BCEC-7B01CE8EDF1B}">
      <dsp:nvSpPr>
        <dsp:cNvPr id="0" name=""/>
        <dsp:cNvSpPr/>
      </dsp:nvSpPr>
      <dsp:spPr>
        <a:xfrm>
          <a:off x="0" y="7330"/>
          <a:ext cx="6669431" cy="9314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1945DE-9713-4CB7-96F0-5C14C93AD7F1}">
      <dsp:nvSpPr>
        <dsp:cNvPr id="0" name=""/>
        <dsp:cNvSpPr/>
      </dsp:nvSpPr>
      <dsp:spPr>
        <a:xfrm>
          <a:off x="281763" y="216906"/>
          <a:ext cx="512797" cy="512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056649-BF5C-4965-B4BA-94B1F22FDBC5}">
      <dsp:nvSpPr>
        <dsp:cNvPr id="0" name=""/>
        <dsp:cNvSpPr/>
      </dsp:nvSpPr>
      <dsp:spPr>
        <a:xfrm>
          <a:off x="1076323" y="7330"/>
          <a:ext cx="5576531" cy="96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9" tIns="101659" rIns="101659" bIns="101659" numCol="1" spcCol="1270" anchor="ctr" anchorCtr="0">
          <a:noAutofit/>
        </a:bodyPr>
        <a:lstStyle/>
        <a:p>
          <a:pPr marL="0" lvl="0" indent="0" algn="l" defTabSz="622300">
            <a:lnSpc>
              <a:spcPct val="90000"/>
            </a:lnSpc>
            <a:spcBef>
              <a:spcPct val="0"/>
            </a:spcBef>
            <a:spcAft>
              <a:spcPct val="35000"/>
            </a:spcAft>
            <a:buNone/>
          </a:pPr>
          <a:r>
            <a:rPr lang="pl-PL" sz="1400" kern="1200"/>
            <a:t>Szybka pętla informacji zwrotnej jest jednym z najważniejszych mechanizmów przetrwania startupu, ponieważ umożliwia szybkie uczenie się i korygowanie błędnych decyzji zanim staną się kosztowne.</a:t>
          </a:r>
          <a:endParaRPr lang="en-US" sz="1400" kern="1200"/>
        </a:p>
      </dsp:txBody>
      <dsp:txXfrm>
        <a:off x="1076323" y="7330"/>
        <a:ext cx="5576531" cy="960556"/>
      </dsp:txXfrm>
    </dsp:sp>
    <dsp:sp modelId="{8694062B-1AC4-4033-B193-56665ACB86CC}">
      <dsp:nvSpPr>
        <dsp:cNvPr id="0" name=""/>
        <dsp:cNvSpPr/>
      </dsp:nvSpPr>
      <dsp:spPr>
        <a:xfrm>
          <a:off x="0" y="1208026"/>
          <a:ext cx="6669431" cy="9314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53B5DF-8FB2-4302-A7F1-004360C514EC}">
      <dsp:nvSpPr>
        <dsp:cNvPr id="0" name=""/>
        <dsp:cNvSpPr/>
      </dsp:nvSpPr>
      <dsp:spPr>
        <a:xfrm>
          <a:off x="281763" y="1417602"/>
          <a:ext cx="512797" cy="512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89A8FD-4BD3-4AFF-8F82-6D7F9349F3BE}">
      <dsp:nvSpPr>
        <dsp:cNvPr id="0" name=""/>
        <dsp:cNvSpPr/>
      </dsp:nvSpPr>
      <dsp:spPr>
        <a:xfrm>
          <a:off x="1076323" y="1208026"/>
          <a:ext cx="5576531" cy="96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9" tIns="101659" rIns="101659" bIns="101659" numCol="1" spcCol="1270" anchor="ctr" anchorCtr="0">
          <a:noAutofit/>
        </a:bodyPr>
        <a:lstStyle/>
        <a:p>
          <a:pPr marL="0" lvl="0" indent="0" algn="l" defTabSz="622300">
            <a:lnSpc>
              <a:spcPct val="90000"/>
            </a:lnSpc>
            <a:spcBef>
              <a:spcPct val="0"/>
            </a:spcBef>
            <a:spcAft>
              <a:spcPct val="35000"/>
            </a:spcAft>
            <a:buNone/>
          </a:pPr>
          <a:r>
            <a:rPr lang="pl-PL" sz="1400" kern="1200"/>
            <a:t>Szybka informacja zwrotna działa na kilku poziomach</a:t>
          </a:r>
          <a:r>
            <a:rPr lang="en-US" sz="1400" kern="1200"/>
            <a:t>:</a:t>
          </a:r>
        </a:p>
      </dsp:txBody>
      <dsp:txXfrm>
        <a:off x="1076323" y="1208026"/>
        <a:ext cx="5576531" cy="960556"/>
      </dsp:txXfrm>
    </dsp:sp>
    <dsp:sp modelId="{0D7BC451-1314-4E52-8374-84E48D829129}">
      <dsp:nvSpPr>
        <dsp:cNvPr id="0" name=""/>
        <dsp:cNvSpPr/>
      </dsp:nvSpPr>
      <dsp:spPr>
        <a:xfrm>
          <a:off x="0" y="2408721"/>
          <a:ext cx="6669431" cy="9314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82D578-0197-4C87-B012-459A25B6B0C6}">
      <dsp:nvSpPr>
        <dsp:cNvPr id="0" name=""/>
        <dsp:cNvSpPr/>
      </dsp:nvSpPr>
      <dsp:spPr>
        <a:xfrm>
          <a:off x="281763" y="2618297"/>
          <a:ext cx="512797" cy="512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0C3C1F-1D7E-4B05-A17D-83EA0D9E7A07}">
      <dsp:nvSpPr>
        <dsp:cNvPr id="0" name=""/>
        <dsp:cNvSpPr/>
      </dsp:nvSpPr>
      <dsp:spPr>
        <a:xfrm>
          <a:off x="1076323" y="2408721"/>
          <a:ext cx="5576531" cy="96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9" tIns="101659" rIns="101659" bIns="101659" numCol="1" spcCol="1270" anchor="ctr" anchorCtr="0">
          <a:noAutofit/>
        </a:bodyPr>
        <a:lstStyle/>
        <a:p>
          <a:pPr marL="0" lvl="0" indent="0" algn="l" defTabSz="622300">
            <a:lnSpc>
              <a:spcPct val="90000"/>
            </a:lnSpc>
            <a:spcBef>
              <a:spcPct val="0"/>
            </a:spcBef>
            <a:spcAft>
              <a:spcPct val="35000"/>
            </a:spcAft>
            <a:buNone/>
          </a:pPr>
          <a:r>
            <a:rPr lang="pl-PL" sz="1400" kern="1200"/>
            <a:t>Dotyczy produktu, ponieważ użytkownik pokazuje czy funkcja jest potrzebna.</a:t>
          </a:r>
          <a:endParaRPr lang="en-US" sz="1400" kern="1200"/>
        </a:p>
      </dsp:txBody>
      <dsp:txXfrm>
        <a:off x="1076323" y="2408721"/>
        <a:ext cx="5576531" cy="960556"/>
      </dsp:txXfrm>
    </dsp:sp>
    <dsp:sp modelId="{11EB62EA-DA75-4D28-8C14-2FFA5F7620C7}">
      <dsp:nvSpPr>
        <dsp:cNvPr id="0" name=""/>
        <dsp:cNvSpPr/>
      </dsp:nvSpPr>
      <dsp:spPr>
        <a:xfrm>
          <a:off x="0" y="3609417"/>
          <a:ext cx="6669431" cy="9314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49859C-E033-45C3-B6F2-8C6F560DF1B9}">
      <dsp:nvSpPr>
        <dsp:cNvPr id="0" name=""/>
        <dsp:cNvSpPr/>
      </dsp:nvSpPr>
      <dsp:spPr>
        <a:xfrm>
          <a:off x="281763" y="3818993"/>
          <a:ext cx="512797" cy="512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DCD6DA-E682-4A04-9835-B99A243A9498}">
      <dsp:nvSpPr>
        <dsp:cNvPr id="0" name=""/>
        <dsp:cNvSpPr/>
      </dsp:nvSpPr>
      <dsp:spPr>
        <a:xfrm>
          <a:off x="1076323" y="3609417"/>
          <a:ext cx="5576531" cy="96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9" tIns="101659" rIns="101659" bIns="101659" numCol="1" spcCol="1270" anchor="ctr" anchorCtr="0">
          <a:noAutofit/>
        </a:bodyPr>
        <a:lstStyle/>
        <a:p>
          <a:pPr marL="0" lvl="0" indent="0" algn="l" defTabSz="622300">
            <a:lnSpc>
              <a:spcPct val="90000"/>
            </a:lnSpc>
            <a:spcBef>
              <a:spcPct val="0"/>
            </a:spcBef>
            <a:spcAft>
              <a:spcPct val="35000"/>
            </a:spcAft>
            <a:buNone/>
          </a:pPr>
          <a:r>
            <a:rPr lang="pl-PL" sz="1400" kern="1200"/>
            <a:t>Dotyczy technologii, ponieważ zespół szybciej wykrywa problemy techniczne.</a:t>
          </a:r>
          <a:endParaRPr lang="en-US" sz="1400" kern="1200"/>
        </a:p>
      </dsp:txBody>
      <dsp:txXfrm>
        <a:off x="1076323" y="3609417"/>
        <a:ext cx="5576531" cy="960556"/>
      </dsp:txXfrm>
    </dsp:sp>
    <dsp:sp modelId="{A0943BFF-D7F7-42E1-A5C6-A09AA30DD801}">
      <dsp:nvSpPr>
        <dsp:cNvPr id="0" name=""/>
        <dsp:cNvSpPr/>
      </dsp:nvSpPr>
      <dsp:spPr>
        <a:xfrm>
          <a:off x="0" y="4810112"/>
          <a:ext cx="6669431" cy="9314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41CA6-3D2F-4B66-9FE6-B75D9D9F9317}">
      <dsp:nvSpPr>
        <dsp:cNvPr id="0" name=""/>
        <dsp:cNvSpPr/>
      </dsp:nvSpPr>
      <dsp:spPr>
        <a:xfrm>
          <a:off x="281763" y="5019688"/>
          <a:ext cx="512797" cy="512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D5F9471-EDF3-4146-92B5-1887E49C9310}">
      <dsp:nvSpPr>
        <dsp:cNvPr id="0" name=""/>
        <dsp:cNvSpPr/>
      </dsp:nvSpPr>
      <dsp:spPr>
        <a:xfrm>
          <a:off x="1076323" y="4810112"/>
          <a:ext cx="5576531" cy="96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59" tIns="101659" rIns="101659" bIns="101659" numCol="1" spcCol="1270" anchor="ctr" anchorCtr="0">
          <a:noAutofit/>
        </a:bodyPr>
        <a:lstStyle/>
        <a:p>
          <a:pPr marL="0" lvl="0" indent="0" algn="l" defTabSz="622300">
            <a:lnSpc>
              <a:spcPct val="90000"/>
            </a:lnSpc>
            <a:spcBef>
              <a:spcPct val="0"/>
            </a:spcBef>
            <a:spcAft>
              <a:spcPct val="35000"/>
            </a:spcAft>
            <a:buNone/>
          </a:pPr>
          <a:r>
            <a:rPr lang="pl-PL" sz="1400" kern="1200"/>
            <a:t>Dotyczy również modelu biznesowego, ponieważ firma wcześniej zauważa, czy klienci są gotowi płacić.</a:t>
          </a:r>
          <a:endParaRPr lang="en-US" sz="1400" kern="1200"/>
        </a:p>
      </dsp:txBody>
      <dsp:txXfrm>
        <a:off x="1076323" y="4810112"/>
        <a:ext cx="5576531" cy="96055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AE700-93FD-4F2C-A660-6BFF9A54B927}">
      <dsp:nvSpPr>
        <dsp:cNvPr id="0" name=""/>
        <dsp:cNvSpPr/>
      </dsp:nvSpPr>
      <dsp:spPr>
        <a:xfrm>
          <a:off x="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FD3942AE-0151-4F31-AFB3-8125FB56D5A9}">
      <dsp:nvSpPr>
        <dsp:cNvPr id="0" name=""/>
        <dsp:cNvSpPr/>
      </dsp:nvSpPr>
      <dsp:spPr>
        <a:xfrm>
          <a:off x="347177"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Dług techniczny to konsekwencja podejmowania szybkich decyzji technologicznych, które przyspieszają rozwój produktu w krótkim okresie, ale zwiększają koszty utrzymania systemu w przyszłości.</a:t>
          </a:r>
          <a:endParaRPr lang="en-US" sz="1300" kern="1200"/>
        </a:p>
      </dsp:txBody>
      <dsp:txXfrm>
        <a:off x="405290" y="967022"/>
        <a:ext cx="3008369" cy="1867892"/>
      </dsp:txXfrm>
    </dsp:sp>
    <dsp:sp modelId="{DFEFF015-47B8-47F0-859F-97B0B22483F0}">
      <dsp:nvSpPr>
        <dsp:cNvPr id="0" name=""/>
        <dsp:cNvSpPr/>
      </dsp:nvSpPr>
      <dsp:spPr>
        <a:xfrm>
          <a:off x="381895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8CFDF306-0143-46D7-8132-EF8696474532}">
      <dsp:nvSpPr>
        <dsp:cNvPr id="0" name=""/>
        <dsp:cNvSpPr/>
      </dsp:nvSpPr>
      <dsp:spPr>
        <a:xfrm>
          <a:off x="4166127"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Dług techniczny nie zawsze jest błędem. Czasami jest świadomą decyzją biznesową. Problem pojawia się wtedy, gdy organizacja przestaje go kontrolować i kolejne tymczasowe rozwiązania zaczynają tworzyć niestabilny system.</a:t>
          </a:r>
          <a:endParaRPr lang="en-US" sz="1300" kern="1200"/>
        </a:p>
      </dsp:txBody>
      <dsp:txXfrm>
        <a:off x="4224240" y="967022"/>
        <a:ext cx="3008369" cy="1867892"/>
      </dsp:txXfrm>
    </dsp:sp>
    <dsp:sp modelId="{B3AE1033-95D3-4ADE-8CBE-7F81C94024DE}">
      <dsp:nvSpPr>
        <dsp:cNvPr id="0" name=""/>
        <dsp:cNvSpPr/>
      </dsp:nvSpPr>
      <dsp:spPr>
        <a:xfrm>
          <a:off x="763790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2D1476EE-C5EE-49D8-A277-08BE2AEC5EA0}">
      <dsp:nvSpPr>
        <dsp:cNvPr id="0" name=""/>
        <dsp:cNvSpPr/>
      </dsp:nvSpPr>
      <dsp:spPr>
        <a:xfrm>
          <a:off x="7985078"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l-PL" sz="1300" kern="1200"/>
            <a:t>W dynamicznym środowisku startupowym technical debt powstaje szczególnie łatwo, ponieważ presja czasu często jest silniejsza niż potrzeba długoterminowej jakości. Każdy skrót technologiczny może być uzasadniony w danym momencie, ale ich suma może później spowolnić całą organizację.</a:t>
          </a:r>
          <a:endParaRPr lang="en-US" sz="1300" kern="1200"/>
        </a:p>
      </dsp:txBody>
      <dsp:txXfrm>
        <a:off x="8043191" y="967022"/>
        <a:ext cx="3008369" cy="18678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C954A-D3C6-4441-B06D-E189C49223C6}">
      <dsp:nvSpPr>
        <dsp:cNvPr id="0" name=""/>
        <dsp:cNvSpPr/>
      </dsp:nvSpPr>
      <dsp:spPr>
        <a:xfrm>
          <a:off x="0" y="1869"/>
          <a:ext cx="6669431" cy="7964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B81154-20E6-414A-8920-7BBDD5D6A4C6}">
      <dsp:nvSpPr>
        <dsp:cNvPr id="0" name=""/>
        <dsp:cNvSpPr/>
      </dsp:nvSpPr>
      <dsp:spPr>
        <a:xfrm>
          <a:off x="240926" y="181070"/>
          <a:ext cx="438047" cy="4380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7F9221-AEFA-42D4-AE5B-894239EEE125}">
      <dsp:nvSpPr>
        <dsp:cNvPr id="0" name=""/>
        <dsp:cNvSpPr/>
      </dsp:nvSpPr>
      <dsp:spPr>
        <a:xfrm>
          <a:off x="919899" y="1869"/>
          <a:ext cx="5749531" cy="796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91" tIns="84291" rIns="84291" bIns="84291" numCol="1" spcCol="1270" anchor="ctr" anchorCtr="0">
          <a:noAutofit/>
        </a:bodyPr>
        <a:lstStyle/>
        <a:p>
          <a:pPr marL="0" lvl="0" indent="0" algn="l" defTabSz="844550">
            <a:lnSpc>
              <a:spcPct val="90000"/>
            </a:lnSpc>
            <a:spcBef>
              <a:spcPct val="0"/>
            </a:spcBef>
            <a:spcAft>
              <a:spcPct val="35000"/>
            </a:spcAft>
            <a:buNone/>
          </a:pPr>
          <a:r>
            <a:rPr lang="pl-PL" sz="1900" kern="1200"/>
            <a:t>Najczęściej startup napotyka kilka trudności jednocześnie:</a:t>
          </a:r>
          <a:endParaRPr lang="en-US" sz="1900" kern="1200"/>
        </a:p>
      </dsp:txBody>
      <dsp:txXfrm>
        <a:off x="919899" y="1869"/>
        <a:ext cx="5749531" cy="796449"/>
      </dsp:txXfrm>
    </dsp:sp>
    <dsp:sp modelId="{CDE906BD-D149-42AD-ACDE-4F334ED30FBF}">
      <dsp:nvSpPr>
        <dsp:cNvPr id="0" name=""/>
        <dsp:cNvSpPr/>
      </dsp:nvSpPr>
      <dsp:spPr>
        <a:xfrm>
          <a:off x="0" y="997431"/>
          <a:ext cx="6669431" cy="7964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F5AA7F-CCCF-493B-A51B-44B2C9F2BC8A}">
      <dsp:nvSpPr>
        <dsp:cNvPr id="0" name=""/>
        <dsp:cNvSpPr/>
      </dsp:nvSpPr>
      <dsp:spPr>
        <a:xfrm>
          <a:off x="240926" y="1176632"/>
          <a:ext cx="438047" cy="4380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2854675-0F55-4BF4-A6E1-4A2B166A44AF}">
      <dsp:nvSpPr>
        <dsp:cNvPr id="0" name=""/>
        <dsp:cNvSpPr/>
      </dsp:nvSpPr>
      <dsp:spPr>
        <a:xfrm>
          <a:off x="919899" y="997431"/>
          <a:ext cx="5749531" cy="796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91" tIns="84291" rIns="84291" bIns="84291" numCol="1" spcCol="1270" anchor="ctr" anchorCtr="0">
          <a:noAutofit/>
        </a:bodyPr>
        <a:lstStyle/>
        <a:p>
          <a:pPr marL="0" lvl="0" indent="0" algn="l" defTabSz="844550">
            <a:lnSpc>
              <a:spcPct val="90000"/>
            </a:lnSpc>
            <a:spcBef>
              <a:spcPct val="0"/>
            </a:spcBef>
            <a:spcAft>
              <a:spcPct val="35000"/>
            </a:spcAft>
            <a:buNone/>
          </a:pPr>
          <a:r>
            <a:rPr lang="pl-PL" sz="1900" kern="1200"/>
            <a:t>dane są zbyt małe ilościowo, </a:t>
          </a:r>
          <a:endParaRPr lang="en-US" sz="1900" kern="1200"/>
        </a:p>
      </dsp:txBody>
      <dsp:txXfrm>
        <a:off x="919899" y="997431"/>
        <a:ext cx="5749531" cy="796449"/>
      </dsp:txXfrm>
    </dsp:sp>
    <dsp:sp modelId="{1D1E4C7E-B461-49B1-A09B-69AF181E23FF}">
      <dsp:nvSpPr>
        <dsp:cNvPr id="0" name=""/>
        <dsp:cNvSpPr/>
      </dsp:nvSpPr>
      <dsp:spPr>
        <a:xfrm>
          <a:off x="0" y="1992993"/>
          <a:ext cx="6669431" cy="7964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C7210-E266-421F-9328-6388BC4AFA7E}">
      <dsp:nvSpPr>
        <dsp:cNvPr id="0" name=""/>
        <dsp:cNvSpPr/>
      </dsp:nvSpPr>
      <dsp:spPr>
        <a:xfrm>
          <a:off x="240926" y="2172195"/>
          <a:ext cx="438047" cy="4380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14A0AD-8F1C-43AD-BE4B-239C9AF80C73}">
      <dsp:nvSpPr>
        <dsp:cNvPr id="0" name=""/>
        <dsp:cNvSpPr/>
      </dsp:nvSpPr>
      <dsp:spPr>
        <a:xfrm>
          <a:off x="919899" y="1992993"/>
          <a:ext cx="5749531" cy="796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91" tIns="84291" rIns="84291" bIns="84291" numCol="1" spcCol="1270" anchor="ctr" anchorCtr="0">
          <a:noAutofit/>
        </a:bodyPr>
        <a:lstStyle/>
        <a:p>
          <a:pPr marL="0" lvl="0" indent="0" algn="l" defTabSz="844550">
            <a:lnSpc>
              <a:spcPct val="90000"/>
            </a:lnSpc>
            <a:spcBef>
              <a:spcPct val="0"/>
            </a:spcBef>
            <a:spcAft>
              <a:spcPct val="35000"/>
            </a:spcAft>
            <a:buNone/>
          </a:pPr>
          <a:r>
            <a:rPr lang="pl-PL" sz="1900" kern="1200"/>
            <a:t>dane są niespójne, </a:t>
          </a:r>
          <a:endParaRPr lang="en-US" sz="1900" kern="1200"/>
        </a:p>
      </dsp:txBody>
      <dsp:txXfrm>
        <a:off x="919899" y="1992993"/>
        <a:ext cx="5749531" cy="796449"/>
      </dsp:txXfrm>
    </dsp:sp>
    <dsp:sp modelId="{4377B034-2D20-40E7-B8B7-13E2DCE5F2D7}">
      <dsp:nvSpPr>
        <dsp:cNvPr id="0" name=""/>
        <dsp:cNvSpPr/>
      </dsp:nvSpPr>
      <dsp:spPr>
        <a:xfrm>
          <a:off x="0" y="2988556"/>
          <a:ext cx="6669431" cy="7964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51A69A-F2FB-40EF-BD1C-1E038A7BA2EC}">
      <dsp:nvSpPr>
        <dsp:cNvPr id="0" name=""/>
        <dsp:cNvSpPr/>
      </dsp:nvSpPr>
      <dsp:spPr>
        <a:xfrm>
          <a:off x="240926" y="3167757"/>
          <a:ext cx="438047" cy="4380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612B95-E7BA-4547-B175-541B9A999E9F}">
      <dsp:nvSpPr>
        <dsp:cNvPr id="0" name=""/>
        <dsp:cNvSpPr/>
      </dsp:nvSpPr>
      <dsp:spPr>
        <a:xfrm>
          <a:off x="919899" y="2988556"/>
          <a:ext cx="5749531" cy="796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91" tIns="84291" rIns="84291" bIns="84291" numCol="1" spcCol="1270" anchor="ctr" anchorCtr="0">
          <a:noAutofit/>
        </a:bodyPr>
        <a:lstStyle/>
        <a:p>
          <a:pPr marL="0" lvl="0" indent="0" algn="l" defTabSz="844550">
            <a:lnSpc>
              <a:spcPct val="90000"/>
            </a:lnSpc>
            <a:spcBef>
              <a:spcPct val="0"/>
            </a:spcBef>
            <a:spcAft>
              <a:spcPct val="35000"/>
            </a:spcAft>
            <a:buNone/>
          </a:pPr>
          <a:r>
            <a:rPr lang="pl-PL" sz="1900" kern="1200"/>
            <a:t>dane pochodzą z wielu źródeł, </a:t>
          </a:r>
          <a:endParaRPr lang="en-US" sz="1900" kern="1200"/>
        </a:p>
      </dsp:txBody>
      <dsp:txXfrm>
        <a:off x="919899" y="2988556"/>
        <a:ext cx="5749531" cy="796449"/>
      </dsp:txXfrm>
    </dsp:sp>
    <dsp:sp modelId="{06CC1D82-4A58-4A07-A28D-980197AEE097}">
      <dsp:nvSpPr>
        <dsp:cNvPr id="0" name=""/>
        <dsp:cNvSpPr/>
      </dsp:nvSpPr>
      <dsp:spPr>
        <a:xfrm>
          <a:off x="0" y="3984118"/>
          <a:ext cx="6669431" cy="7964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FAF7E1-BFF0-4136-BB97-1E3976AB5133}">
      <dsp:nvSpPr>
        <dsp:cNvPr id="0" name=""/>
        <dsp:cNvSpPr/>
      </dsp:nvSpPr>
      <dsp:spPr>
        <a:xfrm>
          <a:off x="240926" y="4163319"/>
          <a:ext cx="438047" cy="4380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DD2C81-0C27-4BEF-8A5D-82200021E259}">
      <dsp:nvSpPr>
        <dsp:cNvPr id="0" name=""/>
        <dsp:cNvSpPr/>
      </dsp:nvSpPr>
      <dsp:spPr>
        <a:xfrm>
          <a:off x="919899" y="3984118"/>
          <a:ext cx="5749531" cy="796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91" tIns="84291" rIns="84291" bIns="84291" numCol="1" spcCol="1270" anchor="ctr" anchorCtr="0">
          <a:noAutofit/>
        </a:bodyPr>
        <a:lstStyle/>
        <a:p>
          <a:pPr marL="0" lvl="0" indent="0" algn="l" defTabSz="844550">
            <a:lnSpc>
              <a:spcPct val="90000"/>
            </a:lnSpc>
            <a:spcBef>
              <a:spcPct val="0"/>
            </a:spcBef>
            <a:spcAft>
              <a:spcPct val="35000"/>
            </a:spcAft>
            <a:buNone/>
          </a:pPr>
          <a:r>
            <a:rPr lang="pl-PL" sz="1900" kern="1200"/>
            <a:t>dane bywają kosztowne, </a:t>
          </a:r>
          <a:endParaRPr lang="en-US" sz="1900" kern="1200"/>
        </a:p>
      </dsp:txBody>
      <dsp:txXfrm>
        <a:off x="919899" y="3984118"/>
        <a:ext cx="5749531" cy="796449"/>
      </dsp:txXfrm>
    </dsp:sp>
    <dsp:sp modelId="{FBE40D40-7072-48A2-9FC5-D460CA1A2948}">
      <dsp:nvSpPr>
        <dsp:cNvPr id="0" name=""/>
        <dsp:cNvSpPr/>
      </dsp:nvSpPr>
      <dsp:spPr>
        <a:xfrm>
          <a:off x="0" y="4979680"/>
          <a:ext cx="6669431" cy="7964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A44DA2-C386-4C53-A0EF-FA682AD60446}">
      <dsp:nvSpPr>
        <dsp:cNvPr id="0" name=""/>
        <dsp:cNvSpPr/>
      </dsp:nvSpPr>
      <dsp:spPr>
        <a:xfrm>
          <a:off x="240926" y="5158882"/>
          <a:ext cx="438047" cy="4380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182173-824F-451E-9B0E-36B57969EF28}">
      <dsp:nvSpPr>
        <dsp:cNvPr id="0" name=""/>
        <dsp:cNvSpPr/>
      </dsp:nvSpPr>
      <dsp:spPr>
        <a:xfrm>
          <a:off x="919899" y="4979680"/>
          <a:ext cx="5749531" cy="796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91" tIns="84291" rIns="84291" bIns="84291" numCol="1" spcCol="1270" anchor="ctr" anchorCtr="0">
          <a:noAutofit/>
        </a:bodyPr>
        <a:lstStyle/>
        <a:p>
          <a:pPr marL="0" lvl="0" indent="0" algn="l" defTabSz="844550">
            <a:lnSpc>
              <a:spcPct val="90000"/>
            </a:lnSpc>
            <a:spcBef>
              <a:spcPct val="0"/>
            </a:spcBef>
            <a:spcAft>
              <a:spcPct val="35000"/>
            </a:spcAft>
            <a:buNone/>
          </a:pPr>
          <a:r>
            <a:rPr lang="pl-PL" sz="1900" kern="1200"/>
            <a:t>dane mogą być ograniczone prawnie.</a:t>
          </a:r>
          <a:endParaRPr lang="en-US" sz="1900" kern="1200"/>
        </a:p>
      </dsp:txBody>
      <dsp:txXfrm>
        <a:off x="919899" y="4979680"/>
        <a:ext cx="5749531" cy="79644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644854-3498-4BF2-8FB3-9B1E31168538}" type="datetimeFigureOut">
              <a:rPr lang="pl-PL" smtClean="0"/>
              <a:t>17.04.2026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232052-4E67-4172-8C42-A76CB4EB99A4}" type="slidenum">
              <a:rPr lang="pl-PL" smtClean="0"/>
              <a:t>‹#›</a:t>
            </a:fld>
            <a:endParaRPr lang="pl-PL"/>
          </a:p>
        </p:txBody>
      </p:sp>
    </p:spTree>
    <p:extLst>
      <p:ext uri="{BB962C8B-B14F-4D97-AF65-F5344CB8AC3E}">
        <p14:creationId xmlns:p14="http://schemas.microsoft.com/office/powerpoint/2010/main" val="412196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startupie:</a:t>
            </a:r>
            <a:r>
              <a:rPr lang="en-US" dirty="0"/>
              <a:t> </a:t>
            </a:r>
            <a:r>
              <a:rPr lang="pl-PL" dirty="0"/>
              <a:t>wymagania są niejasne, produkt często jeszcze nie istnieje, ryzyko porażki jest wysokie, kluczowe jest szybkie uczenie się.</a:t>
            </a:r>
            <a:endParaRPr lang="en-US" dirty="0"/>
          </a:p>
          <a:p>
            <a:endParaRPr lang="en-US" dirty="0"/>
          </a:p>
          <a:p>
            <a:r>
              <a:rPr lang="pl-PL" dirty="0"/>
              <a:t>https://blog.theprotocol.it/artykul/praca-w-startupie-czy-warto-porownanie-z-korporacja-i-srednimi-firmami</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3</a:t>
            </a:fld>
            <a:endParaRPr lang="pl-PL"/>
          </a:p>
        </p:txBody>
      </p:sp>
    </p:spTree>
    <p:extLst>
      <p:ext uri="{BB962C8B-B14F-4D97-AF65-F5344CB8AC3E}">
        <p14:creationId xmlns:p14="http://schemas.microsoft.com/office/powerpoint/2010/main" val="2262831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err="1"/>
              <a:t>QuickCharge</a:t>
            </a:r>
            <a:r>
              <a:rPr lang="pl-PL" dirty="0"/>
              <a:t> AI powstaje jako odpowiedź na problem kierowców EV:</a:t>
            </a:r>
            <a:r>
              <a:rPr lang="en-US" dirty="0"/>
              <a:t> </a:t>
            </a:r>
            <a:r>
              <a:rPr lang="pl-PL" dirty="0"/>
              <a:t>brak informacji o dostępności i cenach ładowarek w czasie rzeczywistym.</a:t>
            </a:r>
            <a:r>
              <a:rPr lang="en-US" dirty="0"/>
              <a:t> </a:t>
            </a:r>
            <a:r>
              <a:rPr lang="pl-PL" dirty="0"/>
              <a:t>Zespół nie ma pewności, czy użytkownicy będą chcieli płacić za takie rozwiązanie.</a:t>
            </a:r>
            <a:endParaRPr lang="en-US" dirty="0"/>
          </a:p>
          <a:p>
            <a:endParaRPr lang="en-US" dirty="0"/>
          </a:p>
          <a:p>
            <a:r>
              <a:rPr lang="pl-PL" dirty="0"/>
              <a:t>https://blog.theprotocol.it/artykul/praca-w-startupie-czy-warto-porownanie-z-korporacja-i-srednimi-firmami</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4</a:t>
            </a:fld>
            <a:endParaRPr lang="pl-PL"/>
          </a:p>
        </p:txBody>
      </p:sp>
    </p:spTree>
    <p:extLst>
      <p:ext uri="{BB962C8B-B14F-4D97-AF65-F5344CB8AC3E}">
        <p14:creationId xmlns:p14="http://schemas.microsoft.com/office/powerpoint/2010/main" val="1047677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Lean Startup zakłada, że większość naszych początkowych założeń będzie błędna, więc trzeba je szybko weryfikować</a:t>
            </a:r>
            <a:endParaRPr lang="en-US" dirty="0"/>
          </a:p>
          <a:p>
            <a:endParaRPr lang="en-US" dirty="0"/>
          </a:p>
          <a:p>
            <a:r>
              <a:rPr lang="pl-PL" dirty="0"/>
              <a:t>Zespół </a:t>
            </a:r>
            <a:r>
              <a:rPr lang="pl-PL" dirty="0" err="1"/>
              <a:t>QuickCharge</a:t>
            </a:r>
            <a:r>
              <a:rPr lang="pl-PL" dirty="0"/>
              <a:t> AI nie buduje od razu pełnej aplikacji.</a:t>
            </a:r>
            <a:r>
              <a:rPr lang="en-US" dirty="0"/>
              <a:t> </a:t>
            </a:r>
            <a:r>
              <a:rPr lang="pl-PL" dirty="0"/>
              <a:t>Najpierw tworzy prostą wersję umożliwiającą sprawdzenie, czy użytkownicy chcą planować ładowanie samochodu.</a:t>
            </a:r>
            <a:endParaRPr lang="en-US" dirty="0"/>
          </a:p>
          <a:p>
            <a:endParaRPr lang="en-US" dirty="0"/>
          </a:p>
          <a:p>
            <a:r>
              <a:rPr lang="pl-PL" dirty="0"/>
              <a:t>https://mfiles.pl/pl/index.php/Lean_Startup</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5</a:t>
            </a:fld>
            <a:endParaRPr lang="pl-PL"/>
          </a:p>
        </p:txBody>
      </p:sp>
    </p:spTree>
    <p:extLst>
      <p:ext uri="{BB962C8B-B14F-4D97-AF65-F5344CB8AC3E}">
        <p14:creationId xmlns:p14="http://schemas.microsoft.com/office/powerpoint/2010/main" val="1952700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Startup nie zaczyna od pewności. Zaczyna od hipotez, które mogą się okazać błędne</a:t>
            </a:r>
            <a:endParaRPr lang="en-US" dirty="0"/>
          </a:p>
          <a:p>
            <a:endParaRPr lang="en-US" dirty="0"/>
          </a:p>
          <a:p>
            <a:r>
              <a:rPr lang="pl-PL" dirty="0"/>
              <a:t>Hipotezy testuje się poprzez:</a:t>
            </a:r>
          </a:p>
          <a:p>
            <a:r>
              <a:rPr lang="pl-PL" dirty="0"/>
              <a:t>MVP (minimalny produkt), </a:t>
            </a:r>
          </a:p>
          <a:p>
            <a:r>
              <a:rPr lang="pl-PL" dirty="0" err="1"/>
              <a:t>landing</a:t>
            </a:r>
            <a:r>
              <a:rPr lang="pl-PL" dirty="0"/>
              <a:t> </a:t>
            </a:r>
            <a:r>
              <a:rPr lang="pl-PL" dirty="0" err="1"/>
              <a:t>page</a:t>
            </a:r>
            <a:r>
              <a:rPr lang="pl-PL" dirty="0"/>
              <a:t>, </a:t>
            </a:r>
          </a:p>
          <a:p>
            <a:r>
              <a:rPr lang="pl-PL" dirty="0"/>
              <a:t>testy A/B, </a:t>
            </a:r>
          </a:p>
          <a:p>
            <a:r>
              <a:rPr lang="pl-PL" dirty="0"/>
              <a:t>wywiady z użytkownikami, </a:t>
            </a:r>
          </a:p>
          <a:p>
            <a:r>
              <a:rPr lang="pl-PL" dirty="0"/>
              <a:t>analizę </a:t>
            </a:r>
            <a:r>
              <a:rPr lang="pl-PL" dirty="0" err="1"/>
              <a:t>zachowań</a:t>
            </a:r>
            <a:r>
              <a:rPr lang="pl-PL" dirty="0"/>
              <a:t>.</a:t>
            </a:r>
          </a:p>
          <a:p>
            <a:endParaRPr lang="pl-PL" dirty="0"/>
          </a:p>
        </p:txBody>
      </p:sp>
      <p:sp>
        <p:nvSpPr>
          <p:cNvPr id="4" name="Symbol zastępczy numeru slajdu 3"/>
          <p:cNvSpPr>
            <a:spLocks noGrp="1"/>
          </p:cNvSpPr>
          <p:nvPr>
            <p:ph type="sldNum" sz="quarter" idx="5"/>
          </p:nvPr>
        </p:nvSpPr>
        <p:spPr/>
        <p:txBody>
          <a:bodyPr/>
          <a:lstStyle/>
          <a:p>
            <a:fld id="{38232052-4E67-4172-8C42-A76CB4EB99A4}" type="slidenum">
              <a:rPr lang="pl-PL" smtClean="0"/>
              <a:t>6</a:t>
            </a:fld>
            <a:endParaRPr lang="pl-PL"/>
          </a:p>
        </p:txBody>
      </p:sp>
    </p:spTree>
    <p:extLst>
      <p:ext uri="{BB962C8B-B14F-4D97-AF65-F5344CB8AC3E}">
        <p14:creationId xmlns:p14="http://schemas.microsoft.com/office/powerpoint/2010/main" val="934508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err="1"/>
              <a:t>Czyli</a:t>
            </a:r>
            <a:r>
              <a:rPr lang="en-US" dirty="0"/>
              <a:t> z</a:t>
            </a:r>
            <a:r>
              <a:rPr lang="pl-PL" dirty="0"/>
              <a:t>anim powstanie produkt, sprawdzamy, czy ktoś w ogóle go chce</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7</a:t>
            </a:fld>
            <a:endParaRPr lang="pl-PL"/>
          </a:p>
        </p:txBody>
      </p:sp>
    </p:spTree>
    <p:extLst>
      <p:ext uri="{BB962C8B-B14F-4D97-AF65-F5344CB8AC3E}">
        <p14:creationId xmlns:p14="http://schemas.microsoft.com/office/powerpoint/2010/main" val="3448905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przeciwieństwie do korporacji, niepewność jest tutaj stanem naturalnym.</a:t>
            </a:r>
            <a:endParaRPr lang="en-US" dirty="0"/>
          </a:p>
          <a:p>
            <a:endParaRPr lang="en-US" dirty="0"/>
          </a:p>
          <a:p>
            <a:r>
              <a:rPr lang="pl-PL" dirty="0"/>
              <a:t>https://productvision.pl/2014/metoda-lean-startup/</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8</a:t>
            </a:fld>
            <a:endParaRPr lang="pl-PL"/>
          </a:p>
        </p:txBody>
      </p:sp>
    </p:spTree>
    <p:extLst>
      <p:ext uri="{BB962C8B-B14F-4D97-AF65-F5344CB8AC3E}">
        <p14:creationId xmlns:p14="http://schemas.microsoft.com/office/powerpoint/2010/main" val="2916703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Przykładowo</a:t>
            </a:r>
            <a:r>
              <a:rPr lang="en-US" dirty="0"/>
              <a:t> w </a:t>
            </a:r>
            <a:r>
              <a:rPr lang="en-US" dirty="0" err="1"/>
              <a:t>analizowanej</a:t>
            </a:r>
            <a:r>
              <a:rPr lang="en-US" dirty="0"/>
              <a:t> </a:t>
            </a:r>
            <a:r>
              <a:rPr lang="en-US" dirty="0" err="1"/>
              <a:t>firmie</a:t>
            </a:r>
            <a:r>
              <a:rPr lang="en-US" dirty="0"/>
              <a:t> z</a:t>
            </a:r>
            <a:r>
              <a:rPr lang="pl-PL" dirty="0" err="1"/>
              <a:t>espół</a:t>
            </a:r>
            <a:r>
              <a:rPr lang="pl-PL" dirty="0"/>
              <a:t> świadomie ogranicza funkcje produktu, aby szybciej testować rynek i zmniejszyć ryzyko finansowe.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https://productvision.pl/2014/metoda-lean-startup/</a:t>
            </a:r>
          </a:p>
          <a:p>
            <a:endParaRPr lang="pl-PL" dirty="0"/>
          </a:p>
        </p:txBody>
      </p:sp>
      <p:sp>
        <p:nvSpPr>
          <p:cNvPr id="4" name="Symbol zastępczy numeru slajdu 3"/>
          <p:cNvSpPr>
            <a:spLocks noGrp="1"/>
          </p:cNvSpPr>
          <p:nvPr>
            <p:ph type="sldNum" sz="quarter" idx="5"/>
          </p:nvPr>
        </p:nvSpPr>
        <p:spPr/>
        <p:txBody>
          <a:bodyPr/>
          <a:lstStyle/>
          <a:p>
            <a:fld id="{38232052-4E67-4172-8C42-A76CB4EB99A4}" type="slidenum">
              <a:rPr lang="pl-PL" smtClean="0"/>
              <a:t>9</a:t>
            </a:fld>
            <a:endParaRPr lang="pl-PL"/>
          </a:p>
        </p:txBody>
      </p:sp>
    </p:spTree>
    <p:extLst>
      <p:ext uri="{BB962C8B-B14F-4D97-AF65-F5344CB8AC3E}">
        <p14:creationId xmlns:p14="http://schemas.microsoft.com/office/powerpoint/2010/main" val="3214041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W </a:t>
            </a:r>
            <a:r>
              <a:rPr lang="en-US" dirty="0" err="1"/>
              <a:t>QuickCharge</a:t>
            </a:r>
            <a:r>
              <a:rPr lang="en-US" dirty="0"/>
              <a:t> AI z</a:t>
            </a:r>
            <a:r>
              <a:rPr lang="pl-PL" dirty="0" err="1"/>
              <a:t>espół</a:t>
            </a:r>
            <a:r>
              <a:rPr lang="pl-PL" dirty="0"/>
              <a:t> składa się z:</a:t>
            </a:r>
          </a:p>
          <a:p>
            <a:r>
              <a:rPr lang="pl-PL" dirty="0"/>
              <a:t>1 programisty </a:t>
            </a:r>
            <a:r>
              <a:rPr lang="pl-PL" dirty="0" err="1"/>
              <a:t>full-stack</a:t>
            </a:r>
            <a:r>
              <a:rPr lang="pl-PL" dirty="0"/>
              <a:t>, </a:t>
            </a:r>
          </a:p>
          <a:p>
            <a:r>
              <a:rPr lang="pl-PL" dirty="0"/>
              <a:t>1 UX designera, </a:t>
            </a:r>
          </a:p>
          <a:p>
            <a:r>
              <a:rPr lang="pl-PL" dirty="0"/>
              <a:t>1 osoby od biznesu i marketingu. </a:t>
            </a:r>
          </a:p>
          <a:p>
            <a:r>
              <a:rPr lang="pl-PL" dirty="0"/>
              <a:t>Każdy członek ma szeroki zakres obowiązków.</a:t>
            </a:r>
          </a:p>
          <a:p>
            <a:endParaRPr lang="en-US" dirty="0"/>
          </a:p>
          <a:p>
            <a:endParaRPr lang="en-US" dirty="0"/>
          </a:p>
          <a:p>
            <a:r>
              <a:rPr lang="pl-PL" dirty="0"/>
              <a:t>https://startupacademy.pl/dobrac-nowe-osoby-startupu/</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10</a:t>
            </a:fld>
            <a:endParaRPr lang="pl-PL"/>
          </a:p>
        </p:txBody>
      </p:sp>
    </p:spTree>
    <p:extLst>
      <p:ext uri="{BB962C8B-B14F-4D97-AF65-F5344CB8AC3E}">
        <p14:creationId xmlns:p14="http://schemas.microsoft.com/office/powerpoint/2010/main" val="764227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przypadku </a:t>
            </a:r>
            <a:r>
              <a:rPr lang="pl-PL" dirty="0" err="1"/>
              <a:t>QuickCharge</a:t>
            </a:r>
            <a:r>
              <a:rPr lang="pl-PL" dirty="0"/>
              <a:t> AI pierwszym źródłem finansowania są środki własne założycieli, które pozwalają stworzyć minimalną wersję produktu i przeprowadzić pierwsze testy rynkowe. Kolejnym etapem jest finansowanie typu </a:t>
            </a:r>
            <a:r>
              <a:rPr lang="en-US" dirty="0"/>
              <a:t>“</a:t>
            </a:r>
            <a:r>
              <a:rPr lang="pl-PL" dirty="0"/>
              <a:t>aniołowie biznesu</a:t>
            </a:r>
            <a:r>
              <a:rPr lang="en-US" dirty="0"/>
              <a:t>”</a:t>
            </a:r>
            <a:r>
              <a:rPr lang="pl-PL" dirty="0"/>
              <a:t>, czyli inwestorzy prywatni, którzy wspierają startupy we wczesnej fazie rozwoju w zamian za udziały w firmie.</a:t>
            </a:r>
            <a:r>
              <a:rPr lang="en-US" dirty="0"/>
              <a:t> </a:t>
            </a:r>
            <a:r>
              <a:rPr lang="pl-PL" dirty="0"/>
              <a:t>W dalszych etapach pojawiają się fundusze venture </a:t>
            </a:r>
            <a:r>
              <a:rPr lang="pl-PL" dirty="0" err="1"/>
              <a:t>capital</a:t>
            </a:r>
            <a:r>
              <a:rPr lang="pl-PL" dirty="0"/>
              <a:t>, które inwestują większe kwoty, ale oczekują szybkiego wzrostu wartości firmy</a:t>
            </a:r>
            <a:endParaRPr lang="en-US" dirty="0"/>
          </a:p>
          <a:p>
            <a:endParaRPr lang="en-US" dirty="0"/>
          </a:p>
          <a:p>
            <a:r>
              <a:rPr lang="pl-PL" dirty="0"/>
              <a:t>https://bfmalinowski.pl/blog/zrodla-finansowania-startupow-1/</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11</a:t>
            </a:fld>
            <a:endParaRPr lang="pl-PL"/>
          </a:p>
        </p:txBody>
      </p:sp>
    </p:spTree>
    <p:extLst>
      <p:ext uri="{BB962C8B-B14F-4D97-AF65-F5344CB8AC3E}">
        <p14:creationId xmlns:p14="http://schemas.microsoft.com/office/powerpoint/2010/main" val="4097410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643CE-DA8C-37A2-05EA-6108CE36CC83}"/>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EB8C6A7C-D492-C665-B8E3-8A3DF86CF4A7}"/>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9DF99A69-EDA8-9053-8F4F-7A53D45516D3}"/>
              </a:ext>
            </a:extLst>
          </p:cNvPr>
          <p:cNvSpPr>
            <a:spLocks noGrp="1"/>
          </p:cNvSpPr>
          <p:nvPr>
            <p:ph type="body" idx="1"/>
          </p:nvPr>
        </p:nvSpPr>
        <p:spPr/>
        <p:txBody>
          <a:bodyPr/>
          <a:lstStyle/>
          <a:p>
            <a:r>
              <a:rPr lang="pl-PL" dirty="0"/>
              <a:t>https://bfmalinowski.pl/blog/zrodla-finansowania-startupow-1/</a:t>
            </a:r>
          </a:p>
        </p:txBody>
      </p:sp>
      <p:sp>
        <p:nvSpPr>
          <p:cNvPr id="4" name="Symbol zastępczy numeru slajdu 3">
            <a:extLst>
              <a:ext uri="{FF2B5EF4-FFF2-40B4-BE49-F238E27FC236}">
                <a16:creationId xmlns:a16="http://schemas.microsoft.com/office/drawing/2014/main" id="{3D8B7DB7-87C9-EB44-93A5-35051FC34E02}"/>
              </a:ext>
            </a:extLst>
          </p:cNvPr>
          <p:cNvSpPr>
            <a:spLocks noGrp="1"/>
          </p:cNvSpPr>
          <p:nvPr>
            <p:ph type="sldNum" sz="quarter" idx="5"/>
          </p:nvPr>
        </p:nvSpPr>
        <p:spPr/>
        <p:txBody>
          <a:bodyPr/>
          <a:lstStyle/>
          <a:p>
            <a:fld id="{38232052-4E67-4172-8C42-A76CB4EB99A4}" type="slidenum">
              <a:rPr lang="pl-PL" smtClean="0"/>
              <a:t>12</a:t>
            </a:fld>
            <a:endParaRPr lang="pl-PL"/>
          </a:p>
        </p:txBody>
      </p:sp>
    </p:spTree>
    <p:extLst>
      <p:ext uri="{BB962C8B-B14F-4D97-AF65-F5344CB8AC3E}">
        <p14:creationId xmlns:p14="http://schemas.microsoft.com/office/powerpoint/2010/main" val="2272074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początkowo zakładano, że użytkownicy będą zainteresowani planowaniem tras ładowania w czasie rzeczywistym. Po pierwszych testach okazało się jednak, że większą wartością dla klientów jest prognozowanie kosztów ładowania w różnych lokalizacjach, dlatego firma zmienia kierunek produktu.</a:t>
            </a:r>
            <a:endParaRPr lang="en-US" dirty="0"/>
          </a:p>
          <a:p>
            <a:endParaRPr lang="en-US" dirty="0"/>
          </a:p>
          <a:p>
            <a:r>
              <a:rPr lang="pl-PL" dirty="0"/>
              <a:t>https://innovaops.pl/pivot-czyli-jak-zwinnie-zarzadzac-firma/</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13</a:t>
            </a:fld>
            <a:endParaRPr lang="pl-PL"/>
          </a:p>
        </p:txBody>
      </p:sp>
    </p:spTree>
    <p:extLst>
      <p:ext uri="{BB962C8B-B14F-4D97-AF65-F5344CB8AC3E}">
        <p14:creationId xmlns:p14="http://schemas.microsoft.com/office/powerpoint/2010/main" val="3261928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err="1"/>
              <a:t>Pivot</a:t>
            </a:r>
            <a:r>
              <a:rPr lang="pl-PL" dirty="0"/>
              <a:t> wpływa bezpośrednio na zespół, ponieważ często wymaga zmiany priorytetów, a czasem także ról i kompetencji. Może prowadzić do reorganizacji pracy, zmiany </a:t>
            </a:r>
            <a:r>
              <a:rPr lang="pl-PL" dirty="0" err="1"/>
              <a:t>backlogu</a:t>
            </a:r>
            <a:r>
              <a:rPr lang="pl-PL" dirty="0"/>
              <a:t> produktowego oraz redefinicji celów projektowych. W niektórych przypadkach </a:t>
            </a:r>
            <a:r>
              <a:rPr lang="pl-PL" dirty="0" err="1"/>
              <a:t>pivot</a:t>
            </a:r>
            <a:r>
              <a:rPr lang="pl-PL" dirty="0"/>
              <a:t> wiąże się również z koniecznością zatrudnienia nowych osób lub rezygnacji z części wcześniej planowanych funkcji.</a:t>
            </a:r>
            <a:endParaRPr lang="en-US" dirty="0"/>
          </a:p>
          <a:p>
            <a:r>
              <a:rPr lang="pl-PL" dirty="0"/>
              <a:t>Z perspektywy projektu </a:t>
            </a:r>
            <a:r>
              <a:rPr lang="pl-PL" dirty="0" err="1"/>
              <a:t>pivot</a:t>
            </a:r>
            <a:r>
              <a:rPr lang="pl-PL" dirty="0"/>
              <a:t> oznacza, że wcześniejsza praca nie jest całkowicie tracona, ale staje się bazą wiedzy, która pozwala lepiej zrozumieć rynek i użytkowników.</a:t>
            </a:r>
            <a:endParaRPr lang="en-US" dirty="0"/>
          </a:p>
          <a:p>
            <a:endParaRPr lang="en-US" dirty="0"/>
          </a:p>
          <a:p>
            <a:r>
              <a:rPr lang="pl-PL" dirty="0"/>
              <a:t>https://innovaops.pl/pivot-czyli-jak-zwinnie-zarzadzac-firma/</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14</a:t>
            </a:fld>
            <a:endParaRPr lang="pl-PL"/>
          </a:p>
        </p:txBody>
      </p:sp>
    </p:spTree>
    <p:extLst>
      <p:ext uri="{BB962C8B-B14F-4D97-AF65-F5344CB8AC3E}">
        <p14:creationId xmlns:p14="http://schemas.microsoft.com/office/powerpoint/2010/main" val="3813483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przypadku </a:t>
            </a:r>
            <a:r>
              <a:rPr lang="pl-PL" dirty="0" err="1"/>
              <a:t>QuickCharge</a:t>
            </a:r>
            <a:r>
              <a:rPr lang="pl-PL" dirty="0"/>
              <a:t> AI </a:t>
            </a:r>
            <a:r>
              <a:rPr lang="pl-PL" dirty="0" err="1"/>
              <a:t>traction</a:t>
            </a:r>
            <a:r>
              <a:rPr lang="pl-PL" dirty="0"/>
              <a:t> może być mierzona poprzez liczbę aktywnych użytkowników aplikacji, częstotliwość korzystania z funkcji planowania ładowania, liczbę zapisów do wersji testowej oraz poziom konwersji z użytkowników darmowych na płatnych.</a:t>
            </a:r>
            <a:endParaRPr lang="en-US" dirty="0"/>
          </a:p>
          <a:p>
            <a:endParaRPr lang="en-US" dirty="0"/>
          </a:p>
          <a:p>
            <a:r>
              <a:rPr lang="pl-PL" dirty="0"/>
              <a:t>https://www.growthmentor.com/glossary/startup-traction/</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15</a:t>
            </a:fld>
            <a:endParaRPr lang="pl-PL"/>
          </a:p>
        </p:txBody>
      </p:sp>
    </p:spTree>
    <p:extLst>
      <p:ext uri="{BB962C8B-B14F-4D97-AF65-F5344CB8AC3E}">
        <p14:creationId xmlns:p14="http://schemas.microsoft.com/office/powerpoint/2010/main" val="609930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przypadku </a:t>
            </a:r>
            <a:r>
              <a:rPr lang="pl-PL" dirty="0" err="1"/>
              <a:t>QuickCharge</a:t>
            </a:r>
            <a:r>
              <a:rPr lang="pl-PL" dirty="0"/>
              <a:t> AI skalowanie oznacza zwiększanie liczby użytkowników, rozwijanie infrastruktury technicznej oraz rozszerzanie zespołu sprzedażowego i marketingowego. Firma zaczyna inwestować w automatyzację procesów, optymalizację systemów oraz rozwój nowych funkcji, które zwiększają wartość dla klientów.</a:t>
            </a:r>
            <a:endParaRPr lang="en-US" dirty="0"/>
          </a:p>
          <a:p>
            <a:endParaRPr lang="en-US" dirty="0"/>
          </a:p>
          <a:p>
            <a:r>
              <a:rPr lang="pl-PL" dirty="0"/>
              <a:t>https://blog.founderspath.pl/post/skalowanie-biznesu-pierwsze-kroki</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16</a:t>
            </a:fld>
            <a:endParaRPr lang="pl-PL"/>
          </a:p>
        </p:txBody>
      </p:sp>
    </p:spTree>
    <p:extLst>
      <p:ext uri="{BB962C8B-B14F-4D97-AF65-F5344CB8AC3E}">
        <p14:creationId xmlns:p14="http://schemas.microsoft.com/office/powerpoint/2010/main" val="73237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przypadku </a:t>
            </a:r>
            <a:r>
              <a:rPr lang="pl-PL" dirty="0" err="1"/>
              <a:t>QuickCharge</a:t>
            </a:r>
            <a:r>
              <a:rPr lang="pl-PL" dirty="0"/>
              <a:t> AI początkowo zastosowano podejście </a:t>
            </a:r>
            <a:r>
              <a:rPr lang="pl-PL" dirty="0" err="1"/>
              <a:t>product-first</a:t>
            </a:r>
            <a:r>
              <a:rPr lang="pl-PL" dirty="0"/>
              <a:t>, ponieważ najważniejsze było sprawdzenie, czy użytkownicy w ogóle potrzebują aplikacji. Dopiero później, gdy liczba użytkowników wzrosła, zaczęto rozwijać modele predykcyjne optymalizujące koszty i dostępność ładowania.</a:t>
            </a:r>
          </a:p>
          <a:p>
            <a:r>
              <a:rPr lang="pl-PL" dirty="0"/>
              <a:t>W praktyce oba podejścia często się przenikają, ponieważ rozwój produktu ML wymaga zarówno dobrej jakości modeli, jak i odpowiedniego dopasowania do potrzeb użytkowników.</a:t>
            </a:r>
          </a:p>
          <a:p>
            <a:endParaRPr lang="en-US" dirty="0"/>
          </a:p>
          <a:p>
            <a:r>
              <a:rPr lang="pl-PL" dirty="0"/>
              <a:t>https://datalife360.substack.com/p/mlops-basics-3-what-is-a-product</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17</a:t>
            </a:fld>
            <a:endParaRPr lang="pl-PL"/>
          </a:p>
        </p:txBody>
      </p:sp>
    </p:spTree>
    <p:extLst>
      <p:ext uri="{BB962C8B-B14F-4D97-AF65-F5344CB8AC3E}">
        <p14:creationId xmlns:p14="http://schemas.microsoft.com/office/powerpoint/2010/main" val="3412573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dirty="0" err="1"/>
              <a:t>QuickCharge</a:t>
            </a:r>
            <a:r>
              <a:rPr lang="pl-PL" dirty="0"/>
              <a:t> AI zespół już po kilku tygodniach zauważył, że szczegółowe planowanie miesięczne nie ma większego sensu, ponieważ potrzeby użytkowników zmieniały się praktycznie z tygodnia na tydzień. Każde nowe testy rynkowe przynosiły informacje, które zmuszały do zmiany priorytetów. W takich warunkach sztywne procedury zaczęłyby spowalniać decyzje, zamiast je wspierać.</a:t>
            </a:r>
            <a:endParaRPr lang="en-US" dirty="0"/>
          </a:p>
          <a:p>
            <a:endParaRPr lang="en-US" dirty="0"/>
          </a:p>
          <a:p>
            <a:r>
              <a:rPr lang="pl-PL" dirty="0"/>
              <a:t>https://yourcx.io/pl/blog/2025/07/badania-ad-hoc-w-e-commerce-przewodnik/</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18</a:t>
            </a:fld>
            <a:endParaRPr lang="pl-PL"/>
          </a:p>
        </p:txBody>
      </p:sp>
    </p:spTree>
    <p:extLst>
      <p:ext uri="{BB962C8B-B14F-4D97-AF65-F5344CB8AC3E}">
        <p14:creationId xmlns:p14="http://schemas.microsoft.com/office/powerpoint/2010/main" val="2185445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https://yourcx.io/pl/blog/2025/07/badania-ad-hoc-w-e-commerce-przewodnik/</a:t>
            </a:r>
          </a:p>
          <a:p>
            <a:endParaRPr lang="pl-PL" dirty="0"/>
          </a:p>
        </p:txBody>
      </p:sp>
      <p:sp>
        <p:nvSpPr>
          <p:cNvPr id="4" name="Symbol zastępczy numeru slajdu 3"/>
          <p:cNvSpPr>
            <a:spLocks noGrp="1"/>
          </p:cNvSpPr>
          <p:nvPr>
            <p:ph type="sldNum" sz="quarter" idx="5"/>
          </p:nvPr>
        </p:nvSpPr>
        <p:spPr/>
        <p:txBody>
          <a:bodyPr/>
          <a:lstStyle/>
          <a:p>
            <a:fld id="{38232052-4E67-4172-8C42-A76CB4EB99A4}" type="slidenum">
              <a:rPr lang="pl-PL" smtClean="0"/>
              <a:t>19</a:t>
            </a:fld>
            <a:endParaRPr lang="pl-PL"/>
          </a:p>
        </p:txBody>
      </p:sp>
    </p:spTree>
    <p:extLst>
      <p:ext uri="{BB962C8B-B14F-4D97-AF65-F5344CB8AC3E}">
        <p14:creationId xmlns:p14="http://schemas.microsoft.com/office/powerpoint/2010/main" val="424760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W małych zespołach AI engineering wymaga połączenia wiedzy technicznej, analitycznej i biznesowej, co znacząco zwiększa wymagania wobec członków zespołu.</a:t>
            </a:r>
            <a:endParaRPr lang="en-US" dirty="0"/>
          </a:p>
          <a:p>
            <a:endParaRPr lang="en-US" dirty="0"/>
          </a:p>
          <a:p>
            <a:r>
              <a:rPr lang="pl-PL" dirty="0" err="1"/>
              <a:t>QuickCharge</a:t>
            </a:r>
            <a:r>
              <a:rPr lang="pl-PL" dirty="0"/>
              <a:t> AI, rozwijając mechanizmy przewidywania cen ładowania, musiał jednocześnie zbierać dane z rynku, trenować modele predykcyjne i integrować wyniki z aplikacją mobilną. Problem polegał na tym, że w małym zespole te zadania często wykonują te same osoby.</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20</a:t>
            </a:fld>
            <a:endParaRPr lang="pl-PL"/>
          </a:p>
        </p:txBody>
      </p:sp>
    </p:spTree>
    <p:extLst>
      <p:ext uri="{BB962C8B-B14F-4D97-AF65-F5344CB8AC3E}">
        <p14:creationId xmlns:p14="http://schemas.microsoft.com/office/powerpoint/2010/main" val="3532100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zespół planował stworzenie algorytmu przewidującego obciążenie stacji ładowania, ale nie było pewne, czy dostępne dane okażą się wystarczająco dobre. To oznaczało, że część budżetu musiała zostać potraktowana jako inwestycja w odkrywanie, a nie w realizację znanych zadań.</a:t>
            </a:r>
            <a:endParaRPr lang="en-US" dirty="0"/>
          </a:p>
          <a:p>
            <a:r>
              <a:rPr lang="pl-PL" dirty="0"/>
              <a:t>W takich sytuacjach startup stosuje budżet eksperymentalny. Polega on na przeznaczeniu określonej części środków na działania, których rezultat nie jest pewny. Zamiast finansować konkretny wynik, finansuje się proces uczenia.</a:t>
            </a:r>
          </a:p>
          <a:p>
            <a:r>
              <a:rPr lang="pl-PL" dirty="0"/>
              <a:t>Bardzo ważne jest również etapowe finansowanie. Zespół nie wydaje całego budżetu od razu, ale dzieli go na krótkie cykle decyzyjne. Po każdym etapie analizuje się wyniki i decyduje, czy projekt powinien być kontynuowany, zmieniony lub zatrzymany.</a:t>
            </a:r>
            <a:endParaRPr lang="en-US" dirty="0"/>
          </a:p>
          <a:p>
            <a:endParaRPr lang="en-US" dirty="0"/>
          </a:p>
          <a:p>
            <a:r>
              <a:rPr lang="pl-PL" dirty="0"/>
              <a:t>https://productvision.pl/2014/metoda-lean-startup/</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21</a:t>
            </a:fld>
            <a:endParaRPr lang="pl-PL"/>
          </a:p>
        </p:txBody>
      </p:sp>
    </p:spTree>
    <p:extLst>
      <p:ext uri="{BB962C8B-B14F-4D97-AF65-F5344CB8AC3E}">
        <p14:creationId xmlns:p14="http://schemas.microsoft.com/office/powerpoint/2010/main" val="2021169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każda nowa funkcja była udostępniana małej grupie użytkowników jeszcze przed pełnym wdrożeniem. Dzięki temu zespół niemal natychmiast widział, które rozwiązania są wartościowe, a które nie przynoszą oczekiwanego efektu.</a:t>
            </a:r>
            <a:endParaRPr lang="en-US" dirty="0"/>
          </a:p>
          <a:p>
            <a:endParaRPr lang="en-US" dirty="0"/>
          </a:p>
          <a:p>
            <a:r>
              <a:rPr lang="pl-PL" dirty="0"/>
              <a:t>https://karolbocian.pl/blog/2020/03/20/metoda-kanban-petle-informacji-zwrotnej-czyli-feedback-loops/</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22</a:t>
            </a:fld>
            <a:endParaRPr lang="pl-PL"/>
          </a:p>
        </p:txBody>
      </p:sp>
    </p:spTree>
    <p:extLst>
      <p:ext uri="{BB962C8B-B14F-4D97-AF65-F5344CB8AC3E}">
        <p14:creationId xmlns:p14="http://schemas.microsoft.com/office/powerpoint/2010/main" val="2424694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pierwsza wersja systemu została zbudowana bardzo szybko, aby zdążyć przed prezentacją dla inwestorów. Programiści świadomie pomijali część testów automatycznych i tworzyli uproszczoną architekturę systemu. Dzięki temu startup zyskał czas, ale jednocześnie powstały rozwiązania, które później utrudniały dalszy rozwój</a:t>
            </a:r>
            <a:endParaRPr lang="en-US" dirty="0"/>
          </a:p>
          <a:p>
            <a:endParaRPr lang="en-US" dirty="0"/>
          </a:p>
          <a:p>
            <a:r>
              <a:rPr lang="pl-PL" dirty="0"/>
              <a:t>https://www.atlassian.com/pl/agile/software-development/technical-debt</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23</a:t>
            </a:fld>
            <a:endParaRPr lang="pl-PL"/>
          </a:p>
        </p:txBody>
      </p:sp>
    </p:spTree>
    <p:extLst>
      <p:ext uri="{BB962C8B-B14F-4D97-AF65-F5344CB8AC3E}">
        <p14:creationId xmlns:p14="http://schemas.microsoft.com/office/powerpoint/2010/main" val="24693415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err="1"/>
              <a:t>Intencjonalny</a:t>
            </a:r>
            <a:r>
              <a:rPr lang="en-US" dirty="0"/>
              <a:t> I </a:t>
            </a:r>
            <a:r>
              <a:rPr lang="en-US" dirty="0" err="1"/>
              <a:t>nieintencjonalny</a:t>
            </a:r>
            <a:endParaRPr lang="en-US" dirty="0"/>
          </a:p>
          <a:p>
            <a:endParaRPr lang="en-US" dirty="0"/>
          </a:p>
          <a:p>
            <a:r>
              <a:rPr lang="pl-PL" dirty="0"/>
              <a:t>https://www.edvantis.com/blog/technical-debt/</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24</a:t>
            </a:fld>
            <a:endParaRPr lang="pl-PL"/>
          </a:p>
        </p:txBody>
      </p:sp>
    </p:spTree>
    <p:extLst>
      <p:ext uri="{BB962C8B-B14F-4D97-AF65-F5344CB8AC3E}">
        <p14:creationId xmlns:p14="http://schemas.microsoft.com/office/powerpoint/2010/main" val="3161925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przypadku </a:t>
            </a:r>
            <a:r>
              <a:rPr lang="pl-PL" dirty="0" err="1"/>
              <a:t>QuickCharge</a:t>
            </a:r>
            <a:r>
              <a:rPr lang="pl-PL" dirty="0"/>
              <a:t> AI problem polegał na tym, że firma chciała przewidywać obciążenie stacji ładowania, ale nie posiadała wystarczająco dużej historii </a:t>
            </a:r>
            <a:r>
              <a:rPr lang="pl-PL" dirty="0" err="1"/>
              <a:t>zachowań</a:t>
            </a:r>
            <a:r>
              <a:rPr lang="pl-PL" dirty="0"/>
              <a:t> użytkowników. Oznaczało to konieczność budowania produktu przy jednoczesnym zbieraniu danych potrzebnych do jego ulepszania.</a:t>
            </a:r>
            <a:endParaRPr lang="en-US" dirty="0"/>
          </a:p>
          <a:p>
            <a:endParaRPr lang="en-US" dirty="0"/>
          </a:p>
          <a:p>
            <a:r>
              <a:rPr lang="pl-PL" dirty="0"/>
              <a:t>https://pl.shaip.com/blog/the-only-guide-on-ai-training-data-you-will-need-in/</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25</a:t>
            </a:fld>
            <a:endParaRPr lang="pl-PL"/>
          </a:p>
        </p:txBody>
      </p:sp>
    </p:spTree>
    <p:extLst>
      <p:ext uri="{BB962C8B-B14F-4D97-AF65-F5344CB8AC3E}">
        <p14:creationId xmlns:p14="http://schemas.microsoft.com/office/powerpoint/2010/main" val="42110891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praktyce startup musi zdecydować, czy dane będzie zbierał samodzielnie, kupował od partnerów, czy budował system pozwalający użytkownikom generować dane podczas korzystania z produktu. Każda z tych decyzji wpływa zarówno na koszty, jak i tempo rozwoju firmy.</a:t>
            </a:r>
          </a:p>
          <a:p>
            <a:r>
              <a:rPr lang="pl-PL" dirty="0"/>
              <a:t>Największym problemem jest to, że jakość modelu zależy od jakości danych, a startup zwykle ma najmniej danych właśnie wtedy, gdy najbardziej ich potrzebuje.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https://pl.shaip.com/blog/the-only-guide-on-ai-training-data-you-will-need-in/</a:t>
            </a:r>
          </a:p>
          <a:p>
            <a:endParaRPr lang="pl-PL" dirty="0"/>
          </a:p>
        </p:txBody>
      </p:sp>
      <p:sp>
        <p:nvSpPr>
          <p:cNvPr id="4" name="Symbol zastępczy numeru slajdu 3"/>
          <p:cNvSpPr>
            <a:spLocks noGrp="1"/>
          </p:cNvSpPr>
          <p:nvPr>
            <p:ph type="sldNum" sz="quarter" idx="5"/>
          </p:nvPr>
        </p:nvSpPr>
        <p:spPr/>
        <p:txBody>
          <a:bodyPr/>
          <a:lstStyle/>
          <a:p>
            <a:fld id="{38232052-4E67-4172-8C42-A76CB4EB99A4}" type="slidenum">
              <a:rPr lang="pl-PL" smtClean="0"/>
              <a:t>26</a:t>
            </a:fld>
            <a:endParaRPr lang="pl-PL"/>
          </a:p>
        </p:txBody>
      </p:sp>
    </p:spTree>
    <p:extLst>
      <p:ext uri="{BB962C8B-B14F-4D97-AF65-F5344CB8AC3E}">
        <p14:creationId xmlns:p14="http://schemas.microsoft.com/office/powerpoint/2010/main" val="38701186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nowy model przewidywania kosztów ładowania został wdrożony w tle obok starego mechanizmu. Użytkownicy nadal widzieli dotychczasowe wyniki, natomiast zespół porównywał, jak zachowywałby się nowy algorytm.</a:t>
            </a:r>
            <a:endParaRPr lang="en-US" dirty="0"/>
          </a:p>
          <a:p>
            <a:endParaRPr lang="en-US" dirty="0"/>
          </a:p>
          <a:p>
            <a:r>
              <a:rPr lang="pl-PL" dirty="0"/>
              <a:t>Dzięki </a:t>
            </a:r>
            <a:r>
              <a:rPr lang="pl-PL" dirty="0" err="1"/>
              <a:t>shadow</a:t>
            </a:r>
            <a:r>
              <a:rPr lang="pl-PL" dirty="0"/>
              <a:t> </a:t>
            </a:r>
            <a:r>
              <a:rPr lang="pl-PL" dirty="0" err="1"/>
              <a:t>deployment</a:t>
            </a:r>
            <a:r>
              <a:rPr lang="pl-PL" dirty="0"/>
              <a:t> firma może testować hipotezy produktowe bez narażania reputacji marki. Jeżeli nowy model działa słabo, użytkownik nie zauważa problemu. Jeżeli działa lepiej, można bezpiecznie przygotować jego pełne wdrożenie.</a:t>
            </a:r>
            <a:r>
              <a:rPr lang="en-US" dirty="0"/>
              <a:t> </a:t>
            </a:r>
            <a:r>
              <a:rPr lang="pl-PL" dirty="0"/>
              <a:t>W środowisku </a:t>
            </a:r>
            <a:r>
              <a:rPr lang="pl-PL" dirty="0" err="1"/>
              <a:t>startupowym</a:t>
            </a:r>
            <a:r>
              <a:rPr lang="pl-PL" dirty="0"/>
              <a:t> jest to szczególnie ważne, ponieważ jedna błędna decyzja może osłabić zaufanie klientów do bardzo młodego produktu.</a:t>
            </a:r>
          </a:p>
          <a:p>
            <a:endParaRPr lang="en-US" dirty="0"/>
          </a:p>
          <a:p>
            <a:r>
              <a:rPr lang="pl-PL" dirty="0"/>
              <a:t>https://blog.gopenai.com/taking-center-stage-unveiling-the-power-of-shadow-deployments-bedf5eda771b</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27</a:t>
            </a:fld>
            <a:endParaRPr lang="pl-PL"/>
          </a:p>
        </p:txBody>
      </p:sp>
    </p:spTree>
    <p:extLst>
      <p:ext uri="{BB962C8B-B14F-4D97-AF65-F5344CB8AC3E}">
        <p14:creationId xmlns:p14="http://schemas.microsoft.com/office/powerpoint/2010/main" val="468264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zanim powstała pełna aplikacja mobilna, zespół przygotował prosty interaktywny prototyp pokazujący użytkownikowi proponowaną trasę ładowania. Dzięki temu można było sprawdzić reakcję klientów jeszcze przed napisaniem docelowego systemu.</a:t>
            </a:r>
            <a:endParaRPr lang="en-US" dirty="0"/>
          </a:p>
          <a:p>
            <a:endParaRPr lang="en-US" dirty="0"/>
          </a:p>
          <a:p>
            <a:r>
              <a:rPr lang="pl-PL" dirty="0"/>
              <a:t>https://mfiles.pl/pl/index.php/Prototypowanie_i_modelowanie</a:t>
            </a:r>
          </a:p>
        </p:txBody>
      </p:sp>
      <p:sp>
        <p:nvSpPr>
          <p:cNvPr id="4" name="Symbol zastępczy numeru slajdu 3"/>
          <p:cNvSpPr>
            <a:spLocks noGrp="1"/>
          </p:cNvSpPr>
          <p:nvPr>
            <p:ph type="sldNum" sz="quarter" idx="5"/>
          </p:nvPr>
        </p:nvSpPr>
        <p:spPr/>
        <p:txBody>
          <a:bodyPr/>
          <a:lstStyle/>
          <a:p>
            <a:fld id="{38232052-4E67-4172-8C42-A76CB4EB99A4}" type="slidenum">
              <a:rPr lang="pl-PL" smtClean="0"/>
              <a:t>28</a:t>
            </a:fld>
            <a:endParaRPr lang="pl-PL"/>
          </a:p>
        </p:txBody>
      </p:sp>
    </p:spTree>
    <p:extLst>
      <p:ext uri="{BB962C8B-B14F-4D97-AF65-F5344CB8AC3E}">
        <p14:creationId xmlns:p14="http://schemas.microsoft.com/office/powerpoint/2010/main" val="35228523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Zespół, który potrafi szybko budować prototypy, uczy się szybciej niż konkurencja i może podejmować lepsze decyzje przy mniejszych kosztach</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https://mfiles.pl/pl/index.php/Prototypowanie_i_modelowanie</a:t>
            </a:r>
          </a:p>
          <a:p>
            <a:endParaRPr lang="pl-PL" dirty="0"/>
          </a:p>
        </p:txBody>
      </p:sp>
      <p:sp>
        <p:nvSpPr>
          <p:cNvPr id="4" name="Symbol zastępczy numeru slajdu 3"/>
          <p:cNvSpPr>
            <a:spLocks noGrp="1"/>
          </p:cNvSpPr>
          <p:nvPr>
            <p:ph type="sldNum" sz="quarter" idx="5"/>
          </p:nvPr>
        </p:nvSpPr>
        <p:spPr/>
        <p:txBody>
          <a:bodyPr/>
          <a:lstStyle/>
          <a:p>
            <a:fld id="{38232052-4E67-4172-8C42-A76CB4EB99A4}" type="slidenum">
              <a:rPr lang="pl-PL" smtClean="0"/>
              <a:t>29</a:t>
            </a:fld>
            <a:endParaRPr lang="pl-PL"/>
          </a:p>
        </p:txBody>
      </p:sp>
    </p:spTree>
    <p:extLst>
      <p:ext uri="{BB962C8B-B14F-4D97-AF65-F5344CB8AC3E}">
        <p14:creationId xmlns:p14="http://schemas.microsoft.com/office/powerpoint/2010/main" val="26332840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QuickCharge</a:t>
            </a:r>
            <a:r>
              <a:rPr lang="pl-PL" dirty="0"/>
              <a:t> AI taki zespół składa się z kilku współpracujących ról</a:t>
            </a:r>
            <a:r>
              <a:rPr lang="en-US" dirty="0"/>
              <a:t>:</a:t>
            </a:r>
            <a:endParaRPr lang="pl-PL" dirty="0"/>
          </a:p>
          <a:p>
            <a:r>
              <a:rPr lang="en-US" dirty="0"/>
              <a:t>- </a:t>
            </a:r>
            <a:r>
              <a:rPr lang="pl-PL" dirty="0"/>
              <a:t>Product Manager odpowiada za zrozumienie potrzeb rynku oraz ustalanie priorytetów rozwoju produktu</a:t>
            </a:r>
            <a:br>
              <a:rPr lang="pl-PL" dirty="0"/>
            </a:br>
            <a:r>
              <a:rPr lang="en-US" dirty="0"/>
              <a:t>- </a:t>
            </a:r>
            <a:r>
              <a:rPr lang="pl-PL" dirty="0"/>
              <a:t>Machine Learning </a:t>
            </a:r>
            <a:r>
              <a:rPr lang="pl-PL" dirty="0" err="1"/>
              <a:t>Engineer</a:t>
            </a:r>
            <a:r>
              <a:rPr lang="pl-PL" dirty="0"/>
              <a:t> odpowiada za budowę i wdrażanie modeli predykcyjnych</a:t>
            </a:r>
            <a:br>
              <a:rPr lang="pl-PL" dirty="0"/>
            </a:br>
            <a:r>
              <a:rPr lang="en-US" dirty="0"/>
              <a:t>- </a:t>
            </a:r>
            <a:r>
              <a:rPr lang="pl-PL" dirty="0"/>
              <a:t>Software </a:t>
            </a:r>
            <a:r>
              <a:rPr lang="pl-PL" dirty="0" err="1"/>
              <a:t>Engineer</a:t>
            </a:r>
            <a:r>
              <a:rPr lang="pl-PL" dirty="0"/>
              <a:t> odpowiada za integrację modeli z aplikacją oraz stabilność systemu</a:t>
            </a:r>
            <a:br>
              <a:rPr lang="pl-PL" dirty="0"/>
            </a:br>
            <a:r>
              <a:rPr lang="en-US" dirty="0"/>
              <a:t>- </a:t>
            </a:r>
            <a:r>
              <a:rPr lang="pl-PL" dirty="0"/>
              <a:t>UX Designer odpowiada za doświadczenie użytkownika i prostotę interfejsu</a:t>
            </a:r>
            <a:br>
              <a:rPr lang="pl-PL" dirty="0"/>
            </a:br>
            <a:r>
              <a:rPr lang="en-US" dirty="0"/>
              <a:t>- </a:t>
            </a:r>
            <a:r>
              <a:rPr lang="pl-PL" dirty="0"/>
              <a:t>Data </a:t>
            </a:r>
            <a:r>
              <a:rPr lang="pl-PL" dirty="0" err="1"/>
              <a:t>Engineer</a:t>
            </a:r>
            <a:r>
              <a:rPr lang="pl-PL" dirty="0"/>
              <a:t> odpowiada za pozyskiwanie oraz przygotowanie danych</a:t>
            </a:r>
            <a:endParaRPr lang="en-US" dirty="0"/>
          </a:p>
          <a:p>
            <a:r>
              <a:rPr lang="pl-PL" dirty="0"/>
              <a:t>Najważniejsze w takim modelu jest to, że odpowiedzialność za rezultat nie jest podzielona pomiędzy działy, lecz skupiona w jednym zespole. Dzięki temu decyzje mogą być podejmowane szybciej, a wiedza nie jest rozproszona po organizacji.</a:t>
            </a:r>
          </a:p>
          <a:p>
            <a:endParaRPr lang="pl-PL" dirty="0"/>
          </a:p>
        </p:txBody>
      </p:sp>
      <p:sp>
        <p:nvSpPr>
          <p:cNvPr id="4" name="Symbol zastępczy numeru slajdu 3"/>
          <p:cNvSpPr>
            <a:spLocks noGrp="1"/>
          </p:cNvSpPr>
          <p:nvPr>
            <p:ph type="sldNum" sz="quarter" idx="5"/>
          </p:nvPr>
        </p:nvSpPr>
        <p:spPr/>
        <p:txBody>
          <a:bodyPr/>
          <a:lstStyle/>
          <a:p>
            <a:fld id="{38232052-4E67-4172-8C42-A76CB4EB99A4}" type="slidenum">
              <a:rPr lang="pl-PL" smtClean="0"/>
              <a:t>30</a:t>
            </a:fld>
            <a:endParaRPr lang="pl-PL"/>
          </a:p>
        </p:txBody>
      </p:sp>
    </p:spTree>
    <p:extLst>
      <p:ext uri="{BB962C8B-B14F-4D97-AF65-F5344CB8AC3E}">
        <p14:creationId xmlns:p14="http://schemas.microsoft.com/office/powerpoint/2010/main" val="2949200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861089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948245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579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516431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755807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113435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504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854369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645163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281417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4/17/2026</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37608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4/17/2026</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78343632"/>
      </p:ext>
    </p:extLst>
  </p:cSld>
  <p:clrMap bg1="dk1" tx1="lt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F07E344-2BA2-87A0-3C71-961F8290688C}"/>
              </a:ext>
            </a:extLst>
          </p:cNvPr>
          <p:cNvSpPr>
            <a:spLocks noGrp="1"/>
          </p:cNvSpPr>
          <p:nvPr>
            <p:ph type="ctrTitle"/>
          </p:nvPr>
        </p:nvSpPr>
        <p:spPr>
          <a:xfrm>
            <a:off x="1079510" y="4602162"/>
            <a:ext cx="4457690" cy="1720850"/>
          </a:xfrm>
        </p:spPr>
        <p:txBody>
          <a:bodyPr anchor="ctr">
            <a:normAutofit/>
          </a:bodyPr>
          <a:lstStyle/>
          <a:p>
            <a:pPr>
              <a:lnSpc>
                <a:spcPct val="90000"/>
              </a:lnSpc>
            </a:pPr>
            <a:r>
              <a:rPr lang="pl-PL" sz="2400" dirty="0"/>
              <a:t>METODYKI </a:t>
            </a:r>
            <a:br>
              <a:rPr lang="en-US" sz="2400" dirty="0"/>
            </a:br>
            <a:r>
              <a:rPr lang="pl-PL" sz="2400" dirty="0"/>
              <a:t>W REALIZACJI PROJEKTÓW </a:t>
            </a:r>
            <a:br>
              <a:rPr lang="en-US" sz="2400" dirty="0"/>
            </a:br>
            <a:r>
              <a:rPr lang="pl-PL" sz="2400" dirty="0"/>
              <a:t>W ŚRODOWISKU STARTUPOWYM</a:t>
            </a:r>
          </a:p>
        </p:txBody>
      </p:sp>
      <p:sp>
        <p:nvSpPr>
          <p:cNvPr id="3" name="Podtytuł 2">
            <a:extLst>
              <a:ext uri="{FF2B5EF4-FFF2-40B4-BE49-F238E27FC236}">
                <a16:creationId xmlns:a16="http://schemas.microsoft.com/office/drawing/2014/main" id="{6CB11102-E04D-CF59-4C04-9BFC31F25D49}"/>
              </a:ext>
            </a:extLst>
          </p:cNvPr>
          <p:cNvSpPr>
            <a:spLocks noGrp="1"/>
          </p:cNvSpPr>
          <p:nvPr>
            <p:ph type="subTitle" idx="1"/>
          </p:nvPr>
        </p:nvSpPr>
        <p:spPr>
          <a:xfrm>
            <a:off x="6654801" y="4602163"/>
            <a:ext cx="4451347" cy="1720850"/>
          </a:xfrm>
        </p:spPr>
        <p:txBody>
          <a:bodyPr anchor="ctr">
            <a:normAutofit/>
          </a:bodyPr>
          <a:lstStyle/>
          <a:p>
            <a:r>
              <a:rPr lang="en-US" i="0" dirty="0" err="1"/>
              <a:t>Prezentacja</a:t>
            </a:r>
            <a:r>
              <a:rPr lang="en-US" i="0" dirty="0"/>
              <a:t> XIII </a:t>
            </a:r>
          </a:p>
          <a:p>
            <a:r>
              <a:rPr lang="en-US" i="0" dirty="0"/>
              <a:t>Filip Hałys</a:t>
            </a:r>
          </a:p>
          <a:p>
            <a:r>
              <a:rPr lang="en-US" i="0" dirty="0" err="1"/>
              <a:t>Geoinformatyka</a:t>
            </a:r>
            <a:r>
              <a:rPr lang="en-US" i="0" dirty="0"/>
              <a:t> V </a:t>
            </a:r>
            <a:r>
              <a:rPr lang="en-US" i="0" dirty="0" err="1"/>
              <a:t>rok</a:t>
            </a:r>
            <a:endParaRPr lang="pl-PL" i="0" dirty="0"/>
          </a:p>
        </p:txBody>
      </p:sp>
      <p:pic>
        <p:nvPicPr>
          <p:cNvPr id="4" name="Picture 3">
            <a:extLst>
              <a:ext uri="{FF2B5EF4-FFF2-40B4-BE49-F238E27FC236}">
                <a16:creationId xmlns:a16="http://schemas.microsoft.com/office/drawing/2014/main" id="{A906D369-1D9C-66E7-639F-7D5B04FA6B41}"/>
              </a:ext>
            </a:extLst>
          </p:cNvPr>
          <p:cNvPicPr>
            <a:picLocks noChangeAspect="1"/>
          </p:cNvPicPr>
          <p:nvPr/>
        </p:nvPicPr>
        <p:blipFill>
          <a:blip r:embed="rId2"/>
          <a:srcRect t="25776" b="24891"/>
          <a:stretch>
            <a:fillRect/>
          </a:stretch>
        </p:blipFill>
        <p:spPr>
          <a:xfrm>
            <a:off x="20" y="10"/>
            <a:ext cx="12191977" cy="4014777"/>
          </a:xfrm>
          <a:prstGeom prst="rect">
            <a:avLst/>
          </a:prstGeom>
        </p:spPr>
      </p:pic>
      <p:cxnSp>
        <p:nvCxnSpPr>
          <p:cNvPr id="11"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33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ADD72DC-CC5F-44D6-97D3-79407D4FF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1058433"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B083E179-CF1F-4694-AEAB-6931C9B31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a:off x="388193"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E6257A7-D071-42C9-8560-75A6EAE27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854399" y="71786"/>
            <a:ext cx="2287608" cy="3673900"/>
            <a:chOff x="-6080955" y="3437416"/>
            <a:chExt cx="2287608" cy="3673900"/>
          </a:xfrm>
        </p:grpSpPr>
        <p:cxnSp>
          <p:nvCxnSpPr>
            <p:cNvPr id="15" name="Straight Connector 14">
              <a:extLst>
                <a:ext uri="{FF2B5EF4-FFF2-40B4-BE49-F238E27FC236}">
                  <a16:creationId xmlns:a16="http://schemas.microsoft.com/office/drawing/2014/main" id="{52115B20-516B-48FE-ABF8-0300640B54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572F2AC0-C134-4522-9F34-10107EC52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0EA2E5B3-77CC-4AA0-A77A-5D95FCDD5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005C810-6BE0-4E85-BA3D-785C45D9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D4ECB930-9F06-48DB-86D3-75A7E6A2C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C9116707-08B8-43A2-8DCB-845D77ABA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Freeform: Shape 20">
              <a:extLst>
                <a:ext uri="{FF2B5EF4-FFF2-40B4-BE49-F238E27FC236}">
                  <a16:creationId xmlns:a16="http://schemas.microsoft.com/office/drawing/2014/main" id="{2E7DC9CC-81EB-48D8-AC44-C99F4774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eeform: Shape 21">
              <a:extLst>
                <a:ext uri="{FF2B5EF4-FFF2-40B4-BE49-F238E27FC236}">
                  <a16:creationId xmlns:a16="http://schemas.microsoft.com/office/drawing/2014/main" id="{23E2C41B-8946-4545-9CF1-997818234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4" name="Freeform: Shape 23">
            <a:extLst>
              <a:ext uri="{FF2B5EF4-FFF2-40B4-BE49-F238E27FC236}">
                <a16:creationId xmlns:a16="http://schemas.microsoft.com/office/drawing/2014/main" id="{8AD7D35B-560E-435E-B0FD-0F84A2E6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V="1">
            <a:off x="8942212"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nvGrpSpPr>
          <p:cNvPr id="26" name="Group 25">
            <a:extLst>
              <a:ext uri="{FF2B5EF4-FFF2-40B4-BE49-F238E27FC236}">
                <a16:creationId xmlns:a16="http://schemas.microsoft.com/office/drawing/2014/main" id="{AC46C823-4AEE-4D15-A7B7-556599F864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521489" y="5639014"/>
            <a:ext cx="865742" cy="628383"/>
            <a:chOff x="558167" y="958515"/>
            <a:chExt cx="865742" cy="628383"/>
          </a:xfrm>
          <a:solidFill>
            <a:schemeClr val="accent3"/>
          </a:solidFill>
        </p:grpSpPr>
        <p:sp>
          <p:nvSpPr>
            <p:cNvPr id="27" name="Freeform: Shape 26">
              <a:extLst>
                <a:ext uri="{FF2B5EF4-FFF2-40B4-BE49-F238E27FC236}">
                  <a16:creationId xmlns:a16="http://schemas.microsoft.com/office/drawing/2014/main" id="{7FE368E1-8B21-487B-879D-A96309199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58A31684-3F27-4828-8633-A1624B02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0" name="Group 29">
            <a:extLst>
              <a:ext uri="{FF2B5EF4-FFF2-40B4-BE49-F238E27FC236}">
                <a16:creationId xmlns:a16="http://schemas.microsoft.com/office/drawing/2014/main" id="{766CF5CA-BCE0-446B-990C-62FB772AB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486523" y="3291143"/>
            <a:ext cx="1785983" cy="2208479"/>
            <a:chOff x="2725201" y="4453039"/>
            <a:chExt cx="1785983" cy="2208479"/>
          </a:xfrm>
        </p:grpSpPr>
        <p:cxnSp>
          <p:nvCxnSpPr>
            <p:cNvPr id="31" name="Straight Connector 30">
              <a:extLst>
                <a:ext uri="{FF2B5EF4-FFF2-40B4-BE49-F238E27FC236}">
                  <a16:creationId xmlns:a16="http://schemas.microsoft.com/office/drawing/2014/main" id="{791F38DD-D787-4EE5-931B-C8CC2ED92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4E1D11-C91E-45F4-9A4A-EC0243DE76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3D0A83C-B0AD-4E04-B3FE-48D739F6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34" name="Rectangle 30">
              <a:extLst>
                <a:ext uri="{FF2B5EF4-FFF2-40B4-BE49-F238E27FC236}">
                  <a16:creationId xmlns:a16="http://schemas.microsoft.com/office/drawing/2014/main" id="{AF60A4C7-053A-4E00-9224-C9C9CAA54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0">
              <a:extLst>
                <a:ext uri="{FF2B5EF4-FFF2-40B4-BE49-F238E27FC236}">
                  <a16:creationId xmlns:a16="http://schemas.microsoft.com/office/drawing/2014/main" id="{C90A005E-7D6C-4543-AE86-10F5BA1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C174C2C-9AC5-4D2F-B12B-8AD9BE8773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flipV="1">
            <a:off x="473803" y="5280732"/>
            <a:ext cx="864005" cy="1032464"/>
            <a:chOff x="2207971" y="2384401"/>
            <a:chExt cx="864005" cy="1032464"/>
          </a:xfrm>
        </p:grpSpPr>
        <p:sp>
          <p:nvSpPr>
            <p:cNvPr id="38" name="Freeform: Shape 37">
              <a:extLst>
                <a:ext uri="{FF2B5EF4-FFF2-40B4-BE49-F238E27FC236}">
                  <a16:creationId xmlns:a16="http://schemas.microsoft.com/office/drawing/2014/main" id="{F2A1D572-4E75-4B18-83CD-369937018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Freeform: Shape 38">
              <a:extLst>
                <a:ext uri="{FF2B5EF4-FFF2-40B4-BE49-F238E27FC236}">
                  <a16:creationId xmlns:a16="http://schemas.microsoft.com/office/drawing/2014/main" id="{A4501448-AAB4-4BDF-81E5-BF4BEF2A4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0" name="Group 39">
              <a:extLst>
                <a:ext uri="{FF2B5EF4-FFF2-40B4-BE49-F238E27FC236}">
                  <a16:creationId xmlns:a16="http://schemas.microsoft.com/office/drawing/2014/main" id="{DA5CA3F8-7E28-4253-9221-2849B189136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41" name="Straight Connector 40">
                <a:extLst>
                  <a:ext uri="{FF2B5EF4-FFF2-40B4-BE49-F238E27FC236}">
                    <a16:creationId xmlns:a16="http://schemas.microsoft.com/office/drawing/2014/main" id="{ABAD8F42-57F4-4A12-8B47-E199EA174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F509FE-DD9E-4AB3-94EE-468C868875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43">
            <a:extLst>
              <a:ext uri="{FF2B5EF4-FFF2-40B4-BE49-F238E27FC236}">
                <a16:creationId xmlns:a16="http://schemas.microsoft.com/office/drawing/2014/main" id="{A7F45189-997F-4E6B-800E-D17FF116E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114077"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BC214B40-3523-42BE-856A-2B90472652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9049994" y="71786"/>
            <a:ext cx="2287608" cy="3673900"/>
            <a:chOff x="-6080955" y="3437416"/>
            <a:chExt cx="2287608" cy="3673900"/>
          </a:xfrm>
        </p:grpSpPr>
        <p:cxnSp>
          <p:nvCxnSpPr>
            <p:cNvPr id="47" name="Straight Connector 46">
              <a:extLst>
                <a:ext uri="{FF2B5EF4-FFF2-40B4-BE49-F238E27FC236}">
                  <a16:creationId xmlns:a16="http://schemas.microsoft.com/office/drawing/2014/main" id="{5626B876-FE3F-403F-B675-FB9415E00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Freeform: Shape 47">
              <a:extLst>
                <a:ext uri="{FF2B5EF4-FFF2-40B4-BE49-F238E27FC236}">
                  <a16:creationId xmlns:a16="http://schemas.microsoft.com/office/drawing/2014/main" id="{03F8DDE7-4258-4181-9F2B-940B587EE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eeform: Shape 48">
              <a:extLst>
                <a:ext uri="{FF2B5EF4-FFF2-40B4-BE49-F238E27FC236}">
                  <a16:creationId xmlns:a16="http://schemas.microsoft.com/office/drawing/2014/main" id="{4EED88FA-E654-453B-92BF-21196E32B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7F3C238A-5CF1-4927-B70F-C99112299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Freeform: Shape 50">
              <a:extLst>
                <a:ext uri="{FF2B5EF4-FFF2-40B4-BE49-F238E27FC236}">
                  <a16:creationId xmlns:a16="http://schemas.microsoft.com/office/drawing/2014/main" id="{42EAC2EE-4C33-44A6-A62B-6130E320A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Freeform: Shape 51">
              <a:extLst>
                <a:ext uri="{FF2B5EF4-FFF2-40B4-BE49-F238E27FC236}">
                  <a16:creationId xmlns:a16="http://schemas.microsoft.com/office/drawing/2014/main" id="{0F2EC395-DF39-4C41-A452-37AF723EA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Freeform: Shape 52">
              <a:extLst>
                <a:ext uri="{FF2B5EF4-FFF2-40B4-BE49-F238E27FC236}">
                  <a16:creationId xmlns:a16="http://schemas.microsoft.com/office/drawing/2014/main" id="{2425D947-0068-4059-B9BE-93A3B27CD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Freeform: Shape 53">
              <a:extLst>
                <a:ext uri="{FF2B5EF4-FFF2-40B4-BE49-F238E27FC236}">
                  <a16:creationId xmlns:a16="http://schemas.microsoft.com/office/drawing/2014/main" id="{80F2FE05-A04C-4860-B709-2FCBEAE8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ytuł 1">
            <a:extLst>
              <a:ext uri="{FF2B5EF4-FFF2-40B4-BE49-F238E27FC236}">
                <a16:creationId xmlns:a16="http://schemas.microsoft.com/office/drawing/2014/main" id="{DDCE63BD-C6D1-45D8-D520-E947ECB2E4B6}"/>
              </a:ext>
            </a:extLst>
          </p:cNvPr>
          <p:cNvSpPr>
            <a:spLocks noGrp="1"/>
          </p:cNvSpPr>
          <p:nvPr>
            <p:ph type="title"/>
          </p:nvPr>
        </p:nvSpPr>
        <p:spPr>
          <a:xfrm>
            <a:off x="3882610" y="1011237"/>
            <a:ext cx="4426782" cy="860400"/>
          </a:xfrm>
        </p:spPr>
        <p:txBody>
          <a:bodyPr anchor="b">
            <a:normAutofit/>
          </a:bodyPr>
          <a:lstStyle/>
          <a:p>
            <a:pPr algn="ctr"/>
            <a:r>
              <a:rPr lang="pl-PL" b="1" dirty="0" err="1"/>
              <a:t>QuickCharge</a:t>
            </a:r>
            <a:r>
              <a:rPr lang="pl-PL" b="1" dirty="0"/>
              <a:t> AI</a:t>
            </a:r>
            <a:endParaRPr lang="pl-PL"/>
          </a:p>
        </p:txBody>
      </p:sp>
      <p:cxnSp>
        <p:nvCxnSpPr>
          <p:cNvPr id="56" name="Straight Connector 55">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D628D3B5-DF93-85D6-DBC6-A7EACA472486}"/>
              </a:ext>
            </a:extLst>
          </p:cNvPr>
          <p:cNvSpPr>
            <a:spLocks noGrp="1"/>
          </p:cNvSpPr>
          <p:nvPr>
            <p:ph idx="1"/>
          </p:nvPr>
        </p:nvSpPr>
        <p:spPr>
          <a:xfrm>
            <a:off x="3863976" y="2759076"/>
            <a:ext cx="4460874" cy="3009899"/>
          </a:xfrm>
        </p:spPr>
        <p:txBody>
          <a:bodyPr>
            <a:normAutofit/>
          </a:bodyPr>
          <a:lstStyle/>
          <a:p>
            <a:pPr marL="0" indent="0">
              <a:buNone/>
            </a:pPr>
            <a:r>
              <a:rPr lang="pl-PL" b="1" dirty="0" err="1"/>
              <a:t>QuickCharge</a:t>
            </a:r>
            <a:r>
              <a:rPr lang="pl-PL" b="1" dirty="0"/>
              <a:t> AI</a:t>
            </a:r>
            <a:r>
              <a:rPr lang="pl-PL" dirty="0"/>
              <a:t> </a:t>
            </a:r>
            <a:r>
              <a:rPr lang="en-US" dirty="0"/>
              <a:t>–</a:t>
            </a:r>
            <a:r>
              <a:rPr lang="pl-PL" dirty="0"/>
              <a:t> startup tworzący aplikację do inteligentnego planowania ładowania samochodów elektrycznych (optymalizacja kosztów i dostępności ładowarek).</a:t>
            </a:r>
          </a:p>
        </p:txBody>
      </p:sp>
      <p:grpSp>
        <p:nvGrpSpPr>
          <p:cNvPr id="58" name="Group 57">
            <a:extLst>
              <a:ext uri="{FF2B5EF4-FFF2-40B4-BE49-F238E27FC236}">
                <a16:creationId xmlns:a16="http://schemas.microsoft.com/office/drawing/2014/main" id="{69D14CB3-B46C-4D52-91C7-9020767C0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10901022" y="5639014"/>
            <a:ext cx="865742" cy="628383"/>
            <a:chOff x="558167" y="958515"/>
            <a:chExt cx="865742" cy="628383"/>
          </a:xfrm>
          <a:solidFill>
            <a:schemeClr val="accent3"/>
          </a:solidFill>
        </p:grpSpPr>
        <p:sp>
          <p:nvSpPr>
            <p:cNvPr id="59" name="Freeform: Shape 58">
              <a:extLst>
                <a:ext uri="{FF2B5EF4-FFF2-40B4-BE49-F238E27FC236}">
                  <a16:creationId xmlns:a16="http://schemas.microsoft.com/office/drawing/2014/main" id="{3A77D7F4-D3A2-4801-9AC3-6626FDE15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reeform: Shape 59">
              <a:extLst>
                <a:ext uri="{FF2B5EF4-FFF2-40B4-BE49-F238E27FC236}">
                  <a16:creationId xmlns:a16="http://schemas.microsoft.com/office/drawing/2014/main" id="{1E62BACE-7CE7-442A-BFFB-8BC57C446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2" name="Group 61">
            <a:extLst>
              <a:ext uri="{FF2B5EF4-FFF2-40B4-BE49-F238E27FC236}">
                <a16:creationId xmlns:a16="http://schemas.microsoft.com/office/drawing/2014/main" id="{695E1464-F8FF-467B-BC7A-2DB63FD734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9919495" y="3291143"/>
            <a:ext cx="1785983" cy="2208479"/>
            <a:chOff x="2725201" y="4453039"/>
            <a:chExt cx="1785983" cy="2208479"/>
          </a:xfrm>
        </p:grpSpPr>
        <p:cxnSp>
          <p:nvCxnSpPr>
            <p:cNvPr id="63" name="Straight Connector 62">
              <a:extLst>
                <a:ext uri="{FF2B5EF4-FFF2-40B4-BE49-F238E27FC236}">
                  <a16:creationId xmlns:a16="http://schemas.microsoft.com/office/drawing/2014/main" id="{1D9EF77E-636A-4F91-8AC6-2926F2512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9F8CE5-DA1D-4DAF-A044-400C40169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Shape 64">
              <a:extLst>
                <a:ext uri="{FF2B5EF4-FFF2-40B4-BE49-F238E27FC236}">
                  <a16:creationId xmlns:a16="http://schemas.microsoft.com/office/drawing/2014/main" id="{9C47A2FE-4826-4485-B3C0-56DF9A73A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66" name="Rectangle 30">
              <a:extLst>
                <a:ext uri="{FF2B5EF4-FFF2-40B4-BE49-F238E27FC236}">
                  <a16:creationId xmlns:a16="http://schemas.microsoft.com/office/drawing/2014/main" id="{A9D0A0EF-4934-4E46-A33A-95E5D932D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EA389321-1892-4D9B-9F10-CA83BC15F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D9F93B70-A436-473C-A7CE-540999A596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V="1">
            <a:off x="10854193" y="5280732"/>
            <a:ext cx="864005" cy="1032464"/>
            <a:chOff x="2207971" y="2384401"/>
            <a:chExt cx="864005" cy="1032464"/>
          </a:xfrm>
        </p:grpSpPr>
        <p:sp>
          <p:nvSpPr>
            <p:cNvPr id="70" name="Freeform: Shape 69">
              <a:extLst>
                <a:ext uri="{FF2B5EF4-FFF2-40B4-BE49-F238E27FC236}">
                  <a16:creationId xmlns:a16="http://schemas.microsoft.com/office/drawing/2014/main" id="{C78ABD64-1B50-4D55-BC1F-146CC4D6E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Shape 70">
              <a:extLst>
                <a:ext uri="{FF2B5EF4-FFF2-40B4-BE49-F238E27FC236}">
                  <a16:creationId xmlns:a16="http://schemas.microsoft.com/office/drawing/2014/main" id="{57FC7EAA-9D36-4047-8A25-796E944D1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2" name="Group 71">
              <a:extLst>
                <a:ext uri="{FF2B5EF4-FFF2-40B4-BE49-F238E27FC236}">
                  <a16:creationId xmlns:a16="http://schemas.microsoft.com/office/drawing/2014/main" id="{0C72E6B1-2CDE-4B76-BB57-54923A35BC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73" name="Straight Connector 72">
                <a:extLst>
                  <a:ext uri="{FF2B5EF4-FFF2-40B4-BE49-F238E27FC236}">
                    <a16:creationId xmlns:a16="http://schemas.microsoft.com/office/drawing/2014/main" id="{0A618DA4-FD3B-435B-9077-6643BD6C93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579CD8F-9756-4DC0-A735-0CA77A873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78942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9741D92-9879-FD6C-4A17-EB02A89A8A18}"/>
              </a:ext>
            </a:extLst>
          </p:cNvPr>
          <p:cNvSpPr>
            <a:spLocks noGrp="1"/>
          </p:cNvSpPr>
          <p:nvPr>
            <p:ph type="title"/>
          </p:nvPr>
        </p:nvSpPr>
        <p:spPr>
          <a:xfrm>
            <a:off x="1078100" y="542671"/>
            <a:ext cx="10026650" cy="1124202"/>
          </a:xfrm>
        </p:spPr>
        <p:txBody>
          <a:bodyPr wrap="square" anchor="ctr">
            <a:normAutofit/>
          </a:bodyPr>
          <a:lstStyle/>
          <a:p>
            <a:pPr algn="ctr"/>
            <a:r>
              <a:rPr lang="pl-PL" b="1" dirty="0"/>
              <a:t>STARTUP VS KORPORACJA</a:t>
            </a:r>
            <a:endParaRPr lang="pl-PL" dirty="0"/>
          </a:p>
        </p:txBody>
      </p:sp>
      <p:sp useBgFill="1">
        <p:nvSpPr>
          <p:cNvPr id="11"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5" name="Symbol zastępczy zawartości 2">
            <a:extLst>
              <a:ext uri="{FF2B5EF4-FFF2-40B4-BE49-F238E27FC236}">
                <a16:creationId xmlns:a16="http://schemas.microsoft.com/office/drawing/2014/main" id="{4B041AD1-B283-2605-C323-83A3BA186577}"/>
              </a:ext>
            </a:extLst>
          </p:cNvPr>
          <p:cNvGraphicFramePr>
            <a:graphicFrameLocks noGrp="1"/>
          </p:cNvGraphicFramePr>
          <p:nvPr>
            <p:ph idx="1"/>
            <p:extLst>
              <p:ext uri="{D42A27DB-BD31-4B8C-83A1-F6EECF244321}">
                <p14:modId xmlns:p14="http://schemas.microsoft.com/office/powerpoint/2010/main" val="1963509740"/>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0532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6E94772A-2DA4-B626-DDAB-49DD185FAFB7}"/>
              </a:ext>
            </a:extLst>
          </p:cNvPr>
          <p:cNvSpPr>
            <a:spLocks noGrp="1"/>
          </p:cNvSpPr>
          <p:nvPr>
            <p:ph type="title"/>
          </p:nvPr>
        </p:nvSpPr>
        <p:spPr>
          <a:xfrm>
            <a:off x="540988" y="540033"/>
            <a:ext cx="3884962" cy="1331604"/>
          </a:xfrm>
        </p:spPr>
        <p:txBody>
          <a:bodyPr anchor="b">
            <a:normAutofit/>
          </a:bodyPr>
          <a:lstStyle/>
          <a:p>
            <a:pPr algn="ctr"/>
            <a:r>
              <a:rPr lang="pl-PL" b="1" dirty="0"/>
              <a:t>STARTUP VS KORPORACJA</a:t>
            </a:r>
            <a:endParaRPr lang="pl-PL"/>
          </a:p>
        </p:txBody>
      </p:sp>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2A55F3C-7A7B-27CE-9983-15A6CFA80EBC}"/>
              </a:ext>
            </a:extLst>
          </p:cNvPr>
          <p:cNvSpPr>
            <a:spLocks noGrp="1"/>
          </p:cNvSpPr>
          <p:nvPr>
            <p:ph idx="1"/>
          </p:nvPr>
        </p:nvSpPr>
        <p:spPr>
          <a:xfrm>
            <a:off x="540988" y="2759076"/>
            <a:ext cx="3884962" cy="3009899"/>
          </a:xfrm>
        </p:spPr>
        <p:txBody>
          <a:bodyPr>
            <a:normAutofit/>
          </a:bodyPr>
          <a:lstStyle/>
          <a:p>
            <a:endParaRPr lang="pl-PL" dirty="0"/>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Obraz 4">
            <a:extLst>
              <a:ext uri="{FF2B5EF4-FFF2-40B4-BE49-F238E27FC236}">
                <a16:creationId xmlns:a16="http://schemas.microsoft.com/office/drawing/2014/main" id="{3C8722FB-B8A8-4CBB-D6E5-88E24D1FC785}"/>
              </a:ext>
            </a:extLst>
          </p:cNvPr>
          <p:cNvPicPr>
            <a:picLocks noChangeAspect="1"/>
          </p:cNvPicPr>
          <p:nvPr/>
        </p:nvPicPr>
        <p:blipFill>
          <a:blip r:embed="rId3"/>
          <a:stretch>
            <a:fillRect/>
          </a:stretch>
        </p:blipFill>
        <p:spPr>
          <a:xfrm>
            <a:off x="5537200" y="1134993"/>
            <a:ext cx="6113812" cy="4585359"/>
          </a:xfrm>
          <a:prstGeom prst="rect">
            <a:avLst/>
          </a:prstGeom>
        </p:spPr>
      </p:pic>
    </p:spTree>
    <p:extLst>
      <p:ext uri="{BB962C8B-B14F-4D97-AF65-F5344CB8AC3E}">
        <p14:creationId xmlns:p14="http://schemas.microsoft.com/office/powerpoint/2010/main" val="3316866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053BF03-A93F-E0D2-BC67-37F74EE47197}"/>
              </a:ext>
            </a:extLst>
          </p:cNvPr>
          <p:cNvSpPr>
            <a:spLocks noGrp="1"/>
          </p:cNvSpPr>
          <p:nvPr>
            <p:ph type="title"/>
          </p:nvPr>
        </p:nvSpPr>
        <p:spPr>
          <a:xfrm>
            <a:off x="540988" y="540033"/>
            <a:ext cx="3884962" cy="1331604"/>
          </a:xfrm>
        </p:spPr>
        <p:txBody>
          <a:bodyPr anchor="b">
            <a:normAutofit/>
          </a:bodyPr>
          <a:lstStyle/>
          <a:p>
            <a:pPr algn="ctr"/>
            <a:r>
              <a:rPr lang="pl-PL" dirty="0"/>
              <a:t>LEAN STARTUP</a:t>
            </a:r>
            <a:endParaRPr lang="pl-PL"/>
          </a:p>
        </p:txBody>
      </p:sp>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1727EAE7-494C-8BDC-4939-2DE16C4EA3EF}"/>
              </a:ext>
            </a:extLst>
          </p:cNvPr>
          <p:cNvSpPr>
            <a:spLocks noGrp="1"/>
          </p:cNvSpPr>
          <p:nvPr>
            <p:ph idx="1"/>
          </p:nvPr>
        </p:nvSpPr>
        <p:spPr>
          <a:xfrm>
            <a:off x="540988" y="2759076"/>
            <a:ext cx="3884962" cy="3009899"/>
          </a:xfrm>
        </p:spPr>
        <p:txBody>
          <a:bodyPr>
            <a:normAutofit/>
          </a:bodyPr>
          <a:lstStyle/>
          <a:p>
            <a:pPr marL="0" indent="0" algn="ctr">
              <a:buNone/>
            </a:pPr>
            <a:r>
              <a:rPr lang="pl-PL" sz="1900" dirty="0"/>
              <a:t>Lean Startup to podejście do budowania produktów, które opiera się na szybkim testowaniu pomysłów, mierzeniu efektów i uczeniu się na podstawie danych.</a:t>
            </a:r>
            <a:r>
              <a:rPr lang="en-US" sz="1900" dirty="0"/>
              <a:t> </a:t>
            </a:r>
            <a:r>
              <a:rPr lang="pl-PL" sz="1900" dirty="0"/>
              <a:t>Zamiast budować pełny produkt od razu, tworzy się jego minimalne wersje i testuje je na rynku.</a:t>
            </a:r>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7" name="Graphic 6" descr="Head with Gears">
            <a:extLst>
              <a:ext uri="{FF2B5EF4-FFF2-40B4-BE49-F238E27FC236}">
                <a16:creationId xmlns:a16="http://schemas.microsoft.com/office/drawing/2014/main" id="{5D9C2DCF-B168-EB84-819F-8E791C13BB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06466" y="540033"/>
            <a:ext cx="5775279" cy="5775279"/>
          </a:xfrm>
          <a:prstGeom prst="rect">
            <a:avLst/>
          </a:prstGeom>
        </p:spPr>
      </p:pic>
    </p:spTree>
    <p:extLst>
      <p:ext uri="{BB962C8B-B14F-4D97-AF65-F5344CB8AC3E}">
        <p14:creationId xmlns:p14="http://schemas.microsoft.com/office/powerpoint/2010/main" val="3293483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DE97ED2-0DDC-CFE3-80F0-2B0195F32CB4}"/>
              </a:ext>
            </a:extLst>
          </p:cNvPr>
          <p:cNvSpPr>
            <a:spLocks noGrp="1"/>
          </p:cNvSpPr>
          <p:nvPr>
            <p:ph type="title"/>
          </p:nvPr>
        </p:nvSpPr>
        <p:spPr>
          <a:xfrm>
            <a:off x="541338" y="1079500"/>
            <a:ext cx="3322637" cy="4689475"/>
          </a:xfrm>
        </p:spPr>
        <p:txBody>
          <a:bodyPr anchor="ctr">
            <a:normAutofit/>
          </a:bodyPr>
          <a:lstStyle/>
          <a:p>
            <a:pPr algn="ctr"/>
            <a:r>
              <a:rPr lang="pl-PL" dirty="0"/>
              <a:t>TESTOWANIE HIPOTEZ</a:t>
            </a:r>
            <a:endParaRPr lang="pl-PL"/>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ymbol zastępczy zawartości 2">
            <a:extLst>
              <a:ext uri="{FF2B5EF4-FFF2-40B4-BE49-F238E27FC236}">
                <a16:creationId xmlns:a16="http://schemas.microsoft.com/office/drawing/2014/main" id="{5AEC7CB2-63DE-CC99-7966-848F5D51E5F8}"/>
              </a:ext>
            </a:extLst>
          </p:cNvPr>
          <p:cNvGraphicFramePr>
            <a:graphicFrameLocks noGrp="1"/>
          </p:cNvGraphicFramePr>
          <p:nvPr>
            <p:ph idx="1"/>
            <p:extLst>
              <p:ext uri="{D42A27DB-BD31-4B8C-83A1-F6EECF244321}">
                <p14:modId xmlns:p14="http://schemas.microsoft.com/office/powerpoint/2010/main" val="800528736"/>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9787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ADD72DC-CC5F-44D6-97D3-79407D4FF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1058433"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B083E179-CF1F-4694-AEAB-6931C9B31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a:off x="388193"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E6257A7-D071-42C9-8560-75A6EAE27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854399" y="71786"/>
            <a:ext cx="2287608" cy="3673900"/>
            <a:chOff x="-6080955" y="3437416"/>
            <a:chExt cx="2287608" cy="3673900"/>
          </a:xfrm>
        </p:grpSpPr>
        <p:cxnSp>
          <p:nvCxnSpPr>
            <p:cNvPr id="15" name="Straight Connector 14">
              <a:extLst>
                <a:ext uri="{FF2B5EF4-FFF2-40B4-BE49-F238E27FC236}">
                  <a16:creationId xmlns:a16="http://schemas.microsoft.com/office/drawing/2014/main" id="{52115B20-516B-48FE-ABF8-0300640B54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572F2AC0-C134-4522-9F34-10107EC52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0EA2E5B3-77CC-4AA0-A77A-5D95FCDD5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005C810-6BE0-4E85-BA3D-785C45D9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D4ECB930-9F06-48DB-86D3-75A7E6A2C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C9116707-08B8-43A2-8DCB-845D77ABA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Freeform: Shape 20">
              <a:extLst>
                <a:ext uri="{FF2B5EF4-FFF2-40B4-BE49-F238E27FC236}">
                  <a16:creationId xmlns:a16="http://schemas.microsoft.com/office/drawing/2014/main" id="{2E7DC9CC-81EB-48D8-AC44-C99F4774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eeform: Shape 21">
              <a:extLst>
                <a:ext uri="{FF2B5EF4-FFF2-40B4-BE49-F238E27FC236}">
                  <a16:creationId xmlns:a16="http://schemas.microsoft.com/office/drawing/2014/main" id="{23E2C41B-8946-4545-9CF1-997818234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4" name="Freeform: Shape 23">
            <a:extLst>
              <a:ext uri="{FF2B5EF4-FFF2-40B4-BE49-F238E27FC236}">
                <a16:creationId xmlns:a16="http://schemas.microsoft.com/office/drawing/2014/main" id="{8AD7D35B-560E-435E-B0FD-0F84A2E6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V="1">
            <a:off x="8942212"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nvGrpSpPr>
          <p:cNvPr id="26" name="Group 25">
            <a:extLst>
              <a:ext uri="{FF2B5EF4-FFF2-40B4-BE49-F238E27FC236}">
                <a16:creationId xmlns:a16="http://schemas.microsoft.com/office/drawing/2014/main" id="{AC46C823-4AEE-4D15-A7B7-556599F864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521489" y="5639014"/>
            <a:ext cx="865742" cy="628383"/>
            <a:chOff x="558167" y="958515"/>
            <a:chExt cx="865742" cy="628383"/>
          </a:xfrm>
          <a:solidFill>
            <a:schemeClr val="accent3"/>
          </a:solidFill>
        </p:grpSpPr>
        <p:sp>
          <p:nvSpPr>
            <p:cNvPr id="27" name="Freeform: Shape 26">
              <a:extLst>
                <a:ext uri="{FF2B5EF4-FFF2-40B4-BE49-F238E27FC236}">
                  <a16:creationId xmlns:a16="http://schemas.microsoft.com/office/drawing/2014/main" id="{7FE368E1-8B21-487B-879D-A96309199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58A31684-3F27-4828-8633-A1624B02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0" name="Group 29">
            <a:extLst>
              <a:ext uri="{FF2B5EF4-FFF2-40B4-BE49-F238E27FC236}">
                <a16:creationId xmlns:a16="http://schemas.microsoft.com/office/drawing/2014/main" id="{766CF5CA-BCE0-446B-990C-62FB772AB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486523" y="3291143"/>
            <a:ext cx="1785983" cy="2208479"/>
            <a:chOff x="2725201" y="4453039"/>
            <a:chExt cx="1785983" cy="2208479"/>
          </a:xfrm>
        </p:grpSpPr>
        <p:cxnSp>
          <p:nvCxnSpPr>
            <p:cNvPr id="31" name="Straight Connector 30">
              <a:extLst>
                <a:ext uri="{FF2B5EF4-FFF2-40B4-BE49-F238E27FC236}">
                  <a16:creationId xmlns:a16="http://schemas.microsoft.com/office/drawing/2014/main" id="{791F38DD-D787-4EE5-931B-C8CC2ED92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4E1D11-C91E-45F4-9A4A-EC0243DE76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3D0A83C-B0AD-4E04-B3FE-48D739F6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34" name="Rectangle 30">
              <a:extLst>
                <a:ext uri="{FF2B5EF4-FFF2-40B4-BE49-F238E27FC236}">
                  <a16:creationId xmlns:a16="http://schemas.microsoft.com/office/drawing/2014/main" id="{AF60A4C7-053A-4E00-9224-C9C9CAA54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0">
              <a:extLst>
                <a:ext uri="{FF2B5EF4-FFF2-40B4-BE49-F238E27FC236}">
                  <a16:creationId xmlns:a16="http://schemas.microsoft.com/office/drawing/2014/main" id="{C90A005E-7D6C-4543-AE86-10F5BA1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C174C2C-9AC5-4D2F-B12B-8AD9BE8773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flipV="1">
            <a:off x="473803" y="5280732"/>
            <a:ext cx="864005" cy="1032464"/>
            <a:chOff x="2207971" y="2384401"/>
            <a:chExt cx="864005" cy="1032464"/>
          </a:xfrm>
        </p:grpSpPr>
        <p:sp>
          <p:nvSpPr>
            <p:cNvPr id="38" name="Freeform: Shape 37">
              <a:extLst>
                <a:ext uri="{FF2B5EF4-FFF2-40B4-BE49-F238E27FC236}">
                  <a16:creationId xmlns:a16="http://schemas.microsoft.com/office/drawing/2014/main" id="{F2A1D572-4E75-4B18-83CD-369937018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Freeform: Shape 38">
              <a:extLst>
                <a:ext uri="{FF2B5EF4-FFF2-40B4-BE49-F238E27FC236}">
                  <a16:creationId xmlns:a16="http://schemas.microsoft.com/office/drawing/2014/main" id="{A4501448-AAB4-4BDF-81E5-BF4BEF2A4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0" name="Group 39">
              <a:extLst>
                <a:ext uri="{FF2B5EF4-FFF2-40B4-BE49-F238E27FC236}">
                  <a16:creationId xmlns:a16="http://schemas.microsoft.com/office/drawing/2014/main" id="{DA5CA3F8-7E28-4253-9221-2849B189136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41" name="Straight Connector 40">
                <a:extLst>
                  <a:ext uri="{FF2B5EF4-FFF2-40B4-BE49-F238E27FC236}">
                    <a16:creationId xmlns:a16="http://schemas.microsoft.com/office/drawing/2014/main" id="{ABAD8F42-57F4-4A12-8B47-E199EA174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F509FE-DD9E-4AB3-94EE-468C868875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43">
            <a:extLst>
              <a:ext uri="{FF2B5EF4-FFF2-40B4-BE49-F238E27FC236}">
                <a16:creationId xmlns:a16="http://schemas.microsoft.com/office/drawing/2014/main" id="{A7F45189-997F-4E6B-800E-D17FF116E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114077"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BC214B40-3523-42BE-856A-2B90472652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9049994" y="71786"/>
            <a:ext cx="2287608" cy="3673900"/>
            <a:chOff x="-6080955" y="3437416"/>
            <a:chExt cx="2287608" cy="3673900"/>
          </a:xfrm>
        </p:grpSpPr>
        <p:cxnSp>
          <p:nvCxnSpPr>
            <p:cNvPr id="47" name="Straight Connector 46">
              <a:extLst>
                <a:ext uri="{FF2B5EF4-FFF2-40B4-BE49-F238E27FC236}">
                  <a16:creationId xmlns:a16="http://schemas.microsoft.com/office/drawing/2014/main" id="{5626B876-FE3F-403F-B675-FB9415E00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Freeform: Shape 47">
              <a:extLst>
                <a:ext uri="{FF2B5EF4-FFF2-40B4-BE49-F238E27FC236}">
                  <a16:creationId xmlns:a16="http://schemas.microsoft.com/office/drawing/2014/main" id="{03F8DDE7-4258-4181-9F2B-940B587EE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eeform: Shape 48">
              <a:extLst>
                <a:ext uri="{FF2B5EF4-FFF2-40B4-BE49-F238E27FC236}">
                  <a16:creationId xmlns:a16="http://schemas.microsoft.com/office/drawing/2014/main" id="{4EED88FA-E654-453B-92BF-21196E32B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7F3C238A-5CF1-4927-B70F-C99112299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Freeform: Shape 50">
              <a:extLst>
                <a:ext uri="{FF2B5EF4-FFF2-40B4-BE49-F238E27FC236}">
                  <a16:creationId xmlns:a16="http://schemas.microsoft.com/office/drawing/2014/main" id="{42EAC2EE-4C33-44A6-A62B-6130E320A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Freeform: Shape 51">
              <a:extLst>
                <a:ext uri="{FF2B5EF4-FFF2-40B4-BE49-F238E27FC236}">
                  <a16:creationId xmlns:a16="http://schemas.microsoft.com/office/drawing/2014/main" id="{0F2EC395-DF39-4C41-A452-37AF723EA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Freeform: Shape 52">
              <a:extLst>
                <a:ext uri="{FF2B5EF4-FFF2-40B4-BE49-F238E27FC236}">
                  <a16:creationId xmlns:a16="http://schemas.microsoft.com/office/drawing/2014/main" id="{2425D947-0068-4059-B9BE-93A3B27CD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Freeform: Shape 53">
              <a:extLst>
                <a:ext uri="{FF2B5EF4-FFF2-40B4-BE49-F238E27FC236}">
                  <a16:creationId xmlns:a16="http://schemas.microsoft.com/office/drawing/2014/main" id="{80F2FE05-A04C-4860-B709-2FCBEAE8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ytuł 1">
            <a:extLst>
              <a:ext uri="{FF2B5EF4-FFF2-40B4-BE49-F238E27FC236}">
                <a16:creationId xmlns:a16="http://schemas.microsoft.com/office/drawing/2014/main" id="{CA005BCA-5D8D-B1B1-F47F-E6BB6BB02C58}"/>
              </a:ext>
            </a:extLst>
          </p:cNvPr>
          <p:cNvSpPr>
            <a:spLocks noGrp="1"/>
          </p:cNvSpPr>
          <p:nvPr>
            <p:ph type="title"/>
          </p:nvPr>
        </p:nvSpPr>
        <p:spPr>
          <a:xfrm>
            <a:off x="3882610" y="1011237"/>
            <a:ext cx="4426782" cy="860400"/>
          </a:xfrm>
        </p:spPr>
        <p:txBody>
          <a:bodyPr anchor="b">
            <a:normAutofit/>
          </a:bodyPr>
          <a:lstStyle/>
          <a:p>
            <a:pPr algn="ctr"/>
            <a:r>
              <a:rPr lang="pl-PL" dirty="0" err="1"/>
              <a:t>QuickCharge</a:t>
            </a:r>
            <a:r>
              <a:rPr lang="pl-PL" dirty="0"/>
              <a:t> AI: test</a:t>
            </a:r>
            <a:endParaRPr lang="pl-PL"/>
          </a:p>
        </p:txBody>
      </p:sp>
      <p:cxnSp>
        <p:nvCxnSpPr>
          <p:cNvPr id="56" name="Straight Connector 55">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2AF046E8-EE18-FD59-4DDB-2ECD4671455C}"/>
              </a:ext>
            </a:extLst>
          </p:cNvPr>
          <p:cNvSpPr>
            <a:spLocks noGrp="1"/>
          </p:cNvSpPr>
          <p:nvPr>
            <p:ph idx="1"/>
          </p:nvPr>
        </p:nvSpPr>
        <p:spPr>
          <a:xfrm>
            <a:off x="3863976" y="2759076"/>
            <a:ext cx="4460874" cy="3009899"/>
          </a:xfrm>
        </p:spPr>
        <p:txBody>
          <a:bodyPr>
            <a:normAutofit/>
          </a:bodyPr>
          <a:lstStyle/>
          <a:p>
            <a:pPr marL="0" indent="0" algn="ctr">
              <a:buNone/>
            </a:pPr>
            <a:r>
              <a:rPr lang="pl-PL" dirty="0"/>
              <a:t>Startup tworzy prostą stronę, która symuluje aplikację i mierzy zainteresowanie użytkowników.</a:t>
            </a:r>
            <a:br>
              <a:rPr lang="pl-PL" dirty="0"/>
            </a:br>
            <a:r>
              <a:rPr lang="pl-PL" dirty="0"/>
              <a:t>Sprawdza, czy ludzie klikają i zapisują się na usługę.</a:t>
            </a:r>
          </a:p>
        </p:txBody>
      </p:sp>
      <p:grpSp>
        <p:nvGrpSpPr>
          <p:cNvPr id="58" name="Group 57">
            <a:extLst>
              <a:ext uri="{FF2B5EF4-FFF2-40B4-BE49-F238E27FC236}">
                <a16:creationId xmlns:a16="http://schemas.microsoft.com/office/drawing/2014/main" id="{69D14CB3-B46C-4D52-91C7-9020767C0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10901022" y="5639014"/>
            <a:ext cx="865742" cy="628383"/>
            <a:chOff x="558167" y="958515"/>
            <a:chExt cx="865742" cy="628383"/>
          </a:xfrm>
          <a:solidFill>
            <a:schemeClr val="accent3"/>
          </a:solidFill>
        </p:grpSpPr>
        <p:sp>
          <p:nvSpPr>
            <p:cNvPr id="59" name="Freeform: Shape 58">
              <a:extLst>
                <a:ext uri="{FF2B5EF4-FFF2-40B4-BE49-F238E27FC236}">
                  <a16:creationId xmlns:a16="http://schemas.microsoft.com/office/drawing/2014/main" id="{3A77D7F4-D3A2-4801-9AC3-6626FDE15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reeform: Shape 59">
              <a:extLst>
                <a:ext uri="{FF2B5EF4-FFF2-40B4-BE49-F238E27FC236}">
                  <a16:creationId xmlns:a16="http://schemas.microsoft.com/office/drawing/2014/main" id="{1E62BACE-7CE7-442A-BFFB-8BC57C446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2" name="Group 61">
            <a:extLst>
              <a:ext uri="{FF2B5EF4-FFF2-40B4-BE49-F238E27FC236}">
                <a16:creationId xmlns:a16="http://schemas.microsoft.com/office/drawing/2014/main" id="{695E1464-F8FF-467B-BC7A-2DB63FD734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9919495" y="3291143"/>
            <a:ext cx="1785983" cy="2208479"/>
            <a:chOff x="2725201" y="4453039"/>
            <a:chExt cx="1785983" cy="2208479"/>
          </a:xfrm>
        </p:grpSpPr>
        <p:cxnSp>
          <p:nvCxnSpPr>
            <p:cNvPr id="63" name="Straight Connector 62">
              <a:extLst>
                <a:ext uri="{FF2B5EF4-FFF2-40B4-BE49-F238E27FC236}">
                  <a16:creationId xmlns:a16="http://schemas.microsoft.com/office/drawing/2014/main" id="{1D9EF77E-636A-4F91-8AC6-2926F2512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9F8CE5-DA1D-4DAF-A044-400C40169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Shape 64">
              <a:extLst>
                <a:ext uri="{FF2B5EF4-FFF2-40B4-BE49-F238E27FC236}">
                  <a16:creationId xmlns:a16="http://schemas.microsoft.com/office/drawing/2014/main" id="{9C47A2FE-4826-4485-B3C0-56DF9A73A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66" name="Rectangle 30">
              <a:extLst>
                <a:ext uri="{FF2B5EF4-FFF2-40B4-BE49-F238E27FC236}">
                  <a16:creationId xmlns:a16="http://schemas.microsoft.com/office/drawing/2014/main" id="{A9D0A0EF-4934-4E46-A33A-95E5D932D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EA389321-1892-4D9B-9F10-CA83BC15F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D9F93B70-A436-473C-A7CE-540999A596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V="1">
            <a:off x="10854193" y="5280732"/>
            <a:ext cx="864005" cy="1032464"/>
            <a:chOff x="2207971" y="2384401"/>
            <a:chExt cx="864005" cy="1032464"/>
          </a:xfrm>
        </p:grpSpPr>
        <p:sp>
          <p:nvSpPr>
            <p:cNvPr id="70" name="Freeform: Shape 69">
              <a:extLst>
                <a:ext uri="{FF2B5EF4-FFF2-40B4-BE49-F238E27FC236}">
                  <a16:creationId xmlns:a16="http://schemas.microsoft.com/office/drawing/2014/main" id="{C78ABD64-1B50-4D55-BC1F-146CC4D6E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Shape 70">
              <a:extLst>
                <a:ext uri="{FF2B5EF4-FFF2-40B4-BE49-F238E27FC236}">
                  <a16:creationId xmlns:a16="http://schemas.microsoft.com/office/drawing/2014/main" id="{57FC7EAA-9D36-4047-8A25-796E944D1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2" name="Group 71">
              <a:extLst>
                <a:ext uri="{FF2B5EF4-FFF2-40B4-BE49-F238E27FC236}">
                  <a16:creationId xmlns:a16="http://schemas.microsoft.com/office/drawing/2014/main" id="{0C72E6B1-2CDE-4B76-BB57-54923A35BC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73" name="Straight Connector 72">
                <a:extLst>
                  <a:ext uri="{FF2B5EF4-FFF2-40B4-BE49-F238E27FC236}">
                    <a16:creationId xmlns:a16="http://schemas.microsoft.com/office/drawing/2014/main" id="{0A618DA4-FD3B-435B-9077-6643BD6C93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579CD8F-9756-4DC0-A735-0CA77A873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415602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8588635-D4BF-A7E5-5111-8A7CFB30FE8D}"/>
              </a:ext>
            </a:extLst>
          </p:cNvPr>
          <p:cNvSpPr>
            <a:spLocks noGrp="1"/>
          </p:cNvSpPr>
          <p:nvPr>
            <p:ph type="title"/>
          </p:nvPr>
        </p:nvSpPr>
        <p:spPr/>
        <p:txBody>
          <a:bodyPr/>
          <a:lstStyle/>
          <a:p>
            <a:r>
              <a:rPr lang="pl-PL"/>
              <a:t>NIEPEWNOŚĆ W STARTUPIE</a:t>
            </a:r>
            <a:endParaRPr lang="pl-PL" dirty="0"/>
          </a:p>
        </p:txBody>
      </p:sp>
      <p:graphicFrame>
        <p:nvGraphicFramePr>
          <p:cNvPr id="13" name="Symbol zastępczy zawartości 2">
            <a:extLst>
              <a:ext uri="{FF2B5EF4-FFF2-40B4-BE49-F238E27FC236}">
                <a16:creationId xmlns:a16="http://schemas.microsoft.com/office/drawing/2014/main" id="{A4C34747-5556-C769-F527-1889F4FA335A}"/>
              </a:ext>
            </a:extLst>
          </p:cNvPr>
          <p:cNvGraphicFramePr>
            <a:graphicFrameLocks noGrp="1"/>
          </p:cNvGraphicFramePr>
          <p:nvPr>
            <p:ph idx="1"/>
            <p:extLst>
              <p:ext uri="{D42A27DB-BD31-4B8C-83A1-F6EECF244321}">
                <p14:modId xmlns:p14="http://schemas.microsoft.com/office/powerpoint/2010/main" val="1827729309"/>
              </p:ext>
            </p:extLst>
          </p:nvPr>
        </p:nvGraphicFramePr>
        <p:xfrm>
          <a:off x="1079500" y="1790700"/>
          <a:ext cx="10026650" cy="3978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3382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61C9DD2-0819-D698-919D-D4D33C418587}"/>
              </a:ext>
            </a:extLst>
          </p:cNvPr>
          <p:cNvSpPr>
            <a:spLocks noGrp="1"/>
          </p:cNvSpPr>
          <p:nvPr>
            <p:ph type="title"/>
          </p:nvPr>
        </p:nvSpPr>
        <p:spPr>
          <a:xfrm>
            <a:off x="1080001" y="1079500"/>
            <a:ext cx="3904750" cy="4689475"/>
          </a:xfrm>
        </p:spPr>
        <p:txBody>
          <a:bodyPr anchor="ctr">
            <a:normAutofit/>
          </a:bodyPr>
          <a:lstStyle/>
          <a:p>
            <a:pPr algn="ctr"/>
            <a:r>
              <a:rPr lang="en-US"/>
              <a:t>Jak zarządzać niepewnością?</a:t>
            </a:r>
            <a:endParaRPr lang="pl-PL"/>
          </a:p>
        </p:txBody>
      </p:sp>
      <p:cxnSp>
        <p:nvCxnSpPr>
          <p:cNvPr id="14" name="Straight Connector 10">
            <a:extLst>
              <a:ext uri="{FF2B5EF4-FFF2-40B4-BE49-F238E27FC236}">
                <a16:creationId xmlns:a16="http://schemas.microsoft.com/office/drawing/2014/main" id="{3A513CAD-9784-4D35-BAF9-1F7DDD697B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3429000"/>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Symbol zastępczy zawartości 2">
            <a:extLst>
              <a:ext uri="{FF2B5EF4-FFF2-40B4-BE49-F238E27FC236}">
                <a16:creationId xmlns:a16="http://schemas.microsoft.com/office/drawing/2014/main" id="{9B1D49BF-0EAB-8AC8-6B48-903A1CDDAF26}"/>
              </a:ext>
            </a:extLst>
          </p:cNvPr>
          <p:cNvGraphicFramePr>
            <a:graphicFrameLocks noGrp="1"/>
          </p:cNvGraphicFramePr>
          <p:nvPr>
            <p:ph idx="1"/>
            <p:extLst>
              <p:ext uri="{D42A27DB-BD31-4B8C-83A1-F6EECF244321}">
                <p14:modId xmlns:p14="http://schemas.microsoft.com/office/powerpoint/2010/main" val="309306507"/>
              </p:ext>
            </p:extLst>
          </p:nvPr>
        </p:nvGraphicFramePr>
        <p:xfrm>
          <a:off x="6654799" y="531814"/>
          <a:ext cx="4996207" cy="57835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8919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157B4FB-02F2-CCDD-9B7B-0949674A8593}"/>
              </a:ext>
            </a:extLst>
          </p:cNvPr>
          <p:cNvSpPr>
            <a:spLocks noGrp="1"/>
          </p:cNvSpPr>
          <p:nvPr>
            <p:ph type="title"/>
          </p:nvPr>
        </p:nvSpPr>
        <p:spPr>
          <a:xfrm>
            <a:off x="540988" y="540033"/>
            <a:ext cx="3884962" cy="1331604"/>
          </a:xfrm>
        </p:spPr>
        <p:txBody>
          <a:bodyPr anchor="b">
            <a:normAutofit/>
          </a:bodyPr>
          <a:lstStyle/>
          <a:p>
            <a:pPr algn="ctr"/>
            <a:r>
              <a:rPr lang="pl-PL" dirty="0"/>
              <a:t>Zespół </a:t>
            </a:r>
            <a:r>
              <a:rPr lang="pl-PL" dirty="0" err="1"/>
              <a:t>startupowy</a:t>
            </a:r>
            <a:endParaRPr lang="pl-PL"/>
          </a:p>
        </p:txBody>
      </p:sp>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F136AD0B-0F90-A6C4-F016-1993937016C3}"/>
              </a:ext>
            </a:extLst>
          </p:cNvPr>
          <p:cNvSpPr>
            <a:spLocks noGrp="1"/>
          </p:cNvSpPr>
          <p:nvPr>
            <p:ph idx="1"/>
          </p:nvPr>
        </p:nvSpPr>
        <p:spPr>
          <a:xfrm>
            <a:off x="540988" y="2759076"/>
            <a:ext cx="3884962" cy="3009899"/>
          </a:xfrm>
        </p:spPr>
        <p:txBody>
          <a:bodyPr>
            <a:normAutofit fontScale="85000" lnSpcReduction="10000"/>
          </a:bodyPr>
          <a:lstStyle/>
          <a:p>
            <a:pPr marL="0" indent="0">
              <a:lnSpc>
                <a:spcPct val="115000"/>
              </a:lnSpc>
              <a:buNone/>
            </a:pPr>
            <a:r>
              <a:rPr lang="pl-PL" dirty="0"/>
              <a:t>Zespół </a:t>
            </a:r>
            <a:r>
              <a:rPr lang="pl-PL" dirty="0" err="1"/>
              <a:t>startupowy</a:t>
            </a:r>
            <a:r>
              <a:rPr lang="pl-PL" dirty="0"/>
              <a:t> musi działać przy ograniczonych zasobach, co oznacza:</a:t>
            </a:r>
          </a:p>
          <a:p>
            <a:pPr>
              <a:lnSpc>
                <a:spcPct val="115000"/>
              </a:lnSpc>
            </a:pPr>
            <a:r>
              <a:rPr lang="pl-PL" dirty="0"/>
              <a:t>małą liczbę osób, </a:t>
            </a:r>
          </a:p>
          <a:p>
            <a:pPr>
              <a:lnSpc>
                <a:spcPct val="115000"/>
              </a:lnSpc>
            </a:pPr>
            <a:r>
              <a:rPr lang="pl-PL" dirty="0"/>
              <a:t>wielozadaniowość, </a:t>
            </a:r>
          </a:p>
          <a:p>
            <a:pPr>
              <a:lnSpc>
                <a:spcPct val="115000"/>
              </a:lnSpc>
            </a:pPr>
            <a:r>
              <a:rPr lang="pl-PL" dirty="0"/>
              <a:t>szybkie decyzje, </a:t>
            </a:r>
          </a:p>
          <a:p>
            <a:pPr>
              <a:lnSpc>
                <a:spcPct val="115000"/>
              </a:lnSpc>
            </a:pPr>
            <a:r>
              <a:rPr lang="pl-PL" dirty="0"/>
              <a:t>brak sztywnej struktury.</a:t>
            </a:r>
            <a:endParaRPr lang="en-US" dirty="0"/>
          </a:p>
          <a:p>
            <a:pPr marL="0" indent="0">
              <a:lnSpc>
                <a:spcPct val="115000"/>
              </a:lnSpc>
              <a:buNone/>
            </a:pPr>
            <a:r>
              <a:rPr lang="pl-PL" dirty="0"/>
              <a:t>W startupie nie ma miejsca na wąską specjalizację</a:t>
            </a:r>
          </a:p>
          <a:p>
            <a:pPr marL="0" indent="0">
              <a:lnSpc>
                <a:spcPct val="115000"/>
              </a:lnSpc>
              <a:buNone/>
            </a:pPr>
            <a:endParaRPr lang="pl-PL" dirty="0"/>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7" name="Graphic 6" descr="Group Success">
            <a:extLst>
              <a:ext uri="{FF2B5EF4-FFF2-40B4-BE49-F238E27FC236}">
                <a16:creationId xmlns:a16="http://schemas.microsoft.com/office/drawing/2014/main" id="{4C43015C-F5FF-55B6-2853-7671412A93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06466" y="540033"/>
            <a:ext cx="5775279" cy="5775279"/>
          </a:xfrm>
          <a:prstGeom prst="rect">
            <a:avLst/>
          </a:prstGeom>
        </p:spPr>
      </p:pic>
    </p:spTree>
    <p:extLst>
      <p:ext uri="{BB962C8B-B14F-4D97-AF65-F5344CB8AC3E}">
        <p14:creationId xmlns:p14="http://schemas.microsoft.com/office/powerpoint/2010/main" val="258985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2C20CF7-32CB-2727-7A88-1B1F3686187B}"/>
              </a:ext>
            </a:extLst>
          </p:cNvPr>
          <p:cNvSpPr>
            <a:spLocks noGrp="1"/>
          </p:cNvSpPr>
          <p:nvPr>
            <p:ph type="title"/>
          </p:nvPr>
        </p:nvSpPr>
        <p:spPr>
          <a:xfrm>
            <a:off x="540988" y="540033"/>
            <a:ext cx="3884962" cy="1331604"/>
          </a:xfrm>
        </p:spPr>
        <p:txBody>
          <a:bodyPr anchor="b">
            <a:normAutofit/>
          </a:bodyPr>
          <a:lstStyle/>
          <a:p>
            <a:pPr algn="ctr"/>
            <a:r>
              <a:rPr lang="pl-PL"/>
              <a:t>finansowanie w startupie</a:t>
            </a:r>
          </a:p>
        </p:txBody>
      </p:sp>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38CA3680-F84D-1821-E7DE-957731DA88D8}"/>
              </a:ext>
            </a:extLst>
          </p:cNvPr>
          <p:cNvSpPr>
            <a:spLocks noGrp="1"/>
          </p:cNvSpPr>
          <p:nvPr>
            <p:ph idx="1"/>
          </p:nvPr>
        </p:nvSpPr>
        <p:spPr>
          <a:xfrm>
            <a:off x="540988" y="2759076"/>
            <a:ext cx="3884962" cy="3009899"/>
          </a:xfrm>
        </p:spPr>
        <p:txBody>
          <a:bodyPr>
            <a:normAutofit/>
          </a:bodyPr>
          <a:lstStyle/>
          <a:p>
            <a:pPr marL="0" indent="0">
              <a:lnSpc>
                <a:spcPct val="115000"/>
              </a:lnSpc>
              <a:buNone/>
            </a:pPr>
            <a:r>
              <a:rPr lang="pl-PL" sz="1600"/>
              <a:t>Pozyskiwanie finansowania w startupie polega na zdobywaniu środków finansowych potrzebnych do rozwoju produktu, budowy zespołu oraz wejścia na rynek. W przeciwieństwie do organizacji korporacyjnych startup nie finansuje się zazwyczaj z własnych przychodów od początku, ponieważ na wczesnym etapie często nie posiada jeszcze stabilnego modelu biznesowego.</a:t>
            </a:r>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Obraz 4">
            <a:extLst>
              <a:ext uri="{FF2B5EF4-FFF2-40B4-BE49-F238E27FC236}">
                <a16:creationId xmlns:a16="http://schemas.microsoft.com/office/drawing/2014/main" id="{CB827C3A-B2AE-096B-CD17-167AC82CBD85}"/>
              </a:ext>
            </a:extLst>
          </p:cNvPr>
          <p:cNvPicPr>
            <a:picLocks noChangeAspect="1"/>
          </p:cNvPicPr>
          <p:nvPr/>
        </p:nvPicPr>
        <p:blipFill>
          <a:blip r:embed="rId3"/>
          <a:stretch>
            <a:fillRect/>
          </a:stretch>
        </p:blipFill>
        <p:spPr>
          <a:xfrm>
            <a:off x="5537200" y="1784585"/>
            <a:ext cx="6113812" cy="3286174"/>
          </a:xfrm>
          <a:prstGeom prst="rect">
            <a:avLst/>
          </a:prstGeom>
        </p:spPr>
      </p:pic>
    </p:spTree>
    <p:extLst>
      <p:ext uri="{BB962C8B-B14F-4D97-AF65-F5344CB8AC3E}">
        <p14:creationId xmlns:p14="http://schemas.microsoft.com/office/powerpoint/2010/main" val="684954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5023E09-2C25-2DF0-5DE2-7DBE6DFF6F2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C25B70-2CC8-CF69-081A-C8683B4A3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8EB58AC-8531-4704-2C86-ED13E9050C43}"/>
              </a:ext>
            </a:extLst>
          </p:cNvPr>
          <p:cNvSpPr>
            <a:spLocks noGrp="1"/>
          </p:cNvSpPr>
          <p:nvPr>
            <p:ph type="title"/>
          </p:nvPr>
        </p:nvSpPr>
        <p:spPr>
          <a:xfrm>
            <a:off x="540988" y="540033"/>
            <a:ext cx="3884962" cy="1331604"/>
          </a:xfrm>
        </p:spPr>
        <p:txBody>
          <a:bodyPr anchor="b">
            <a:normAutofit/>
          </a:bodyPr>
          <a:lstStyle/>
          <a:p>
            <a:pPr algn="ctr"/>
            <a:r>
              <a:rPr lang="pl-PL"/>
              <a:t>finansowanie w startupie</a:t>
            </a:r>
          </a:p>
        </p:txBody>
      </p:sp>
      <p:cxnSp>
        <p:nvCxnSpPr>
          <p:cNvPr id="12" name="Straight Connector 11">
            <a:extLst>
              <a:ext uri="{FF2B5EF4-FFF2-40B4-BE49-F238E27FC236}">
                <a16:creationId xmlns:a16="http://schemas.microsoft.com/office/drawing/2014/main" id="{B065C6C3-0030-0449-77DE-FEFD28D73E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D9F2FE52-86C2-BD31-239F-CB5EF21EB123}"/>
              </a:ext>
            </a:extLst>
          </p:cNvPr>
          <p:cNvSpPr>
            <a:spLocks noGrp="1"/>
          </p:cNvSpPr>
          <p:nvPr>
            <p:ph idx="1"/>
          </p:nvPr>
        </p:nvSpPr>
        <p:spPr>
          <a:xfrm>
            <a:off x="540988" y="2759076"/>
            <a:ext cx="3884962" cy="3009899"/>
          </a:xfrm>
        </p:spPr>
        <p:txBody>
          <a:bodyPr>
            <a:normAutofit/>
          </a:bodyPr>
          <a:lstStyle/>
          <a:p>
            <a:pPr marL="0" indent="0">
              <a:buNone/>
            </a:pPr>
            <a:r>
              <a:rPr lang="pl-PL" sz="1600" dirty="0"/>
              <a:t>Alternatywnie startup może korzystać z grantów technologicznych, programów akceleracyjnych lub crowdfundingu, jeśli produkt ma potencjał masowego zainteresowania.</a:t>
            </a:r>
          </a:p>
          <a:p>
            <a:pPr marL="0" indent="0">
              <a:buNone/>
            </a:pPr>
            <a:r>
              <a:rPr lang="pl-PL" sz="1600" dirty="0"/>
              <a:t>Każde źródło finansowania wiąże się z innym poziomem kontroli, oczekiwań oraz ryzyka utraty udziałów przez założycieli.</a:t>
            </a:r>
          </a:p>
        </p:txBody>
      </p:sp>
      <p:sp>
        <p:nvSpPr>
          <p:cNvPr id="14" name="Rectangle 13">
            <a:extLst>
              <a:ext uri="{FF2B5EF4-FFF2-40B4-BE49-F238E27FC236}">
                <a16:creationId xmlns:a16="http://schemas.microsoft.com/office/drawing/2014/main" id="{A5189233-F0DE-D6D4-B468-F6780658F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Obraz 4">
            <a:extLst>
              <a:ext uri="{FF2B5EF4-FFF2-40B4-BE49-F238E27FC236}">
                <a16:creationId xmlns:a16="http://schemas.microsoft.com/office/drawing/2014/main" id="{E4B7506C-D650-CA0A-A248-FFF9218E2271}"/>
              </a:ext>
            </a:extLst>
          </p:cNvPr>
          <p:cNvPicPr>
            <a:picLocks noChangeAspect="1"/>
          </p:cNvPicPr>
          <p:nvPr/>
        </p:nvPicPr>
        <p:blipFill>
          <a:blip r:embed="rId3"/>
          <a:stretch>
            <a:fillRect/>
          </a:stretch>
        </p:blipFill>
        <p:spPr>
          <a:xfrm>
            <a:off x="5537200" y="1784585"/>
            <a:ext cx="6113812" cy="3286174"/>
          </a:xfrm>
          <a:prstGeom prst="rect">
            <a:avLst/>
          </a:prstGeom>
        </p:spPr>
      </p:pic>
    </p:spTree>
    <p:extLst>
      <p:ext uri="{BB962C8B-B14F-4D97-AF65-F5344CB8AC3E}">
        <p14:creationId xmlns:p14="http://schemas.microsoft.com/office/powerpoint/2010/main" val="2422024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ADD72DC-CC5F-44D6-97D3-79407D4FF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1058433"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B083E179-CF1F-4694-AEAB-6931C9B31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a:off x="388193"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E6257A7-D071-42C9-8560-75A6EAE27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854399" y="71786"/>
            <a:ext cx="2287608" cy="3673900"/>
            <a:chOff x="-6080955" y="3437416"/>
            <a:chExt cx="2287608" cy="3673900"/>
          </a:xfrm>
        </p:grpSpPr>
        <p:cxnSp>
          <p:nvCxnSpPr>
            <p:cNvPr id="15" name="Straight Connector 14">
              <a:extLst>
                <a:ext uri="{FF2B5EF4-FFF2-40B4-BE49-F238E27FC236}">
                  <a16:creationId xmlns:a16="http://schemas.microsoft.com/office/drawing/2014/main" id="{52115B20-516B-48FE-ABF8-0300640B54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572F2AC0-C134-4522-9F34-10107EC52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0EA2E5B3-77CC-4AA0-A77A-5D95FCDD5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005C810-6BE0-4E85-BA3D-785C45D9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D4ECB930-9F06-48DB-86D3-75A7E6A2C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C9116707-08B8-43A2-8DCB-845D77ABA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Freeform: Shape 20">
              <a:extLst>
                <a:ext uri="{FF2B5EF4-FFF2-40B4-BE49-F238E27FC236}">
                  <a16:creationId xmlns:a16="http://schemas.microsoft.com/office/drawing/2014/main" id="{2E7DC9CC-81EB-48D8-AC44-C99F4774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eeform: Shape 21">
              <a:extLst>
                <a:ext uri="{FF2B5EF4-FFF2-40B4-BE49-F238E27FC236}">
                  <a16:creationId xmlns:a16="http://schemas.microsoft.com/office/drawing/2014/main" id="{23E2C41B-8946-4545-9CF1-997818234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4" name="Freeform: Shape 23">
            <a:extLst>
              <a:ext uri="{FF2B5EF4-FFF2-40B4-BE49-F238E27FC236}">
                <a16:creationId xmlns:a16="http://schemas.microsoft.com/office/drawing/2014/main" id="{8AD7D35B-560E-435E-B0FD-0F84A2E6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V="1">
            <a:off x="8942212"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nvGrpSpPr>
          <p:cNvPr id="26" name="Group 25">
            <a:extLst>
              <a:ext uri="{FF2B5EF4-FFF2-40B4-BE49-F238E27FC236}">
                <a16:creationId xmlns:a16="http://schemas.microsoft.com/office/drawing/2014/main" id="{AC46C823-4AEE-4D15-A7B7-556599F864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521489" y="5639014"/>
            <a:ext cx="865742" cy="628383"/>
            <a:chOff x="558167" y="958515"/>
            <a:chExt cx="865742" cy="628383"/>
          </a:xfrm>
          <a:solidFill>
            <a:schemeClr val="accent3"/>
          </a:solidFill>
        </p:grpSpPr>
        <p:sp>
          <p:nvSpPr>
            <p:cNvPr id="27" name="Freeform: Shape 26">
              <a:extLst>
                <a:ext uri="{FF2B5EF4-FFF2-40B4-BE49-F238E27FC236}">
                  <a16:creationId xmlns:a16="http://schemas.microsoft.com/office/drawing/2014/main" id="{7FE368E1-8B21-487B-879D-A96309199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58A31684-3F27-4828-8633-A1624B02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0" name="Group 29">
            <a:extLst>
              <a:ext uri="{FF2B5EF4-FFF2-40B4-BE49-F238E27FC236}">
                <a16:creationId xmlns:a16="http://schemas.microsoft.com/office/drawing/2014/main" id="{766CF5CA-BCE0-446B-990C-62FB772AB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486523" y="3291143"/>
            <a:ext cx="1785983" cy="2208479"/>
            <a:chOff x="2725201" y="4453039"/>
            <a:chExt cx="1785983" cy="2208479"/>
          </a:xfrm>
        </p:grpSpPr>
        <p:cxnSp>
          <p:nvCxnSpPr>
            <p:cNvPr id="31" name="Straight Connector 30">
              <a:extLst>
                <a:ext uri="{FF2B5EF4-FFF2-40B4-BE49-F238E27FC236}">
                  <a16:creationId xmlns:a16="http://schemas.microsoft.com/office/drawing/2014/main" id="{791F38DD-D787-4EE5-931B-C8CC2ED92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4E1D11-C91E-45F4-9A4A-EC0243DE76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3D0A83C-B0AD-4E04-B3FE-48D739F6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34" name="Rectangle 30">
              <a:extLst>
                <a:ext uri="{FF2B5EF4-FFF2-40B4-BE49-F238E27FC236}">
                  <a16:creationId xmlns:a16="http://schemas.microsoft.com/office/drawing/2014/main" id="{AF60A4C7-053A-4E00-9224-C9C9CAA54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0">
              <a:extLst>
                <a:ext uri="{FF2B5EF4-FFF2-40B4-BE49-F238E27FC236}">
                  <a16:creationId xmlns:a16="http://schemas.microsoft.com/office/drawing/2014/main" id="{C90A005E-7D6C-4543-AE86-10F5BA1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C174C2C-9AC5-4D2F-B12B-8AD9BE8773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flipV="1">
            <a:off x="473803" y="5280732"/>
            <a:ext cx="864005" cy="1032464"/>
            <a:chOff x="2207971" y="2384401"/>
            <a:chExt cx="864005" cy="1032464"/>
          </a:xfrm>
        </p:grpSpPr>
        <p:sp>
          <p:nvSpPr>
            <p:cNvPr id="38" name="Freeform: Shape 37">
              <a:extLst>
                <a:ext uri="{FF2B5EF4-FFF2-40B4-BE49-F238E27FC236}">
                  <a16:creationId xmlns:a16="http://schemas.microsoft.com/office/drawing/2014/main" id="{F2A1D572-4E75-4B18-83CD-369937018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Freeform: Shape 38">
              <a:extLst>
                <a:ext uri="{FF2B5EF4-FFF2-40B4-BE49-F238E27FC236}">
                  <a16:creationId xmlns:a16="http://schemas.microsoft.com/office/drawing/2014/main" id="{A4501448-AAB4-4BDF-81E5-BF4BEF2A4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0" name="Group 39">
              <a:extLst>
                <a:ext uri="{FF2B5EF4-FFF2-40B4-BE49-F238E27FC236}">
                  <a16:creationId xmlns:a16="http://schemas.microsoft.com/office/drawing/2014/main" id="{DA5CA3F8-7E28-4253-9221-2849B189136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41" name="Straight Connector 40">
                <a:extLst>
                  <a:ext uri="{FF2B5EF4-FFF2-40B4-BE49-F238E27FC236}">
                    <a16:creationId xmlns:a16="http://schemas.microsoft.com/office/drawing/2014/main" id="{ABAD8F42-57F4-4A12-8B47-E199EA174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F509FE-DD9E-4AB3-94EE-468C868875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43">
            <a:extLst>
              <a:ext uri="{FF2B5EF4-FFF2-40B4-BE49-F238E27FC236}">
                <a16:creationId xmlns:a16="http://schemas.microsoft.com/office/drawing/2014/main" id="{A7F45189-997F-4E6B-800E-D17FF116E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114077"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BC214B40-3523-42BE-856A-2B90472652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9049994" y="71786"/>
            <a:ext cx="2287608" cy="3673900"/>
            <a:chOff x="-6080955" y="3437416"/>
            <a:chExt cx="2287608" cy="3673900"/>
          </a:xfrm>
        </p:grpSpPr>
        <p:cxnSp>
          <p:nvCxnSpPr>
            <p:cNvPr id="47" name="Straight Connector 46">
              <a:extLst>
                <a:ext uri="{FF2B5EF4-FFF2-40B4-BE49-F238E27FC236}">
                  <a16:creationId xmlns:a16="http://schemas.microsoft.com/office/drawing/2014/main" id="{5626B876-FE3F-403F-B675-FB9415E00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Freeform: Shape 47">
              <a:extLst>
                <a:ext uri="{FF2B5EF4-FFF2-40B4-BE49-F238E27FC236}">
                  <a16:creationId xmlns:a16="http://schemas.microsoft.com/office/drawing/2014/main" id="{03F8DDE7-4258-4181-9F2B-940B587EE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eeform: Shape 48">
              <a:extLst>
                <a:ext uri="{FF2B5EF4-FFF2-40B4-BE49-F238E27FC236}">
                  <a16:creationId xmlns:a16="http://schemas.microsoft.com/office/drawing/2014/main" id="{4EED88FA-E654-453B-92BF-21196E32B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7F3C238A-5CF1-4927-B70F-C99112299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Freeform: Shape 50">
              <a:extLst>
                <a:ext uri="{FF2B5EF4-FFF2-40B4-BE49-F238E27FC236}">
                  <a16:creationId xmlns:a16="http://schemas.microsoft.com/office/drawing/2014/main" id="{42EAC2EE-4C33-44A6-A62B-6130E320A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Freeform: Shape 51">
              <a:extLst>
                <a:ext uri="{FF2B5EF4-FFF2-40B4-BE49-F238E27FC236}">
                  <a16:creationId xmlns:a16="http://schemas.microsoft.com/office/drawing/2014/main" id="{0F2EC395-DF39-4C41-A452-37AF723EA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Freeform: Shape 52">
              <a:extLst>
                <a:ext uri="{FF2B5EF4-FFF2-40B4-BE49-F238E27FC236}">
                  <a16:creationId xmlns:a16="http://schemas.microsoft.com/office/drawing/2014/main" id="{2425D947-0068-4059-B9BE-93A3B27CD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Freeform: Shape 53">
              <a:extLst>
                <a:ext uri="{FF2B5EF4-FFF2-40B4-BE49-F238E27FC236}">
                  <a16:creationId xmlns:a16="http://schemas.microsoft.com/office/drawing/2014/main" id="{80F2FE05-A04C-4860-B709-2FCBEAE8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ytuł 1">
            <a:extLst>
              <a:ext uri="{FF2B5EF4-FFF2-40B4-BE49-F238E27FC236}">
                <a16:creationId xmlns:a16="http://schemas.microsoft.com/office/drawing/2014/main" id="{32E71583-A50E-C5BD-B729-E841DFB251AC}"/>
              </a:ext>
            </a:extLst>
          </p:cNvPr>
          <p:cNvSpPr>
            <a:spLocks noGrp="1"/>
          </p:cNvSpPr>
          <p:nvPr>
            <p:ph type="title"/>
          </p:nvPr>
        </p:nvSpPr>
        <p:spPr>
          <a:xfrm>
            <a:off x="3882610" y="1011237"/>
            <a:ext cx="4426782" cy="860400"/>
          </a:xfrm>
        </p:spPr>
        <p:txBody>
          <a:bodyPr anchor="b">
            <a:normAutofit/>
          </a:bodyPr>
          <a:lstStyle/>
          <a:p>
            <a:pPr algn="ctr">
              <a:lnSpc>
                <a:spcPct val="90000"/>
              </a:lnSpc>
            </a:pPr>
            <a:r>
              <a:rPr lang="pl-PL" sz="2400"/>
              <a:t>Jak </a:t>
            </a:r>
            <a:r>
              <a:rPr lang="pl-PL" sz="2400" err="1"/>
              <a:t>pivot</a:t>
            </a:r>
            <a:r>
              <a:rPr lang="pl-PL" sz="2400"/>
              <a:t> wpływa na zespół i projekt</a:t>
            </a:r>
          </a:p>
        </p:txBody>
      </p:sp>
      <p:cxnSp>
        <p:nvCxnSpPr>
          <p:cNvPr id="56" name="Straight Connector 55">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612829D-8F81-C5A8-52D3-DF9F9BB372F1}"/>
              </a:ext>
            </a:extLst>
          </p:cNvPr>
          <p:cNvSpPr>
            <a:spLocks noGrp="1"/>
          </p:cNvSpPr>
          <p:nvPr>
            <p:ph idx="1"/>
          </p:nvPr>
        </p:nvSpPr>
        <p:spPr>
          <a:xfrm>
            <a:off x="3863976" y="2759076"/>
            <a:ext cx="4460874" cy="3009899"/>
          </a:xfrm>
        </p:spPr>
        <p:txBody>
          <a:bodyPr>
            <a:normAutofit/>
          </a:bodyPr>
          <a:lstStyle/>
          <a:p>
            <a:pPr marL="0" indent="0" algn="ctr">
              <a:lnSpc>
                <a:spcPct val="115000"/>
              </a:lnSpc>
              <a:buNone/>
            </a:pPr>
            <a:r>
              <a:rPr lang="pl-PL" dirty="0" err="1"/>
              <a:t>Pivot</a:t>
            </a:r>
            <a:r>
              <a:rPr lang="pl-PL" dirty="0"/>
              <a:t> oznacza zmianę kierunku rozwoju startupu wynikającą z weryfikacji hipotez rynkowych. Jest to sytuacja, w której zespół na podstawie danych stwierdza, że pierwotny pomysł nie przynosi oczekiwanych rezultatów i konieczna jest zmiana produktu, grupy docelowej lub modelu biznesowego.</a:t>
            </a:r>
          </a:p>
        </p:txBody>
      </p:sp>
      <p:grpSp>
        <p:nvGrpSpPr>
          <p:cNvPr id="58" name="Group 57">
            <a:extLst>
              <a:ext uri="{FF2B5EF4-FFF2-40B4-BE49-F238E27FC236}">
                <a16:creationId xmlns:a16="http://schemas.microsoft.com/office/drawing/2014/main" id="{69D14CB3-B46C-4D52-91C7-9020767C0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10901022" y="5639014"/>
            <a:ext cx="865742" cy="628383"/>
            <a:chOff x="558167" y="958515"/>
            <a:chExt cx="865742" cy="628383"/>
          </a:xfrm>
          <a:solidFill>
            <a:schemeClr val="accent3"/>
          </a:solidFill>
        </p:grpSpPr>
        <p:sp>
          <p:nvSpPr>
            <p:cNvPr id="59" name="Freeform: Shape 58">
              <a:extLst>
                <a:ext uri="{FF2B5EF4-FFF2-40B4-BE49-F238E27FC236}">
                  <a16:creationId xmlns:a16="http://schemas.microsoft.com/office/drawing/2014/main" id="{3A77D7F4-D3A2-4801-9AC3-6626FDE15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reeform: Shape 59">
              <a:extLst>
                <a:ext uri="{FF2B5EF4-FFF2-40B4-BE49-F238E27FC236}">
                  <a16:creationId xmlns:a16="http://schemas.microsoft.com/office/drawing/2014/main" id="{1E62BACE-7CE7-442A-BFFB-8BC57C446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2" name="Group 61">
            <a:extLst>
              <a:ext uri="{FF2B5EF4-FFF2-40B4-BE49-F238E27FC236}">
                <a16:creationId xmlns:a16="http://schemas.microsoft.com/office/drawing/2014/main" id="{695E1464-F8FF-467B-BC7A-2DB63FD734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9919495" y="3291143"/>
            <a:ext cx="1785983" cy="2208479"/>
            <a:chOff x="2725201" y="4453039"/>
            <a:chExt cx="1785983" cy="2208479"/>
          </a:xfrm>
        </p:grpSpPr>
        <p:cxnSp>
          <p:nvCxnSpPr>
            <p:cNvPr id="63" name="Straight Connector 62">
              <a:extLst>
                <a:ext uri="{FF2B5EF4-FFF2-40B4-BE49-F238E27FC236}">
                  <a16:creationId xmlns:a16="http://schemas.microsoft.com/office/drawing/2014/main" id="{1D9EF77E-636A-4F91-8AC6-2926F2512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9F8CE5-DA1D-4DAF-A044-400C40169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Shape 64">
              <a:extLst>
                <a:ext uri="{FF2B5EF4-FFF2-40B4-BE49-F238E27FC236}">
                  <a16:creationId xmlns:a16="http://schemas.microsoft.com/office/drawing/2014/main" id="{9C47A2FE-4826-4485-B3C0-56DF9A73A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66" name="Rectangle 30">
              <a:extLst>
                <a:ext uri="{FF2B5EF4-FFF2-40B4-BE49-F238E27FC236}">
                  <a16:creationId xmlns:a16="http://schemas.microsoft.com/office/drawing/2014/main" id="{A9D0A0EF-4934-4E46-A33A-95E5D932D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EA389321-1892-4D9B-9F10-CA83BC15F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D9F93B70-A436-473C-A7CE-540999A596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V="1">
            <a:off x="10854193" y="5280732"/>
            <a:ext cx="864005" cy="1032464"/>
            <a:chOff x="2207971" y="2384401"/>
            <a:chExt cx="864005" cy="1032464"/>
          </a:xfrm>
        </p:grpSpPr>
        <p:sp>
          <p:nvSpPr>
            <p:cNvPr id="70" name="Freeform: Shape 69">
              <a:extLst>
                <a:ext uri="{FF2B5EF4-FFF2-40B4-BE49-F238E27FC236}">
                  <a16:creationId xmlns:a16="http://schemas.microsoft.com/office/drawing/2014/main" id="{C78ABD64-1B50-4D55-BC1F-146CC4D6E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Shape 70">
              <a:extLst>
                <a:ext uri="{FF2B5EF4-FFF2-40B4-BE49-F238E27FC236}">
                  <a16:creationId xmlns:a16="http://schemas.microsoft.com/office/drawing/2014/main" id="{57FC7EAA-9D36-4047-8A25-796E944D1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2" name="Group 71">
              <a:extLst>
                <a:ext uri="{FF2B5EF4-FFF2-40B4-BE49-F238E27FC236}">
                  <a16:creationId xmlns:a16="http://schemas.microsoft.com/office/drawing/2014/main" id="{0C72E6B1-2CDE-4B76-BB57-54923A35BC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73" name="Straight Connector 72">
                <a:extLst>
                  <a:ext uri="{FF2B5EF4-FFF2-40B4-BE49-F238E27FC236}">
                    <a16:creationId xmlns:a16="http://schemas.microsoft.com/office/drawing/2014/main" id="{0A618DA4-FD3B-435B-9077-6643BD6C93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579CD8F-9756-4DC0-A735-0CA77A873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878968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443116B-3E9D-210A-4F57-92DAE4AD02D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F6BCC98-5605-BE26-EC2F-8F05F6BDEECF}"/>
              </a:ext>
            </a:extLst>
          </p:cNvPr>
          <p:cNvSpPr>
            <a:spLocks noGrp="1"/>
          </p:cNvSpPr>
          <p:nvPr>
            <p:ph type="title"/>
          </p:nvPr>
        </p:nvSpPr>
        <p:spPr>
          <a:xfrm>
            <a:off x="540988" y="540033"/>
            <a:ext cx="3884962" cy="1331604"/>
          </a:xfrm>
        </p:spPr>
        <p:txBody>
          <a:bodyPr anchor="b">
            <a:normAutofit/>
          </a:bodyPr>
          <a:lstStyle/>
          <a:p>
            <a:pPr algn="ctr"/>
            <a:r>
              <a:rPr lang="pl-PL" sz="2600"/>
              <a:t>Jak </a:t>
            </a:r>
            <a:r>
              <a:rPr lang="pl-PL" sz="2600" err="1"/>
              <a:t>pivot</a:t>
            </a:r>
            <a:r>
              <a:rPr lang="pl-PL" sz="2600"/>
              <a:t> wpływa na zespół i projekt</a:t>
            </a:r>
          </a:p>
        </p:txBody>
      </p:sp>
      <p:cxnSp>
        <p:nvCxnSpPr>
          <p:cNvPr id="14" name="Straight Connector 13">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6D9260CF-CD14-ECEE-212A-AEA6A6843503}"/>
              </a:ext>
            </a:extLst>
          </p:cNvPr>
          <p:cNvSpPr>
            <a:spLocks noGrp="1"/>
          </p:cNvSpPr>
          <p:nvPr>
            <p:ph idx="1"/>
          </p:nvPr>
        </p:nvSpPr>
        <p:spPr>
          <a:xfrm>
            <a:off x="540988" y="2759076"/>
            <a:ext cx="3884962" cy="3009899"/>
          </a:xfrm>
        </p:spPr>
        <p:txBody>
          <a:bodyPr>
            <a:normAutofit/>
          </a:bodyPr>
          <a:lstStyle/>
          <a:p>
            <a:endParaRPr lang="en-US"/>
          </a:p>
        </p:txBody>
      </p:sp>
      <p:sp>
        <p:nvSpPr>
          <p:cNvPr id="16" name="Rectangle 15">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Symbol zastępczy zawartości 4">
            <a:extLst>
              <a:ext uri="{FF2B5EF4-FFF2-40B4-BE49-F238E27FC236}">
                <a16:creationId xmlns:a16="http://schemas.microsoft.com/office/drawing/2014/main" id="{940015D2-3275-85E5-757C-3E1CF31FA682}"/>
              </a:ext>
            </a:extLst>
          </p:cNvPr>
          <p:cNvPicPr>
            <a:picLocks noChangeAspect="1"/>
          </p:cNvPicPr>
          <p:nvPr/>
        </p:nvPicPr>
        <p:blipFill>
          <a:blip r:embed="rId3"/>
          <a:stretch>
            <a:fillRect/>
          </a:stretch>
        </p:blipFill>
        <p:spPr>
          <a:xfrm>
            <a:off x="5537200" y="1287839"/>
            <a:ext cx="6113812" cy="4279667"/>
          </a:xfrm>
          <a:prstGeom prst="rect">
            <a:avLst/>
          </a:prstGeom>
        </p:spPr>
      </p:pic>
    </p:spTree>
    <p:extLst>
      <p:ext uri="{BB962C8B-B14F-4D97-AF65-F5344CB8AC3E}">
        <p14:creationId xmlns:p14="http://schemas.microsoft.com/office/powerpoint/2010/main" val="339562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C661035-DF07-2A2A-6A82-E8027C176129}"/>
              </a:ext>
            </a:extLst>
          </p:cNvPr>
          <p:cNvSpPr>
            <a:spLocks noGrp="1"/>
          </p:cNvSpPr>
          <p:nvPr>
            <p:ph type="title"/>
          </p:nvPr>
        </p:nvSpPr>
        <p:spPr>
          <a:xfrm>
            <a:off x="1078100" y="542671"/>
            <a:ext cx="10026650" cy="1124202"/>
          </a:xfrm>
        </p:spPr>
        <p:txBody>
          <a:bodyPr wrap="square" anchor="ctr">
            <a:normAutofit/>
          </a:bodyPr>
          <a:lstStyle/>
          <a:p>
            <a:pPr algn="ctr"/>
            <a:r>
              <a:rPr lang="pl-PL" dirty="0"/>
              <a:t>Jak mierzyć </a:t>
            </a:r>
            <a:r>
              <a:rPr lang="pl-PL" dirty="0" err="1"/>
              <a:t>traction</a:t>
            </a:r>
            <a:endParaRPr lang="pl-PL"/>
          </a:p>
        </p:txBody>
      </p:sp>
      <p:sp useBgFill="1">
        <p:nvSpPr>
          <p:cNvPr id="11"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5" name="Symbol zastępczy zawartości 2">
            <a:extLst>
              <a:ext uri="{FF2B5EF4-FFF2-40B4-BE49-F238E27FC236}">
                <a16:creationId xmlns:a16="http://schemas.microsoft.com/office/drawing/2014/main" id="{88317A66-0440-444B-4DE4-2C33BF469324}"/>
              </a:ext>
            </a:extLst>
          </p:cNvPr>
          <p:cNvGraphicFramePr>
            <a:graphicFrameLocks noGrp="1"/>
          </p:cNvGraphicFramePr>
          <p:nvPr>
            <p:ph idx="1"/>
            <p:extLst>
              <p:ext uri="{D42A27DB-BD31-4B8C-83A1-F6EECF244321}">
                <p14:modId xmlns:p14="http://schemas.microsoft.com/office/powerpoint/2010/main" val="1558073086"/>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8224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1D6D9F8A-E98C-4E71-C0D1-D0D622747E5A}"/>
              </a:ext>
            </a:extLst>
          </p:cNvPr>
          <p:cNvSpPr>
            <a:spLocks noGrp="1"/>
          </p:cNvSpPr>
          <p:nvPr>
            <p:ph type="title"/>
          </p:nvPr>
        </p:nvSpPr>
        <p:spPr>
          <a:xfrm>
            <a:off x="541338" y="1079500"/>
            <a:ext cx="3322637" cy="4689475"/>
          </a:xfrm>
        </p:spPr>
        <p:txBody>
          <a:bodyPr anchor="ctr">
            <a:normAutofit/>
          </a:bodyPr>
          <a:lstStyle/>
          <a:p>
            <a:pPr algn="ctr"/>
            <a:r>
              <a:rPr lang="pl-PL" dirty="0"/>
              <a:t>Jak skalować startup po osiągnięciu </a:t>
            </a:r>
            <a:r>
              <a:rPr lang="pl-PL" dirty="0" err="1"/>
              <a:t>product</a:t>
            </a:r>
            <a:r>
              <a:rPr lang="pl-PL" dirty="0"/>
              <a:t>–market </a:t>
            </a:r>
            <a:r>
              <a:rPr lang="pl-PL" dirty="0" err="1"/>
              <a:t>fit</a:t>
            </a:r>
            <a:endParaRPr lang="pl-PL" dirty="0"/>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ymbol zastępczy zawartości 2">
            <a:extLst>
              <a:ext uri="{FF2B5EF4-FFF2-40B4-BE49-F238E27FC236}">
                <a16:creationId xmlns:a16="http://schemas.microsoft.com/office/drawing/2014/main" id="{688B59F1-6B6D-4F95-EB8F-2391D4023B61}"/>
              </a:ext>
            </a:extLst>
          </p:cNvPr>
          <p:cNvGraphicFramePr>
            <a:graphicFrameLocks noGrp="1"/>
          </p:cNvGraphicFramePr>
          <p:nvPr>
            <p:ph idx="1"/>
            <p:extLst>
              <p:ext uri="{D42A27DB-BD31-4B8C-83A1-F6EECF244321}">
                <p14:modId xmlns:p14="http://schemas.microsoft.com/office/powerpoint/2010/main" val="4176782081"/>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1106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75DF77F-6A08-C351-C1C7-92AD5D27507B}"/>
              </a:ext>
            </a:extLst>
          </p:cNvPr>
          <p:cNvSpPr>
            <a:spLocks noGrp="1"/>
          </p:cNvSpPr>
          <p:nvPr>
            <p:ph type="title"/>
          </p:nvPr>
        </p:nvSpPr>
        <p:spPr>
          <a:xfrm>
            <a:off x="541338" y="1079500"/>
            <a:ext cx="3322637" cy="4689475"/>
          </a:xfrm>
        </p:spPr>
        <p:txBody>
          <a:bodyPr anchor="ctr">
            <a:normAutofit/>
          </a:bodyPr>
          <a:lstStyle/>
          <a:p>
            <a:pPr algn="ctr"/>
            <a:r>
              <a:rPr lang="pl-PL"/>
              <a:t>Modele rozwoju w projektach ML: Model-first vs Product-first</a:t>
            </a:r>
          </a:p>
        </p:txBody>
      </p:sp>
      <p:sp>
        <p:nvSpPr>
          <p:cNvPr id="14"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5" name="Symbol zastępczy zawartości 2">
            <a:extLst>
              <a:ext uri="{FF2B5EF4-FFF2-40B4-BE49-F238E27FC236}">
                <a16:creationId xmlns:a16="http://schemas.microsoft.com/office/drawing/2014/main" id="{BE8AA9C7-9CEC-A027-AB46-737448C7D0F5}"/>
              </a:ext>
            </a:extLst>
          </p:cNvPr>
          <p:cNvGraphicFramePr>
            <a:graphicFrameLocks noGrp="1"/>
          </p:cNvGraphicFramePr>
          <p:nvPr>
            <p:ph idx="1"/>
            <p:extLst>
              <p:ext uri="{D42A27DB-BD31-4B8C-83A1-F6EECF244321}">
                <p14:modId xmlns:p14="http://schemas.microsoft.com/office/powerpoint/2010/main" val="406999489"/>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442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ADD72DC-CC5F-44D6-97D3-79407D4FF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1058433"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B083E179-CF1F-4694-AEAB-6931C9B31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a:off x="388193"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E6257A7-D071-42C9-8560-75A6EAE27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854399" y="71786"/>
            <a:ext cx="2287608" cy="3673900"/>
            <a:chOff x="-6080955" y="3437416"/>
            <a:chExt cx="2287608" cy="3673900"/>
          </a:xfrm>
        </p:grpSpPr>
        <p:cxnSp>
          <p:nvCxnSpPr>
            <p:cNvPr id="15" name="Straight Connector 14">
              <a:extLst>
                <a:ext uri="{FF2B5EF4-FFF2-40B4-BE49-F238E27FC236}">
                  <a16:creationId xmlns:a16="http://schemas.microsoft.com/office/drawing/2014/main" id="{52115B20-516B-48FE-ABF8-0300640B54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572F2AC0-C134-4522-9F34-10107EC52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0EA2E5B3-77CC-4AA0-A77A-5D95FCDD5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005C810-6BE0-4E85-BA3D-785C45D9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D4ECB930-9F06-48DB-86D3-75A7E6A2C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C9116707-08B8-43A2-8DCB-845D77ABA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Freeform: Shape 20">
              <a:extLst>
                <a:ext uri="{FF2B5EF4-FFF2-40B4-BE49-F238E27FC236}">
                  <a16:creationId xmlns:a16="http://schemas.microsoft.com/office/drawing/2014/main" id="{2E7DC9CC-81EB-48D8-AC44-C99F4774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eeform: Shape 21">
              <a:extLst>
                <a:ext uri="{FF2B5EF4-FFF2-40B4-BE49-F238E27FC236}">
                  <a16:creationId xmlns:a16="http://schemas.microsoft.com/office/drawing/2014/main" id="{23E2C41B-8946-4545-9CF1-997818234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4" name="Freeform: Shape 23">
            <a:extLst>
              <a:ext uri="{FF2B5EF4-FFF2-40B4-BE49-F238E27FC236}">
                <a16:creationId xmlns:a16="http://schemas.microsoft.com/office/drawing/2014/main" id="{8AD7D35B-560E-435E-B0FD-0F84A2E6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V="1">
            <a:off x="8942212"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nvGrpSpPr>
          <p:cNvPr id="26" name="Group 25">
            <a:extLst>
              <a:ext uri="{FF2B5EF4-FFF2-40B4-BE49-F238E27FC236}">
                <a16:creationId xmlns:a16="http://schemas.microsoft.com/office/drawing/2014/main" id="{AC46C823-4AEE-4D15-A7B7-556599F864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521489" y="5639014"/>
            <a:ext cx="865742" cy="628383"/>
            <a:chOff x="558167" y="958515"/>
            <a:chExt cx="865742" cy="628383"/>
          </a:xfrm>
          <a:solidFill>
            <a:schemeClr val="accent3"/>
          </a:solidFill>
        </p:grpSpPr>
        <p:sp>
          <p:nvSpPr>
            <p:cNvPr id="27" name="Freeform: Shape 26">
              <a:extLst>
                <a:ext uri="{FF2B5EF4-FFF2-40B4-BE49-F238E27FC236}">
                  <a16:creationId xmlns:a16="http://schemas.microsoft.com/office/drawing/2014/main" id="{7FE368E1-8B21-487B-879D-A96309199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58A31684-3F27-4828-8633-A1624B02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0" name="Group 29">
            <a:extLst>
              <a:ext uri="{FF2B5EF4-FFF2-40B4-BE49-F238E27FC236}">
                <a16:creationId xmlns:a16="http://schemas.microsoft.com/office/drawing/2014/main" id="{766CF5CA-BCE0-446B-990C-62FB772AB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486523" y="3291143"/>
            <a:ext cx="1785983" cy="2208479"/>
            <a:chOff x="2725201" y="4453039"/>
            <a:chExt cx="1785983" cy="2208479"/>
          </a:xfrm>
        </p:grpSpPr>
        <p:cxnSp>
          <p:nvCxnSpPr>
            <p:cNvPr id="31" name="Straight Connector 30">
              <a:extLst>
                <a:ext uri="{FF2B5EF4-FFF2-40B4-BE49-F238E27FC236}">
                  <a16:creationId xmlns:a16="http://schemas.microsoft.com/office/drawing/2014/main" id="{791F38DD-D787-4EE5-931B-C8CC2ED92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4E1D11-C91E-45F4-9A4A-EC0243DE76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3D0A83C-B0AD-4E04-B3FE-48D739F6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34" name="Rectangle 30">
              <a:extLst>
                <a:ext uri="{FF2B5EF4-FFF2-40B4-BE49-F238E27FC236}">
                  <a16:creationId xmlns:a16="http://schemas.microsoft.com/office/drawing/2014/main" id="{AF60A4C7-053A-4E00-9224-C9C9CAA54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0">
              <a:extLst>
                <a:ext uri="{FF2B5EF4-FFF2-40B4-BE49-F238E27FC236}">
                  <a16:creationId xmlns:a16="http://schemas.microsoft.com/office/drawing/2014/main" id="{C90A005E-7D6C-4543-AE86-10F5BA1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C174C2C-9AC5-4D2F-B12B-8AD9BE8773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flipV="1">
            <a:off x="473803" y="5280732"/>
            <a:ext cx="864005" cy="1032464"/>
            <a:chOff x="2207971" y="2384401"/>
            <a:chExt cx="864005" cy="1032464"/>
          </a:xfrm>
        </p:grpSpPr>
        <p:sp>
          <p:nvSpPr>
            <p:cNvPr id="38" name="Freeform: Shape 37">
              <a:extLst>
                <a:ext uri="{FF2B5EF4-FFF2-40B4-BE49-F238E27FC236}">
                  <a16:creationId xmlns:a16="http://schemas.microsoft.com/office/drawing/2014/main" id="{F2A1D572-4E75-4B18-83CD-369937018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Freeform: Shape 38">
              <a:extLst>
                <a:ext uri="{FF2B5EF4-FFF2-40B4-BE49-F238E27FC236}">
                  <a16:creationId xmlns:a16="http://schemas.microsoft.com/office/drawing/2014/main" id="{A4501448-AAB4-4BDF-81E5-BF4BEF2A4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0" name="Group 39">
              <a:extLst>
                <a:ext uri="{FF2B5EF4-FFF2-40B4-BE49-F238E27FC236}">
                  <a16:creationId xmlns:a16="http://schemas.microsoft.com/office/drawing/2014/main" id="{DA5CA3F8-7E28-4253-9221-2849B189136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41" name="Straight Connector 40">
                <a:extLst>
                  <a:ext uri="{FF2B5EF4-FFF2-40B4-BE49-F238E27FC236}">
                    <a16:creationId xmlns:a16="http://schemas.microsoft.com/office/drawing/2014/main" id="{ABAD8F42-57F4-4A12-8B47-E199EA174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F509FE-DD9E-4AB3-94EE-468C868875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43">
            <a:extLst>
              <a:ext uri="{FF2B5EF4-FFF2-40B4-BE49-F238E27FC236}">
                <a16:creationId xmlns:a16="http://schemas.microsoft.com/office/drawing/2014/main" id="{A7F45189-997F-4E6B-800E-D17FF116E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114077"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BC214B40-3523-42BE-856A-2B90472652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9049994" y="71786"/>
            <a:ext cx="2287608" cy="3673900"/>
            <a:chOff x="-6080955" y="3437416"/>
            <a:chExt cx="2287608" cy="3673900"/>
          </a:xfrm>
        </p:grpSpPr>
        <p:cxnSp>
          <p:nvCxnSpPr>
            <p:cNvPr id="47" name="Straight Connector 46">
              <a:extLst>
                <a:ext uri="{FF2B5EF4-FFF2-40B4-BE49-F238E27FC236}">
                  <a16:creationId xmlns:a16="http://schemas.microsoft.com/office/drawing/2014/main" id="{5626B876-FE3F-403F-B675-FB9415E00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Freeform: Shape 47">
              <a:extLst>
                <a:ext uri="{FF2B5EF4-FFF2-40B4-BE49-F238E27FC236}">
                  <a16:creationId xmlns:a16="http://schemas.microsoft.com/office/drawing/2014/main" id="{03F8DDE7-4258-4181-9F2B-940B587EE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eeform: Shape 48">
              <a:extLst>
                <a:ext uri="{FF2B5EF4-FFF2-40B4-BE49-F238E27FC236}">
                  <a16:creationId xmlns:a16="http://schemas.microsoft.com/office/drawing/2014/main" id="{4EED88FA-E654-453B-92BF-21196E32B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7F3C238A-5CF1-4927-B70F-C99112299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Freeform: Shape 50">
              <a:extLst>
                <a:ext uri="{FF2B5EF4-FFF2-40B4-BE49-F238E27FC236}">
                  <a16:creationId xmlns:a16="http://schemas.microsoft.com/office/drawing/2014/main" id="{42EAC2EE-4C33-44A6-A62B-6130E320A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Freeform: Shape 51">
              <a:extLst>
                <a:ext uri="{FF2B5EF4-FFF2-40B4-BE49-F238E27FC236}">
                  <a16:creationId xmlns:a16="http://schemas.microsoft.com/office/drawing/2014/main" id="{0F2EC395-DF39-4C41-A452-37AF723EA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Freeform: Shape 52">
              <a:extLst>
                <a:ext uri="{FF2B5EF4-FFF2-40B4-BE49-F238E27FC236}">
                  <a16:creationId xmlns:a16="http://schemas.microsoft.com/office/drawing/2014/main" id="{2425D947-0068-4059-B9BE-93A3B27CD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Freeform: Shape 53">
              <a:extLst>
                <a:ext uri="{FF2B5EF4-FFF2-40B4-BE49-F238E27FC236}">
                  <a16:creationId xmlns:a16="http://schemas.microsoft.com/office/drawing/2014/main" id="{80F2FE05-A04C-4860-B709-2FCBEAE8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ytuł 1">
            <a:extLst>
              <a:ext uri="{FF2B5EF4-FFF2-40B4-BE49-F238E27FC236}">
                <a16:creationId xmlns:a16="http://schemas.microsoft.com/office/drawing/2014/main" id="{8F2D2DE1-EA7C-083B-E3B6-AA80025FDD0E}"/>
              </a:ext>
            </a:extLst>
          </p:cNvPr>
          <p:cNvSpPr>
            <a:spLocks noGrp="1"/>
          </p:cNvSpPr>
          <p:nvPr>
            <p:ph type="title"/>
          </p:nvPr>
        </p:nvSpPr>
        <p:spPr>
          <a:xfrm>
            <a:off x="3882610" y="1011237"/>
            <a:ext cx="4426782" cy="860400"/>
          </a:xfrm>
        </p:spPr>
        <p:txBody>
          <a:bodyPr anchor="b">
            <a:normAutofit/>
          </a:bodyPr>
          <a:lstStyle/>
          <a:p>
            <a:pPr algn="ctr">
              <a:lnSpc>
                <a:spcPct val="90000"/>
              </a:lnSpc>
            </a:pPr>
            <a:r>
              <a:rPr lang="pl-PL" sz="2000" dirty="0"/>
              <a:t>Dlaczego startupy częściej wybierają procesy ad-hoc</a:t>
            </a:r>
          </a:p>
        </p:txBody>
      </p:sp>
      <p:cxnSp>
        <p:nvCxnSpPr>
          <p:cNvPr id="56" name="Straight Connector 55">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E5B2410F-618B-9B64-1E8C-E7AAD885300C}"/>
              </a:ext>
            </a:extLst>
          </p:cNvPr>
          <p:cNvSpPr>
            <a:spLocks noGrp="1"/>
          </p:cNvSpPr>
          <p:nvPr>
            <p:ph idx="1"/>
          </p:nvPr>
        </p:nvSpPr>
        <p:spPr>
          <a:xfrm>
            <a:off x="3863976" y="2759076"/>
            <a:ext cx="4460874" cy="3009899"/>
          </a:xfrm>
        </p:spPr>
        <p:txBody>
          <a:bodyPr>
            <a:normAutofit/>
          </a:bodyPr>
          <a:lstStyle/>
          <a:p>
            <a:pPr marL="0" indent="0">
              <a:lnSpc>
                <a:spcPct val="115000"/>
              </a:lnSpc>
              <a:buNone/>
            </a:pPr>
            <a:r>
              <a:rPr lang="pl-PL" sz="1700" dirty="0"/>
              <a:t>Startupy bardzo często rezygnują z formalnych metodyk zarządzania projektami, ponieważ ich otoczenie zmienia się szybciej niż jakikolwiek wcześniej przygotowany plan. W dużych organizacjach procesy są tworzone po to, aby ograniczyć zmienność, natomiast w startupie zmienność jest codziennością i naturalnym elementem pracy.</a:t>
            </a:r>
          </a:p>
        </p:txBody>
      </p:sp>
      <p:grpSp>
        <p:nvGrpSpPr>
          <p:cNvPr id="58" name="Group 57">
            <a:extLst>
              <a:ext uri="{FF2B5EF4-FFF2-40B4-BE49-F238E27FC236}">
                <a16:creationId xmlns:a16="http://schemas.microsoft.com/office/drawing/2014/main" id="{69D14CB3-B46C-4D52-91C7-9020767C0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10901022" y="5639014"/>
            <a:ext cx="865742" cy="628383"/>
            <a:chOff x="558167" y="958515"/>
            <a:chExt cx="865742" cy="628383"/>
          </a:xfrm>
          <a:solidFill>
            <a:schemeClr val="accent3"/>
          </a:solidFill>
        </p:grpSpPr>
        <p:sp>
          <p:nvSpPr>
            <p:cNvPr id="59" name="Freeform: Shape 58">
              <a:extLst>
                <a:ext uri="{FF2B5EF4-FFF2-40B4-BE49-F238E27FC236}">
                  <a16:creationId xmlns:a16="http://schemas.microsoft.com/office/drawing/2014/main" id="{3A77D7F4-D3A2-4801-9AC3-6626FDE15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reeform: Shape 59">
              <a:extLst>
                <a:ext uri="{FF2B5EF4-FFF2-40B4-BE49-F238E27FC236}">
                  <a16:creationId xmlns:a16="http://schemas.microsoft.com/office/drawing/2014/main" id="{1E62BACE-7CE7-442A-BFFB-8BC57C446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2" name="Group 61">
            <a:extLst>
              <a:ext uri="{FF2B5EF4-FFF2-40B4-BE49-F238E27FC236}">
                <a16:creationId xmlns:a16="http://schemas.microsoft.com/office/drawing/2014/main" id="{695E1464-F8FF-467B-BC7A-2DB63FD734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9919495" y="3291143"/>
            <a:ext cx="1785983" cy="2208479"/>
            <a:chOff x="2725201" y="4453039"/>
            <a:chExt cx="1785983" cy="2208479"/>
          </a:xfrm>
        </p:grpSpPr>
        <p:cxnSp>
          <p:nvCxnSpPr>
            <p:cNvPr id="63" name="Straight Connector 62">
              <a:extLst>
                <a:ext uri="{FF2B5EF4-FFF2-40B4-BE49-F238E27FC236}">
                  <a16:creationId xmlns:a16="http://schemas.microsoft.com/office/drawing/2014/main" id="{1D9EF77E-636A-4F91-8AC6-2926F2512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9F8CE5-DA1D-4DAF-A044-400C40169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Shape 64">
              <a:extLst>
                <a:ext uri="{FF2B5EF4-FFF2-40B4-BE49-F238E27FC236}">
                  <a16:creationId xmlns:a16="http://schemas.microsoft.com/office/drawing/2014/main" id="{9C47A2FE-4826-4485-B3C0-56DF9A73A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66" name="Rectangle 30">
              <a:extLst>
                <a:ext uri="{FF2B5EF4-FFF2-40B4-BE49-F238E27FC236}">
                  <a16:creationId xmlns:a16="http://schemas.microsoft.com/office/drawing/2014/main" id="{A9D0A0EF-4934-4E46-A33A-95E5D932D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EA389321-1892-4D9B-9F10-CA83BC15F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D9F93B70-A436-473C-A7CE-540999A596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V="1">
            <a:off x="10854193" y="5280732"/>
            <a:ext cx="864005" cy="1032464"/>
            <a:chOff x="2207971" y="2384401"/>
            <a:chExt cx="864005" cy="1032464"/>
          </a:xfrm>
        </p:grpSpPr>
        <p:sp>
          <p:nvSpPr>
            <p:cNvPr id="70" name="Freeform: Shape 69">
              <a:extLst>
                <a:ext uri="{FF2B5EF4-FFF2-40B4-BE49-F238E27FC236}">
                  <a16:creationId xmlns:a16="http://schemas.microsoft.com/office/drawing/2014/main" id="{C78ABD64-1B50-4D55-BC1F-146CC4D6E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Shape 70">
              <a:extLst>
                <a:ext uri="{FF2B5EF4-FFF2-40B4-BE49-F238E27FC236}">
                  <a16:creationId xmlns:a16="http://schemas.microsoft.com/office/drawing/2014/main" id="{57FC7EAA-9D36-4047-8A25-796E944D1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2" name="Group 71">
              <a:extLst>
                <a:ext uri="{FF2B5EF4-FFF2-40B4-BE49-F238E27FC236}">
                  <a16:creationId xmlns:a16="http://schemas.microsoft.com/office/drawing/2014/main" id="{0C72E6B1-2CDE-4B76-BB57-54923A35BC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73" name="Straight Connector 72">
                <a:extLst>
                  <a:ext uri="{FF2B5EF4-FFF2-40B4-BE49-F238E27FC236}">
                    <a16:creationId xmlns:a16="http://schemas.microsoft.com/office/drawing/2014/main" id="{0A618DA4-FD3B-435B-9077-6643BD6C93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579CD8F-9756-4DC0-A735-0CA77A873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44208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ADD72DC-CC5F-44D6-97D3-79407D4FF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1058433"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B083E179-CF1F-4694-AEAB-6931C9B31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a:off x="388193"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E6257A7-D071-42C9-8560-75A6EAE27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854399" y="71786"/>
            <a:ext cx="2287608" cy="3673900"/>
            <a:chOff x="-6080955" y="3437416"/>
            <a:chExt cx="2287608" cy="3673900"/>
          </a:xfrm>
        </p:grpSpPr>
        <p:cxnSp>
          <p:nvCxnSpPr>
            <p:cNvPr id="15" name="Straight Connector 14">
              <a:extLst>
                <a:ext uri="{FF2B5EF4-FFF2-40B4-BE49-F238E27FC236}">
                  <a16:creationId xmlns:a16="http://schemas.microsoft.com/office/drawing/2014/main" id="{52115B20-516B-48FE-ABF8-0300640B54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572F2AC0-C134-4522-9F34-10107EC52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0EA2E5B3-77CC-4AA0-A77A-5D95FCDD5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005C810-6BE0-4E85-BA3D-785C45D9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D4ECB930-9F06-48DB-86D3-75A7E6A2C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C9116707-08B8-43A2-8DCB-845D77ABA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Freeform: Shape 20">
              <a:extLst>
                <a:ext uri="{FF2B5EF4-FFF2-40B4-BE49-F238E27FC236}">
                  <a16:creationId xmlns:a16="http://schemas.microsoft.com/office/drawing/2014/main" id="{2E7DC9CC-81EB-48D8-AC44-C99F4774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eeform: Shape 21">
              <a:extLst>
                <a:ext uri="{FF2B5EF4-FFF2-40B4-BE49-F238E27FC236}">
                  <a16:creationId xmlns:a16="http://schemas.microsoft.com/office/drawing/2014/main" id="{23E2C41B-8946-4545-9CF1-997818234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4" name="Freeform: Shape 23">
            <a:extLst>
              <a:ext uri="{FF2B5EF4-FFF2-40B4-BE49-F238E27FC236}">
                <a16:creationId xmlns:a16="http://schemas.microsoft.com/office/drawing/2014/main" id="{8AD7D35B-560E-435E-B0FD-0F84A2E6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V="1">
            <a:off x="8942212"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nvGrpSpPr>
          <p:cNvPr id="26" name="Group 25">
            <a:extLst>
              <a:ext uri="{FF2B5EF4-FFF2-40B4-BE49-F238E27FC236}">
                <a16:creationId xmlns:a16="http://schemas.microsoft.com/office/drawing/2014/main" id="{AC46C823-4AEE-4D15-A7B7-556599F864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521489" y="5639014"/>
            <a:ext cx="865742" cy="628383"/>
            <a:chOff x="558167" y="958515"/>
            <a:chExt cx="865742" cy="628383"/>
          </a:xfrm>
          <a:solidFill>
            <a:schemeClr val="accent3"/>
          </a:solidFill>
        </p:grpSpPr>
        <p:sp>
          <p:nvSpPr>
            <p:cNvPr id="27" name="Freeform: Shape 26">
              <a:extLst>
                <a:ext uri="{FF2B5EF4-FFF2-40B4-BE49-F238E27FC236}">
                  <a16:creationId xmlns:a16="http://schemas.microsoft.com/office/drawing/2014/main" id="{7FE368E1-8B21-487B-879D-A96309199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58A31684-3F27-4828-8633-A1624B02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0" name="Group 29">
            <a:extLst>
              <a:ext uri="{FF2B5EF4-FFF2-40B4-BE49-F238E27FC236}">
                <a16:creationId xmlns:a16="http://schemas.microsoft.com/office/drawing/2014/main" id="{766CF5CA-BCE0-446B-990C-62FB772AB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486523" y="3291143"/>
            <a:ext cx="1785983" cy="2208479"/>
            <a:chOff x="2725201" y="4453039"/>
            <a:chExt cx="1785983" cy="2208479"/>
          </a:xfrm>
        </p:grpSpPr>
        <p:cxnSp>
          <p:nvCxnSpPr>
            <p:cNvPr id="31" name="Straight Connector 30">
              <a:extLst>
                <a:ext uri="{FF2B5EF4-FFF2-40B4-BE49-F238E27FC236}">
                  <a16:creationId xmlns:a16="http://schemas.microsoft.com/office/drawing/2014/main" id="{791F38DD-D787-4EE5-931B-C8CC2ED92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4E1D11-C91E-45F4-9A4A-EC0243DE76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3D0A83C-B0AD-4E04-B3FE-48D739F6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34" name="Rectangle 30">
              <a:extLst>
                <a:ext uri="{FF2B5EF4-FFF2-40B4-BE49-F238E27FC236}">
                  <a16:creationId xmlns:a16="http://schemas.microsoft.com/office/drawing/2014/main" id="{AF60A4C7-053A-4E00-9224-C9C9CAA54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0">
              <a:extLst>
                <a:ext uri="{FF2B5EF4-FFF2-40B4-BE49-F238E27FC236}">
                  <a16:creationId xmlns:a16="http://schemas.microsoft.com/office/drawing/2014/main" id="{C90A005E-7D6C-4543-AE86-10F5BA1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C174C2C-9AC5-4D2F-B12B-8AD9BE8773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flipV="1">
            <a:off x="473803" y="5280732"/>
            <a:ext cx="864005" cy="1032464"/>
            <a:chOff x="2207971" y="2384401"/>
            <a:chExt cx="864005" cy="1032464"/>
          </a:xfrm>
        </p:grpSpPr>
        <p:sp>
          <p:nvSpPr>
            <p:cNvPr id="38" name="Freeform: Shape 37">
              <a:extLst>
                <a:ext uri="{FF2B5EF4-FFF2-40B4-BE49-F238E27FC236}">
                  <a16:creationId xmlns:a16="http://schemas.microsoft.com/office/drawing/2014/main" id="{F2A1D572-4E75-4B18-83CD-369937018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Freeform: Shape 38">
              <a:extLst>
                <a:ext uri="{FF2B5EF4-FFF2-40B4-BE49-F238E27FC236}">
                  <a16:creationId xmlns:a16="http://schemas.microsoft.com/office/drawing/2014/main" id="{A4501448-AAB4-4BDF-81E5-BF4BEF2A4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0" name="Group 39">
              <a:extLst>
                <a:ext uri="{FF2B5EF4-FFF2-40B4-BE49-F238E27FC236}">
                  <a16:creationId xmlns:a16="http://schemas.microsoft.com/office/drawing/2014/main" id="{DA5CA3F8-7E28-4253-9221-2849B189136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41" name="Straight Connector 40">
                <a:extLst>
                  <a:ext uri="{FF2B5EF4-FFF2-40B4-BE49-F238E27FC236}">
                    <a16:creationId xmlns:a16="http://schemas.microsoft.com/office/drawing/2014/main" id="{ABAD8F42-57F4-4A12-8B47-E199EA174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F509FE-DD9E-4AB3-94EE-468C868875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43">
            <a:extLst>
              <a:ext uri="{FF2B5EF4-FFF2-40B4-BE49-F238E27FC236}">
                <a16:creationId xmlns:a16="http://schemas.microsoft.com/office/drawing/2014/main" id="{A7F45189-997F-4E6B-800E-D17FF116E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114077"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BC214B40-3523-42BE-856A-2B90472652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9049994" y="71786"/>
            <a:ext cx="2287608" cy="3673900"/>
            <a:chOff x="-6080955" y="3437416"/>
            <a:chExt cx="2287608" cy="3673900"/>
          </a:xfrm>
        </p:grpSpPr>
        <p:cxnSp>
          <p:nvCxnSpPr>
            <p:cNvPr id="47" name="Straight Connector 46">
              <a:extLst>
                <a:ext uri="{FF2B5EF4-FFF2-40B4-BE49-F238E27FC236}">
                  <a16:creationId xmlns:a16="http://schemas.microsoft.com/office/drawing/2014/main" id="{5626B876-FE3F-403F-B675-FB9415E00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Freeform: Shape 47">
              <a:extLst>
                <a:ext uri="{FF2B5EF4-FFF2-40B4-BE49-F238E27FC236}">
                  <a16:creationId xmlns:a16="http://schemas.microsoft.com/office/drawing/2014/main" id="{03F8DDE7-4258-4181-9F2B-940B587EE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eeform: Shape 48">
              <a:extLst>
                <a:ext uri="{FF2B5EF4-FFF2-40B4-BE49-F238E27FC236}">
                  <a16:creationId xmlns:a16="http://schemas.microsoft.com/office/drawing/2014/main" id="{4EED88FA-E654-453B-92BF-21196E32B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7F3C238A-5CF1-4927-B70F-C99112299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Freeform: Shape 50">
              <a:extLst>
                <a:ext uri="{FF2B5EF4-FFF2-40B4-BE49-F238E27FC236}">
                  <a16:creationId xmlns:a16="http://schemas.microsoft.com/office/drawing/2014/main" id="{42EAC2EE-4C33-44A6-A62B-6130E320A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Freeform: Shape 51">
              <a:extLst>
                <a:ext uri="{FF2B5EF4-FFF2-40B4-BE49-F238E27FC236}">
                  <a16:creationId xmlns:a16="http://schemas.microsoft.com/office/drawing/2014/main" id="{0F2EC395-DF39-4C41-A452-37AF723EA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Freeform: Shape 52">
              <a:extLst>
                <a:ext uri="{FF2B5EF4-FFF2-40B4-BE49-F238E27FC236}">
                  <a16:creationId xmlns:a16="http://schemas.microsoft.com/office/drawing/2014/main" id="{2425D947-0068-4059-B9BE-93A3B27CD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Freeform: Shape 53">
              <a:extLst>
                <a:ext uri="{FF2B5EF4-FFF2-40B4-BE49-F238E27FC236}">
                  <a16:creationId xmlns:a16="http://schemas.microsoft.com/office/drawing/2014/main" id="{80F2FE05-A04C-4860-B709-2FCBEAE8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ytuł 1">
            <a:extLst>
              <a:ext uri="{FF2B5EF4-FFF2-40B4-BE49-F238E27FC236}">
                <a16:creationId xmlns:a16="http://schemas.microsoft.com/office/drawing/2014/main" id="{1DF9F73A-A6B7-8181-28CF-BF71D5A2D86F}"/>
              </a:ext>
            </a:extLst>
          </p:cNvPr>
          <p:cNvSpPr>
            <a:spLocks noGrp="1"/>
          </p:cNvSpPr>
          <p:nvPr>
            <p:ph type="title"/>
          </p:nvPr>
        </p:nvSpPr>
        <p:spPr>
          <a:xfrm>
            <a:off x="3882610" y="1011237"/>
            <a:ext cx="4426782" cy="860400"/>
          </a:xfrm>
        </p:spPr>
        <p:txBody>
          <a:bodyPr anchor="b">
            <a:normAutofit/>
          </a:bodyPr>
          <a:lstStyle/>
          <a:p>
            <a:pPr algn="ctr">
              <a:lnSpc>
                <a:spcPct val="90000"/>
              </a:lnSpc>
            </a:pPr>
            <a:r>
              <a:rPr lang="pl-PL" sz="2000"/>
              <a:t>Dlaczego startupy częściej wybierają procesy ad-hoc</a:t>
            </a:r>
          </a:p>
        </p:txBody>
      </p:sp>
      <p:cxnSp>
        <p:nvCxnSpPr>
          <p:cNvPr id="56" name="Straight Connector 55">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10A7665B-E29D-346C-7FF4-6E913CCFBD82}"/>
              </a:ext>
            </a:extLst>
          </p:cNvPr>
          <p:cNvSpPr>
            <a:spLocks noGrp="1"/>
          </p:cNvSpPr>
          <p:nvPr>
            <p:ph idx="1"/>
          </p:nvPr>
        </p:nvSpPr>
        <p:spPr>
          <a:xfrm>
            <a:off x="3863976" y="2759076"/>
            <a:ext cx="4460874" cy="3009899"/>
          </a:xfrm>
        </p:spPr>
        <p:txBody>
          <a:bodyPr>
            <a:normAutofit/>
          </a:bodyPr>
          <a:lstStyle/>
          <a:p>
            <a:pPr marL="0" indent="0">
              <a:lnSpc>
                <a:spcPct val="115000"/>
              </a:lnSpc>
              <a:buNone/>
            </a:pPr>
            <a:r>
              <a:rPr lang="pl-PL" sz="1700"/>
              <a:t>Proces ad-hoc oznacza podejmowanie działań w odpowiedzi na aktualną sytuację, a nie według wcześniej ustalonego schematu. Startup wybiera takie podejście dlatego, że ważniejsze od zgodności z procesem staje się szybkie reagowanie na sygnały z rynku. Zespół nie pyta wtedy „czy to jest zgodne z procedurą”, ale raczej „czy to przybliża nas do znalezienia właściwego modelu biznesowego”.</a:t>
            </a:r>
          </a:p>
        </p:txBody>
      </p:sp>
      <p:grpSp>
        <p:nvGrpSpPr>
          <p:cNvPr id="58" name="Group 57">
            <a:extLst>
              <a:ext uri="{FF2B5EF4-FFF2-40B4-BE49-F238E27FC236}">
                <a16:creationId xmlns:a16="http://schemas.microsoft.com/office/drawing/2014/main" id="{69D14CB3-B46C-4D52-91C7-9020767C0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10901022" y="5639014"/>
            <a:ext cx="865742" cy="628383"/>
            <a:chOff x="558167" y="958515"/>
            <a:chExt cx="865742" cy="628383"/>
          </a:xfrm>
          <a:solidFill>
            <a:schemeClr val="accent3"/>
          </a:solidFill>
        </p:grpSpPr>
        <p:sp>
          <p:nvSpPr>
            <p:cNvPr id="59" name="Freeform: Shape 58">
              <a:extLst>
                <a:ext uri="{FF2B5EF4-FFF2-40B4-BE49-F238E27FC236}">
                  <a16:creationId xmlns:a16="http://schemas.microsoft.com/office/drawing/2014/main" id="{3A77D7F4-D3A2-4801-9AC3-6626FDE15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reeform: Shape 59">
              <a:extLst>
                <a:ext uri="{FF2B5EF4-FFF2-40B4-BE49-F238E27FC236}">
                  <a16:creationId xmlns:a16="http://schemas.microsoft.com/office/drawing/2014/main" id="{1E62BACE-7CE7-442A-BFFB-8BC57C446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2" name="Group 61">
            <a:extLst>
              <a:ext uri="{FF2B5EF4-FFF2-40B4-BE49-F238E27FC236}">
                <a16:creationId xmlns:a16="http://schemas.microsoft.com/office/drawing/2014/main" id="{695E1464-F8FF-467B-BC7A-2DB63FD734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9919495" y="3291143"/>
            <a:ext cx="1785983" cy="2208479"/>
            <a:chOff x="2725201" y="4453039"/>
            <a:chExt cx="1785983" cy="2208479"/>
          </a:xfrm>
        </p:grpSpPr>
        <p:cxnSp>
          <p:nvCxnSpPr>
            <p:cNvPr id="63" name="Straight Connector 62">
              <a:extLst>
                <a:ext uri="{FF2B5EF4-FFF2-40B4-BE49-F238E27FC236}">
                  <a16:creationId xmlns:a16="http://schemas.microsoft.com/office/drawing/2014/main" id="{1D9EF77E-636A-4F91-8AC6-2926F2512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9F8CE5-DA1D-4DAF-A044-400C40169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Shape 64">
              <a:extLst>
                <a:ext uri="{FF2B5EF4-FFF2-40B4-BE49-F238E27FC236}">
                  <a16:creationId xmlns:a16="http://schemas.microsoft.com/office/drawing/2014/main" id="{9C47A2FE-4826-4485-B3C0-56DF9A73A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66" name="Rectangle 30">
              <a:extLst>
                <a:ext uri="{FF2B5EF4-FFF2-40B4-BE49-F238E27FC236}">
                  <a16:creationId xmlns:a16="http://schemas.microsoft.com/office/drawing/2014/main" id="{A9D0A0EF-4934-4E46-A33A-95E5D932D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EA389321-1892-4D9B-9F10-CA83BC15F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D9F93B70-A436-473C-A7CE-540999A596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V="1">
            <a:off x="10854193" y="5280732"/>
            <a:ext cx="864005" cy="1032464"/>
            <a:chOff x="2207971" y="2384401"/>
            <a:chExt cx="864005" cy="1032464"/>
          </a:xfrm>
        </p:grpSpPr>
        <p:sp>
          <p:nvSpPr>
            <p:cNvPr id="70" name="Freeform: Shape 69">
              <a:extLst>
                <a:ext uri="{FF2B5EF4-FFF2-40B4-BE49-F238E27FC236}">
                  <a16:creationId xmlns:a16="http://schemas.microsoft.com/office/drawing/2014/main" id="{C78ABD64-1B50-4D55-BC1F-146CC4D6E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Shape 70">
              <a:extLst>
                <a:ext uri="{FF2B5EF4-FFF2-40B4-BE49-F238E27FC236}">
                  <a16:creationId xmlns:a16="http://schemas.microsoft.com/office/drawing/2014/main" id="{57FC7EAA-9D36-4047-8A25-796E944D1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2" name="Group 71">
              <a:extLst>
                <a:ext uri="{FF2B5EF4-FFF2-40B4-BE49-F238E27FC236}">
                  <a16:creationId xmlns:a16="http://schemas.microsoft.com/office/drawing/2014/main" id="{0C72E6B1-2CDE-4B76-BB57-54923A35BC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73" name="Straight Connector 72">
                <a:extLst>
                  <a:ext uri="{FF2B5EF4-FFF2-40B4-BE49-F238E27FC236}">
                    <a16:creationId xmlns:a16="http://schemas.microsoft.com/office/drawing/2014/main" id="{0A618DA4-FD3B-435B-9077-6643BD6C93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579CD8F-9756-4DC0-A735-0CA77A873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506932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6A25E6E-A7EA-8A51-6298-E0582BDF37D4}"/>
              </a:ext>
            </a:extLst>
          </p:cNvPr>
          <p:cNvSpPr>
            <a:spLocks noGrp="1"/>
          </p:cNvSpPr>
          <p:nvPr>
            <p:ph type="title"/>
          </p:nvPr>
        </p:nvSpPr>
        <p:spPr>
          <a:xfrm>
            <a:off x="1078100" y="542671"/>
            <a:ext cx="10026650" cy="1124202"/>
          </a:xfrm>
        </p:spPr>
        <p:txBody>
          <a:bodyPr wrap="square" anchor="ctr">
            <a:normAutofit/>
          </a:bodyPr>
          <a:lstStyle/>
          <a:p>
            <a:pPr algn="ctr"/>
            <a:r>
              <a:rPr lang="pl-PL" dirty="0"/>
              <a:t>Wyzwania AI engineering w małych zespołach</a:t>
            </a:r>
            <a:endParaRPr lang="pl-PL"/>
          </a:p>
        </p:txBody>
      </p:sp>
      <p:sp useBgFill="1">
        <p:nvSpPr>
          <p:cNvPr id="11"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5" name="Symbol zastępczy zawartości 2">
            <a:extLst>
              <a:ext uri="{FF2B5EF4-FFF2-40B4-BE49-F238E27FC236}">
                <a16:creationId xmlns:a16="http://schemas.microsoft.com/office/drawing/2014/main" id="{3EEBF4C7-4304-8F67-DA85-B487AB5A80C6}"/>
              </a:ext>
            </a:extLst>
          </p:cNvPr>
          <p:cNvGraphicFramePr>
            <a:graphicFrameLocks noGrp="1"/>
          </p:cNvGraphicFramePr>
          <p:nvPr>
            <p:ph idx="1"/>
            <p:extLst>
              <p:ext uri="{D42A27DB-BD31-4B8C-83A1-F6EECF244321}">
                <p14:modId xmlns:p14="http://schemas.microsoft.com/office/powerpoint/2010/main" val="654446415"/>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879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1FB8425-9976-D997-FC3C-093E2B409534}"/>
              </a:ext>
            </a:extLst>
          </p:cNvPr>
          <p:cNvSpPr>
            <a:spLocks noGrp="1"/>
          </p:cNvSpPr>
          <p:nvPr>
            <p:ph type="title"/>
          </p:nvPr>
        </p:nvSpPr>
        <p:spPr>
          <a:xfrm>
            <a:off x="4984750" y="1011237"/>
            <a:ext cx="6120000" cy="860400"/>
          </a:xfrm>
        </p:spPr>
        <p:txBody>
          <a:bodyPr anchor="b">
            <a:normAutofit/>
          </a:bodyPr>
          <a:lstStyle/>
          <a:p>
            <a:pPr algn="ctr">
              <a:lnSpc>
                <a:spcPct val="90000"/>
              </a:lnSpc>
            </a:pPr>
            <a:r>
              <a:rPr lang="pl-PL" sz="2000" b="1"/>
              <a:t>Zarządzanie niepewnością badawczą w budżecie startupu</a:t>
            </a:r>
            <a:br>
              <a:rPr lang="pl-PL" sz="2000" b="1"/>
            </a:br>
            <a:endParaRPr lang="pl-PL" sz="2000"/>
          </a:p>
        </p:txBody>
      </p:sp>
      <p:pic>
        <p:nvPicPr>
          <p:cNvPr id="5" name="Picture 4" descr="Biurko z przyborami biurowymi">
            <a:extLst>
              <a:ext uri="{FF2B5EF4-FFF2-40B4-BE49-F238E27FC236}">
                <a16:creationId xmlns:a16="http://schemas.microsoft.com/office/drawing/2014/main" id="{0424BCA9-8AF8-734F-5954-62C2CC83C54A}"/>
              </a:ext>
            </a:extLst>
          </p:cNvPr>
          <p:cNvPicPr>
            <a:picLocks noChangeAspect="1"/>
          </p:cNvPicPr>
          <p:nvPr/>
        </p:nvPicPr>
        <p:blipFill>
          <a:blip r:embed="rId3"/>
          <a:srcRect l="38786" r="23536" b="-1"/>
          <a:stretch>
            <a:fillRect/>
          </a:stretch>
        </p:blipFill>
        <p:spPr>
          <a:xfrm>
            <a:off x="20" y="10"/>
            <a:ext cx="3870969" cy="6857990"/>
          </a:xfrm>
          <a:prstGeom prst="rect">
            <a:avLst/>
          </a:prstGeom>
        </p:spPr>
      </p:pic>
      <p:cxnSp>
        <p:nvCxnSpPr>
          <p:cNvPr id="11" name="Straight Connector 10">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71818B3F-C3A3-A87F-013F-A74AE5C14C35}"/>
              </a:ext>
            </a:extLst>
          </p:cNvPr>
          <p:cNvSpPr>
            <a:spLocks noGrp="1"/>
          </p:cNvSpPr>
          <p:nvPr>
            <p:ph idx="1"/>
          </p:nvPr>
        </p:nvSpPr>
        <p:spPr>
          <a:xfrm>
            <a:off x="4984750" y="2759076"/>
            <a:ext cx="6121400" cy="3009899"/>
          </a:xfrm>
        </p:spPr>
        <p:txBody>
          <a:bodyPr>
            <a:normAutofit/>
          </a:bodyPr>
          <a:lstStyle/>
          <a:p>
            <a:pPr marL="0" indent="0" algn="ctr">
              <a:buNone/>
            </a:pPr>
            <a:r>
              <a:rPr lang="pl-PL" dirty="0"/>
              <a:t>Jednym z najtrudniejszych elementów zarządzania startupem technologicznym jest finansowanie pracy badawczej. W projektach opartych na eksperymentach nie da się dokładnie przewidzieć, </a:t>
            </a:r>
            <a:br>
              <a:rPr lang="en-US" dirty="0"/>
            </a:br>
            <a:r>
              <a:rPr lang="pl-PL" dirty="0"/>
              <a:t>ile czasu i środków będzie potrzebne do osiągnięcia wyniku.</a:t>
            </a:r>
          </a:p>
        </p:txBody>
      </p:sp>
    </p:spTree>
    <p:extLst>
      <p:ext uri="{BB962C8B-B14F-4D97-AF65-F5344CB8AC3E}">
        <p14:creationId xmlns:p14="http://schemas.microsoft.com/office/powerpoint/2010/main" val="2039423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BC0FE7C-23BE-AB26-8FDB-6DDABD36BD4D}"/>
              </a:ext>
            </a:extLst>
          </p:cNvPr>
          <p:cNvSpPr>
            <a:spLocks noGrp="1"/>
          </p:cNvSpPr>
          <p:nvPr>
            <p:ph type="title"/>
          </p:nvPr>
        </p:nvSpPr>
        <p:spPr>
          <a:xfrm>
            <a:off x="541338" y="1079500"/>
            <a:ext cx="3322637" cy="4689475"/>
          </a:xfrm>
        </p:spPr>
        <p:txBody>
          <a:bodyPr anchor="ctr">
            <a:normAutofit/>
          </a:bodyPr>
          <a:lstStyle/>
          <a:p>
            <a:pPr algn="ctr"/>
            <a:r>
              <a:rPr lang="pl-PL" dirty="0"/>
              <a:t>Znaczenie szybkiej pętli informacji zwrotnej</a:t>
            </a:r>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ymbol zastępczy zawartości 2">
            <a:extLst>
              <a:ext uri="{FF2B5EF4-FFF2-40B4-BE49-F238E27FC236}">
                <a16:creationId xmlns:a16="http://schemas.microsoft.com/office/drawing/2014/main" id="{61D8F39F-1AB8-B491-E4AA-18ACA3A155D3}"/>
              </a:ext>
            </a:extLst>
          </p:cNvPr>
          <p:cNvGraphicFramePr>
            <a:graphicFrameLocks noGrp="1"/>
          </p:cNvGraphicFramePr>
          <p:nvPr>
            <p:ph idx="1"/>
            <p:extLst>
              <p:ext uri="{D42A27DB-BD31-4B8C-83A1-F6EECF244321}">
                <p14:modId xmlns:p14="http://schemas.microsoft.com/office/powerpoint/2010/main" val="2748485931"/>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8624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A56822E-560C-E9EA-016D-2F26AB1EE2BF}"/>
              </a:ext>
            </a:extLst>
          </p:cNvPr>
          <p:cNvSpPr>
            <a:spLocks noGrp="1"/>
          </p:cNvSpPr>
          <p:nvPr>
            <p:ph type="title"/>
          </p:nvPr>
        </p:nvSpPr>
        <p:spPr>
          <a:xfrm>
            <a:off x="1078100" y="542671"/>
            <a:ext cx="10026650" cy="1124202"/>
          </a:xfrm>
        </p:spPr>
        <p:txBody>
          <a:bodyPr wrap="square" anchor="ctr">
            <a:normAutofit/>
          </a:bodyPr>
          <a:lstStyle/>
          <a:p>
            <a:pPr algn="ctr"/>
            <a:r>
              <a:rPr lang="pl-PL" dirty="0"/>
              <a:t>Czym jest </a:t>
            </a:r>
            <a:r>
              <a:rPr lang="pl-PL" dirty="0" err="1"/>
              <a:t>technical</a:t>
            </a:r>
            <a:r>
              <a:rPr lang="pl-PL" dirty="0"/>
              <a:t> </a:t>
            </a:r>
            <a:r>
              <a:rPr lang="pl-PL" dirty="0" err="1"/>
              <a:t>debt</a:t>
            </a:r>
            <a:endParaRPr lang="pl-PL" dirty="0"/>
          </a:p>
        </p:txBody>
      </p:sp>
      <p:sp useBgFill="1">
        <p:nvSpPr>
          <p:cNvPr id="14"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15" name="Symbol zastępczy zawartości 2">
            <a:extLst>
              <a:ext uri="{FF2B5EF4-FFF2-40B4-BE49-F238E27FC236}">
                <a16:creationId xmlns:a16="http://schemas.microsoft.com/office/drawing/2014/main" id="{93E41591-28D2-B2E4-8051-0605A5DEC16E}"/>
              </a:ext>
            </a:extLst>
          </p:cNvPr>
          <p:cNvGraphicFramePr>
            <a:graphicFrameLocks noGrp="1"/>
          </p:cNvGraphicFramePr>
          <p:nvPr>
            <p:ph idx="1"/>
            <p:extLst>
              <p:ext uri="{D42A27DB-BD31-4B8C-83A1-F6EECF244321}">
                <p14:modId xmlns:p14="http://schemas.microsoft.com/office/powerpoint/2010/main" val="2664098837"/>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1617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250D29A-E958-F427-F8AD-5057F0C1F829}"/>
              </a:ext>
            </a:extLst>
          </p:cNvPr>
          <p:cNvSpPr>
            <a:spLocks noGrp="1"/>
          </p:cNvSpPr>
          <p:nvPr>
            <p:ph type="title"/>
          </p:nvPr>
        </p:nvSpPr>
        <p:spPr>
          <a:xfrm>
            <a:off x="540988" y="540033"/>
            <a:ext cx="3884962" cy="1331604"/>
          </a:xfrm>
        </p:spPr>
        <p:txBody>
          <a:bodyPr anchor="b">
            <a:normAutofit/>
          </a:bodyPr>
          <a:lstStyle/>
          <a:p>
            <a:pPr algn="ctr"/>
            <a:r>
              <a:rPr lang="en-US" dirty="0"/>
              <a:t>TYPY</a:t>
            </a:r>
            <a:br>
              <a:rPr lang="en-US" dirty="0"/>
            </a:br>
            <a:r>
              <a:rPr lang="pl-PL" dirty="0" err="1"/>
              <a:t>technical</a:t>
            </a:r>
            <a:r>
              <a:rPr lang="pl-PL" dirty="0"/>
              <a:t> </a:t>
            </a:r>
            <a:r>
              <a:rPr lang="pl-PL" dirty="0" err="1"/>
              <a:t>debt</a:t>
            </a:r>
            <a:endParaRPr lang="pl-PL" dirty="0"/>
          </a:p>
        </p:txBody>
      </p:sp>
      <p:cxnSp>
        <p:nvCxnSpPr>
          <p:cNvPr id="23"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13BEA161-F7F6-4005-2D6D-EE49C2780CB7}"/>
              </a:ext>
            </a:extLst>
          </p:cNvPr>
          <p:cNvSpPr>
            <a:spLocks noGrp="1"/>
          </p:cNvSpPr>
          <p:nvPr>
            <p:ph idx="1"/>
          </p:nvPr>
        </p:nvSpPr>
        <p:spPr>
          <a:xfrm>
            <a:off x="540988" y="2759076"/>
            <a:ext cx="3884962" cy="3009899"/>
          </a:xfrm>
        </p:spPr>
        <p:txBody>
          <a:bodyPr>
            <a:normAutofit/>
          </a:bodyPr>
          <a:lstStyle/>
          <a:p>
            <a:endParaRPr lang="pl-PL"/>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Obraz 4">
            <a:extLst>
              <a:ext uri="{FF2B5EF4-FFF2-40B4-BE49-F238E27FC236}">
                <a16:creationId xmlns:a16="http://schemas.microsoft.com/office/drawing/2014/main" id="{DA036C9B-4DDD-F6D1-F653-D6808E76F67E}"/>
              </a:ext>
            </a:extLst>
          </p:cNvPr>
          <p:cNvPicPr>
            <a:picLocks noChangeAspect="1"/>
          </p:cNvPicPr>
          <p:nvPr/>
        </p:nvPicPr>
        <p:blipFill>
          <a:blip r:embed="rId3"/>
          <a:stretch>
            <a:fillRect/>
          </a:stretch>
        </p:blipFill>
        <p:spPr>
          <a:xfrm>
            <a:off x="5537200" y="1180847"/>
            <a:ext cx="6113812" cy="4493651"/>
          </a:xfrm>
          <a:prstGeom prst="rect">
            <a:avLst/>
          </a:prstGeom>
        </p:spPr>
      </p:pic>
    </p:spTree>
    <p:extLst>
      <p:ext uri="{BB962C8B-B14F-4D97-AF65-F5344CB8AC3E}">
        <p14:creationId xmlns:p14="http://schemas.microsoft.com/office/powerpoint/2010/main" val="4294098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ADD72DC-CC5F-44D6-97D3-79407D4FF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1058433"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2" name="Freeform: Shape 11">
            <a:extLst>
              <a:ext uri="{FF2B5EF4-FFF2-40B4-BE49-F238E27FC236}">
                <a16:creationId xmlns:a16="http://schemas.microsoft.com/office/drawing/2014/main" id="{B083E179-CF1F-4694-AEAB-6931C9B31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a:off x="388193"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E6257A7-D071-42C9-8560-75A6EAE27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854399" y="71786"/>
            <a:ext cx="2287608" cy="3673900"/>
            <a:chOff x="-6080955" y="3437416"/>
            <a:chExt cx="2287608" cy="3673900"/>
          </a:xfrm>
        </p:grpSpPr>
        <p:cxnSp>
          <p:nvCxnSpPr>
            <p:cNvPr id="15" name="Straight Connector 14">
              <a:extLst>
                <a:ext uri="{FF2B5EF4-FFF2-40B4-BE49-F238E27FC236}">
                  <a16:creationId xmlns:a16="http://schemas.microsoft.com/office/drawing/2014/main" id="{52115B20-516B-48FE-ABF8-0300640B54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572F2AC0-C134-4522-9F34-10107EC52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Shape 16">
              <a:extLst>
                <a:ext uri="{FF2B5EF4-FFF2-40B4-BE49-F238E27FC236}">
                  <a16:creationId xmlns:a16="http://schemas.microsoft.com/office/drawing/2014/main" id="{0EA2E5B3-77CC-4AA0-A77A-5D95FCDD5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005C810-6BE0-4E85-BA3D-785C45D9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D4ECB930-9F06-48DB-86D3-75A7E6A2C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C9116707-08B8-43A2-8DCB-845D77ABAA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Freeform: Shape 20">
              <a:extLst>
                <a:ext uri="{FF2B5EF4-FFF2-40B4-BE49-F238E27FC236}">
                  <a16:creationId xmlns:a16="http://schemas.microsoft.com/office/drawing/2014/main" id="{2E7DC9CC-81EB-48D8-AC44-C99F47742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Freeform: Shape 21">
              <a:extLst>
                <a:ext uri="{FF2B5EF4-FFF2-40B4-BE49-F238E27FC236}">
                  <a16:creationId xmlns:a16="http://schemas.microsoft.com/office/drawing/2014/main" id="{23E2C41B-8946-4545-9CF1-997818234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4" name="Freeform: Shape 23">
            <a:extLst>
              <a:ext uri="{FF2B5EF4-FFF2-40B4-BE49-F238E27FC236}">
                <a16:creationId xmlns:a16="http://schemas.microsoft.com/office/drawing/2014/main" id="{8AD7D35B-560E-435E-B0FD-0F84A2E6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V="1">
            <a:off x="8942212" y="184491"/>
            <a:ext cx="2287608" cy="3232926"/>
          </a:xfrm>
          <a:custGeom>
            <a:avLst/>
            <a:gdLst>
              <a:gd name="connsiteX0" fmla="*/ 1143804 w 2287608"/>
              <a:gd name="connsiteY0" fmla="*/ 1916209 h 3232926"/>
              <a:gd name="connsiteX1" fmla="*/ 1140311 w 2287608"/>
              <a:gd name="connsiteY1" fmla="*/ 1919384 h 3232926"/>
              <a:gd name="connsiteX2" fmla="*/ 1136818 w 2287608"/>
              <a:gd name="connsiteY2" fmla="*/ 1916209 h 3232926"/>
              <a:gd name="connsiteX3" fmla="*/ 1136818 w 2287608"/>
              <a:gd name="connsiteY3" fmla="*/ 1922559 h 3232926"/>
              <a:gd name="connsiteX4" fmla="*/ 1117018 w 2287608"/>
              <a:gd name="connsiteY4" fmla="*/ 1940554 h 3232926"/>
              <a:gd name="connsiteX5" fmla="*/ 854401 w 2287608"/>
              <a:gd name="connsiteY5" fmla="*/ 2574568 h 3232926"/>
              <a:gd name="connsiteX6" fmla="*/ 1117018 w 2287608"/>
              <a:gd name="connsiteY6" fmla="*/ 3208581 h 3232926"/>
              <a:gd name="connsiteX7" fmla="*/ 1136818 w 2287608"/>
              <a:gd name="connsiteY7" fmla="*/ 3226577 h 3232926"/>
              <a:gd name="connsiteX8" fmla="*/ 1136818 w 2287608"/>
              <a:gd name="connsiteY8" fmla="*/ 3232926 h 3232926"/>
              <a:gd name="connsiteX9" fmla="*/ 1140311 w 2287608"/>
              <a:gd name="connsiteY9" fmla="*/ 3229751 h 3232926"/>
              <a:gd name="connsiteX10" fmla="*/ 1143804 w 2287608"/>
              <a:gd name="connsiteY10" fmla="*/ 3232926 h 3232926"/>
              <a:gd name="connsiteX11" fmla="*/ 1143804 w 2287608"/>
              <a:gd name="connsiteY11" fmla="*/ 3226577 h 3232926"/>
              <a:gd name="connsiteX12" fmla="*/ 1163604 w 2287608"/>
              <a:gd name="connsiteY12" fmla="*/ 3208581 h 3232926"/>
              <a:gd name="connsiteX13" fmla="*/ 1426221 w 2287608"/>
              <a:gd name="connsiteY13" fmla="*/ 2574567 h 3232926"/>
              <a:gd name="connsiteX14" fmla="*/ 1163604 w 2287608"/>
              <a:gd name="connsiteY14" fmla="*/ 1940554 h 3232926"/>
              <a:gd name="connsiteX15" fmla="*/ 1143804 w 2287608"/>
              <a:gd name="connsiteY15" fmla="*/ 1922558 h 3232926"/>
              <a:gd name="connsiteX16" fmla="*/ 1140312 w 2287608"/>
              <a:gd name="connsiteY16" fmla="*/ 1494239 h 3232926"/>
              <a:gd name="connsiteX17" fmla="*/ 1134813 w 2287608"/>
              <a:gd name="connsiteY17" fmla="*/ 1497413 h 3232926"/>
              <a:gd name="connsiteX18" fmla="*/ 1109328 w 2287608"/>
              <a:gd name="connsiteY18" fmla="*/ 1489264 h 3232926"/>
              <a:gd name="connsiteX19" fmla="*/ 428947 w 2287608"/>
              <a:gd name="connsiteY19" fmla="*/ 1578838 h 3232926"/>
              <a:gd name="connsiteX20" fmla="*/ 11185 w 2287608"/>
              <a:gd name="connsiteY20" fmla="*/ 2123278 h 3232926"/>
              <a:gd name="connsiteX21" fmla="*/ 5499 w 2287608"/>
              <a:gd name="connsiteY21" fmla="*/ 2149423 h 3232926"/>
              <a:gd name="connsiteX22" fmla="*/ 0 w 2287608"/>
              <a:gd name="connsiteY22" fmla="*/ 2152597 h 3232926"/>
              <a:gd name="connsiteX23" fmla="*/ 4497 w 2287608"/>
              <a:gd name="connsiteY23" fmla="*/ 2154035 h 3232926"/>
              <a:gd name="connsiteX24" fmla="*/ 3493 w 2287608"/>
              <a:gd name="connsiteY24" fmla="*/ 2158648 h 3232926"/>
              <a:gd name="connsiteX25" fmla="*/ 8992 w 2287608"/>
              <a:gd name="connsiteY25" fmla="*/ 2155473 h 3232926"/>
              <a:gd name="connsiteX26" fmla="*/ 34477 w 2287608"/>
              <a:gd name="connsiteY26" fmla="*/ 2163622 h 3232926"/>
              <a:gd name="connsiteX27" fmla="*/ 290620 w 2287608"/>
              <a:gd name="connsiteY27" fmla="*/ 2194022 h 3232926"/>
              <a:gd name="connsiteX28" fmla="*/ 714858 w 2287608"/>
              <a:gd name="connsiteY28" fmla="*/ 2074049 h 3232926"/>
              <a:gd name="connsiteX29" fmla="*/ 1132621 w 2287608"/>
              <a:gd name="connsiteY29" fmla="*/ 1529609 h 3232926"/>
              <a:gd name="connsiteX30" fmla="*/ 1138305 w 2287608"/>
              <a:gd name="connsiteY30" fmla="*/ 1503464 h 3232926"/>
              <a:gd name="connsiteX31" fmla="*/ 1143804 w 2287608"/>
              <a:gd name="connsiteY31" fmla="*/ 1500289 h 3232926"/>
              <a:gd name="connsiteX32" fmla="*/ 1139308 w 2287608"/>
              <a:gd name="connsiteY32" fmla="*/ 1498852 h 3232926"/>
              <a:gd name="connsiteX33" fmla="*/ 2069415 w 2287608"/>
              <a:gd name="connsiteY33" fmla="*/ 1747063 h 3232926"/>
              <a:gd name="connsiteX34" fmla="*/ 1858661 w 2287608"/>
              <a:gd name="connsiteY34" fmla="*/ 1578837 h 3232926"/>
              <a:gd name="connsiteX35" fmla="*/ 1178281 w 2287608"/>
              <a:gd name="connsiteY35" fmla="*/ 1489263 h 3232926"/>
              <a:gd name="connsiteX36" fmla="*/ 1152796 w 2287608"/>
              <a:gd name="connsiteY36" fmla="*/ 1497412 h 3232926"/>
              <a:gd name="connsiteX37" fmla="*/ 1147297 w 2287608"/>
              <a:gd name="connsiteY37" fmla="*/ 1494238 h 3232926"/>
              <a:gd name="connsiteX38" fmla="*/ 1148300 w 2287608"/>
              <a:gd name="connsiteY38" fmla="*/ 1498851 h 3232926"/>
              <a:gd name="connsiteX39" fmla="*/ 1143804 w 2287608"/>
              <a:gd name="connsiteY39" fmla="*/ 1500288 h 3232926"/>
              <a:gd name="connsiteX40" fmla="*/ 1149304 w 2287608"/>
              <a:gd name="connsiteY40" fmla="*/ 1503463 h 3232926"/>
              <a:gd name="connsiteX41" fmla="*/ 1154988 w 2287608"/>
              <a:gd name="connsiteY41" fmla="*/ 1529608 h 3232926"/>
              <a:gd name="connsiteX42" fmla="*/ 1572751 w 2287608"/>
              <a:gd name="connsiteY42" fmla="*/ 2074048 h 3232926"/>
              <a:gd name="connsiteX43" fmla="*/ 1996989 w 2287608"/>
              <a:gd name="connsiteY43" fmla="*/ 2194021 h 3232926"/>
              <a:gd name="connsiteX44" fmla="*/ 2253131 w 2287608"/>
              <a:gd name="connsiteY44" fmla="*/ 2163621 h 3232926"/>
              <a:gd name="connsiteX45" fmla="*/ 2278616 w 2287608"/>
              <a:gd name="connsiteY45" fmla="*/ 2155472 h 3232926"/>
              <a:gd name="connsiteX46" fmla="*/ 2284115 w 2287608"/>
              <a:gd name="connsiteY46" fmla="*/ 2158647 h 3232926"/>
              <a:gd name="connsiteX47" fmla="*/ 2283112 w 2287608"/>
              <a:gd name="connsiteY47" fmla="*/ 2154034 h 3232926"/>
              <a:gd name="connsiteX48" fmla="*/ 2287608 w 2287608"/>
              <a:gd name="connsiteY48" fmla="*/ 2152596 h 3232926"/>
              <a:gd name="connsiteX49" fmla="*/ 2282109 w 2287608"/>
              <a:gd name="connsiteY49" fmla="*/ 2149422 h 3232926"/>
              <a:gd name="connsiteX50" fmla="*/ 2276424 w 2287608"/>
              <a:gd name="connsiteY50" fmla="*/ 2123277 h 3232926"/>
              <a:gd name="connsiteX51" fmla="*/ 2069415 w 2287608"/>
              <a:gd name="connsiteY51" fmla="*/ 1747063 h 3232926"/>
              <a:gd name="connsiteX52" fmla="*/ 1140311 w 2287608"/>
              <a:gd name="connsiteY52" fmla="*/ 779689 h 3232926"/>
              <a:gd name="connsiteX53" fmla="*/ 1134812 w 2287608"/>
              <a:gd name="connsiteY53" fmla="*/ 782863 h 3232926"/>
              <a:gd name="connsiteX54" fmla="*/ 1109328 w 2287608"/>
              <a:gd name="connsiteY54" fmla="*/ 774714 h 3232926"/>
              <a:gd name="connsiteX55" fmla="*/ 428947 w 2287608"/>
              <a:gd name="connsiteY55" fmla="*/ 864288 h 3232926"/>
              <a:gd name="connsiteX56" fmla="*/ 11185 w 2287608"/>
              <a:gd name="connsiteY56" fmla="*/ 1408728 h 3232926"/>
              <a:gd name="connsiteX57" fmla="*/ 5499 w 2287608"/>
              <a:gd name="connsiteY57" fmla="*/ 1434873 h 3232926"/>
              <a:gd name="connsiteX58" fmla="*/ 0 w 2287608"/>
              <a:gd name="connsiteY58" fmla="*/ 1438047 h 3232926"/>
              <a:gd name="connsiteX59" fmla="*/ 4497 w 2287608"/>
              <a:gd name="connsiteY59" fmla="*/ 1439485 h 3232926"/>
              <a:gd name="connsiteX60" fmla="*/ 3493 w 2287608"/>
              <a:gd name="connsiteY60" fmla="*/ 1444098 h 3232926"/>
              <a:gd name="connsiteX61" fmla="*/ 8992 w 2287608"/>
              <a:gd name="connsiteY61" fmla="*/ 1440923 h 3232926"/>
              <a:gd name="connsiteX62" fmla="*/ 34477 w 2287608"/>
              <a:gd name="connsiteY62" fmla="*/ 1449072 h 3232926"/>
              <a:gd name="connsiteX63" fmla="*/ 290620 w 2287608"/>
              <a:gd name="connsiteY63" fmla="*/ 1479472 h 3232926"/>
              <a:gd name="connsiteX64" fmla="*/ 714858 w 2287608"/>
              <a:gd name="connsiteY64" fmla="*/ 1359499 h 3232926"/>
              <a:gd name="connsiteX65" fmla="*/ 1132621 w 2287608"/>
              <a:gd name="connsiteY65" fmla="*/ 815059 h 3232926"/>
              <a:gd name="connsiteX66" fmla="*/ 1138305 w 2287608"/>
              <a:gd name="connsiteY66" fmla="*/ 788914 h 3232926"/>
              <a:gd name="connsiteX67" fmla="*/ 1143805 w 2287608"/>
              <a:gd name="connsiteY67" fmla="*/ 785739 h 3232926"/>
              <a:gd name="connsiteX68" fmla="*/ 1139308 w 2287608"/>
              <a:gd name="connsiteY68" fmla="*/ 784302 h 3232926"/>
              <a:gd name="connsiteX69" fmla="*/ 2069415 w 2287608"/>
              <a:gd name="connsiteY69" fmla="*/ 1032514 h 3232926"/>
              <a:gd name="connsiteX70" fmla="*/ 1858661 w 2287608"/>
              <a:gd name="connsiteY70" fmla="*/ 864289 h 3232926"/>
              <a:gd name="connsiteX71" fmla="*/ 1178281 w 2287608"/>
              <a:gd name="connsiteY71" fmla="*/ 774715 h 3232926"/>
              <a:gd name="connsiteX72" fmla="*/ 1152796 w 2287608"/>
              <a:gd name="connsiteY72" fmla="*/ 782864 h 3232926"/>
              <a:gd name="connsiteX73" fmla="*/ 1147297 w 2287608"/>
              <a:gd name="connsiteY73" fmla="*/ 779690 h 3232926"/>
              <a:gd name="connsiteX74" fmla="*/ 1148300 w 2287608"/>
              <a:gd name="connsiteY74" fmla="*/ 784303 h 3232926"/>
              <a:gd name="connsiteX75" fmla="*/ 1143804 w 2287608"/>
              <a:gd name="connsiteY75" fmla="*/ 785740 h 3232926"/>
              <a:gd name="connsiteX76" fmla="*/ 1149304 w 2287608"/>
              <a:gd name="connsiteY76" fmla="*/ 788915 h 3232926"/>
              <a:gd name="connsiteX77" fmla="*/ 1154988 w 2287608"/>
              <a:gd name="connsiteY77" fmla="*/ 815060 h 3232926"/>
              <a:gd name="connsiteX78" fmla="*/ 1572751 w 2287608"/>
              <a:gd name="connsiteY78" fmla="*/ 1359500 h 3232926"/>
              <a:gd name="connsiteX79" fmla="*/ 1996989 w 2287608"/>
              <a:gd name="connsiteY79" fmla="*/ 1479473 h 3232926"/>
              <a:gd name="connsiteX80" fmla="*/ 2253131 w 2287608"/>
              <a:gd name="connsiteY80" fmla="*/ 1449073 h 3232926"/>
              <a:gd name="connsiteX81" fmla="*/ 2278616 w 2287608"/>
              <a:gd name="connsiteY81" fmla="*/ 1440924 h 3232926"/>
              <a:gd name="connsiteX82" fmla="*/ 2284115 w 2287608"/>
              <a:gd name="connsiteY82" fmla="*/ 1444099 h 3232926"/>
              <a:gd name="connsiteX83" fmla="*/ 2283112 w 2287608"/>
              <a:gd name="connsiteY83" fmla="*/ 1439486 h 3232926"/>
              <a:gd name="connsiteX84" fmla="*/ 2287608 w 2287608"/>
              <a:gd name="connsiteY84" fmla="*/ 1438048 h 3232926"/>
              <a:gd name="connsiteX85" fmla="*/ 2282109 w 2287608"/>
              <a:gd name="connsiteY85" fmla="*/ 1434874 h 3232926"/>
              <a:gd name="connsiteX86" fmla="*/ 2276424 w 2287608"/>
              <a:gd name="connsiteY86" fmla="*/ 1408729 h 3232926"/>
              <a:gd name="connsiteX87" fmla="*/ 2069415 w 2287608"/>
              <a:gd name="connsiteY87" fmla="*/ 1032514 h 3232926"/>
              <a:gd name="connsiteX88" fmla="*/ 1140311 w 2287608"/>
              <a:gd name="connsiteY88" fmla="*/ 35676 h 3232926"/>
              <a:gd name="connsiteX89" fmla="*/ 1134812 w 2287608"/>
              <a:gd name="connsiteY89" fmla="*/ 38850 h 3232926"/>
              <a:gd name="connsiteX90" fmla="*/ 1109328 w 2287608"/>
              <a:gd name="connsiteY90" fmla="*/ 30701 h 3232926"/>
              <a:gd name="connsiteX91" fmla="*/ 428948 w 2287608"/>
              <a:gd name="connsiteY91" fmla="*/ 120275 h 3232926"/>
              <a:gd name="connsiteX92" fmla="*/ 11185 w 2287608"/>
              <a:gd name="connsiteY92" fmla="*/ 664715 h 3232926"/>
              <a:gd name="connsiteX93" fmla="*/ 5499 w 2287608"/>
              <a:gd name="connsiteY93" fmla="*/ 690860 h 3232926"/>
              <a:gd name="connsiteX94" fmla="*/ 0 w 2287608"/>
              <a:gd name="connsiteY94" fmla="*/ 694034 h 3232926"/>
              <a:gd name="connsiteX95" fmla="*/ 4497 w 2287608"/>
              <a:gd name="connsiteY95" fmla="*/ 695472 h 3232926"/>
              <a:gd name="connsiteX96" fmla="*/ 3493 w 2287608"/>
              <a:gd name="connsiteY96" fmla="*/ 700085 h 3232926"/>
              <a:gd name="connsiteX97" fmla="*/ 8992 w 2287608"/>
              <a:gd name="connsiteY97" fmla="*/ 696910 h 3232926"/>
              <a:gd name="connsiteX98" fmla="*/ 34477 w 2287608"/>
              <a:gd name="connsiteY98" fmla="*/ 705059 h 3232926"/>
              <a:gd name="connsiteX99" fmla="*/ 290620 w 2287608"/>
              <a:gd name="connsiteY99" fmla="*/ 735459 h 3232926"/>
              <a:gd name="connsiteX100" fmla="*/ 714857 w 2287608"/>
              <a:gd name="connsiteY100" fmla="*/ 615486 h 3232926"/>
              <a:gd name="connsiteX101" fmla="*/ 1132621 w 2287608"/>
              <a:gd name="connsiteY101" fmla="*/ 71046 h 3232926"/>
              <a:gd name="connsiteX102" fmla="*/ 1138305 w 2287608"/>
              <a:gd name="connsiteY102" fmla="*/ 44901 h 3232926"/>
              <a:gd name="connsiteX103" fmla="*/ 1143805 w 2287608"/>
              <a:gd name="connsiteY103" fmla="*/ 41726 h 3232926"/>
              <a:gd name="connsiteX104" fmla="*/ 1139308 w 2287608"/>
              <a:gd name="connsiteY104" fmla="*/ 40289 h 3232926"/>
              <a:gd name="connsiteX105" fmla="*/ 2069415 w 2287608"/>
              <a:gd name="connsiteY105" fmla="*/ 288501 h 3232926"/>
              <a:gd name="connsiteX106" fmla="*/ 1858661 w 2287608"/>
              <a:gd name="connsiteY106" fmla="*/ 120276 h 3232926"/>
              <a:gd name="connsiteX107" fmla="*/ 1178281 w 2287608"/>
              <a:gd name="connsiteY107" fmla="*/ 30702 h 3232926"/>
              <a:gd name="connsiteX108" fmla="*/ 1152796 w 2287608"/>
              <a:gd name="connsiteY108" fmla="*/ 38850 h 3232926"/>
              <a:gd name="connsiteX109" fmla="*/ 1147297 w 2287608"/>
              <a:gd name="connsiteY109" fmla="*/ 35676 h 3232926"/>
              <a:gd name="connsiteX110" fmla="*/ 1148300 w 2287608"/>
              <a:gd name="connsiteY110" fmla="*/ 40290 h 3232926"/>
              <a:gd name="connsiteX111" fmla="*/ 1143804 w 2287608"/>
              <a:gd name="connsiteY111" fmla="*/ 41727 h 3232926"/>
              <a:gd name="connsiteX112" fmla="*/ 1149304 w 2287608"/>
              <a:gd name="connsiteY112" fmla="*/ 44901 h 3232926"/>
              <a:gd name="connsiteX113" fmla="*/ 1154988 w 2287608"/>
              <a:gd name="connsiteY113" fmla="*/ 71046 h 3232926"/>
              <a:gd name="connsiteX114" fmla="*/ 1572751 w 2287608"/>
              <a:gd name="connsiteY114" fmla="*/ 615486 h 3232926"/>
              <a:gd name="connsiteX115" fmla="*/ 1996989 w 2287608"/>
              <a:gd name="connsiteY115" fmla="*/ 735460 h 3232926"/>
              <a:gd name="connsiteX116" fmla="*/ 2253131 w 2287608"/>
              <a:gd name="connsiteY116" fmla="*/ 705060 h 3232926"/>
              <a:gd name="connsiteX117" fmla="*/ 2278616 w 2287608"/>
              <a:gd name="connsiteY117" fmla="*/ 696911 h 3232926"/>
              <a:gd name="connsiteX118" fmla="*/ 2284115 w 2287608"/>
              <a:gd name="connsiteY118" fmla="*/ 700086 h 3232926"/>
              <a:gd name="connsiteX119" fmla="*/ 2283112 w 2287608"/>
              <a:gd name="connsiteY119" fmla="*/ 695473 h 3232926"/>
              <a:gd name="connsiteX120" fmla="*/ 2287608 w 2287608"/>
              <a:gd name="connsiteY120" fmla="*/ 694035 h 3232926"/>
              <a:gd name="connsiteX121" fmla="*/ 2282109 w 2287608"/>
              <a:gd name="connsiteY121" fmla="*/ 690860 h 3232926"/>
              <a:gd name="connsiteX122" fmla="*/ 2276424 w 2287608"/>
              <a:gd name="connsiteY122" fmla="*/ 664716 h 3232926"/>
              <a:gd name="connsiteX123" fmla="*/ 2069415 w 2287608"/>
              <a:gd name="connsiteY123" fmla="*/ 288501 h 323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287608" h="3232926">
                <a:moveTo>
                  <a:pt x="1143804" y="1916209"/>
                </a:moveTo>
                <a:lnTo>
                  <a:pt x="1140311" y="1919384"/>
                </a:lnTo>
                <a:lnTo>
                  <a:pt x="1136818" y="1916209"/>
                </a:lnTo>
                <a:lnTo>
                  <a:pt x="1136818" y="1922559"/>
                </a:lnTo>
                <a:lnTo>
                  <a:pt x="1117018" y="1940554"/>
                </a:lnTo>
                <a:cubicBezTo>
                  <a:pt x="954760" y="2102813"/>
                  <a:pt x="854401" y="2326970"/>
                  <a:pt x="854401" y="2574568"/>
                </a:cubicBezTo>
                <a:cubicBezTo>
                  <a:pt x="854401" y="2822165"/>
                  <a:pt x="954760" y="3046323"/>
                  <a:pt x="1117018" y="3208581"/>
                </a:cubicBezTo>
                <a:lnTo>
                  <a:pt x="1136818" y="3226577"/>
                </a:lnTo>
                <a:lnTo>
                  <a:pt x="1136818" y="3232926"/>
                </a:lnTo>
                <a:lnTo>
                  <a:pt x="1140311" y="3229751"/>
                </a:lnTo>
                <a:lnTo>
                  <a:pt x="1143804" y="3232926"/>
                </a:lnTo>
                <a:lnTo>
                  <a:pt x="1143804" y="3226577"/>
                </a:lnTo>
                <a:lnTo>
                  <a:pt x="1163604" y="3208581"/>
                </a:lnTo>
                <a:cubicBezTo>
                  <a:pt x="1325862" y="3046323"/>
                  <a:pt x="1426221" y="2822165"/>
                  <a:pt x="1426221" y="2574567"/>
                </a:cubicBezTo>
                <a:cubicBezTo>
                  <a:pt x="1426221" y="2326970"/>
                  <a:pt x="1325862" y="2102812"/>
                  <a:pt x="1163604" y="1940554"/>
                </a:cubicBezTo>
                <a:lnTo>
                  <a:pt x="1143804" y="1922558"/>
                </a:lnTo>
                <a:close/>
                <a:moveTo>
                  <a:pt x="1140312" y="1494239"/>
                </a:moveTo>
                <a:lnTo>
                  <a:pt x="1134813" y="1497413"/>
                </a:lnTo>
                <a:lnTo>
                  <a:pt x="1109328" y="1489264"/>
                </a:lnTo>
                <a:cubicBezTo>
                  <a:pt x="887680" y="1429874"/>
                  <a:pt x="643374" y="1455039"/>
                  <a:pt x="428947" y="1578838"/>
                </a:cubicBezTo>
                <a:cubicBezTo>
                  <a:pt x="214522" y="1702637"/>
                  <a:pt x="70575" y="1901629"/>
                  <a:pt x="11185" y="2123278"/>
                </a:cubicBezTo>
                <a:lnTo>
                  <a:pt x="5499" y="2149423"/>
                </a:lnTo>
                <a:lnTo>
                  <a:pt x="0" y="2152597"/>
                </a:lnTo>
                <a:lnTo>
                  <a:pt x="4497" y="2154035"/>
                </a:lnTo>
                <a:lnTo>
                  <a:pt x="3493" y="2158648"/>
                </a:lnTo>
                <a:lnTo>
                  <a:pt x="8992" y="2155473"/>
                </a:lnTo>
                <a:lnTo>
                  <a:pt x="34477" y="2163622"/>
                </a:lnTo>
                <a:cubicBezTo>
                  <a:pt x="117596" y="2185894"/>
                  <a:pt x="203900" y="2196274"/>
                  <a:pt x="290620" y="2194022"/>
                </a:cubicBezTo>
                <a:cubicBezTo>
                  <a:pt x="435153" y="2190268"/>
                  <a:pt x="580841" y="2151423"/>
                  <a:pt x="714858" y="2074049"/>
                </a:cubicBezTo>
                <a:cubicBezTo>
                  <a:pt x="929283" y="1950250"/>
                  <a:pt x="1073230" y="1751258"/>
                  <a:pt x="1132621" y="1529609"/>
                </a:cubicBezTo>
                <a:lnTo>
                  <a:pt x="1138305" y="1503464"/>
                </a:lnTo>
                <a:lnTo>
                  <a:pt x="1143804" y="1500289"/>
                </a:lnTo>
                <a:lnTo>
                  <a:pt x="1139308" y="1498852"/>
                </a:lnTo>
                <a:close/>
                <a:moveTo>
                  <a:pt x="2069415" y="1747063"/>
                </a:moveTo>
                <a:cubicBezTo>
                  <a:pt x="2009570" y="1682261"/>
                  <a:pt x="1939071" y="1625262"/>
                  <a:pt x="1858661" y="1578837"/>
                </a:cubicBezTo>
                <a:cubicBezTo>
                  <a:pt x="1644235" y="1455038"/>
                  <a:pt x="1399929" y="1429873"/>
                  <a:pt x="1178281" y="1489263"/>
                </a:cubicBezTo>
                <a:lnTo>
                  <a:pt x="1152796" y="1497412"/>
                </a:lnTo>
                <a:lnTo>
                  <a:pt x="1147297" y="1494238"/>
                </a:lnTo>
                <a:lnTo>
                  <a:pt x="1148300" y="1498851"/>
                </a:lnTo>
                <a:lnTo>
                  <a:pt x="1143804" y="1500288"/>
                </a:lnTo>
                <a:lnTo>
                  <a:pt x="1149304" y="1503463"/>
                </a:lnTo>
                <a:lnTo>
                  <a:pt x="1154988" y="1529608"/>
                </a:lnTo>
                <a:cubicBezTo>
                  <a:pt x="1214379" y="1751257"/>
                  <a:pt x="1358325" y="1950249"/>
                  <a:pt x="1572751" y="2074048"/>
                </a:cubicBezTo>
                <a:cubicBezTo>
                  <a:pt x="1706767" y="2151422"/>
                  <a:pt x="1852455" y="2190267"/>
                  <a:pt x="1996989" y="2194021"/>
                </a:cubicBezTo>
                <a:cubicBezTo>
                  <a:pt x="2083709" y="2196273"/>
                  <a:pt x="2170013" y="2185893"/>
                  <a:pt x="2253131" y="2163621"/>
                </a:cubicBezTo>
                <a:lnTo>
                  <a:pt x="2278616" y="2155472"/>
                </a:lnTo>
                <a:lnTo>
                  <a:pt x="2284115" y="2158647"/>
                </a:lnTo>
                <a:lnTo>
                  <a:pt x="2283112" y="2154034"/>
                </a:lnTo>
                <a:lnTo>
                  <a:pt x="2287608" y="2152596"/>
                </a:lnTo>
                <a:lnTo>
                  <a:pt x="2282109" y="2149422"/>
                </a:lnTo>
                <a:lnTo>
                  <a:pt x="2276424" y="2123277"/>
                </a:lnTo>
                <a:cubicBezTo>
                  <a:pt x="2239306" y="1984747"/>
                  <a:pt x="2169157" y="1855067"/>
                  <a:pt x="2069415" y="1747063"/>
                </a:cubicBezTo>
                <a:close/>
                <a:moveTo>
                  <a:pt x="1140311" y="779689"/>
                </a:moveTo>
                <a:lnTo>
                  <a:pt x="1134812" y="782863"/>
                </a:lnTo>
                <a:lnTo>
                  <a:pt x="1109328" y="774714"/>
                </a:lnTo>
                <a:cubicBezTo>
                  <a:pt x="887679" y="715324"/>
                  <a:pt x="643374" y="740489"/>
                  <a:pt x="428947" y="864288"/>
                </a:cubicBezTo>
                <a:cubicBezTo>
                  <a:pt x="214522" y="988087"/>
                  <a:pt x="70575" y="1187079"/>
                  <a:pt x="11185" y="1408728"/>
                </a:cubicBezTo>
                <a:lnTo>
                  <a:pt x="5499" y="1434873"/>
                </a:lnTo>
                <a:lnTo>
                  <a:pt x="0" y="1438047"/>
                </a:lnTo>
                <a:lnTo>
                  <a:pt x="4497" y="1439485"/>
                </a:lnTo>
                <a:lnTo>
                  <a:pt x="3493" y="1444098"/>
                </a:lnTo>
                <a:lnTo>
                  <a:pt x="8992" y="1440923"/>
                </a:lnTo>
                <a:lnTo>
                  <a:pt x="34477" y="1449072"/>
                </a:lnTo>
                <a:cubicBezTo>
                  <a:pt x="117595" y="1471344"/>
                  <a:pt x="203900" y="1481724"/>
                  <a:pt x="290620" y="1479472"/>
                </a:cubicBezTo>
                <a:cubicBezTo>
                  <a:pt x="435154" y="1475718"/>
                  <a:pt x="580841" y="1436873"/>
                  <a:pt x="714858" y="1359499"/>
                </a:cubicBezTo>
                <a:cubicBezTo>
                  <a:pt x="929284" y="1235700"/>
                  <a:pt x="1073229" y="1036708"/>
                  <a:pt x="1132621" y="815059"/>
                </a:cubicBezTo>
                <a:lnTo>
                  <a:pt x="1138305" y="788914"/>
                </a:lnTo>
                <a:lnTo>
                  <a:pt x="1143805" y="785739"/>
                </a:lnTo>
                <a:lnTo>
                  <a:pt x="1139308" y="784302"/>
                </a:lnTo>
                <a:close/>
                <a:moveTo>
                  <a:pt x="2069415" y="1032514"/>
                </a:moveTo>
                <a:cubicBezTo>
                  <a:pt x="2009570" y="967712"/>
                  <a:pt x="1939071" y="910714"/>
                  <a:pt x="1858661" y="864289"/>
                </a:cubicBezTo>
                <a:cubicBezTo>
                  <a:pt x="1644235" y="740490"/>
                  <a:pt x="1399929" y="715325"/>
                  <a:pt x="1178281" y="774715"/>
                </a:cubicBezTo>
                <a:lnTo>
                  <a:pt x="1152796" y="782864"/>
                </a:lnTo>
                <a:lnTo>
                  <a:pt x="1147297" y="779690"/>
                </a:lnTo>
                <a:lnTo>
                  <a:pt x="1148300" y="784303"/>
                </a:lnTo>
                <a:lnTo>
                  <a:pt x="1143804" y="785740"/>
                </a:lnTo>
                <a:lnTo>
                  <a:pt x="1149304" y="788915"/>
                </a:lnTo>
                <a:lnTo>
                  <a:pt x="1154988" y="815060"/>
                </a:lnTo>
                <a:cubicBezTo>
                  <a:pt x="1214379" y="1036709"/>
                  <a:pt x="1358325" y="1235701"/>
                  <a:pt x="1572751" y="1359500"/>
                </a:cubicBezTo>
                <a:cubicBezTo>
                  <a:pt x="1706767" y="1436874"/>
                  <a:pt x="1852455" y="1475719"/>
                  <a:pt x="1996989" y="1479473"/>
                </a:cubicBezTo>
                <a:cubicBezTo>
                  <a:pt x="2083709" y="1481725"/>
                  <a:pt x="2170013" y="1471345"/>
                  <a:pt x="2253131" y="1449073"/>
                </a:cubicBezTo>
                <a:lnTo>
                  <a:pt x="2278616" y="1440924"/>
                </a:lnTo>
                <a:lnTo>
                  <a:pt x="2284115" y="1444099"/>
                </a:lnTo>
                <a:lnTo>
                  <a:pt x="2283112" y="1439486"/>
                </a:lnTo>
                <a:lnTo>
                  <a:pt x="2287608" y="1438048"/>
                </a:lnTo>
                <a:lnTo>
                  <a:pt x="2282109" y="1434874"/>
                </a:lnTo>
                <a:lnTo>
                  <a:pt x="2276424" y="1408729"/>
                </a:lnTo>
                <a:cubicBezTo>
                  <a:pt x="2239306" y="1270198"/>
                  <a:pt x="2169157" y="1140518"/>
                  <a:pt x="2069415" y="1032514"/>
                </a:cubicBezTo>
                <a:close/>
                <a:moveTo>
                  <a:pt x="1140311" y="35676"/>
                </a:moveTo>
                <a:lnTo>
                  <a:pt x="1134812" y="38850"/>
                </a:lnTo>
                <a:lnTo>
                  <a:pt x="1109328" y="30701"/>
                </a:lnTo>
                <a:cubicBezTo>
                  <a:pt x="887679" y="-28689"/>
                  <a:pt x="643374" y="-3524"/>
                  <a:pt x="428948" y="120275"/>
                </a:cubicBezTo>
                <a:cubicBezTo>
                  <a:pt x="214521" y="244074"/>
                  <a:pt x="70575" y="443066"/>
                  <a:pt x="11185" y="664715"/>
                </a:cubicBezTo>
                <a:lnTo>
                  <a:pt x="5499" y="690860"/>
                </a:lnTo>
                <a:lnTo>
                  <a:pt x="0" y="694034"/>
                </a:lnTo>
                <a:lnTo>
                  <a:pt x="4497" y="695472"/>
                </a:lnTo>
                <a:lnTo>
                  <a:pt x="3493" y="700085"/>
                </a:lnTo>
                <a:lnTo>
                  <a:pt x="8992" y="696910"/>
                </a:lnTo>
                <a:lnTo>
                  <a:pt x="34477" y="705059"/>
                </a:lnTo>
                <a:cubicBezTo>
                  <a:pt x="117595" y="727331"/>
                  <a:pt x="203900" y="737711"/>
                  <a:pt x="290620" y="735459"/>
                </a:cubicBezTo>
                <a:cubicBezTo>
                  <a:pt x="435154" y="731705"/>
                  <a:pt x="580841" y="692860"/>
                  <a:pt x="714857" y="615486"/>
                </a:cubicBezTo>
                <a:cubicBezTo>
                  <a:pt x="929284" y="491687"/>
                  <a:pt x="1073229" y="292695"/>
                  <a:pt x="1132621" y="71046"/>
                </a:cubicBezTo>
                <a:lnTo>
                  <a:pt x="1138305" y="44901"/>
                </a:lnTo>
                <a:lnTo>
                  <a:pt x="1143805" y="41726"/>
                </a:lnTo>
                <a:lnTo>
                  <a:pt x="1139308" y="40289"/>
                </a:lnTo>
                <a:close/>
                <a:moveTo>
                  <a:pt x="2069415" y="288501"/>
                </a:moveTo>
                <a:cubicBezTo>
                  <a:pt x="2009570" y="223699"/>
                  <a:pt x="1939071" y="166700"/>
                  <a:pt x="1858661" y="120276"/>
                </a:cubicBezTo>
                <a:cubicBezTo>
                  <a:pt x="1644235" y="-3523"/>
                  <a:pt x="1399929" y="-28688"/>
                  <a:pt x="1178281" y="30702"/>
                </a:cubicBezTo>
                <a:lnTo>
                  <a:pt x="1152796" y="38850"/>
                </a:lnTo>
                <a:lnTo>
                  <a:pt x="1147297" y="35676"/>
                </a:lnTo>
                <a:lnTo>
                  <a:pt x="1148300" y="40290"/>
                </a:lnTo>
                <a:lnTo>
                  <a:pt x="1143804" y="41727"/>
                </a:lnTo>
                <a:lnTo>
                  <a:pt x="1149304" y="44901"/>
                </a:lnTo>
                <a:lnTo>
                  <a:pt x="1154988" y="71046"/>
                </a:lnTo>
                <a:cubicBezTo>
                  <a:pt x="1214379" y="292695"/>
                  <a:pt x="1358325" y="491688"/>
                  <a:pt x="1572751" y="615486"/>
                </a:cubicBezTo>
                <a:cubicBezTo>
                  <a:pt x="1706767" y="692860"/>
                  <a:pt x="1852455" y="731705"/>
                  <a:pt x="1996989" y="735460"/>
                </a:cubicBezTo>
                <a:cubicBezTo>
                  <a:pt x="2083709" y="737712"/>
                  <a:pt x="2170013" y="727332"/>
                  <a:pt x="2253131" y="705060"/>
                </a:cubicBezTo>
                <a:lnTo>
                  <a:pt x="2278616" y="696911"/>
                </a:lnTo>
                <a:lnTo>
                  <a:pt x="2284115" y="700086"/>
                </a:lnTo>
                <a:lnTo>
                  <a:pt x="2283112" y="695473"/>
                </a:lnTo>
                <a:lnTo>
                  <a:pt x="2287608" y="694035"/>
                </a:lnTo>
                <a:lnTo>
                  <a:pt x="2282109" y="690860"/>
                </a:lnTo>
                <a:lnTo>
                  <a:pt x="2276424" y="664716"/>
                </a:lnTo>
                <a:cubicBezTo>
                  <a:pt x="2239306" y="526185"/>
                  <a:pt x="2169157" y="396505"/>
                  <a:pt x="2069415" y="288501"/>
                </a:cubicBez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nvGrpSpPr>
          <p:cNvPr id="26" name="Group 25">
            <a:extLst>
              <a:ext uri="{FF2B5EF4-FFF2-40B4-BE49-F238E27FC236}">
                <a16:creationId xmlns:a16="http://schemas.microsoft.com/office/drawing/2014/main" id="{AC46C823-4AEE-4D15-A7B7-556599F864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521489" y="5639014"/>
            <a:ext cx="865742" cy="628383"/>
            <a:chOff x="558167" y="958515"/>
            <a:chExt cx="865742" cy="628383"/>
          </a:xfrm>
          <a:solidFill>
            <a:schemeClr val="accent3"/>
          </a:solidFill>
        </p:grpSpPr>
        <p:sp>
          <p:nvSpPr>
            <p:cNvPr id="27" name="Freeform: Shape 26">
              <a:extLst>
                <a:ext uri="{FF2B5EF4-FFF2-40B4-BE49-F238E27FC236}">
                  <a16:creationId xmlns:a16="http://schemas.microsoft.com/office/drawing/2014/main" id="{7FE368E1-8B21-487B-879D-A96309199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58A31684-3F27-4828-8633-A1624B02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30" name="Group 29">
            <a:extLst>
              <a:ext uri="{FF2B5EF4-FFF2-40B4-BE49-F238E27FC236}">
                <a16:creationId xmlns:a16="http://schemas.microsoft.com/office/drawing/2014/main" id="{766CF5CA-BCE0-446B-990C-62FB772ABE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486523" y="3291143"/>
            <a:ext cx="1785983" cy="2208479"/>
            <a:chOff x="2725201" y="4453039"/>
            <a:chExt cx="1785983" cy="2208479"/>
          </a:xfrm>
        </p:grpSpPr>
        <p:cxnSp>
          <p:nvCxnSpPr>
            <p:cNvPr id="31" name="Straight Connector 30">
              <a:extLst>
                <a:ext uri="{FF2B5EF4-FFF2-40B4-BE49-F238E27FC236}">
                  <a16:creationId xmlns:a16="http://schemas.microsoft.com/office/drawing/2014/main" id="{791F38DD-D787-4EE5-931B-C8CC2ED927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4E1D11-C91E-45F4-9A4A-EC0243DE76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63D0A83C-B0AD-4E04-B3FE-48D739F6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34" name="Rectangle 30">
              <a:extLst>
                <a:ext uri="{FF2B5EF4-FFF2-40B4-BE49-F238E27FC236}">
                  <a16:creationId xmlns:a16="http://schemas.microsoft.com/office/drawing/2014/main" id="{AF60A4C7-053A-4E00-9224-C9C9CAA54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0">
              <a:extLst>
                <a:ext uri="{FF2B5EF4-FFF2-40B4-BE49-F238E27FC236}">
                  <a16:creationId xmlns:a16="http://schemas.microsoft.com/office/drawing/2014/main" id="{C90A005E-7D6C-4543-AE86-10F5BA1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C174C2C-9AC5-4D2F-B12B-8AD9BE8773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flipV="1">
            <a:off x="473803" y="5280732"/>
            <a:ext cx="864005" cy="1032464"/>
            <a:chOff x="2207971" y="2384401"/>
            <a:chExt cx="864005" cy="1032464"/>
          </a:xfrm>
        </p:grpSpPr>
        <p:sp>
          <p:nvSpPr>
            <p:cNvPr id="38" name="Freeform: Shape 37">
              <a:extLst>
                <a:ext uri="{FF2B5EF4-FFF2-40B4-BE49-F238E27FC236}">
                  <a16:creationId xmlns:a16="http://schemas.microsoft.com/office/drawing/2014/main" id="{F2A1D572-4E75-4B18-83CD-369937018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Freeform: Shape 38">
              <a:extLst>
                <a:ext uri="{FF2B5EF4-FFF2-40B4-BE49-F238E27FC236}">
                  <a16:creationId xmlns:a16="http://schemas.microsoft.com/office/drawing/2014/main" id="{A4501448-AAB4-4BDF-81E5-BF4BEF2A4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0" name="Group 39">
              <a:extLst>
                <a:ext uri="{FF2B5EF4-FFF2-40B4-BE49-F238E27FC236}">
                  <a16:creationId xmlns:a16="http://schemas.microsoft.com/office/drawing/2014/main" id="{DA5CA3F8-7E28-4253-9221-2849B189136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41" name="Straight Connector 40">
                <a:extLst>
                  <a:ext uri="{FF2B5EF4-FFF2-40B4-BE49-F238E27FC236}">
                    <a16:creationId xmlns:a16="http://schemas.microsoft.com/office/drawing/2014/main" id="{ABAD8F42-57F4-4A12-8B47-E199EA1741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BF509FE-DD9E-4AB3-94EE-468C868875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 name="Freeform: Shape 43">
            <a:extLst>
              <a:ext uri="{FF2B5EF4-FFF2-40B4-BE49-F238E27FC236}">
                <a16:creationId xmlns:a16="http://schemas.microsoft.com/office/drawing/2014/main" id="{A7F45189-997F-4E6B-800E-D17FF116E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114077" y="3690094"/>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892991" y="1795123"/>
                </a:lnTo>
                <a:lnTo>
                  <a:pt x="763082" y="1694835"/>
                </a:lnTo>
                <a:cubicBezTo>
                  <a:pt x="-338018" y="799772"/>
                  <a:pt x="-41719" y="62104"/>
                  <a:pt x="379877" y="3722"/>
                </a:cubicBezTo>
                <a:cubicBezTo>
                  <a:pt x="399953" y="942"/>
                  <a:pt x="420313" y="-298"/>
                  <a:pt x="440819" y="59"/>
                </a:cubicBezTo>
                <a:close/>
              </a:path>
            </a:pathLst>
          </a:custGeom>
          <a:solidFill>
            <a:schemeClr val="accent1">
              <a:alpha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BC214B40-3523-42BE-856A-2B90472652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V="1">
            <a:off x="9049994" y="71786"/>
            <a:ext cx="2287608" cy="3673900"/>
            <a:chOff x="-6080955" y="3437416"/>
            <a:chExt cx="2287608" cy="3673900"/>
          </a:xfrm>
        </p:grpSpPr>
        <p:cxnSp>
          <p:nvCxnSpPr>
            <p:cNvPr id="47" name="Straight Connector 46">
              <a:extLst>
                <a:ext uri="{FF2B5EF4-FFF2-40B4-BE49-F238E27FC236}">
                  <a16:creationId xmlns:a16="http://schemas.microsoft.com/office/drawing/2014/main" id="{5626B876-FE3F-403F-B675-FB9415E00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937151" y="4754133"/>
              <a:ext cx="0" cy="23571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Freeform: Shape 47">
              <a:extLst>
                <a:ext uri="{FF2B5EF4-FFF2-40B4-BE49-F238E27FC236}">
                  <a16:creationId xmlns:a16="http://schemas.microsoft.com/office/drawing/2014/main" id="{03F8DDE7-4258-4181-9F2B-940B587EE5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5226554" y="3437416"/>
              <a:ext cx="571820" cy="1316717"/>
            </a:xfrm>
            <a:custGeom>
              <a:avLst/>
              <a:gdLst>
                <a:gd name="connsiteX0" fmla="*/ 282417 w 571820"/>
                <a:gd name="connsiteY0" fmla="*/ 1316717 h 1316717"/>
                <a:gd name="connsiteX1" fmla="*/ 285910 w 571820"/>
                <a:gd name="connsiteY1" fmla="*/ 1313542 h 1316717"/>
                <a:gd name="connsiteX2" fmla="*/ 289403 w 571820"/>
                <a:gd name="connsiteY2" fmla="*/ 1316717 h 1316717"/>
                <a:gd name="connsiteX3" fmla="*/ 289403 w 571820"/>
                <a:gd name="connsiteY3" fmla="*/ 1310368 h 1316717"/>
                <a:gd name="connsiteX4" fmla="*/ 309203 w 571820"/>
                <a:gd name="connsiteY4" fmla="*/ 1292372 h 1316717"/>
                <a:gd name="connsiteX5" fmla="*/ 571820 w 571820"/>
                <a:gd name="connsiteY5" fmla="*/ 658358 h 1316717"/>
                <a:gd name="connsiteX6" fmla="*/ 309203 w 571820"/>
                <a:gd name="connsiteY6" fmla="*/ 24345 h 1316717"/>
                <a:gd name="connsiteX7" fmla="*/ 289403 w 571820"/>
                <a:gd name="connsiteY7" fmla="*/ 6349 h 1316717"/>
                <a:gd name="connsiteX8" fmla="*/ 289403 w 571820"/>
                <a:gd name="connsiteY8" fmla="*/ 0 h 1316717"/>
                <a:gd name="connsiteX9" fmla="*/ 285910 w 571820"/>
                <a:gd name="connsiteY9" fmla="*/ 3175 h 1316717"/>
                <a:gd name="connsiteX10" fmla="*/ 282417 w 571820"/>
                <a:gd name="connsiteY10" fmla="*/ 0 h 1316717"/>
                <a:gd name="connsiteX11" fmla="*/ 282417 w 571820"/>
                <a:gd name="connsiteY11" fmla="*/ 6350 h 1316717"/>
                <a:gd name="connsiteX12" fmla="*/ 262617 w 571820"/>
                <a:gd name="connsiteY12" fmla="*/ 24345 h 1316717"/>
                <a:gd name="connsiteX13" fmla="*/ 0 w 571820"/>
                <a:gd name="connsiteY13" fmla="*/ 658359 h 1316717"/>
                <a:gd name="connsiteX14" fmla="*/ 262617 w 571820"/>
                <a:gd name="connsiteY14" fmla="*/ 1292372 h 1316717"/>
                <a:gd name="connsiteX15" fmla="*/ 282417 w 571820"/>
                <a:gd name="connsiteY15" fmla="*/ 1310368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1820" h="1316717">
                  <a:moveTo>
                    <a:pt x="282417" y="1316717"/>
                  </a:moveTo>
                  <a:lnTo>
                    <a:pt x="285910" y="1313542"/>
                  </a:lnTo>
                  <a:lnTo>
                    <a:pt x="289403" y="1316717"/>
                  </a:lnTo>
                  <a:lnTo>
                    <a:pt x="289403" y="1310368"/>
                  </a:lnTo>
                  <a:lnTo>
                    <a:pt x="309203" y="1292372"/>
                  </a:lnTo>
                  <a:cubicBezTo>
                    <a:pt x="471461" y="1130114"/>
                    <a:pt x="571820" y="905956"/>
                    <a:pt x="571820" y="658358"/>
                  </a:cubicBezTo>
                  <a:cubicBezTo>
                    <a:pt x="571820" y="410761"/>
                    <a:pt x="471461" y="186603"/>
                    <a:pt x="309203" y="24345"/>
                  </a:cubicBezTo>
                  <a:lnTo>
                    <a:pt x="289403" y="6349"/>
                  </a:lnTo>
                  <a:lnTo>
                    <a:pt x="289403" y="0"/>
                  </a:lnTo>
                  <a:lnTo>
                    <a:pt x="285910" y="3175"/>
                  </a:lnTo>
                  <a:lnTo>
                    <a:pt x="282417" y="0"/>
                  </a:lnTo>
                  <a:lnTo>
                    <a:pt x="282417" y="6350"/>
                  </a:lnTo>
                  <a:lnTo>
                    <a:pt x="262617" y="24345"/>
                  </a:lnTo>
                  <a:cubicBezTo>
                    <a:pt x="100359" y="186604"/>
                    <a:pt x="0" y="410761"/>
                    <a:pt x="0" y="658359"/>
                  </a:cubicBezTo>
                  <a:cubicBezTo>
                    <a:pt x="0" y="905956"/>
                    <a:pt x="100359" y="1130114"/>
                    <a:pt x="262617" y="1292372"/>
                  </a:cubicBezTo>
                  <a:lnTo>
                    <a:pt x="282417" y="1310368"/>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eeform: Shape 48">
              <a:extLst>
                <a:ext uri="{FF2B5EF4-FFF2-40B4-BE49-F238E27FC236}">
                  <a16:creationId xmlns:a16="http://schemas.microsoft.com/office/drawing/2014/main" id="{4EED88FA-E654-453B-92BF-21196E32B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7F3C238A-5CF1-4927-B70F-C99112299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4476018"/>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Freeform: Shape 50">
              <a:extLst>
                <a:ext uri="{FF2B5EF4-FFF2-40B4-BE49-F238E27FC236}">
                  <a16:creationId xmlns:a16="http://schemas.microsoft.com/office/drawing/2014/main" id="{42EAC2EE-4C33-44A6-A62B-6130E320A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Freeform: Shape 51">
              <a:extLst>
                <a:ext uri="{FF2B5EF4-FFF2-40B4-BE49-F238E27FC236}">
                  <a16:creationId xmlns:a16="http://schemas.microsoft.com/office/drawing/2014/main" id="{0F2EC395-DF39-4C41-A452-37AF723EA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190567"/>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Freeform: Shape 52">
              <a:extLst>
                <a:ext uri="{FF2B5EF4-FFF2-40B4-BE49-F238E27FC236}">
                  <a16:creationId xmlns:a16="http://schemas.microsoft.com/office/drawing/2014/main" id="{2425D947-0068-4059-B9BE-93A3B27CD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955"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Freeform: Shape 53">
              <a:extLst>
                <a:ext uri="{FF2B5EF4-FFF2-40B4-BE49-F238E27FC236}">
                  <a16:creationId xmlns:a16="http://schemas.microsoft.com/office/drawing/2014/main" id="{80F2FE05-A04C-4860-B709-2FCBEAE879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937151" y="5934581"/>
              <a:ext cx="1143804" cy="735761"/>
            </a:xfrm>
            <a:custGeom>
              <a:avLst/>
              <a:gdLst>
                <a:gd name="connsiteX0" fmla="*/ 290619 w 1143804"/>
                <a:gd name="connsiteY0" fmla="*/ 302 h 735761"/>
                <a:gd name="connsiteX1" fmla="*/ 714857 w 1143804"/>
                <a:gd name="connsiteY1" fmla="*/ 120275 h 735761"/>
                <a:gd name="connsiteX2" fmla="*/ 1132620 w 1143804"/>
                <a:gd name="connsiteY2" fmla="*/ 664715 h 735761"/>
                <a:gd name="connsiteX3" fmla="*/ 1138304 w 1143804"/>
                <a:gd name="connsiteY3" fmla="*/ 690860 h 735761"/>
                <a:gd name="connsiteX4" fmla="*/ 1143804 w 1143804"/>
                <a:gd name="connsiteY4" fmla="*/ 694035 h 735761"/>
                <a:gd name="connsiteX5" fmla="*/ 1139308 w 1143804"/>
                <a:gd name="connsiteY5" fmla="*/ 695472 h 735761"/>
                <a:gd name="connsiteX6" fmla="*/ 1140311 w 1143804"/>
                <a:gd name="connsiteY6" fmla="*/ 700085 h 735761"/>
                <a:gd name="connsiteX7" fmla="*/ 1134812 w 1143804"/>
                <a:gd name="connsiteY7" fmla="*/ 696911 h 735761"/>
                <a:gd name="connsiteX8" fmla="*/ 1109327 w 1143804"/>
                <a:gd name="connsiteY8" fmla="*/ 705060 h 735761"/>
                <a:gd name="connsiteX9" fmla="*/ 428947 w 1143804"/>
                <a:gd name="connsiteY9" fmla="*/ 615486 h 735761"/>
                <a:gd name="connsiteX10" fmla="*/ 11184 w 1143804"/>
                <a:gd name="connsiteY10" fmla="*/ 71046 h 735761"/>
                <a:gd name="connsiteX11" fmla="*/ 5499 w 1143804"/>
                <a:gd name="connsiteY11" fmla="*/ 44901 h 735761"/>
                <a:gd name="connsiteX12" fmla="*/ 0 w 1143804"/>
                <a:gd name="connsiteY12" fmla="*/ 41727 h 735761"/>
                <a:gd name="connsiteX13" fmla="*/ 4496 w 1143804"/>
                <a:gd name="connsiteY13" fmla="*/ 40289 h 735761"/>
                <a:gd name="connsiteX14" fmla="*/ 3493 w 1143804"/>
                <a:gd name="connsiteY14" fmla="*/ 35676 h 735761"/>
                <a:gd name="connsiteX15" fmla="*/ 8992 w 1143804"/>
                <a:gd name="connsiteY15" fmla="*/ 38851 h 735761"/>
                <a:gd name="connsiteX16" fmla="*/ 34477 w 1143804"/>
                <a:gd name="connsiteY16" fmla="*/ 30702 h 735761"/>
                <a:gd name="connsiteX17" fmla="*/ 290619 w 1143804"/>
                <a:gd name="connsiteY17" fmla="*/ 302 h 73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3804" h="735761">
                  <a:moveTo>
                    <a:pt x="290619" y="302"/>
                  </a:moveTo>
                  <a:cubicBezTo>
                    <a:pt x="435153" y="4056"/>
                    <a:pt x="580841" y="42901"/>
                    <a:pt x="714857" y="120275"/>
                  </a:cubicBezTo>
                  <a:cubicBezTo>
                    <a:pt x="929283" y="244074"/>
                    <a:pt x="1073229" y="443066"/>
                    <a:pt x="1132620" y="664715"/>
                  </a:cubicBezTo>
                  <a:lnTo>
                    <a:pt x="1138304" y="690860"/>
                  </a:lnTo>
                  <a:lnTo>
                    <a:pt x="1143804" y="694035"/>
                  </a:lnTo>
                  <a:lnTo>
                    <a:pt x="1139308" y="695472"/>
                  </a:lnTo>
                  <a:lnTo>
                    <a:pt x="1140311" y="700085"/>
                  </a:lnTo>
                  <a:lnTo>
                    <a:pt x="1134812" y="696911"/>
                  </a:lnTo>
                  <a:lnTo>
                    <a:pt x="1109327" y="705060"/>
                  </a:lnTo>
                  <a:cubicBezTo>
                    <a:pt x="887679" y="764450"/>
                    <a:pt x="643373" y="739285"/>
                    <a:pt x="428947" y="615486"/>
                  </a:cubicBezTo>
                  <a:cubicBezTo>
                    <a:pt x="214521" y="491687"/>
                    <a:pt x="70574" y="292695"/>
                    <a:pt x="11184" y="71046"/>
                  </a:cubicBezTo>
                  <a:lnTo>
                    <a:pt x="5499" y="44901"/>
                  </a:lnTo>
                  <a:lnTo>
                    <a:pt x="0" y="41727"/>
                  </a:lnTo>
                  <a:lnTo>
                    <a:pt x="4496" y="40289"/>
                  </a:lnTo>
                  <a:lnTo>
                    <a:pt x="3493" y="35676"/>
                  </a:lnTo>
                  <a:lnTo>
                    <a:pt x="8992" y="38851"/>
                  </a:lnTo>
                  <a:lnTo>
                    <a:pt x="34477" y="30702"/>
                  </a:lnTo>
                  <a:cubicBezTo>
                    <a:pt x="117595" y="8430"/>
                    <a:pt x="203899" y="-1950"/>
                    <a:pt x="290619" y="302"/>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ytuł 1">
            <a:extLst>
              <a:ext uri="{FF2B5EF4-FFF2-40B4-BE49-F238E27FC236}">
                <a16:creationId xmlns:a16="http://schemas.microsoft.com/office/drawing/2014/main" id="{70EFFBD4-36A7-F7C2-3DB6-7AF30FD58721}"/>
              </a:ext>
            </a:extLst>
          </p:cNvPr>
          <p:cNvSpPr>
            <a:spLocks noGrp="1"/>
          </p:cNvSpPr>
          <p:nvPr>
            <p:ph type="title"/>
          </p:nvPr>
        </p:nvSpPr>
        <p:spPr>
          <a:xfrm>
            <a:off x="3882610" y="1011237"/>
            <a:ext cx="4426782" cy="860400"/>
          </a:xfrm>
        </p:spPr>
        <p:txBody>
          <a:bodyPr anchor="b">
            <a:normAutofit/>
          </a:bodyPr>
          <a:lstStyle/>
          <a:p>
            <a:pPr algn="ctr">
              <a:lnSpc>
                <a:spcPct val="90000"/>
              </a:lnSpc>
            </a:pPr>
            <a:r>
              <a:rPr lang="pl-PL" sz="2000" dirty="0"/>
              <a:t>Wyzwania związane z pozyskiwaniem danych treningowych</a:t>
            </a:r>
          </a:p>
        </p:txBody>
      </p:sp>
      <p:cxnSp>
        <p:nvCxnSpPr>
          <p:cNvPr id="56" name="Straight Connector 55">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55F607A4-7B75-031E-8BE9-F1CCC2B55349}"/>
              </a:ext>
            </a:extLst>
          </p:cNvPr>
          <p:cNvSpPr>
            <a:spLocks noGrp="1"/>
          </p:cNvSpPr>
          <p:nvPr>
            <p:ph idx="1"/>
          </p:nvPr>
        </p:nvSpPr>
        <p:spPr>
          <a:xfrm>
            <a:off x="3863976" y="2759076"/>
            <a:ext cx="4460874" cy="3009899"/>
          </a:xfrm>
        </p:spPr>
        <p:txBody>
          <a:bodyPr>
            <a:normAutofit/>
          </a:bodyPr>
          <a:lstStyle/>
          <a:p>
            <a:pPr marL="0" indent="0">
              <a:lnSpc>
                <a:spcPct val="115000"/>
              </a:lnSpc>
              <a:buNone/>
            </a:pPr>
            <a:r>
              <a:rPr lang="pl-PL" sz="1900"/>
              <a:t>W startupach technologicznych jednym z najtrudniejszych wyzwań jest pozyskanie danych treningowych, które są niezbędne do budowy modeli uczenia maszynowego. W dużych organizacjach dane historyczne często są już dostępne, natomiast młoda firma bardzo często rozpoczyna działalność praktycznie bez własnych zasobów danych.</a:t>
            </a:r>
          </a:p>
        </p:txBody>
      </p:sp>
      <p:grpSp>
        <p:nvGrpSpPr>
          <p:cNvPr id="58" name="Group 57">
            <a:extLst>
              <a:ext uri="{FF2B5EF4-FFF2-40B4-BE49-F238E27FC236}">
                <a16:creationId xmlns:a16="http://schemas.microsoft.com/office/drawing/2014/main" id="{69D14CB3-B46C-4D52-91C7-9020767C01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flipH="1" flipV="1">
            <a:off x="10901022" y="5639014"/>
            <a:ext cx="865742" cy="628383"/>
            <a:chOff x="558167" y="958515"/>
            <a:chExt cx="865742" cy="628383"/>
          </a:xfrm>
          <a:solidFill>
            <a:schemeClr val="accent3"/>
          </a:solidFill>
        </p:grpSpPr>
        <p:sp>
          <p:nvSpPr>
            <p:cNvPr id="59" name="Freeform: Shape 58">
              <a:extLst>
                <a:ext uri="{FF2B5EF4-FFF2-40B4-BE49-F238E27FC236}">
                  <a16:creationId xmlns:a16="http://schemas.microsoft.com/office/drawing/2014/main" id="{3A77D7F4-D3A2-4801-9AC3-6626FDE15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reeform: Shape 59">
              <a:extLst>
                <a:ext uri="{FF2B5EF4-FFF2-40B4-BE49-F238E27FC236}">
                  <a16:creationId xmlns:a16="http://schemas.microsoft.com/office/drawing/2014/main" id="{1E62BACE-7CE7-442A-BFFB-8BC57C446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2" name="Group 61">
            <a:extLst>
              <a:ext uri="{FF2B5EF4-FFF2-40B4-BE49-F238E27FC236}">
                <a16:creationId xmlns:a16="http://schemas.microsoft.com/office/drawing/2014/main" id="{695E1464-F8FF-467B-BC7A-2DB63FD734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9919495" y="3291143"/>
            <a:ext cx="1785983" cy="2208479"/>
            <a:chOff x="2725201" y="4453039"/>
            <a:chExt cx="1785983" cy="2208479"/>
          </a:xfrm>
        </p:grpSpPr>
        <p:cxnSp>
          <p:nvCxnSpPr>
            <p:cNvPr id="63" name="Straight Connector 62">
              <a:extLst>
                <a:ext uri="{FF2B5EF4-FFF2-40B4-BE49-F238E27FC236}">
                  <a16:creationId xmlns:a16="http://schemas.microsoft.com/office/drawing/2014/main" id="{1D9EF77E-636A-4F91-8AC6-2926F2512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3618192" y="4453039"/>
              <a:ext cx="0" cy="22084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9F8CE5-DA1D-4DAF-A044-400C40169D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738439" y="5243393"/>
              <a:ext cx="17609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Shape 64">
              <a:extLst>
                <a:ext uri="{FF2B5EF4-FFF2-40B4-BE49-F238E27FC236}">
                  <a16:creationId xmlns:a16="http://schemas.microsoft.com/office/drawing/2014/main" id="{9C47A2FE-4826-4485-B3C0-56DF9A73A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725201" y="4861779"/>
              <a:ext cx="1785983" cy="1799739"/>
            </a:xfrm>
            <a:custGeom>
              <a:avLst/>
              <a:gdLst>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892991 w 1785983"/>
                <a:gd name="connsiteY8" fmla="*/ 1795123 h 1799739"/>
                <a:gd name="connsiteX9" fmla="*/ 763082 w 1785983"/>
                <a:gd name="connsiteY9" fmla="*/ 1694835 h 1799739"/>
                <a:gd name="connsiteX10" fmla="*/ 379877 w 1785983"/>
                <a:gd name="connsiteY10" fmla="*/ 3722 h 1799739"/>
                <a:gd name="connsiteX11" fmla="*/ 440819 w 1785983"/>
                <a:gd name="connsiteY11" fmla="*/ 59 h 1799739"/>
                <a:gd name="connsiteX0" fmla="*/ 440819 w 1785983"/>
                <a:gd name="connsiteY0" fmla="*/ 59 h 1849891"/>
                <a:gd name="connsiteX1" fmla="*/ 845918 w 1785983"/>
                <a:gd name="connsiteY1" fmla="*/ 261596 h 1849891"/>
                <a:gd name="connsiteX2" fmla="*/ 892992 w 1785983"/>
                <a:gd name="connsiteY2" fmla="*/ 360758 h 1849891"/>
                <a:gd name="connsiteX3" fmla="*/ 892992 w 1785983"/>
                <a:gd name="connsiteY3" fmla="*/ 365372 h 1849891"/>
                <a:gd name="connsiteX4" fmla="*/ 940065 w 1785983"/>
                <a:gd name="connsiteY4" fmla="*/ 266212 h 1849891"/>
                <a:gd name="connsiteX5" fmla="*/ 1406106 w 1785983"/>
                <a:gd name="connsiteY5" fmla="*/ 8338 h 1849891"/>
                <a:gd name="connsiteX6" fmla="*/ 1022901 w 1785983"/>
                <a:gd name="connsiteY6" fmla="*/ 1699451 h 1849891"/>
                <a:gd name="connsiteX7" fmla="*/ 892991 w 1785983"/>
                <a:gd name="connsiteY7" fmla="*/ 1799739 h 1849891"/>
                <a:gd name="connsiteX8" fmla="*/ 838223 w 1785983"/>
                <a:gd name="connsiteY8" fmla="*/ 1849891 h 1849891"/>
                <a:gd name="connsiteX9" fmla="*/ 763082 w 1785983"/>
                <a:gd name="connsiteY9" fmla="*/ 1694835 h 1849891"/>
                <a:gd name="connsiteX10" fmla="*/ 379877 w 1785983"/>
                <a:gd name="connsiteY10" fmla="*/ 3722 h 1849891"/>
                <a:gd name="connsiteX11" fmla="*/ 440819 w 1785983"/>
                <a:gd name="connsiteY11" fmla="*/ 59 h 1849891"/>
                <a:gd name="connsiteX0" fmla="*/ 440819 w 1785983"/>
                <a:gd name="connsiteY0" fmla="*/ 59 h 1799739"/>
                <a:gd name="connsiteX1" fmla="*/ 845918 w 1785983"/>
                <a:gd name="connsiteY1" fmla="*/ 261596 h 1799739"/>
                <a:gd name="connsiteX2" fmla="*/ 892992 w 1785983"/>
                <a:gd name="connsiteY2" fmla="*/ 360758 h 1799739"/>
                <a:gd name="connsiteX3" fmla="*/ 892992 w 1785983"/>
                <a:gd name="connsiteY3" fmla="*/ 365372 h 1799739"/>
                <a:gd name="connsiteX4" fmla="*/ 940065 w 1785983"/>
                <a:gd name="connsiteY4" fmla="*/ 266212 h 1799739"/>
                <a:gd name="connsiteX5" fmla="*/ 1406106 w 1785983"/>
                <a:gd name="connsiteY5" fmla="*/ 8338 h 1799739"/>
                <a:gd name="connsiteX6" fmla="*/ 1022901 w 1785983"/>
                <a:gd name="connsiteY6" fmla="*/ 1699451 h 1799739"/>
                <a:gd name="connsiteX7" fmla="*/ 892991 w 1785983"/>
                <a:gd name="connsiteY7" fmla="*/ 1799739 h 1799739"/>
                <a:gd name="connsiteX8" fmla="*/ 763082 w 1785983"/>
                <a:gd name="connsiteY8" fmla="*/ 1694835 h 1799739"/>
                <a:gd name="connsiteX9" fmla="*/ 379877 w 1785983"/>
                <a:gd name="connsiteY9" fmla="*/ 3722 h 1799739"/>
                <a:gd name="connsiteX10" fmla="*/ 440819 w 1785983"/>
                <a:gd name="connsiteY10" fmla="*/ 59 h 179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5983" h="1799739">
                  <a:moveTo>
                    <a:pt x="440819" y="59"/>
                  </a:moveTo>
                  <a:cubicBezTo>
                    <a:pt x="584367" y="2557"/>
                    <a:pt x="735105" y="83293"/>
                    <a:pt x="845918" y="261596"/>
                  </a:cubicBezTo>
                  <a:lnTo>
                    <a:pt x="892992" y="360758"/>
                  </a:lnTo>
                  <a:lnTo>
                    <a:pt x="892992" y="365372"/>
                  </a:lnTo>
                  <a:lnTo>
                    <a:pt x="940065" y="266212"/>
                  </a:lnTo>
                  <a:cubicBezTo>
                    <a:pt x="1066709" y="62437"/>
                    <a:pt x="1245499" y="-13903"/>
                    <a:pt x="1406106" y="8338"/>
                  </a:cubicBezTo>
                  <a:cubicBezTo>
                    <a:pt x="1827702" y="66720"/>
                    <a:pt x="2124001" y="804388"/>
                    <a:pt x="1022901" y="1699451"/>
                  </a:cubicBezTo>
                  <a:lnTo>
                    <a:pt x="892991" y="1799739"/>
                  </a:lnTo>
                  <a:lnTo>
                    <a:pt x="763082" y="1694835"/>
                  </a:lnTo>
                  <a:cubicBezTo>
                    <a:pt x="-338018" y="799772"/>
                    <a:pt x="-41719" y="62104"/>
                    <a:pt x="379877" y="3722"/>
                  </a:cubicBezTo>
                  <a:cubicBezTo>
                    <a:pt x="399953" y="942"/>
                    <a:pt x="420313" y="-298"/>
                    <a:pt x="440819" y="59"/>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Bell MT" panose="02020503060305020303" pitchFamily="18" charset="0"/>
              </a:endParaRPr>
            </a:p>
          </p:txBody>
        </p:sp>
        <p:sp>
          <p:nvSpPr>
            <p:cNvPr id="66" name="Rectangle 30">
              <a:extLst>
                <a:ext uri="{FF2B5EF4-FFF2-40B4-BE49-F238E27FC236}">
                  <a16:creationId xmlns:a16="http://schemas.microsoft.com/office/drawing/2014/main" id="{A9D0A0EF-4934-4E46-A33A-95E5D932D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24232" y="5447997"/>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EA389321-1892-4D9B-9F10-CA83BC15FE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315029" y="5983110"/>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D9F93B70-A436-473C-A7CE-540999A596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V="1">
            <a:off x="10854193" y="5280732"/>
            <a:ext cx="864005" cy="1032464"/>
            <a:chOff x="2207971" y="2384401"/>
            <a:chExt cx="864005" cy="1032464"/>
          </a:xfrm>
        </p:grpSpPr>
        <p:sp>
          <p:nvSpPr>
            <p:cNvPr id="70" name="Freeform: Shape 69">
              <a:extLst>
                <a:ext uri="{FF2B5EF4-FFF2-40B4-BE49-F238E27FC236}">
                  <a16:creationId xmlns:a16="http://schemas.microsoft.com/office/drawing/2014/main" id="{C78ABD64-1B50-4D55-BC1F-146CC4D6E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Shape 70">
              <a:extLst>
                <a:ext uri="{FF2B5EF4-FFF2-40B4-BE49-F238E27FC236}">
                  <a16:creationId xmlns:a16="http://schemas.microsoft.com/office/drawing/2014/main" id="{57FC7EAA-9D36-4047-8A25-796E944D16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2" name="Group 71">
              <a:extLst>
                <a:ext uri="{FF2B5EF4-FFF2-40B4-BE49-F238E27FC236}">
                  <a16:creationId xmlns:a16="http://schemas.microsoft.com/office/drawing/2014/main" id="{0C72E6B1-2CDE-4B76-BB57-54923A35BC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73" name="Straight Connector 72">
                <a:extLst>
                  <a:ext uri="{FF2B5EF4-FFF2-40B4-BE49-F238E27FC236}">
                    <a16:creationId xmlns:a16="http://schemas.microsoft.com/office/drawing/2014/main" id="{0A618DA4-FD3B-435B-9077-6643BD6C93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579CD8F-9756-4DC0-A735-0CA77A873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637914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7909457-BE3F-D65C-AFBE-E576DC20681B}"/>
              </a:ext>
            </a:extLst>
          </p:cNvPr>
          <p:cNvSpPr>
            <a:spLocks noGrp="1"/>
          </p:cNvSpPr>
          <p:nvPr>
            <p:ph type="title"/>
          </p:nvPr>
        </p:nvSpPr>
        <p:spPr>
          <a:xfrm>
            <a:off x="541338" y="1079500"/>
            <a:ext cx="3322637" cy="4689475"/>
          </a:xfrm>
        </p:spPr>
        <p:txBody>
          <a:bodyPr anchor="ctr">
            <a:normAutofit/>
          </a:bodyPr>
          <a:lstStyle/>
          <a:p>
            <a:pPr algn="ctr"/>
            <a:r>
              <a:rPr lang="pl-PL" sz="2400"/>
              <a:t>Wyzwania związane z pozyskiwaniem danych treningowych</a:t>
            </a:r>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ymbol zastępczy zawartości 2">
            <a:extLst>
              <a:ext uri="{FF2B5EF4-FFF2-40B4-BE49-F238E27FC236}">
                <a16:creationId xmlns:a16="http://schemas.microsoft.com/office/drawing/2014/main" id="{D171E408-4738-00C4-966F-BB61FC93AD5C}"/>
              </a:ext>
            </a:extLst>
          </p:cNvPr>
          <p:cNvGraphicFramePr>
            <a:graphicFrameLocks noGrp="1"/>
          </p:cNvGraphicFramePr>
          <p:nvPr>
            <p:ph idx="1"/>
            <p:extLst>
              <p:ext uri="{D42A27DB-BD31-4B8C-83A1-F6EECF244321}">
                <p14:modId xmlns:p14="http://schemas.microsoft.com/office/powerpoint/2010/main" val="1878550984"/>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9846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69F5FE0-EBCF-4A14-AF3D-1ADCD644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3997DE9-07B0-CA4D-2202-416D3987827F}"/>
              </a:ext>
            </a:extLst>
          </p:cNvPr>
          <p:cNvSpPr>
            <a:spLocks noGrp="1"/>
          </p:cNvSpPr>
          <p:nvPr>
            <p:ph type="title"/>
          </p:nvPr>
        </p:nvSpPr>
        <p:spPr>
          <a:xfrm>
            <a:off x="1080000" y="1011236"/>
            <a:ext cx="4426782" cy="1292662"/>
          </a:xfrm>
        </p:spPr>
        <p:txBody>
          <a:bodyPr anchor="t">
            <a:normAutofit/>
          </a:bodyPr>
          <a:lstStyle/>
          <a:p>
            <a:r>
              <a:rPr lang="pl-PL"/>
              <a:t>Shadow deployment</a:t>
            </a:r>
          </a:p>
        </p:txBody>
      </p:sp>
      <p:pic>
        <p:nvPicPr>
          <p:cNvPr id="6" name="Obraz 5">
            <a:extLst>
              <a:ext uri="{FF2B5EF4-FFF2-40B4-BE49-F238E27FC236}">
                <a16:creationId xmlns:a16="http://schemas.microsoft.com/office/drawing/2014/main" id="{56282A4F-0348-BAAF-578C-0B6E6258C98D}"/>
              </a:ext>
            </a:extLst>
          </p:cNvPr>
          <p:cNvPicPr>
            <a:picLocks noChangeAspect="1"/>
          </p:cNvPicPr>
          <p:nvPr/>
        </p:nvPicPr>
        <p:blipFill>
          <a:blip r:embed="rId3"/>
          <a:srcRect l="1198" r="13096" b="-3"/>
          <a:stretch>
            <a:fillRect/>
          </a:stretch>
        </p:blipFill>
        <p:spPr>
          <a:xfrm>
            <a:off x="1079499" y="2843213"/>
            <a:ext cx="4457701" cy="2925762"/>
          </a:xfrm>
          <a:prstGeom prst="rect">
            <a:avLst/>
          </a:prstGeom>
        </p:spPr>
      </p:pic>
      <p:sp>
        <p:nvSpPr>
          <p:cNvPr id="3" name="Symbol zastępczy zawartości 2">
            <a:extLst>
              <a:ext uri="{FF2B5EF4-FFF2-40B4-BE49-F238E27FC236}">
                <a16:creationId xmlns:a16="http://schemas.microsoft.com/office/drawing/2014/main" id="{42BBEA08-0B47-F19B-0BA0-E0F58ABFADA5}"/>
              </a:ext>
            </a:extLst>
          </p:cNvPr>
          <p:cNvSpPr>
            <a:spLocks noGrp="1"/>
          </p:cNvSpPr>
          <p:nvPr>
            <p:ph idx="1"/>
          </p:nvPr>
        </p:nvSpPr>
        <p:spPr>
          <a:xfrm>
            <a:off x="6096000" y="987423"/>
            <a:ext cx="5555012" cy="4781552"/>
          </a:xfrm>
        </p:spPr>
        <p:txBody>
          <a:bodyPr>
            <a:normAutofit/>
          </a:bodyPr>
          <a:lstStyle/>
          <a:p>
            <a:pPr marL="0" indent="0">
              <a:lnSpc>
                <a:spcPct val="115000"/>
              </a:lnSpc>
              <a:buNone/>
            </a:pPr>
            <a:r>
              <a:rPr lang="pl-PL" sz="1900" err="1"/>
              <a:t>Shadow</a:t>
            </a:r>
            <a:r>
              <a:rPr lang="pl-PL" sz="1900"/>
              <a:t> </a:t>
            </a:r>
            <a:r>
              <a:rPr lang="pl-PL" sz="1900" err="1"/>
              <a:t>deployment</a:t>
            </a:r>
            <a:r>
              <a:rPr lang="pl-PL" sz="1900"/>
              <a:t> to technika wdrożenia, w której nowy model lub funkcjonalność działa równolegle z istniejącym systemem, ale jego wyniki nie są jeszcze widoczne dla użytkownika końcowego. Pozwala to testować działanie rozwiązania w rzeczywistych warunkach bez ryzyka wpływu na klientów.</a:t>
            </a:r>
            <a:endParaRPr lang="en-US" sz="1900"/>
          </a:p>
          <a:p>
            <a:pPr marL="0" indent="0">
              <a:lnSpc>
                <a:spcPct val="115000"/>
              </a:lnSpc>
              <a:buNone/>
            </a:pPr>
            <a:r>
              <a:rPr lang="pl-PL" sz="1900"/>
              <a:t>Takie podejście pozwala startupowi:</a:t>
            </a:r>
          </a:p>
          <a:p>
            <a:pPr>
              <a:lnSpc>
                <a:spcPct val="115000"/>
              </a:lnSpc>
            </a:pPr>
            <a:r>
              <a:rPr lang="pl-PL" sz="1900"/>
              <a:t>sprawdzić dokładność modelu, </a:t>
            </a:r>
          </a:p>
          <a:p>
            <a:pPr>
              <a:lnSpc>
                <a:spcPct val="115000"/>
              </a:lnSpc>
            </a:pPr>
            <a:r>
              <a:rPr lang="pl-PL" sz="1900"/>
              <a:t>ocenić stabilność techniczną, </a:t>
            </a:r>
          </a:p>
          <a:p>
            <a:pPr>
              <a:lnSpc>
                <a:spcPct val="115000"/>
              </a:lnSpc>
            </a:pPr>
            <a:r>
              <a:rPr lang="pl-PL" sz="1900"/>
              <a:t>porównać skuteczność, </a:t>
            </a:r>
          </a:p>
          <a:p>
            <a:pPr>
              <a:lnSpc>
                <a:spcPct val="115000"/>
              </a:lnSpc>
            </a:pPr>
            <a:r>
              <a:rPr lang="pl-PL" sz="1900"/>
              <a:t>ograniczyć ryzyko biznesowe.</a:t>
            </a:r>
          </a:p>
          <a:p>
            <a:pPr marL="0" indent="0">
              <a:lnSpc>
                <a:spcPct val="115000"/>
              </a:lnSpc>
              <a:buNone/>
            </a:pPr>
            <a:endParaRPr lang="pl-PL" sz="1900"/>
          </a:p>
        </p:txBody>
      </p:sp>
    </p:spTree>
    <p:extLst>
      <p:ext uri="{BB962C8B-B14F-4D97-AF65-F5344CB8AC3E}">
        <p14:creationId xmlns:p14="http://schemas.microsoft.com/office/powerpoint/2010/main" val="2620838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9DAC5B9-F2F5-1D03-8C2C-B8584CA904B5}"/>
              </a:ext>
            </a:extLst>
          </p:cNvPr>
          <p:cNvSpPr>
            <a:spLocks noGrp="1"/>
          </p:cNvSpPr>
          <p:nvPr>
            <p:ph type="title"/>
          </p:nvPr>
        </p:nvSpPr>
        <p:spPr>
          <a:xfrm>
            <a:off x="540988" y="540033"/>
            <a:ext cx="3884962" cy="1331604"/>
          </a:xfrm>
        </p:spPr>
        <p:txBody>
          <a:bodyPr anchor="b">
            <a:normAutofit/>
          </a:bodyPr>
          <a:lstStyle/>
          <a:p>
            <a:pPr algn="ctr"/>
            <a:r>
              <a:rPr lang="pl-PL" sz="2400" dirty="0"/>
              <a:t>Dlaczego prototypowanie jest kluczowe</a:t>
            </a:r>
          </a:p>
        </p:txBody>
      </p:sp>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7961FAA-7CFA-F740-0EB1-A33EBBAC3A19}"/>
              </a:ext>
            </a:extLst>
          </p:cNvPr>
          <p:cNvSpPr>
            <a:spLocks noGrp="1"/>
          </p:cNvSpPr>
          <p:nvPr>
            <p:ph idx="1"/>
          </p:nvPr>
        </p:nvSpPr>
        <p:spPr>
          <a:xfrm>
            <a:off x="540988" y="2759076"/>
            <a:ext cx="3884962" cy="3009899"/>
          </a:xfrm>
        </p:spPr>
        <p:txBody>
          <a:bodyPr>
            <a:normAutofit/>
          </a:bodyPr>
          <a:lstStyle/>
          <a:p>
            <a:pPr marL="0" indent="0" algn="ctr">
              <a:lnSpc>
                <a:spcPct val="115000"/>
              </a:lnSpc>
              <a:buNone/>
            </a:pPr>
            <a:r>
              <a:rPr lang="pl-PL" sz="1700" dirty="0"/>
              <a:t>Eksperymentowanie poprzez prototypowanie jest jedną z najważniejszych umiejętności zespołu </a:t>
            </a:r>
            <a:r>
              <a:rPr lang="pl-PL" sz="1700" dirty="0" err="1"/>
              <a:t>startupowego</a:t>
            </a:r>
            <a:r>
              <a:rPr lang="pl-PL" sz="1700" dirty="0"/>
              <a:t>, ponieważ startup funkcjonuje w warunkach wysokiej niepewności. Oznacza to, że wiele decyzji nie może być opartych wyłącznie na analizie teoretycznej, lecz musi zostać zweryfikowanych praktycznie.</a:t>
            </a:r>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Obraz 4">
            <a:extLst>
              <a:ext uri="{FF2B5EF4-FFF2-40B4-BE49-F238E27FC236}">
                <a16:creationId xmlns:a16="http://schemas.microsoft.com/office/drawing/2014/main" id="{2A826A8D-4C1A-8C2C-B4AD-FE7B04A4BD4D}"/>
              </a:ext>
            </a:extLst>
          </p:cNvPr>
          <p:cNvPicPr>
            <a:picLocks noChangeAspect="1"/>
          </p:cNvPicPr>
          <p:nvPr/>
        </p:nvPicPr>
        <p:blipFill>
          <a:blip r:embed="rId3"/>
          <a:stretch>
            <a:fillRect/>
          </a:stretch>
        </p:blipFill>
        <p:spPr>
          <a:xfrm>
            <a:off x="5537200" y="1998569"/>
            <a:ext cx="6113812" cy="2858207"/>
          </a:xfrm>
          <a:prstGeom prst="rect">
            <a:avLst/>
          </a:prstGeom>
        </p:spPr>
      </p:pic>
    </p:spTree>
    <p:extLst>
      <p:ext uri="{BB962C8B-B14F-4D97-AF65-F5344CB8AC3E}">
        <p14:creationId xmlns:p14="http://schemas.microsoft.com/office/powerpoint/2010/main" val="2415290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46FB116-B6A6-E874-5EE4-FE0D1FC5EC4A}"/>
              </a:ext>
            </a:extLst>
          </p:cNvPr>
          <p:cNvSpPr>
            <a:spLocks noGrp="1"/>
          </p:cNvSpPr>
          <p:nvPr>
            <p:ph type="title"/>
          </p:nvPr>
        </p:nvSpPr>
        <p:spPr>
          <a:xfrm>
            <a:off x="1080000" y="592787"/>
            <a:ext cx="6120000" cy="1278850"/>
          </a:xfrm>
        </p:spPr>
        <p:txBody>
          <a:bodyPr anchor="b">
            <a:normAutofit/>
          </a:bodyPr>
          <a:lstStyle/>
          <a:p>
            <a:pPr algn="ctr">
              <a:lnSpc>
                <a:spcPct val="90000"/>
              </a:lnSpc>
            </a:pPr>
            <a:r>
              <a:rPr lang="pl-PL"/>
              <a:t>Dlaczego prototypowanie jest kluczowe</a:t>
            </a:r>
          </a:p>
        </p:txBody>
      </p:sp>
      <p:cxnSp>
        <p:nvCxnSpPr>
          <p:cNvPr id="21" name="Straight Connector 20">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70000"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8038821A-B69C-BAD8-B16F-4722CE490279}"/>
              </a:ext>
            </a:extLst>
          </p:cNvPr>
          <p:cNvSpPr>
            <a:spLocks noGrp="1"/>
          </p:cNvSpPr>
          <p:nvPr>
            <p:ph idx="1"/>
          </p:nvPr>
        </p:nvSpPr>
        <p:spPr>
          <a:xfrm>
            <a:off x="1080000" y="2759076"/>
            <a:ext cx="6121400" cy="3009899"/>
          </a:xfrm>
        </p:spPr>
        <p:txBody>
          <a:bodyPr>
            <a:normAutofit/>
          </a:bodyPr>
          <a:lstStyle/>
          <a:p>
            <a:pPr marL="0" indent="0">
              <a:lnSpc>
                <a:spcPct val="115000"/>
              </a:lnSpc>
              <a:buNone/>
            </a:pPr>
            <a:r>
              <a:rPr lang="pl-PL" sz="1400" dirty="0"/>
              <a:t>Prototypowanie pozwala:</a:t>
            </a:r>
          </a:p>
          <a:p>
            <a:pPr>
              <a:lnSpc>
                <a:spcPct val="115000"/>
              </a:lnSpc>
            </a:pPr>
            <a:r>
              <a:rPr lang="pl-PL" sz="1400" dirty="0"/>
              <a:t>szybciej testować pomysły, </a:t>
            </a:r>
          </a:p>
          <a:p>
            <a:pPr>
              <a:lnSpc>
                <a:spcPct val="115000"/>
              </a:lnSpc>
            </a:pPr>
            <a:r>
              <a:rPr lang="pl-PL" sz="1400" dirty="0"/>
              <a:t>taniej wykrywać błędy, </a:t>
            </a:r>
          </a:p>
          <a:p>
            <a:pPr>
              <a:lnSpc>
                <a:spcPct val="115000"/>
              </a:lnSpc>
            </a:pPr>
            <a:r>
              <a:rPr lang="pl-PL" sz="1400" dirty="0"/>
              <a:t>ograniczać ryzyko inwestycji, </a:t>
            </a:r>
          </a:p>
          <a:p>
            <a:pPr>
              <a:lnSpc>
                <a:spcPct val="115000"/>
              </a:lnSpc>
            </a:pPr>
            <a:r>
              <a:rPr lang="pl-PL" sz="1400" dirty="0"/>
              <a:t>przyspieszać naukę zespołu.</a:t>
            </a:r>
          </a:p>
          <a:p>
            <a:pPr marL="0" indent="0">
              <a:lnSpc>
                <a:spcPct val="115000"/>
              </a:lnSpc>
              <a:buNone/>
            </a:pPr>
            <a:r>
              <a:rPr lang="pl-PL" sz="1400" dirty="0"/>
              <a:t>W startupie ważniejsze od perfekcyjnego rozwiązania jest szybkie sprawdzenie, czy kierunek jest właściwy. Prototyp staje się więc narzędziem uczenia organizacji, a nie tylko narzędziem projektowym.</a:t>
            </a:r>
          </a:p>
        </p:txBody>
      </p:sp>
      <p:sp>
        <p:nvSpPr>
          <p:cNvPr id="23" name="Rectangle 22">
            <a:extLst>
              <a:ext uri="{FF2B5EF4-FFF2-40B4-BE49-F238E27FC236}">
                <a16:creationId xmlns:a16="http://schemas.microsoft.com/office/drawing/2014/main" id="{CE7512AD-9E2D-4DC1-B4A2-A93A51CDE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4850" y="0"/>
            <a:ext cx="3867150"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7" name="Graphic 6" descr="Ostrzeżenie">
            <a:extLst>
              <a:ext uri="{FF2B5EF4-FFF2-40B4-BE49-F238E27FC236}">
                <a16:creationId xmlns:a16="http://schemas.microsoft.com/office/drawing/2014/main" id="{DD295853-FFA6-38C1-B550-566940501D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83650" y="2045319"/>
            <a:ext cx="2767362" cy="2767362"/>
          </a:xfrm>
          <a:prstGeom prst="rect">
            <a:avLst/>
          </a:prstGeom>
        </p:spPr>
      </p:pic>
    </p:spTree>
    <p:extLst>
      <p:ext uri="{BB962C8B-B14F-4D97-AF65-F5344CB8AC3E}">
        <p14:creationId xmlns:p14="http://schemas.microsoft.com/office/powerpoint/2010/main" val="3244600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794BE19-0873-D1D6-51EC-24B3FA0526AE}"/>
              </a:ext>
            </a:extLst>
          </p:cNvPr>
          <p:cNvSpPr>
            <a:spLocks noGrp="1"/>
          </p:cNvSpPr>
          <p:nvPr>
            <p:ph type="title"/>
          </p:nvPr>
        </p:nvSpPr>
        <p:spPr>
          <a:xfrm>
            <a:off x="1080000" y="862151"/>
            <a:ext cx="6120000" cy="1009486"/>
          </a:xfrm>
        </p:spPr>
        <p:txBody>
          <a:bodyPr anchor="b">
            <a:normAutofit/>
          </a:bodyPr>
          <a:lstStyle/>
          <a:p>
            <a:pPr algn="ctr"/>
            <a:r>
              <a:rPr lang="pl-PL" dirty="0"/>
              <a:t>Role w zintegrowanym zespole </a:t>
            </a:r>
            <a:r>
              <a:rPr lang="pl-PL" dirty="0" err="1"/>
              <a:t>All</a:t>
            </a:r>
            <a:r>
              <a:rPr lang="pl-PL" dirty="0"/>
              <a:t>-in-one</a:t>
            </a:r>
            <a:endParaRPr lang="pl-PL"/>
          </a:p>
        </p:txBody>
      </p:sp>
      <p:cxnSp>
        <p:nvCxnSpPr>
          <p:cNvPr id="11" name="Straight Connector 10">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7000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A476AE63-3987-A73A-231B-2E844C26B181}"/>
              </a:ext>
            </a:extLst>
          </p:cNvPr>
          <p:cNvSpPr>
            <a:spLocks noGrp="1"/>
          </p:cNvSpPr>
          <p:nvPr>
            <p:ph idx="1"/>
          </p:nvPr>
        </p:nvSpPr>
        <p:spPr>
          <a:xfrm>
            <a:off x="1080000" y="2759076"/>
            <a:ext cx="6121400" cy="3009899"/>
          </a:xfrm>
        </p:spPr>
        <p:txBody>
          <a:bodyPr>
            <a:normAutofit/>
          </a:bodyPr>
          <a:lstStyle/>
          <a:p>
            <a:pPr marL="0" indent="0" algn="ctr">
              <a:buNone/>
            </a:pPr>
            <a:r>
              <a:rPr lang="pl-PL" dirty="0"/>
              <a:t>W nowoczesnych startupach coraz częściej tworzy się zintegrowane zespoły produktowo-modelowe, określane jako </a:t>
            </a:r>
            <a:r>
              <a:rPr lang="pl-PL" dirty="0" err="1"/>
              <a:t>All</a:t>
            </a:r>
            <a:r>
              <a:rPr lang="pl-PL" dirty="0"/>
              <a:t>-in-one </a:t>
            </a:r>
            <a:r>
              <a:rPr lang="pl-PL" dirty="0" err="1"/>
              <a:t>teams</a:t>
            </a:r>
            <a:r>
              <a:rPr lang="pl-PL" dirty="0"/>
              <a:t>. Ich celem jest połączenie kompetencji biznesowych, technicznych i analitycznych w jednym małym zespole odpowiedzialnym za cały produkt.</a:t>
            </a:r>
          </a:p>
        </p:txBody>
      </p:sp>
      <p:pic>
        <p:nvPicPr>
          <p:cNvPr id="5" name="Picture 4" descr="Ręce z nadgarstkami i wzajemnie połączone w celu utworzenia okręgu">
            <a:extLst>
              <a:ext uri="{FF2B5EF4-FFF2-40B4-BE49-F238E27FC236}">
                <a16:creationId xmlns:a16="http://schemas.microsoft.com/office/drawing/2014/main" id="{5A09DF26-4AA8-FF95-5D36-D2E99F8FC03D}"/>
              </a:ext>
            </a:extLst>
          </p:cNvPr>
          <p:cNvPicPr>
            <a:picLocks noChangeAspect="1"/>
          </p:cNvPicPr>
          <p:nvPr/>
        </p:nvPicPr>
        <p:blipFill>
          <a:blip r:embed="rId3"/>
          <a:srcRect l="32979" r="29344" b="-1"/>
          <a:stretch>
            <a:fillRect/>
          </a:stretch>
        </p:blipFill>
        <p:spPr>
          <a:xfrm>
            <a:off x="8321011" y="10"/>
            <a:ext cx="3870989" cy="6857990"/>
          </a:xfrm>
          <a:prstGeom prst="rect">
            <a:avLst/>
          </a:prstGeom>
        </p:spPr>
      </p:pic>
    </p:spTree>
    <p:extLst>
      <p:ext uri="{BB962C8B-B14F-4D97-AF65-F5344CB8AC3E}">
        <p14:creationId xmlns:p14="http://schemas.microsoft.com/office/powerpoint/2010/main" val="1653589014"/>
      </p:ext>
    </p:extLst>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784</TotalTime>
  <Words>3021</Words>
  <Application>Microsoft Office PowerPoint</Application>
  <PresentationFormat>Panoramiczny</PresentationFormat>
  <Paragraphs>228</Paragraphs>
  <Slides>30</Slides>
  <Notes>28</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30</vt:i4>
      </vt:variant>
    </vt:vector>
  </HeadingPairs>
  <TitlesOfParts>
    <vt:vector size="37" baseType="lpstr">
      <vt:lpstr>Aptos</vt:lpstr>
      <vt:lpstr>Arial</vt:lpstr>
      <vt:lpstr>Avenir Next LT Pro Light</vt:lpstr>
      <vt:lpstr>Bell MT</vt:lpstr>
      <vt:lpstr>Rockwell Nova Light</vt:lpstr>
      <vt:lpstr>Wingdings</vt:lpstr>
      <vt:lpstr>LeafVTI</vt:lpstr>
      <vt:lpstr>METODYKI  W REALIZACJI PROJEKTÓW  W ŚRODOWISKU STARTUPOWYM</vt:lpstr>
      <vt:lpstr>QuickCharge AI</vt:lpstr>
      <vt:lpstr>STARTUP VS KORPORACJA</vt:lpstr>
      <vt:lpstr>STARTUP VS KORPORACJA</vt:lpstr>
      <vt:lpstr>LEAN STARTUP</vt:lpstr>
      <vt:lpstr>TESTOWANIE HIPOTEZ</vt:lpstr>
      <vt:lpstr>QuickCharge AI: test</vt:lpstr>
      <vt:lpstr>NIEPEWNOŚĆ W STARTUPIE</vt:lpstr>
      <vt:lpstr>Jak zarządzać niepewnością?</vt:lpstr>
      <vt:lpstr>Zespół startupowy</vt:lpstr>
      <vt:lpstr>finansowanie w startupie</vt:lpstr>
      <vt:lpstr>finansowanie w startupie</vt:lpstr>
      <vt:lpstr>Jak pivot wpływa na zespół i projekt</vt:lpstr>
      <vt:lpstr>Jak pivot wpływa na zespół i projekt</vt:lpstr>
      <vt:lpstr>Jak mierzyć traction</vt:lpstr>
      <vt:lpstr>Jak skalować startup po osiągnięciu product–market fit</vt:lpstr>
      <vt:lpstr>Modele rozwoju w projektach ML: Model-first vs Product-first</vt:lpstr>
      <vt:lpstr>Dlaczego startupy częściej wybierają procesy ad-hoc</vt:lpstr>
      <vt:lpstr>Dlaczego startupy częściej wybierają procesy ad-hoc</vt:lpstr>
      <vt:lpstr>Wyzwania AI engineering w małych zespołach</vt:lpstr>
      <vt:lpstr>Zarządzanie niepewnością badawczą w budżecie startupu </vt:lpstr>
      <vt:lpstr>Znaczenie szybkiej pętli informacji zwrotnej</vt:lpstr>
      <vt:lpstr>Czym jest technical debt</vt:lpstr>
      <vt:lpstr>TYPY technical debt</vt:lpstr>
      <vt:lpstr>Wyzwania związane z pozyskiwaniem danych treningowych</vt:lpstr>
      <vt:lpstr>Wyzwania związane z pozyskiwaniem danych treningowych</vt:lpstr>
      <vt:lpstr>Shadow deployment</vt:lpstr>
      <vt:lpstr>Dlaczego prototypowanie jest kluczowe</vt:lpstr>
      <vt:lpstr>Dlaczego prototypowanie jest kluczowe</vt:lpstr>
      <vt:lpstr>Role w zintegrowanym zespole All-in-one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Filip Hałys</dc:creator>
  <cp:lastModifiedBy>Filip Hałys</cp:lastModifiedBy>
  <cp:revision>14</cp:revision>
  <dcterms:created xsi:type="dcterms:W3CDTF">2026-04-17T19:08:23Z</dcterms:created>
  <dcterms:modified xsi:type="dcterms:W3CDTF">2026-04-18T08:13:18Z</dcterms:modified>
</cp:coreProperties>
</file>