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0.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26.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6" r:id="rId1"/>
  </p:sldMasterIdLst>
  <p:notesMasterIdLst>
    <p:notesMasterId r:id="rId32"/>
  </p:notesMasterIdLst>
  <p:sldIdLst>
    <p:sldId id="256" r:id="rId2"/>
    <p:sldId id="257" r:id="rId3"/>
    <p:sldId id="258" r:id="rId4"/>
    <p:sldId id="259" r:id="rId5"/>
    <p:sldId id="260" r:id="rId6"/>
    <p:sldId id="261" r:id="rId7"/>
    <p:sldId id="262" r:id="rId8"/>
    <p:sldId id="264" r:id="rId9"/>
    <p:sldId id="263"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2192000" cy="6858000"/>
  <p:notesSz cx="6858000" cy="9144000"/>
  <p:defaultTex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6340" autoAdjust="0"/>
  </p:normalViewPr>
  <p:slideViewPr>
    <p:cSldViewPr snapToGrid="0">
      <p:cViewPr varScale="1">
        <p:scale>
          <a:sx n="63" d="100"/>
          <a:sy n="63" d="100"/>
        </p:scale>
        <p:origin x="1454"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diagrams/_rels/data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image" Target="../media/image8.svg"/></Relationships>
</file>

<file path=ppt/diagrams/_rels/drawing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image" Target="../media/image8.sv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DD41095-A4FD-4696-99D0-1DA385232979}" type="doc">
      <dgm:prSet loTypeId="urn:microsoft.com/office/officeart/2005/8/layout/hierarchy1" loCatId="hierarchy" qsTypeId="urn:microsoft.com/office/officeart/2005/8/quickstyle/simple1" qsCatId="simple" csTypeId="urn:microsoft.com/office/officeart/2005/8/colors/colorful2" csCatId="colorful"/>
      <dgm:spPr/>
      <dgm:t>
        <a:bodyPr/>
        <a:lstStyle/>
        <a:p>
          <a:endParaRPr lang="en-US"/>
        </a:p>
      </dgm:t>
    </dgm:pt>
    <dgm:pt modelId="{8C4F0380-F5C1-4C40-9E0B-A4B09A62CE54}">
      <dgm:prSet/>
      <dgm:spPr/>
      <dgm:t>
        <a:bodyPr/>
        <a:lstStyle/>
        <a:p>
          <a:r>
            <a:rPr lang="pl-PL"/>
            <a:t>Klasyczny projekt IT polega najczęściej na stworzeniu systemu, którego wymagania są stosunkowo jasno określone już na początku. Zespół wie, jaki problem ma rozwiązać, jakie funkcje należy wdrożyć oraz jak powinien wyglądać końcowy produkt. Głównym wyzwaniem jest wtedy dostarczenie rozwiązania zgodnie z harmonogramem i budżetem.</a:t>
          </a:r>
          <a:endParaRPr lang="en-US"/>
        </a:p>
      </dgm:t>
    </dgm:pt>
    <dgm:pt modelId="{A5C8775C-C474-4BCC-8410-3125493F92C4}" type="parTrans" cxnId="{E590A4A4-BE97-4631-A221-410C49B27B23}">
      <dgm:prSet/>
      <dgm:spPr/>
      <dgm:t>
        <a:bodyPr/>
        <a:lstStyle/>
        <a:p>
          <a:endParaRPr lang="en-US"/>
        </a:p>
      </dgm:t>
    </dgm:pt>
    <dgm:pt modelId="{4D7EE766-0EED-4B82-A0DD-B5F0D861E860}" type="sibTrans" cxnId="{E590A4A4-BE97-4631-A221-410C49B27B23}">
      <dgm:prSet/>
      <dgm:spPr/>
      <dgm:t>
        <a:bodyPr/>
        <a:lstStyle/>
        <a:p>
          <a:endParaRPr lang="en-US"/>
        </a:p>
      </dgm:t>
    </dgm:pt>
    <dgm:pt modelId="{2EB30E50-BE8F-4030-AEA4-0749B478DB2C}">
      <dgm:prSet/>
      <dgm:spPr/>
      <dgm:t>
        <a:bodyPr/>
        <a:lstStyle/>
        <a:p>
          <a:r>
            <a:rPr lang="pl-PL"/>
            <a:t>Projekt Data Science różni się od klasycznego IT tym, że rezultat nie jest z góry przewidywalny. W tradycyjnym projekcie programista buduje funkcję, która ma działać zgodnie ze specyfikacją. W Data Science zespół najpierw musi sprawdzić, czy rozwiązanie w ogóle da się zbudować.</a:t>
          </a:r>
          <a:endParaRPr lang="en-US"/>
        </a:p>
      </dgm:t>
    </dgm:pt>
    <dgm:pt modelId="{4D242C5B-5109-423F-A1CA-2E23CC809F52}" type="parTrans" cxnId="{6A2EA814-7B47-4F17-8410-3651D50F0A4B}">
      <dgm:prSet/>
      <dgm:spPr/>
      <dgm:t>
        <a:bodyPr/>
        <a:lstStyle/>
        <a:p>
          <a:endParaRPr lang="en-US"/>
        </a:p>
      </dgm:t>
    </dgm:pt>
    <dgm:pt modelId="{7A88D46D-3B7A-4DBD-9AD7-46B591AFEE4C}" type="sibTrans" cxnId="{6A2EA814-7B47-4F17-8410-3651D50F0A4B}">
      <dgm:prSet/>
      <dgm:spPr/>
      <dgm:t>
        <a:bodyPr/>
        <a:lstStyle/>
        <a:p>
          <a:endParaRPr lang="en-US"/>
        </a:p>
      </dgm:t>
    </dgm:pt>
    <dgm:pt modelId="{2FEB36B5-155E-4287-8D2A-B49CBA3D487F}" type="pres">
      <dgm:prSet presAssocID="{2DD41095-A4FD-4696-99D0-1DA385232979}" presName="hierChild1" presStyleCnt="0">
        <dgm:presLayoutVars>
          <dgm:chPref val="1"/>
          <dgm:dir/>
          <dgm:animOne val="branch"/>
          <dgm:animLvl val="lvl"/>
          <dgm:resizeHandles/>
        </dgm:presLayoutVars>
      </dgm:prSet>
      <dgm:spPr/>
    </dgm:pt>
    <dgm:pt modelId="{0E7E2B7C-F30F-4B22-ADAD-2B1F17746A5F}" type="pres">
      <dgm:prSet presAssocID="{8C4F0380-F5C1-4C40-9E0B-A4B09A62CE54}" presName="hierRoot1" presStyleCnt="0"/>
      <dgm:spPr/>
    </dgm:pt>
    <dgm:pt modelId="{AC2169BB-F778-4B18-B595-575E6D6890E5}" type="pres">
      <dgm:prSet presAssocID="{8C4F0380-F5C1-4C40-9E0B-A4B09A62CE54}" presName="composite" presStyleCnt="0"/>
      <dgm:spPr/>
    </dgm:pt>
    <dgm:pt modelId="{4CCDE8F6-74D3-4D4A-8049-46E8448FA72B}" type="pres">
      <dgm:prSet presAssocID="{8C4F0380-F5C1-4C40-9E0B-A4B09A62CE54}" presName="background" presStyleLbl="node0" presStyleIdx="0" presStyleCnt="2"/>
      <dgm:spPr/>
    </dgm:pt>
    <dgm:pt modelId="{42F90974-FD1A-4268-9B4B-9E2F488BC745}" type="pres">
      <dgm:prSet presAssocID="{8C4F0380-F5C1-4C40-9E0B-A4B09A62CE54}" presName="text" presStyleLbl="fgAcc0" presStyleIdx="0" presStyleCnt="2">
        <dgm:presLayoutVars>
          <dgm:chPref val="3"/>
        </dgm:presLayoutVars>
      </dgm:prSet>
      <dgm:spPr/>
    </dgm:pt>
    <dgm:pt modelId="{A3E3958A-93E0-4653-8502-FBF5147DBD62}" type="pres">
      <dgm:prSet presAssocID="{8C4F0380-F5C1-4C40-9E0B-A4B09A62CE54}" presName="hierChild2" presStyleCnt="0"/>
      <dgm:spPr/>
    </dgm:pt>
    <dgm:pt modelId="{21AF8FB9-4B66-458E-8954-68E39C22762A}" type="pres">
      <dgm:prSet presAssocID="{2EB30E50-BE8F-4030-AEA4-0749B478DB2C}" presName="hierRoot1" presStyleCnt="0"/>
      <dgm:spPr/>
    </dgm:pt>
    <dgm:pt modelId="{8CD142CA-E395-441A-9179-702D54CBCDE3}" type="pres">
      <dgm:prSet presAssocID="{2EB30E50-BE8F-4030-AEA4-0749B478DB2C}" presName="composite" presStyleCnt="0"/>
      <dgm:spPr/>
    </dgm:pt>
    <dgm:pt modelId="{E94A8408-DEA4-4686-BBA4-E992A9D3AFAC}" type="pres">
      <dgm:prSet presAssocID="{2EB30E50-BE8F-4030-AEA4-0749B478DB2C}" presName="background" presStyleLbl="node0" presStyleIdx="1" presStyleCnt="2"/>
      <dgm:spPr/>
    </dgm:pt>
    <dgm:pt modelId="{6D3D8BC9-8346-4323-9C35-3873ED63DED6}" type="pres">
      <dgm:prSet presAssocID="{2EB30E50-BE8F-4030-AEA4-0749B478DB2C}" presName="text" presStyleLbl="fgAcc0" presStyleIdx="1" presStyleCnt="2">
        <dgm:presLayoutVars>
          <dgm:chPref val="3"/>
        </dgm:presLayoutVars>
      </dgm:prSet>
      <dgm:spPr/>
    </dgm:pt>
    <dgm:pt modelId="{DAAD2276-835C-4407-9B4D-02638A161EAB}" type="pres">
      <dgm:prSet presAssocID="{2EB30E50-BE8F-4030-AEA4-0749B478DB2C}" presName="hierChild2" presStyleCnt="0"/>
      <dgm:spPr/>
    </dgm:pt>
  </dgm:ptLst>
  <dgm:cxnLst>
    <dgm:cxn modelId="{6A2EA814-7B47-4F17-8410-3651D50F0A4B}" srcId="{2DD41095-A4FD-4696-99D0-1DA385232979}" destId="{2EB30E50-BE8F-4030-AEA4-0749B478DB2C}" srcOrd="1" destOrd="0" parTransId="{4D242C5B-5109-423F-A1CA-2E23CC809F52}" sibTransId="{7A88D46D-3B7A-4DBD-9AD7-46B591AFEE4C}"/>
    <dgm:cxn modelId="{A530943C-AD3A-4849-82B5-95EF6B9300EA}" type="presOf" srcId="{2EB30E50-BE8F-4030-AEA4-0749B478DB2C}" destId="{6D3D8BC9-8346-4323-9C35-3873ED63DED6}" srcOrd="0" destOrd="0" presId="urn:microsoft.com/office/officeart/2005/8/layout/hierarchy1"/>
    <dgm:cxn modelId="{67EE3DA3-8100-447D-B3F5-1794E61A9E2B}" type="presOf" srcId="{8C4F0380-F5C1-4C40-9E0B-A4B09A62CE54}" destId="{42F90974-FD1A-4268-9B4B-9E2F488BC745}" srcOrd="0" destOrd="0" presId="urn:microsoft.com/office/officeart/2005/8/layout/hierarchy1"/>
    <dgm:cxn modelId="{E590A4A4-BE97-4631-A221-410C49B27B23}" srcId="{2DD41095-A4FD-4696-99D0-1DA385232979}" destId="{8C4F0380-F5C1-4C40-9E0B-A4B09A62CE54}" srcOrd="0" destOrd="0" parTransId="{A5C8775C-C474-4BCC-8410-3125493F92C4}" sibTransId="{4D7EE766-0EED-4B82-A0DD-B5F0D861E860}"/>
    <dgm:cxn modelId="{4EEE2DBB-2618-47F6-A0D7-39AB416DBC32}" type="presOf" srcId="{2DD41095-A4FD-4696-99D0-1DA385232979}" destId="{2FEB36B5-155E-4287-8D2A-B49CBA3D487F}" srcOrd="0" destOrd="0" presId="urn:microsoft.com/office/officeart/2005/8/layout/hierarchy1"/>
    <dgm:cxn modelId="{F5BEF877-ECDB-49B9-A789-8F6CAD173DC0}" type="presParOf" srcId="{2FEB36B5-155E-4287-8D2A-B49CBA3D487F}" destId="{0E7E2B7C-F30F-4B22-ADAD-2B1F17746A5F}" srcOrd="0" destOrd="0" presId="urn:microsoft.com/office/officeart/2005/8/layout/hierarchy1"/>
    <dgm:cxn modelId="{16D21DBF-CEEC-47AE-94C6-2B373C7979E1}" type="presParOf" srcId="{0E7E2B7C-F30F-4B22-ADAD-2B1F17746A5F}" destId="{AC2169BB-F778-4B18-B595-575E6D6890E5}" srcOrd="0" destOrd="0" presId="urn:microsoft.com/office/officeart/2005/8/layout/hierarchy1"/>
    <dgm:cxn modelId="{AF972C0A-20EA-4D94-BFCC-020D7A215A18}" type="presParOf" srcId="{AC2169BB-F778-4B18-B595-575E6D6890E5}" destId="{4CCDE8F6-74D3-4D4A-8049-46E8448FA72B}" srcOrd="0" destOrd="0" presId="urn:microsoft.com/office/officeart/2005/8/layout/hierarchy1"/>
    <dgm:cxn modelId="{E8E144C2-6149-4CC3-A17C-FD0598BBFBC8}" type="presParOf" srcId="{AC2169BB-F778-4B18-B595-575E6D6890E5}" destId="{42F90974-FD1A-4268-9B4B-9E2F488BC745}" srcOrd="1" destOrd="0" presId="urn:microsoft.com/office/officeart/2005/8/layout/hierarchy1"/>
    <dgm:cxn modelId="{DBC69F30-8523-482D-BC5E-F1963310D715}" type="presParOf" srcId="{0E7E2B7C-F30F-4B22-ADAD-2B1F17746A5F}" destId="{A3E3958A-93E0-4653-8502-FBF5147DBD62}" srcOrd="1" destOrd="0" presId="urn:microsoft.com/office/officeart/2005/8/layout/hierarchy1"/>
    <dgm:cxn modelId="{0F8D58A3-9622-4DD6-AEF4-A421B206E8CB}" type="presParOf" srcId="{2FEB36B5-155E-4287-8D2A-B49CBA3D487F}" destId="{21AF8FB9-4B66-458E-8954-68E39C22762A}" srcOrd="1" destOrd="0" presId="urn:microsoft.com/office/officeart/2005/8/layout/hierarchy1"/>
    <dgm:cxn modelId="{294E7F3B-6066-4386-A85F-97C5CE0170AE}" type="presParOf" srcId="{21AF8FB9-4B66-458E-8954-68E39C22762A}" destId="{8CD142CA-E395-441A-9179-702D54CBCDE3}" srcOrd="0" destOrd="0" presId="urn:microsoft.com/office/officeart/2005/8/layout/hierarchy1"/>
    <dgm:cxn modelId="{3D3EE83C-48A6-42FD-817E-C5DA3CDC6A40}" type="presParOf" srcId="{8CD142CA-E395-441A-9179-702D54CBCDE3}" destId="{E94A8408-DEA4-4686-BBA4-E992A9D3AFAC}" srcOrd="0" destOrd="0" presId="urn:microsoft.com/office/officeart/2005/8/layout/hierarchy1"/>
    <dgm:cxn modelId="{3D351A73-CA70-44B2-93FB-5A57BAE081DF}" type="presParOf" srcId="{8CD142CA-E395-441A-9179-702D54CBCDE3}" destId="{6D3D8BC9-8346-4323-9C35-3873ED63DED6}" srcOrd="1" destOrd="0" presId="urn:microsoft.com/office/officeart/2005/8/layout/hierarchy1"/>
    <dgm:cxn modelId="{A438C67A-2BD8-48C2-8CE3-C6670409009E}" type="presParOf" srcId="{21AF8FB9-4B66-458E-8954-68E39C22762A}" destId="{DAAD2276-835C-4407-9B4D-02638A161EAB}"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1A42FE5-358C-4AC8-B2D9-EC41C44C745D}" type="doc">
      <dgm:prSet loTypeId="urn:microsoft.com/office/officeart/2005/8/layout/vList2" loCatId="list" qsTypeId="urn:microsoft.com/office/officeart/2005/8/quickstyle/simple1" qsCatId="simple" csTypeId="urn:microsoft.com/office/officeart/2005/8/colors/accent3_2" csCatId="accent3"/>
      <dgm:spPr/>
      <dgm:t>
        <a:bodyPr/>
        <a:lstStyle/>
        <a:p>
          <a:endParaRPr lang="en-US"/>
        </a:p>
      </dgm:t>
    </dgm:pt>
    <dgm:pt modelId="{81629E55-0ED6-4A45-A0F9-8BB81F10C6D4}">
      <dgm:prSet custT="1"/>
      <dgm:spPr/>
      <dgm:t>
        <a:bodyPr/>
        <a:lstStyle/>
        <a:p>
          <a:r>
            <a:rPr lang="pl-PL" sz="1600" dirty="0"/>
            <a:t>Największą siłą tego modelu jest to, że nie zaczyna się od technologii. Zaczyna się od wartości biznesowej lub klinicznej. Dzięki temu zespół nie tworzy modelu </a:t>
          </a:r>
          <a:r>
            <a:rPr lang="en-US" sz="1600" dirty="0"/>
            <a:t>“</a:t>
          </a:r>
          <a:r>
            <a:rPr lang="pl-PL" sz="1600" dirty="0"/>
            <a:t>dla modelu</a:t>
          </a:r>
          <a:r>
            <a:rPr lang="en-US" sz="1600" dirty="0"/>
            <a:t>”</a:t>
          </a:r>
          <a:r>
            <a:rPr lang="pl-PL" sz="1600" dirty="0"/>
            <a:t>, ale rozwija rozwiązanie, które ma realnie wspierać lekarzy.</a:t>
          </a:r>
          <a:r>
            <a:rPr lang="en-US" sz="1600" dirty="0"/>
            <a:t> </a:t>
          </a:r>
          <a:r>
            <a:rPr lang="pl-PL" sz="1600" dirty="0"/>
            <a:t>CRISP-DM jest nadal szeroko stosowany, ponieważ:</a:t>
          </a:r>
          <a:endParaRPr lang="en-US" sz="1600" dirty="0"/>
        </a:p>
      </dgm:t>
    </dgm:pt>
    <dgm:pt modelId="{8CED9357-5083-433F-9146-713F86479B0D}" type="parTrans" cxnId="{E406A465-2576-466F-B0C0-FCF4A9DDE97D}">
      <dgm:prSet/>
      <dgm:spPr/>
      <dgm:t>
        <a:bodyPr/>
        <a:lstStyle/>
        <a:p>
          <a:endParaRPr lang="en-US"/>
        </a:p>
      </dgm:t>
    </dgm:pt>
    <dgm:pt modelId="{A7E4BF2A-4A12-4008-BA5C-56A3F39325CC}" type="sibTrans" cxnId="{E406A465-2576-466F-B0C0-FCF4A9DDE97D}">
      <dgm:prSet/>
      <dgm:spPr/>
      <dgm:t>
        <a:bodyPr/>
        <a:lstStyle/>
        <a:p>
          <a:endParaRPr lang="en-US"/>
        </a:p>
      </dgm:t>
    </dgm:pt>
    <dgm:pt modelId="{F0DA4EA8-A299-4148-935A-E796A3C77B3D}">
      <dgm:prSet custT="1"/>
      <dgm:spPr/>
      <dgm:t>
        <a:bodyPr/>
        <a:lstStyle/>
        <a:p>
          <a:r>
            <a:rPr lang="pl-PL" sz="1600"/>
            <a:t>porządkuje pracę, </a:t>
          </a:r>
          <a:endParaRPr lang="en-US" sz="1600"/>
        </a:p>
      </dgm:t>
    </dgm:pt>
    <dgm:pt modelId="{2605BFED-D5C6-4A46-8847-CD6E3519B38E}" type="parTrans" cxnId="{CDC9ADF5-B0E4-46C2-8BB6-069E01A34972}">
      <dgm:prSet/>
      <dgm:spPr/>
      <dgm:t>
        <a:bodyPr/>
        <a:lstStyle/>
        <a:p>
          <a:endParaRPr lang="en-US"/>
        </a:p>
      </dgm:t>
    </dgm:pt>
    <dgm:pt modelId="{B9EDF579-A1F8-4FC8-8CA0-79C4F273BE02}" type="sibTrans" cxnId="{CDC9ADF5-B0E4-46C2-8BB6-069E01A34972}">
      <dgm:prSet/>
      <dgm:spPr/>
      <dgm:t>
        <a:bodyPr/>
        <a:lstStyle/>
        <a:p>
          <a:endParaRPr lang="en-US"/>
        </a:p>
      </dgm:t>
    </dgm:pt>
    <dgm:pt modelId="{F5DFA9DF-2B1A-4452-9DF6-9937D766DA3C}">
      <dgm:prSet custT="1"/>
      <dgm:spPr/>
      <dgm:t>
        <a:bodyPr/>
        <a:lstStyle/>
        <a:p>
          <a:r>
            <a:rPr lang="pl-PL" sz="1600"/>
            <a:t>wspiera iteracje, </a:t>
          </a:r>
          <a:endParaRPr lang="en-US" sz="1600"/>
        </a:p>
      </dgm:t>
    </dgm:pt>
    <dgm:pt modelId="{AAC64D76-103E-442B-9ADB-243980102C01}" type="parTrans" cxnId="{9315074A-65CE-4AB8-A8AD-7381B456A256}">
      <dgm:prSet/>
      <dgm:spPr/>
      <dgm:t>
        <a:bodyPr/>
        <a:lstStyle/>
        <a:p>
          <a:endParaRPr lang="en-US"/>
        </a:p>
      </dgm:t>
    </dgm:pt>
    <dgm:pt modelId="{9F7524E4-F256-4D6A-98CB-E12CB8025A85}" type="sibTrans" cxnId="{9315074A-65CE-4AB8-A8AD-7381B456A256}">
      <dgm:prSet/>
      <dgm:spPr/>
      <dgm:t>
        <a:bodyPr/>
        <a:lstStyle/>
        <a:p>
          <a:endParaRPr lang="en-US"/>
        </a:p>
      </dgm:t>
    </dgm:pt>
    <dgm:pt modelId="{50EE268A-0155-4382-ADDF-13C025487212}">
      <dgm:prSet custT="1"/>
      <dgm:spPr/>
      <dgm:t>
        <a:bodyPr/>
        <a:lstStyle/>
        <a:p>
          <a:r>
            <a:rPr lang="pl-PL" sz="1600"/>
            <a:t>poprawia komunikację, </a:t>
          </a:r>
          <a:endParaRPr lang="en-US" sz="1600"/>
        </a:p>
      </dgm:t>
    </dgm:pt>
    <dgm:pt modelId="{939B2770-267E-403A-8916-8793DD14D9B4}" type="parTrans" cxnId="{EF2A02DA-4042-4E5A-A150-63865ED3434B}">
      <dgm:prSet/>
      <dgm:spPr/>
      <dgm:t>
        <a:bodyPr/>
        <a:lstStyle/>
        <a:p>
          <a:endParaRPr lang="en-US"/>
        </a:p>
      </dgm:t>
    </dgm:pt>
    <dgm:pt modelId="{21649A17-175C-4152-8B1D-D16091D84CD9}" type="sibTrans" cxnId="{EF2A02DA-4042-4E5A-A150-63865ED3434B}">
      <dgm:prSet/>
      <dgm:spPr/>
      <dgm:t>
        <a:bodyPr/>
        <a:lstStyle/>
        <a:p>
          <a:endParaRPr lang="en-US"/>
        </a:p>
      </dgm:t>
    </dgm:pt>
    <dgm:pt modelId="{F0055534-399A-4A2C-9065-F07DB518DF31}">
      <dgm:prSet custT="1"/>
      <dgm:spPr/>
      <dgm:t>
        <a:bodyPr/>
        <a:lstStyle/>
        <a:p>
          <a:r>
            <a:rPr lang="pl-PL" sz="1600"/>
            <a:t>łączy technologię z celem biznesowym, </a:t>
          </a:r>
          <a:endParaRPr lang="en-US" sz="1600"/>
        </a:p>
      </dgm:t>
    </dgm:pt>
    <dgm:pt modelId="{1014BA58-6FB4-400D-88E8-C5DB7760A194}" type="parTrans" cxnId="{283FC9B0-5F80-4088-BEF1-EEE84B4CCF48}">
      <dgm:prSet/>
      <dgm:spPr/>
      <dgm:t>
        <a:bodyPr/>
        <a:lstStyle/>
        <a:p>
          <a:endParaRPr lang="en-US"/>
        </a:p>
      </dgm:t>
    </dgm:pt>
    <dgm:pt modelId="{9816033B-8ECB-4B18-8008-0785C2E30E01}" type="sibTrans" cxnId="{283FC9B0-5F80-4088-BEF1-EEE84B4CCF48}">
      <dgm:prSet/>
      <dgm:spPr/>
      <dgm:t>
        <a:bodyPr/>
        <a:lstStyle/>
        <a:p>
          <a:endParaRPr lang="en-US"/>
        </a:p>
      </dgm:t>
    </dgm:pt>
    <dgm:pt modelId="{25CEAF72-974A-44A8-BC55-A8B55EA37785}">
      <dgm:prSet custT="1"/>
      <dgm:spPr/>
      <dgm:t>
        <a:bodyPr/>
        <a:lstStyle/>
        <a:p>
          <a:r>
            <a:rPr lang="pl-PL" sz="1600"/>
            <a:t>zmniejsza chaos projektowy.</a:t>
          </a:r>
          <a:endParaRPr lang="en-US" sz="1600"/>
        </a:p>
      </dgm:t>
    </dgm:pt>
    <dgm:pt modelId="{1B8D1876-42C8-4C1C-A614-239CB721E85F}" type="parTrans" cxnId="{C8C3E026-85E2-4A02-A4D1-9409CD3FCDEC}">
      <dgm:prSet/>
      <dgm:spPr/>
      <dgm:t>
        <a:bodyPr/>
        <a:lstStyle/>
        <a:p>
          <a:endParaRPr lang="en-US"/>
        </a:p>
      </dgm:t>
    </dgm:pt>
    <dgm:pt modelId="{976239EE-BAC4-4276-988F-FE8ED65F3937}" type="sibTrans" cxnId="{C8C3E026-85E2-4A02-A4D1-9409CD3FCDEC}">
      <dgm:prSet/>
      <dgm:spPr/>
      <dgm:t>
        <a:bodyPr/>
        <a:lstStyle/>
        <a:p>
          <a:endParaRPr lang="en-US"/>
        </a:p>
      </dgm:t>
    </dgm:pt>
    <dgm:pt modelId="{CD597EDE-5BB6-4094-8B76-5D8876DECCA7}" type="pres">
      <dgm:prSet presAssocID="{31A42FE5-358C-4AC8-B2D9-EC41C44C745D}" presName="linear" presStyleCnt="0">
        <dgm:presLayoutVars>
          <dgm:animLvl val="lvl"/>
          <dgm:resizeHandles val="exact"/>
        </dgm:presLayoutVars>
      </dgm:prSet>
      <dgm:spPr/>
    </dgm:pt>
    <dgm:pt modelId="{6223E6AC-42E6-4CEB-AE66-5928249E0446}" type="pres">
      <dgm:prSet presAssocID="{81629E55-0ED6-4A45-A0F9-8BB81F10C6D4}" presName="parentText" presStyleLbl="node1" presStyleIdx="0" presStyleCnt="6">
        <dgm:presLayoutVars>
          <dgm:chMax val="0"/>
          <dgm:bulletEnabled val="1"/>
        </dgm:presLayoutVars>
      </dgm:prSet>
      <dgm:spPr/>
    </dgm:pt>
    <dgm:pt modelId="{5E1AFA57-61A7-470E-BEC9-8C8DE62382C4}" type="pres">
      <dgm:prSet presAssocID="{A7E4BF2A-4A12-4008-BA5C-56A3F39325CC}" presName="spacer" presStyleCnt="0"/>
      <dgm:spPr/>
    </dgm:pt>
    <dgm:pt modelId="{EF33E478-C49C-4E6E-A6BF-5AAB4CEB1211}" type="pres">
      <dgm:prSet presAssocID="{F0DA4EA8-A299-4148-935A-E796A3C77B3D}" presName="parentText" presStyleLbl="node1" presStyleIdx="1" presStyleCnt="6">
        <dgm:presLayoutVars>
          <dgm:chMax val="0"/>
          <dgm:bulletEnabled val="1"/>
        </dgm:presLayoutVars>
      </dgm:prSet>
      <dgm:spPr/>
    </dgm:pt>
    <dgm:pt modelId="{E657E156-018B-4174-9E2D-F3F30A7419AE}" type="pres">
      <dgm:prSet presAssocID="{B9EDF579-A1F8-4FC8-8CA0-79C4F273BE02}" presName="spacer" presStyleCnt="0"/>
      <dgm:spPr/>
    </dgm:pt>
    <dgm:pt modelId="{E259B8F6-C8B2-409D-B6F4-3CC9AF597B4E}" type="pres">
      <dgm:prSet presAssocID="{F5DFA9DF-2B1A-4452-9DF6-9937D766DA3C}" presName="parentText" presStyleLbl="node1" presStyleIdx="2" presStyleCnt="6">
        <dgm:presLayoutVars>
          <dgm:chMax val="0"/>
          <dgm:bulletEnabled val="1"/>
        </dgm:presLayoutVars>
      </dgm:prSet>
      <dgm:spPr/>
    </dgm:pt>
    <dgm:pt modelId="{B0370740-623E-4A5A-B02B-2D307EBCB58E}" type="pres">
      <dgm:prSet presAssocID="{9F7524E4-F256-4D6A-98CB-E12CB8025A85}" presName="spacer" presStyleCnt="0"/>
      <dgm:spPr/>
    </dgm:pt>
    <dgm:pt modelId="{1E6BAE8F-CFEB-46B3-82DE-3DBB7C4BEA3E}" type="pres">
      <dgm:prSet presAssocID="{50EE268A-0155-4382-ADDF-13C025487212}" presName="parentText" presStyleLbl="node1" presStyleIdx="3" presStyleCnt="6">
        <dgm:presLayoutVars>
          <dgm:chMax val="0"/>
          <dgm:bulletEnabled val="1"/>
        </dgm:presLayoutVars>
      </dgm:prSet>
      <dgm:spPr/>
    </dgm:pt>
    <dgm:pt modelId="{F3E5E756-2781-4478-9CE2-AB85C400A564}" type="pres">
      <dgm:prSet presAssocID="{21649A17-175C-4152-8B1D-D16091D84CD9}" presName="spacer" presStyleCnt="0"/>
      <dgm:spPr/>
    </dgm:pt>
    <dgm:pt modelId="{32022A96-77E4-4508-9D0D-648997E15C9C}" type="pres">
      <dgm:prSet presAssocID="{F0055534-399A-4A2C-9065-F07DB518DF31}" presName="parentText" presStyleLbl="node1" presStyleIdx="4" presStyleCnt="6">
        <dgm:presLayoutVars>
          <dgm:chMax val="0"/>
          <dgm:bulletEnabled val="1"/>
        </dgm:presLayoutVars>
      </dgm:prSet>
      <dgm:spPr/>
    </dgm:pt>
    <dgm:pt modelId="{EC8068BC-B02C-4CF4-9F93-F7886B0E8D57}" type="pres">
      <dgm:prSet presAssocID="{9816033B-8ECB-4B18-8008-0785C2E30E01}" presName="spacer" presStyleCnt="0"/>
      <dgm:spPr/>
    </dgm:pt>
    <dgm:pt modelId="{71029917-827A-4620-A08F-AEE2BD502AD0}" type="pres">
      <dgm:prSet presAssocID="{25CEAF72-974A-44A8-BC55-A8B55EA37785}" presName="parentText" presStyleLbl="node1" presStyleIdx="5" presStyleCnt="6">
        <dgm:presLayoutVars>
          <dgm:chMax val="0"/>
          <dgm:bulletEnabled val="1"/>
        </dgm:presLayoutVars>
      </dgm:prSet>
      <dgm:spPr/>
    </dgm:pt>
  </dgm:ptLst>
  <dgm:cxnLst>
    <dgm:cxn modelId="{EC2F9115-EF7D-40EB-ACDE-706949EB5B3B}" type="presOf" srcId="{F5DFA9DF-2B1A-4452-9DF6-9937D766DA3C}" destId="{E259B8F6-C8B2-409D-B6F4-3CC9AF597B4E}" srcOrd="0" destOrd="0" presId="urn:microsoft.com/office/officeart/2005/8/layout/vList2"/>
    <dgm:cxn modelId="{C8C3E026-85E2-4A02-A4D1-9409CD3FCDEC}" srcId="{31A42FE5-358C-4AC8-B2D9-EC41C44C745D}" destId="{25CEAF72-974A-44A8-BC55-A8B55EA37785}" srcOrd="5" destOrd="0" parTransId="{1B8D1876-42C8-4C1C-A614-239CB721E85F}" sibTransId="{976239EE-BAC4-4276-988F-FE8ED65F3937}"/>
    <dgm:cxn modelId="{26A91C2E-0033-42E3-A5E8-7AD77119F952}" type="presOf" srcId="{31A42FE5-358C-4AC8-B2D9-EC41C44C745D}" destId="{CD597EDE-5BB6-4094-8B76-5D8876DECCA7}" srcOrd="0" destOrd="0" presId="urn:microsoft.com/office/officeart/2005/8/layout/vList2"/>
    <dgm:cxn modelId="{E406A465-2576-466F-B0C0-FCF4A9DDE97D}" srcId="{31A42FE5-358C-4AC8-B2D9-EC41C44C745D}" destId="{81629E55-0ED6-4A45-A0F9-8BB81F10C6D4}" srcOrd="0" destOrd="0" parTransId="{8CED9357-5083-433F-9146-713F86479B0D}" sibTransId="{A7E4BF2A-4A12-4008-BA5C-56A3F39325CC}"/>
    <dgm:cxn modelId="{9315074A-65CE-4AB8-A8AD-7381B456A256}" srcId="{31A42FE5-358C-4AC8-B2D9-EC41C44C745D}" destId="{F5DFA9DF-2B1A-4452-9DF6-9937D766DA3C}" srcOrd="2" destOrd="0" parTransId="{AAC64D76-103E-442B-9ADB-243980102C01}" sibTransId="{9F7524E4-F256-4D6A-98CB-E12CB8025A85}"/>
    <dgm:cxn modelId="{A408A84A-6467-4822-9305-24CF376F81AE}" type="presOf" srcId="{F0DA4EA8-A299-4148-935A-E796A3C77B3D}" destId="{EF33E478-C49C-4E6E-A6BF-5AAB4CEB1211}" srcOrd="0" destOrd="0" presId="urn:microsoft.com/office/officeart/2005/8/layout/vList2"/>
    <dgm:cxn modelId="{13A4DE73-D822-43CC-A051-359552C2E515}" type="presOf" srcId="{25CEAF72-974A-44A8-BC55-A8B55EA37785}" destId="{71029917-827A-4620-A08F-AEE2BD502AD0}" srcOrd="0" destOrd="0" presId="urn:microsoft.com/office/officeart/2005/8/layout/vList2"/>
    <dgm:cxn modelId="{3E9B0298-5A20-4A9B-BB13-5104862D5B0C}" type="presOf" srcId="{50EE268A-0155-4382-ADDF-13C025487212}" destId="{1E6BAE8F-CFEB-46B3-82DE-3DBB7C4BEA3E}" srcOrd="0" destOrd="0" presId="urn:microsoft.com/office/officeart/2005/8/layout/vList2"/>
    <dgm:cxn modelId="{559FC3A3-7896-4BA6-A80A-3617A9A82647}" type="presOf" srcId="{F0055534-399A-4A2C-9065-F07DB518DF31}" destId="{32022A96-77E4-4508-9D0D-648997E15C9C}" srcOrd="0" destOrd="0" presId="urn:microsoft.com/office/officeart/2005/8/layout/vList2"/>
    <dgm:cxn modelId="{283FC9B0-5F80-4088-BEF1-EEE84B4CCF48}" srcId="{31A42FE5-358C-4AC8-B2D9-EC41C44C745D}" destId="{F0055534-399A-4A2C-9065-F07DB518DF31}" srcOrd="4" destOrd="0" parTransId="{1014BA58-6FB4-400D-88E8-C5DB7760A194}" sibTransId="{9816033B-8ECB-4B18-8008-0785C2E30E01}"/>
    <dgm:cxn modelId="{53ECD1BA-1DEA-4723-8624-7E6B78B260F2}" type="presOf" srcId="{81629E55-0ED6-4A45-A0F9-8BB81F10C6D4}" destId="{6223E6AC-42E6-4CEB-AE66-5928249E0446}" srcOrd="0" destOrd="0" presId="urn:microsoft.com/office/officeart/2005/8/layout/vList2"/>
    <dgm:cxn modelId="{EF2A02DA-4042-4E5A-A150-63865ED3434B}" srcId="{31A42FE5-358C-4AC8-B2D9-EC41C44C745D}" destId="{50EE268A-0155-4382-ADDF-13C025487212}" srcOrd="3" destOrd="0" parTransId="{939B2770-267E-403A-8916-8793DD14D9B4}" sibTransId="{21649A17-175C-4152-8B1D-D16091D84CD9}"/>
    <dgm:cxn modelId="{CDC9ADF5-B0E4-46C2-8BB6-069E01A34972}" srcId="{31A42FE5-358C-4AC8-B2D9-EC41C44C745D}" destId="{F0DA4EA8-A299-4148-935A-E796A3C77B3D}" srcOrd="1" destOrd="0" parTransId="{2605BFED-D5C6-4A46-8847-CD6E3519B38E}" sibTransId="{B9EDF579-A1F8-4FC8-8CA0-79C4F273BE02}"/>
    <dgm:cxn modelId="{65E53947-EACB-4014-95A1-F628D20FFE26}" type="presParOf" srcId="{CD597EDE-5BB6-4094-8B76-5D8876DECCA7}" destId="{6223E6AC-42E6-4CEB-AE66-5928249E0446}" srcOrd="0" destOrd="0" presId="urn:microsoft.com/office/officeart/2005/8/layout/vList2"/>
    <dgm:cxn modelId="{1155A28D-13D9-4E4A-8D6F-2F1D632FE581}" type="presParOf" srcId="{CD597EDE-5BB6-4094-8B76-5D8876DECCA7}" destId="{5E1AFA57-61A7-470E-BEC9-8C8DE62382C4}" srcOrd="1" destOrd="0" presId="urn:microsoft.com/office/officeart/2005/8/layout/vList2"/>
    <dgm:cxn modelId="{C0983AC6-04BF-481F-856E-1B3C4C2C567A}" type="presParOf" srcId="{CD597EDE-5BB6-4094-8B76-5D8876DECCA7}" destId="{EF33E478-C49C-4E6E-A6BF-5AAB4CEB1211}" srcOrd="2" destOrd="0" presId="urn:microsoft.com/office/officeart/2005/8/layout/vList2"/>
    <dgm:cxn modelId="{E36F694C-2F80-4B0B-AE03-789589258689}" type="presParOf" srcId="{CD597EDE-5BB6-4094-8B76-5D8876DECCA7}" destId="{E657E156-018B-4174-9E2D-F3F30A7419AE}" srcOrd="3" destOrd="0" presId="urn:microsoft.com/office/officeart/2005/8/layout/vList2"/>
    <dgm:cxn modelId="{4A47F44A-7667-46A2-AA87-41C23F65C2D6}" type="presParOf" srcId="{CD597EDE-5BB6-4094-8B76-5D8876DECCA7}" destId="{E259B8F6-C8B2-409D-B6F4-3CC9AF597B4E}" srcOrd="4" destOrd="0" presId="urn:microsoft.com/office/officeart/2005/8/layout/vList2"/>
    <dgm:cxn modelId="{4A02B98B-9F60-4CEC-A1F5-DAF224B720D2}" type="presParOf" srcId="{CD597EDE-5BB6-4094-8B76-5D8876DECCA7}" destId="{B0370740-623E-4A5A-B02B-2D307EBCB58E}" srcOrd="5" destOrd="0" presId="urn:microsoft.com/office/officeart/2005/8/layout/vList2"/>
    <dgm:cxn modelId="{E69E5755-3614-4078-8646-DD63BEBCCD08}" type="presParOf" srcId="{CD597EDE-5BB6-4094-8B76-5D8876DECCA7}" destId="{1E6BAE8F-CFEB-46B3-82DE-3DBB7C4BEA3E}" srcOrd="6" destOrd="0" presId="urn:microsoft.com/office/officeart/2005/8/layout/vList2"/>
    <dgm:cxn modelId="{D9C91EA4-8C40-4716-B678-1B7C1029A9DE}" type="presParOf" srcId="{CD597EDE-5BB6-4094-8B76-5D8876DECCA7}" destId="{F3E5E756-2781-4478-9CE2-AB85C400A564}" srcOrd="7" destOrd="0" presId="urn:microsoft.com/office/officeart/2005/8/layout/vList2"/>
    <dgm:cxn modelId="{D9557DC4-5FA9-4183-8AA4-69AE401B2224}" type="presParOf" srcId="{CD597EDE-5BB6-4094-8B76-5D8876DECCA7}" destId="{32022A96-77E4-4508-9D0D-648997E15C9C}" srcOrd="8" destOrd="0" presId="urn:microsoft.com/office/officeart/2005/8/layout/vList2"/>
    <dgm:cxn modelId="{BBD398C7-5D98-40A5-B9C7-3D4CB753A4C3}" type="presParOf" srcId="{CD597EDE-5BB6-4094-8B76-5D8876DECCA7}" destId="{EC8068BC-B02C-4CF4-9F93-F7886B0E8D57}" srcOrd="9" destOrd="0" presId="urn:microsoft.com/office/officeart/2005/8/layout/vList2"/>
    <dgm:cxn modelId="{6078AF62-E1DA-4452-B70B-C9F9692644AC}" type="presParOf" srcId="{CD597EDE-5BB6-4094-8B76-5D8876DECCA7}" destId="{71029917-827A-4620-A08F-AEE2BD502AD0}" srcOrd="1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D7714D9-7FC1-4F32-9679-370A57556BB3}" type="doc">
      <dgm:prSet loTypeId="urn:microsoft.com/office/officeart/2005/8/layout/vProcess5" loCatId="process" qsTypeId="urn:microsoft.com/office/officeart/2005/8/quickstyle/simple1" qsCatId="simple" csTypeId="urn:microsoft.com/office/officeart/2005/8/colors/colorful1" csCatId="colorful"/>
      <dgm:spPr/>
      <dgm:t>
        <a:bodyPr/>
        <a:lstStyle/>
        <a:p>
          <a:endParaRPr lang="en-US"/>
        </a:p>
      </dgm:t>
    </dgm:pt>
    <dgm:pt modelId="{4A471D23-FD30-4B4B-910E-74ED9A250606}">
      <dgm:prSet/>
      <dgm:spPr/>
      <dgm:t>
        <a:bodyPr/>
        <a:lstStyle/>
        <a:p>
          <a:r>
            <a:rPr lang="pl-PL"/>
            <a:t>KDD najlepiej opisuje sam proces odkrywania wiedzy w danych. Pokazuje drogę od surowej informacji do praktycznej wiedzy wspierającej decyzję medyczną.</a:t>
          </a:r>
          <a:endParaRPr lang="en-US"/>
        </a:p>
      </dgm:t>
    </dgm:pt>
    <dgm:pt modelId="{73C6905E-4168-4A12-B904-81C75CA06294}" type="parTrans" cxnId="{D3860D67-6C33-44B5-B603-28BA75F4238B}">
      <dgm:prSet/>
      <dgm:spPr/>
      <dgm:t>
        <a:bodyPr/>
        <a:lstStyle/>
        <a:p>
          <a:endParaRPr lang="en-US"/>
        </a:p>
      </dgm:t>
    </dgm:pt>
    <dgm:pt modelId="{EDCAE8DA-9ADC-4114-9F63-C5284472C1E8}" type="sibTrans" cxnId="{D3860D67-6C33-44B5-B603-28BA75F4238B}">
      <dgm:prSet/>
      <dgm:spPr/>
      <dgm:t>
        <a:bodyPr/>
        <a:lstStyle/>
        <a:p>
          <a:endParaRPr lang="en-US"/>
        </a:p>
      </dgm:t>
    </dgm:pt>
    <dgm:pt modelId="{31E583F4-C94C-44C4-805D-A60B7E2F981A}">
      <dgm:prSet/>
      <dgm:spPr/>
      <dgm:t>
        <a:bodyPr/>
        <a:lstStyle/>
        <a:p>
          <a:r>
            <a:rPr lang="pl-PL"/>
            <a:t>CRISP-DM koncentruje się bardziej na zarządzaniu projektem. Pomaga koordynować współpracę między analitykami, inżynierami i ekspertami domenowymi.</a:t>
          </a:r>
          <a:endParaRPr lang="en-US"/>
        </a:p>
      </dgm:t>
    </dgm:pt>
    <dgm:pt modelId="{E5642BF6-B60F-4204-8E3C-4783756EE5B0}" type="parTrans" cxnId="{6D7292ED-B014-49DD-9256-3163CBBE198E}">
      <dgm:prSet/>
      <dgm:spPr/>
      <dgm:t>
        <a:bodyPr/>
        <a:lstStyle/>
        <a:p>
          <a:endParaRPr lang="en-US"/>
        </a:p>
      </dgm:t>
    </dgm:pt>
    <dgm:pt modelId="{1EA99461-A3F9-44AA-A9A7-2EDCB5E131DD}" type="sibTrans" cxnId="{6D7292ED-B014-49DD-9256-3163CBBE198E}">
      <dgm:prSet/>
      <dgm:spPr/>
      <dgm:t>
        <a:bodyPr/>
        <a:lstStyle/>
        <a:p>
          <a:endParaRPr lang="en-US"/>
        </a:p>
      </dgm:t>
    </dgm:pt>
    <dgm:pt modelId="{8540FFED-3189-4338-AFD2-E5F1094FA105}">
      <dgm:prSet/>
      <dgm:spPr/>
      <dgm:t>
        <a:bodyPr/>
        <a:lstStyle/>
        <a:p>
          <a:r>
            <a:rPr lang="pl-PL"/>
            <a:t>SEMMA skupia się natomiast na technicznej stronie analizy i obejmuje:</a:t>
          </a:r>
          <a:r>
            <a:rPr lang="en-US"/>
            <a:t> </a:t>
          </a:r>
          <a:r>
            <a:rPr lang="pl-PL"/>
            <a:t>Sample, Explore, Modify, Model, Assess. </a:t>
          </a:r>
          <a:endParaRPr lang="en-US"/>
        </a:p>
      </dgm:t>
    </dgm:pt>
    <dgm:pt modelId="{3A4A27F5-7DB2-4510-A0AC-D526815314D1}" type="parTrans" cxnId="{606B3A31-A6E2-4A0D-9675-38ECE03B108D}">
      <dgm:prSet/>
      <dgm:spPr/>
      <dgm:t>
        <a:bodyPr/>
        <a:lstStyle/>
        <a:p>
          <a:endParaRPr lang="en-US"/>
        </a:p>
      </dgm:t>
    </dgm:pt>
    <dgm:pt modelId="{8D66F4A0-0250-4613-9DA3-CA36B54E474F}" type="sibTrans" cxnId="{606B3A31-A6E2-4A0D-9675-38ECE03B108D}">
      <dgm:prSet/>
      <dgm:spPr/>
      <dgm:t>
        <a:bodyPr/>
        <a:lstStyle/>
        <a:p>
          <a:endParaRPr lang="en-US"/>
        </a:p>
      </dgm:t>
    </dgm:pt>
    <dgm:pt modelId="{AF273C25-C8B9-45A6-A00D-586720F83FC0}">
      <dgm:prSet/>
      <dgm:spPr/>
      <dgm:t>
        <a:bodyPr/>
        <a:lstStyle/>
        <a:p>
          <a:r>
            <a:rPr lang="pl-PL"/>
            <a:t>W praktyce:</a:t>
          </a:r>
          <a:r>
            <a:rPr lang="en-US"/>
            <a:t> </a:t>
          </a:r>
          <a:r>
            <a:rPr lang="pl-PL"/>
            <a:t>KDD jest bardziej naukowy, </a:t>
          </a:r>
          <a:r>
            <a:rPr lang="en-US"/>
            <a:t> </a:t>
          </a:r>
          <a:r>
            <a:rPr lang="pl-PL"/>
            <a:t>CRISP-DM bardziej projektowy, SEMMA bardziej analityczny.</a:t>
          </a:r>
          <a:endParaRPr lang="en-US"/>
        </a:p>
      </dgm:t>
    </dgm:pt>
    <dgm:pt modelId="{CDF3F87F-0D72-46F0-828F-41BEB07D12EC}" type="parTrans" cxnId="{A4919486-F34C-4F8B-BC25-5F8201CD3933}">
      <dgm:prSet/>
      <dgm:spPr/>
      <dgm:t>
        <a:bodyPr/>
        <a:lstStyle/>
        <a:p>
          <a:endParaRPr lang="en-US"/>
        </a:p>
      </dgm:t>
    </dgm:pt>
    <dgm:pt modelId="{25B5422F-6715-4132-804D-70261208D514}" type="sibTrans" cxnId="{A4919486-F34C-4F8B-BC25-5F8201CD3933}">
      <dgm:prSet/>
      <dgm:spPr/>
      <dgm:t>
        <a:bodyPr/>
        <a:lstStyle/>
        <a:p>
          <a:endParaRPr lang="en-US"/>
        </a:p>
      </dgm:t>
    </dgm:pt>
    <dgm:pt modelId="{6C5006FD-9389-4D61-8AB9-CD81FFBE4F74}" type="pres">
      <dgm:prSet presAssocID="{CD7714D9-7FC1-4F32-9679-370A57556BB3}" presName="outerComposite" presStyleCnt="0">
        <dgm:presLayoutVars>
          <dgm:chMax val="5"/>
          <dgm:dir/>
          <dgm:resizeHandles val="exact"/>
        </dgm:presLayoutVars>
      </dgm:prSet>
      <dgm:spPr/>
    </dgm:pt>
    <dgm:pt modelId="{B7516CB6-B371-459F-90B0-79BD1E4ADE72}" type="pres">
      <dgm:prSet presAssocID="{CD7714D9-7FC1-4F32-9679-370A57556BB3}" presName="dummyMaxCanvas" presStyleCnt="0">
        <dgm:presLayoutVars/>
      </dgm:prSet>
      <dgm:spPr/>
    </dgm:pt>
    <dgm:pt modelId="{59371C04-53B7-42C4-BF5C-C5F172B91AD1}" type="pres">
      <dgm:prSet presAssocID="{CD7714D9-7FC1-4F32-9679-370A57556BB3}" presName="FourNodes_1" presStyleLbl="node1" presStyleIdx="0" presStyleCnt="4">
        <dgm:presLayoutVars>
          <dgm:bulletEnabled val="1"/>
        </dgm:presLayoutVars>
      </dgm:prSet>
      <dgm:spPr/>
    </dgm:pt>
    <dgm:pt modelId="{A8ABA923-5625-45FC-8D4F-5D65D3A21639}" type="pres">
      <dgm:prSet presAssocID="{CD7714D9-7FC1-4F32-9679-370A57556BB3}" presName="FourNodes_2" presStyleLbl="node1" presStyleIdx="1" presStyleCnt="4">
        <dgm:presLayoutVars>
          <dgm:bulletEnabled val="1"/>
        </dgm:presLayoutVars>
      </dgm:prSet>
      <dgm:spPr/>
    </dgm:pt>
    <dgm:pt modelId="{242FAF55-E7F9-4410-B4DA-91694FCDEBEA}" type="pres">
      <dgm:prSet presAssocID="{CD7714D9-7FC1-4F32-9679-370A57556BB3}" presName="FourNodes_3" presStyleLbl="node1" presStyleIdx="2" presStyleCnt="4">
        <dgm:presLayoutVars>
          <dgm:bulletEnabled val="1"/>
        </dgm:presLayoutVars>
      </dgm:prSet>
      <dgm:spPr/>
    </dgm:pt>
    <dgm:pt modelId="{39E167A4-322D-437F-9327-72AB5E46401B}" type="pres">
      <dgm:prSet presAssocID="{CD7714D9-7FC1-4F32-9679-370A57556BB3}" presName="FourNodes_4" presStyleLbl="node1" presStyleIdx="3" presStyleCnt="4">
        <dgm:presLayoutVars>
          <dgm:bulletEnabled val="1"/>
        </dgm:presLayoutVars>
      </dgm:prSet>
      <dgm:spPr/>
    </dgm:pt>
    <dgm:pt modelId="{03091DE0-A4BB-4529-AB92-F5733F2FF81D}" type="pres">
      <dgm:prSet presAssocID="{CD7714D9-7FC1-4F32-9679-370A57556BB3}" presName="FourConn_1-2" presStyleLbl="fgAccFollowNode1" presStyleIdx="0" presStyleCnt="3">
        <dgm:presLayoutVars>
          <dgm:bulletEnabled val="1"/>
        </dgm:presLayoutVars>
      </dgm:prSet>
      <dgm:spPr/>
    </dgm:pt>
    <dgm:pt modelId="{290DB6B4-AC28-4D8F-99B0-8660BC8A3B93}" type="pres">
      <dgm:prSet presAssocID="{CD7714D9-7FC1-4F32-9679-370A57556BB3}" presName="FourConn_2-3" presStyleLbl="fgAccFollowNode1" presStyleIdx="1" presStyleCnt="3">
        <dgm:presLayoutVars>
          <dgm:bulletEnabled val="1"/>
        </dgm:presLayoutVars>
      </dgm:prSet>
      <dgm:spPr/>
    </dgm:pt>
    <dgm:pt modelId="{8E34C2D2-C14A-481F-B7FD-AEA71638DDB5}" type="pres">
      <dgm:prSet presAssocID="{CD7714D9-7FC1-4F32-9679-370A57556BB3}" presName="FourConn_3-4" presStyleLbl="fgAccFollowNode1" presStyleIdx="2" presStyleCnt="3">
        <dgm:presLayoutVars>
          <dgm:bulletEnabled val="1"/>
        </dgm:presLayoutVars>
      </dgm:prSet>
      <dgm:spPr/>
    </dgm:pt>
    <dgm:pt modelId="{5B4259A5-0DA5-4DF3-A780-BE7BE27656C8}" type="pres">
      <dgm:prSet presAssocID="{CD7714D9-7FC1-4F32-9679-370A57556BB3}" presName="FourNodes_1_text" presStyleLbl="node1" presStyleIdx="3" presStyleCnt="4">
        <dgm:presLayoutVars>
          <dgm:bulletEnabled val="1"/>
        </dgm:presLayoutVars>
      </dgm:prSet>
      <dgm:spPr/>
    </dgm:pt>
    <dgm:pt modelId="{A78660ED-1CFD-4DAD-818F-1745002B1B18}" type="pres">
      <dgm:prSet presAssocID="{CD7714D9-7FC1-4F32-9679-370A57556BB3}" presName="FourNodes_2_text" presStyleLbl="node1" presStyleIdx="3" presStyleCnt="4">
        <dgm:presLayoutVars>
          <dgm:bulletEnabled val="1"/>
        </dgm:presLayoutVars>
      </dgm:prSet>
      <dgm:spPr/>
    </dgm:pt>
    <dgm:pt modelId="{68912A82-B9C3-4ED3-88CB-49A3F0D36B05}" type="pres">
      <dgm:prSet presAssocID="{CD7714D9-7FC1-4F32-9679-370A57556BB3}" presName="FourNodes_3_text" presStyleLbl="node1" presStyleIdx="3" presStyleCnt="4">
        <dgm:presLayoutVars>
          <dgm:bulletEnabled val="1"/>
        </dgm:presLayoutVars>
      </dgm:prSet>
      <dgm:spPr/>
    </dgm:pt>
    <dgm:pt modelId="{854AB9E1-7268-46BB-9AD7-DB82E0CEBFE3}" type="pres">
      <dgm:prSet presAssocID="{CD7714D9-7FC1-4F32-9679-370A57556BB3}" presName="FourNodes_4_text" presStyleLbl="node1" presStyleIdx="3" presStyleCnt="4">
        <dgm:presLayoutVars>
          <dgm:bulletEnabled val="1"/>
        </dgm:presLayoutVars>
      </dgm:prSet>
      <dgm:spPr/>
    </dgm:pt>
  </dgm:ptLst>
  <dgm:cxnLst>
    <dgm:cxn modelId="{44A4F706-840E-4660-8D19-7A5AFA416C8C}" type="presOf" srcId="{4A471D23-FD30-4B4B-910E-74ED9A250606}" destId="{5B4259A5-0DA5-4DF3-A780-BE7BE27656C8}" srcOrd="1" destOrd="0" presId="urn:microsoft.com/office/officeart/2005/8/layout/vProcess5"/>
    <dgm:cxn modelId="{D93B2307-BDBD-45CB-BEF5-B7772AA41A22}" type="presOf" srcId="{4A471D23-FD30-4B4B-910E-74ED9A250606}" destId="{59371C04-53B7-42C4-BF5C-C5F172B91AD1}" srcOrd="0" destOrd="0" presId="urn:microsoft.com/office/officeart/2005/8/layout/vProcess5"/>
    <dgm:cxn modelId="{AFCCDE1E-4156-4739-8331-4D9F541E2C63}" type="presOf" srcId="{8540FFED-3189-4338-AFD2-E5F1094FA105}" destId="{242FAF55-E7F9-4410-B4DA-91694FCDEBEA}" srcOrd="0" destOrd="0" presId="urn:microsoft.com/office/officeart/2005/8/layout/vProcess5"/>
    <dgm:cxn modelId="{37BCDC2D-A0A9-4C75-B539-999E7C0F6EE7}" type="presOf" srcId="{AF273C25-C8B9-45A6-A00D-586720F83FC0}" destId="{39E167A4-322D-437F-9327-72AB5E46401B}" srcOrd="0" destOrd="0" presId="urn:microsoft.com/office/officeart/2005/8/layout/vProcess5"/>
    <dgm:cxn modelId="{606B3A31-A6E2-4A0D-9675-38ECE03B108D}" srcId="{CD7714D9-7FC1-4F32-9679-370A57556BB3}" destId="{8540FFED-3189-4338-AFD2-E5F1094FA105}" srcOrd="2" destOrd="0" parTransId="{3A4A27F5-7DB2-4510-A0AC-D526815314D1}" sibTransId="{8D66F4A0-0250-4613-9DA3-CA36B54E474F}"/>
    <dgm:cxn modelId="{24916739-7667-4169-9858-239D94DB52F9}" type="presOf" srcId="{8D66F4A0-0250-4613-9DA3-CA36B54E474F}" destId="{8E34C2D2-C14A-481F-B7FD-AEA71638DDB5}" srcOrd="0" destOrd="0" presId="urn:microsoft.com/office/officeart/2005/8/layout/vProcess5"/>
    <dgm:cxn modelId="{EAD0BB42-055B-49ED-B632-D4E100094A88}" type="presOf" srcId="{1EA99461-A3F9-44AA-A9A7-2EDCB5E131DD}" destId="{290DB6B4-AC28-4D8F-99B0-8660BC8A3B93}" srcOrd="0" destOrd="0" presId="urn:microsoft.com/office/officeart/2005/8/layout/vProcess5"/>
    <dgm:cxn modelId="{D3860D67-6C33-44B5-B603-28BA75F4238B}" srcId="{CD7714D9-7FC1-4F32-9679-370A57556BB3}" destId="{4A471D23-FD30-4B4B-910E-74ED9A250606}" srcOrd="0" destOrd="0" parTransId="{73C6905E-4168-4A12-B904-81C75CA06294}" sibTransId="{EDCAE8DA-9ADC-4114-9F63-C5284472C1E8}"/>
    <dgm:cxn modelId="{A4919486-F34C-4F8B-BC25-5F8201CD3933}" srcId="{CD7714D9-7FC1-4F32-9679-370A57556BB3}" destId="{AF273C25-C8B9-45A6-A00D-586720F83FC0}" srcOrd="3" destOrd="0" parTransId="{CDF3F87F-0D72-46F0-828F-41BEB07D12EC}" sibTransId="{25B5422F-6715-4132-804D-70261208D514}"/>
    <dgm:cxn modelId="{8670DB8D-3F21-4E10-944F-840B49A00BF4}" type="presOf" srcId="{EDCAE8DA-9ADC-4114-9F63-C5284472C1E8}" destId="{03091DE0-A4BB-4529-AB92-F5733F2FF81D}" srcOrd="0" destOrd="0" presId="urn:microsoft.com/office/officeart/2005/8/layout/vProcess5"/>
    <dgm:cxn modelId="{F5E33AA5-6563-498F-9598-6BEF3790E730}" type="presOf" srcId="{8540FFED-3189-4338-AFD2-E5F1094FA105}" destId="{68912A82-B9C3-4ED3-88CB-49A3F0D36B05}" srcOrd="1" destOrd="0" presId="urn:microsoft.com/office/officeart/2005/8/layout/vProcess5"/>
    <dgm:cxn modelId="{16CE66B0-F658-4B85-891F-597F9E0BF4DC}" type="presOf" srcId="{31E583F4-C94C-44C4-805D-A60B7E2F981A}" destId="{A78660ED-1CFD-4DAD-818F-1745002B1B18}" srcOrd="1" destOrd="0" presId="urn:microsoft.com/office/officeart/2005/8/layout/vProcess5"/>
    <dgm:cxn modelId="{0DBE2ABF-4964-4E2E-9357-8A4A954E6692}" type="presOf" srcId="{CD7714D9-7FC1-4F32-9679-370A57556BB3}" destId="{6C5006FD-9389-4D61-8AB9-CD81FFBE4F74}" srcOrd="0" destOrd="0" presId="urn:microsoft.com/office/officeart/2005/8/layout/vProcess5"/>
    <dgm:cxn modelId="{F4A4F0C3-4543-4D83-9D05-B90BB505D6A2}" type="presOf" srcId="{AF273C25-C8B9-45A6-A00D-586720F83FC0}" destId="{854AB9E1-7268-46BB-9AD7-DB82E0CEBFE3}" srcOrd="1" destOrd="0" presId="urn:microsoft.com/office/officeart/2005/8/layout/vProcess5"/>
    <dgm:cxn modelId="{4841D0C8-2653-420C-965A-7ED607698927}" type="presOf" srcId="{31E583F4-C94C-44C4-805D-A60B7E2F981A}" destId="{A8ABA923-5625-45FC-8D4F-5D65D3A21639}" srcOrd="0" destOrd="0" presId="urn:microsoft.com/office/officeart/2005/8/layout/vProcess5"/>
    <dgm:cxn modelId="{6D7292ED-B014-49DD-9256-3163CBBE198E}" srcId="{CD7714D9-7FC1-4F32-9679-370A57556BB3}" destId="{31E583F4-C94C-44C4-805D-A60B7E2F981A}" srcOrd="1" destOrd="0" parTransId="{E5642BF6-B60F-4204-8E3C-4783756EE5B0}" sibTransId="{1EA99461-A3F9-44AA-A9A7-2EDCB5E131DD}"/>
    <dgm:cxn modelId="{CA8BDB7D-CEF9-4F81-83D9-2C90EE52B592}" type="presParOf" srcId="{6C5006FD-9389-4D61-8AB9-CD81FFBE4F74}" destId="{B7516CB6-B371-459F-90B0-79BD1E4ADE72}" srcOrd="0" destOrd="0" presId="urn:microsoft.com/office/officeart/2005/8/layout/vProcess5"/>
    <dgm:cxn modelId="{0D687EC0-F9A0-4DDF-9C6A-5AEA2B7BEF57}" type="presParOf" srcId="{6C5006FD-9389-4D61-8AB9-CD81FFBE4F74}" destId="{59371C04-53B7-42C4-BF5C-C5F172B91AD1}" srcOrd="1" destOrd="0" presId="urn:microsoft.com/office/officeart/2005/8/layout/vProcess5"/>
    <dgm:cxn modelId="{FD56314D-0655-4CE1-9201-269F76D69570}" type="presParOf" srcId="{6C5006FD-9389-4D61-8AB9-CD81FFBE4F74}" destId="{A8ABA923-5625-45FC-8D4F-5D65D3A21639}" srcOrd="2" destOrd="0" presId="urn:microsoft.com/office/officeart/2005/8/layout/vProcess5"/>
    <dgm:cxn modelId="{7468B2AE-26F6-461B-B5B6-6665A748D071}" type="presParOf" srcId="{6C5006FD-9389-4D61-8AB9-CD81FFBE4F74}" destId="{242FAF55-E7F9-4410-B4DA-91694FCDEBEA}" srcOrd="3" destOrd="0" presId="urn:microsoft.com/office/officeart/2005/8/layout/vProcess5"/>
    <dgm:cxn modelId="{A97E3C1D-983C-454C-B128-40E4F5B5AD61}" type="presParOf" srcId="{6C5006FD-9389-4D61-8AB9-CD81FFBE4F74}" destId="{39E167A4-322D-437F-9327-72AB5E46401B}" srcOrd="4" destOrd="0" presId="urn:microsoft.com/office/officeart/2005/8/layout/vProcess5"/>
    <dgm:cxn modelId="{90503F18-0AE6-4917-892A-8C467B29F740}" type="presParOf" srcId="{6C5006FD-9389-4D61-8AB9-CD81FFBE4F74}" destId="{03091DE0-A4BB-4529-AB92-F5733F2FF81D}" srcOrd="5" destOrd="0" presId="urn:microsoft.com/office/officeart/2005/8/layout/vProcess5"/>
    <dgm:cxn modelId="{C31F4F80-BAB3-4ADD-94A0-FFA192EF241E}" type="presParOf" srcId="{6C5006FD-9389-4D61-8AB9-CD81FFBE4F74}" destId="{290DB6B4-AC28-4D8F-99B0-8660BC8A3B93}" srcOrd="6" destOrd="0" presId="urn:microsoft.com/office/officeart/2005/8/layout/vProcess5"/>
    <dgm:cxn modelId="{3705E2E5-2766-4765-9283-861602BEF269}" type="presParOf" srcId="{6C5006FD-9389-4D61-8AB9-CD81FFBE4F74}" destId="{8E34C2D2-C14A-481F-B7FD-AEA71638DDB5}" srcOrd="7" destOrd="0" presId="urn:microsoft.com/office/officeart/2005/8/layout/vProcess5"/>
    <dgm:cxn modelId="{9D05C13A-1E23-4D8C-825F-E04C3CFA3258}" type="presParOf" srcId="{6C5006FD-9389-4D61-8AB9-CD81FFBE4F74}" destId="{5B4259A5-0DA5-4DF3-A780-BE7BE27656C8}" srcOrd="8" destOrd="0" presId="urn:microsoft.com/office/officeart/2005/8/layout/vProcess5"/>
    <dgm:cxn modelId="{4A4E47FF-4CCB-478C-BE37-293D496CC659}" type="presParOf" srcId="{6C5006FD-9389-4D61-8AB9-CD81FFBE4F74}" destId="{A78660ED-1CFD-4DAD-818F-1745002B1B18}" srcOrd="9" destOrd="0" presId="urn:microsoft.com/office/officeart/2005/8/layout/vProcess5"/>
    <dgm:cxn modelId="{614EE0B3-1D26-4E19-AFE5-7EEC7EDA8627}" type="presParOf" srcId="{6C5006FD-9389-4D61-8AB9-CD81FFBE4F74}" destId="{68912A82-B9C3-4ED3-88CB-49A3F0D36B05}" srcOrd="10" destOrd="0" presId="urn:microsoft.com/office/officeart/2005/8/layout/vProcess5"/>
    <dgm:cxn modelId="{106CA95F-70CC-4D00-8FE4-B7521FFAFFE1}" type="presParOf" srcId="{6C5006FD-9389-4D61-8AB9-CD81FFBE4F74}" destId="{854AB9E1-7268-46BB-9AD7-DB82E0CEBFE3}" srcOrd="11"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FD8DAD4-AEE5-4DDC-9628-CFA143DD22E0}" type="doc">
      <dgm:prSet loTypeId="urn:microsoft.com/office/officeart/2016/7/layout/LinearBlockProcessNumbered" loCatId="process" qsTypeId="urn:microsoft.com/office/officeart/2005/8/quickstyle/simple1" qsCatId="simple" csTypeId="urn:microsoft.com/office/officeart/2005/8/colors/colorful2" csCatId="colorful"/>
      <dgm:spPr/>
      <dgm:t>
        <a:bodyPr/>
        <a:lstStyle/>
        <a:p>
          <a:endParaRPr lang="en-US"/>
        </a:p>
      </dgm:t>
    </dgm:pt>
    <dgm:pt modelId="{C95B54E7-94A8-4961-8BBC-18501D8E2BCB}">
      <dgm:prSet/>
      <dgm:spPr/>
      <dgm:t>
        <a:bodyPr/>
        <a:lstStyle/>
        <a:p>
          <a:r>
            <a:rPr lang="pl-PL" dirty="0"/>
            <a:t>W projektach Data Science odpowiedzialność zespołu zmienia się wraz z przechodzeniem przez kolejne etapy projektu. Na początku najważniejsze jest zrozumienie problemu biznesowego. W tym momencie odpowiedzialność spoczywa głównie na Product </a:t>
          </a:r>
          <a:r>
            <a:rPr lang="pl-PL" dirty="0" err="1"/>
            <a:t>Ownerze</a:t>
          </a:r>
          <a:r>
            <a:rPr lang="pl-PL" dirty="0"/>
            <a:t> oraz ekspertach domenowych, którzy muszą określić, jaki problem organizacja chce rozwiązać i jakie rezultaty będą miały wartość.</a:t>
          </a:r>
          <a:endParaRPr lang="en-US" dirty="0"/>
        </a:p>
      </dgm:t>
    </dgm:pt>
    <dgm:pt modelId="{B46FDCB5-2287-495B-935E-F13F1F144849}" type="parTrans" cxnId="{32A1F5F8-D59D-4C24-8980-48A7C07E76A1}">
      <dgm:prSet/>
      <dgm:spPr/>
      <dgm:t>
        <a:bodyPr/>
        <a:lstStyle/>
        <a:p>
          <a:endParaRPr lang="en-US"/>
        </a:p>
      </dgm:t>
    </dgm:pt>
    <dgm:pt modelId="{EC96B7BA-6859-4CC2-9157-596D1541584F}" type="sibTrans" cxnId="{32A1F5F8-D59D-4C24-8980-48A7C07E76A1}">
      <dgm:prSet phldrT="01" phldr="0"/>
      <dgm:spPr/>
      <dgm:t>
        <a:bodyPr/>
        <a:lstStyle/>
        <a:p>
          <a:r>
            <a:rPr lang="en-US"/>
            <a:t>01</a:t>
          </a:r>
        </a:p>
      </dgm:t>
    </dgm:pt>
    <dgm:pt modelId="{BB91F342-E261-4DFE-BE11-C0E28F5A2EB9}">
      <dgm:prSet/>
      <dgm:spPr/>
      <dgm:t>
        <a:bodyPr/>
        <a:lstStyle/>
        <a:p>
          <a:r>
            <a:rPr lang="pl-PL" dirty="0"/>
            <a:t>Kiedy projekt przechodzi do etapu pracy z danymi, ciężar odpowiedzialności przesuwa się w stronę Data </a:t>
          </a:r>
          <a:r>
            <a:rPr lang="pl-PL" dirty="0" err="1"/>
            <a:t>Engineerów</a:t>
          </a:r>
          <a:r>
            <a:rPr lang="pl-PL" dirty="0"/>
            <a:t> oraz analityków. To oni odpowiadają za jakość źródeł danych, poprawność ich integracji oraz przygotowanie środowiska analitycznego. Bez tego model nie ma szans działać poprawnie.</a:t>
          </a:r>
          <a:endParaRPr lang="en-US" dirty="0"/>
        </a:p>
      </dgm:t>
    </dgm:pt>
    <dgm:pt modelId="{A718B0E0-A54A-4B23-8C13-0041D429865A}" type="parTrans" cxnId="{0CD4F0D6-FC26-4540-B2A4-5F6102CA9B8E}">
      <dgm:prSet/>
      <dgm:spPr/>
      <dgm:t>
        <a:bodyPr/>
        <a:lstStyle/>
        <a:p>
          <a:endParaRPr lang="en-US"/>
        </a:p>
      </dgm:t>
    </dgm:pt>
    <dgm:pt modelId="{59322B28-8D17-4C25-846C-568C5AB9441A}" type="sibTrans" cxnId="{0CD4F0D6-FC26-4540-B2A4-5F6102CA9B8E}">
      <dgm:prSet phldrT="02" phldr="0"/>
      <dgm:spPr/>
      <dgm:t>
        <a:bodyPr/>
        <a:lstStyle/>
        <a:p>
          <a:r>
            <a:rPr lang="en-US"/>
            <a:t>02</a:t>
          </a:r>
        </a:p>
      </dgm:t>
    </dgm:pt>
    <dgm:pt modelId="{911AF60D-7286-407B-8954-45292E9ABA16}">
      <dgm:prSet/>
      <dgm:spPr/>
      <dgm:t>
        <a:bodyPr/>
        <a:lstStyle/>
        <a:p>
          <a:r>
            <a:rPr lang="pl-PL"/>
            <a:t>W fazie modelowania główną rolę przejmuje Data Scientist. Odpowiada za dobór algorytmu, ocenę skuteczności oraz interpretację wyników. Gdy projekt przechodzi do wdrożenia, odpowiedzialność przejmuje Machine Learning Engineer, który dba o stabilność modelu w środowisku produkcyjnym.</a:t>
          </a:r>
          <a:endParaRPr lang="en-US"/>
        </a:p>
      </dgm:t>
    </dgm:pt>
    <dgm:pt modelId="{0E11208C-2BF8-4751-81F9-74B0615C8282}" type="parTrans" cxnId="{2F14C9CB-AA0B-4EA2-A21D-107D23BC9DAF}">
      <dgm:prSet/>
      <dgm:spPr/>
      <dgm:t>
        <a:bodyPr/>
        <a:lstStyle/>
        <a:p>
          <a:endParaRPr lang="en-US"/>
        </a:p>
      </dgm:t>
    </dgm:pt>
    <dgm:pt modelId="{D5D1C022-12FF-4D0D-B5B0-B5C09E7DA3D2}" type="sibTrans" cxnId="{2F14C9CB-AA0B-4EA2-A21D-107D23BC9DAF}">
      <dgm:prSet phldrT="03" phldr="0"/>
      <dgm:spPr/>
      <dgm:t>
        <a:bodyPr/>
        <a:lstStyle/>
        <a:p>
          <a:r>
            <a:rPr lang="en-US"/>
            <a:t>03</a:t>
          </a:r>
        </a:p>
      </dgm:t>
    </dgm:pt>
    <dgm:pt modelId="{532FA503-67F5-4BF8-A8B6-1FC32DA23440}" type="pres">
      <dgm:prSet presAssocID="{1FD8DAD4-AEE5-4DDC-9628-CFA143DD22E0}" presName="Name0" presStyleCnt="0">
        <dgm:presLayoutVars>
          <dgm:animLvl val="lvl"/>
          <dgm:resizeHandles val="exact"/>
        </dgm:presLayoutVars>
      </dgm:prSet>
      <dgm:spPr/>
    </dgm:pt>
    <dgm:pt modelId="{59FF895D-45FD-4356-8738-DCE0676D53A2}" type="pres">
      <dgm:prSet presAssocID="{C95B54E7-94A8-4961-8BBC-18501D8E2BCB}" presName="compositeNode" presStyleCnt="0">
        <dgm:presLayoutVars>
          <dgm:bulletEnabled val="1"/>
        </dgm:presLayoutVars>
      </dgm:prSet>
      <dgm:spPr/>
    </dgm:pt>
    <dgm:pt modelId="{104B0E72-25DF-4C57-A086-579F3CDF0ECA}" type="pres">
      <dgm:prSet presAssocID="{C95B54E7-94A8-4961-8BBC-18501D8E2BCB}" presName="bgRect" presStyleLbl="alignNode1" presStyleIdx="0" presStyleCnt="3"/>
      <dgm:spPr/>
    </dgm:pt>
    <dgm:pt modelId="{D4808848-F277-444E-A5D5-089501535942}" type="pres">
      <dgm:prSet presAssocID="{EC96B7BA-6859-4CC2-9157-596D1541584F}" presName="sibTransNodeRect" presStyleLbl="alignNode1" presStyleIdx="0" presStyleCnt="3">
        <dgm:presLayoutVars>
          <dgm:chMax val="0"/>
          <dgm:bulletEnabled val="1"/>
        </dgm:presLayoutVars>
      </dgm:prSet>
      <dgm:spPr/>
    </dgm:pt>
    <dgm:pt modelId="{2ECDFD58-E26F-4E4F-A29D-4D6B104D0C36}" type="pres">
      <dgm:prSet presAssocID="{C95B54E7-94A8-4961-8BBC-18501D8E2BCB}" presName="nodeRect" presStyleLbl="alignNode1" presStyleIdx="0" presStyleCnt="3">
        <dgm:presLayoutVars>
          <dgm:bulletEnabled val="1"/>
        </dgm:presLayoutVars>
      </dgm:prSet>
      <dgm:spPr/>
    </dgm:pt>
    <dgm:pt modelId="{44CDBA9B-A5BD-448C-AD49-54FB7BB340CA}" type="pres">
      <dgm:prSet presAssocID="{EC96B7BA-6859-4CC2-9157-596D1541584F}" presName="sibTrans" presStyleCnt="0"/>
      <dgm:spPr/>
    </dgm:pt>
    <dgm:pt modelId="{05ECAA60-88E9-456C-92F1-8F43D69845F8}" type="pres">
      <dgm:prSet presAssocID="{BB91F342-E261-4DFE-BE11-C0E28F5A2EB9}" presName="compositeNode" presStyleCnt="0">
        <dgm:presLayoutVars>
          <dgm:bulletEnabled val="1"/>
        </dgm:presLayoutVars>
      </dgm:prSet>
      <dgm:spPr/>
    </dgm:pt>
    <dgm:pt modelId="{0683C231-AFF1-4AD4-9CE6-8580CA910A4C}" type="pres">
      <dgm:prSet presAssocID="{BB91F342-E261-4DFE-BE11-C0E28F5A2EB9}" presName="bgRect" presStyleLbl="alignNode1" presStyleIdx="1" presStyleCnt="3"/>
      <dgm:spPr/>
    </dgm:pt>
    <dgm:pt modelId="{8D413613-33C4-408E-9E6E-ED3B2E93A050}" type="pres">
      <dgm:prSet presAssocID="{59322B28-8D17-4C25-846C-568C5AB9441A}" presName="sibTransNodeRect" presStyleLbl="alignNode1" presStyleIdx="1" presStyleCnt="3">
        <dgm:presLayoutVars>
          <dgm:chMax val="0"/>
          <dgm:bulletEnabled val="1"/>
        </dgm:presLayoutVars>
      </dgm:prSet>
      <dgm:spPr/>
    </dgm:pt>
    <dgm:pt modelId="{5B2392BE-5E27-44B3-A78B-EBE2A2C33B08}" type="pres">
      <dgm:prSet presAssocID="{BB91F342-E261-4DFE-BE11-C0E28F5A2EB9}" presName="nodeRect" presStyleLbl="alignNode1" presStyleIdx="1" presStyleCnt="3">
        <dgm:presLayoutVars>
          <dgm:bulletEnabled val="1"/>
        </dgm:presLayoutVars>
      </dgm:prSet>
      <dgm:spPr/>
    </dgm:pt>
    <dgm:pt modelId="{378DE3B3-8420-4EB5-B62A-FF8B62C193D7}" type="pres">
      <dgm:prSet presAssocID="{59322B28-8D17-4C25-846C-568C5AB9441A}" presName="sibTrans" presStyleCnt="0"/>
      <dgm:spPr/>
    </dgm:pt>
    <dgm:pt modelId="{8F8586A2-80F0-4C74-AE96-FDE2B2A28207}" type="pres">
      <dgm:prSet presAssocID="{911AF60D-7286-407B-8954-45292E9ABA16}" presName="compositeNode" presStyleCnt="0">
        <dgm:presLayoutVars>
          <dgm:bulletEnabled val="1"/>
        </dgm:presLayoutVars>
      </dgm:prSet>
      <dgm:spPr/>
    </dgm:pt>
    <dgm:pt modelId="{3091271F-D89B-4F28-9DB1-AACAD008A253}" type="pres">
      <dgm:prSet presAssocID="{911AF60D-7286-407B-8954-45292E9ABA16}" presName="bgRect" presStyleLbl="alignNode1" presStyleIdx="2" presStyleCnt="3"/>
      <dgm:spPr/>
    </dgm:pt>
    <dgm:pt modelId="{6C1DC366-8E11-4FEF-AA50-349DC1AC696F}" type="pres">
      <dgm:prSet presAssocID="{D5D1C022-12FF-4D0D-B5B0-B5C09E7DA3D2}" presName="sibTransNodeRect" presStyleLbl="alignNode1" presStyleIdx="2" presStyleCnt="3">
        <dgm:presLayoutVars>
          <dgm:chMax val="0"/>
          <dgm:bulletEnabled val="1"/>
        </dgm:presLayoutVars>
      </dgm:prSet>
      <dgm:spPr/>
    </dgm:pt>
    <dgm:pt modelId="{BC761042-B128-40FA-979D-0655D6BFB00A}" type="pres">
      <dgm:prSet presAssocID="{911AF60D-7286-407B-8954-45292E9ABA16}" presName="nodeRect" presStyleLbl="alignNode1" presStyleIdx="2" presStyleCnt="3">
        <dgm:presLayoutVars>
          <dgm:bulletEnabled val="1"/>
        </dgm:presLayoutVars>
      </dgm:prSet>
      <dgm:spPr/>
    </dgm:pt>
  </dgm:ptLst>
  <dgm:cxnLst>
    <dgm:cxn modelId="{84578300-9622-4DFB-AE51-4DF034412EBA}" type="presOf" srcId="{BB91F342-E261-4DFE-BE11-C0E28F5A2EB9}" destId="{0683C231-AFF1-4AD4-9CE6-8580CA910A4C}" srcOrd="0" destOrd="0" presId="urn:microsoft.com/office/officeart/2016/7/layout/LinearBlockProcessNumbered"/>
    <dgm:cxn modelId="{4F11873B-4A12-482C-8737-6E7D054A5174}" type="presOf" srcId="{59322B28-8D17-4C25-846C-568C5AB9441A}" destId="{8D413613-33C4-408E-9E6E-ED3B2E93A050}" srcOrd="0" destOrd="0" presId="urn:microsoft.com/office/officeart/2016/7/layout/LinearBlockProcessNumbered"/>
    <dgm:cxn modelId="{00301C3E-59D3-4280-9786-956A3854A165}" type="presOf" srcId="{911AF60D-7286-407B-8954-45292E9ABA16}" destId="{BC761042-B128-40FA-979D-0655D6BFB00A}" srcOrd="1" destOrd="0" presId="urn:microsoft.com/office/officeart/2016/7/layout/LinearBlockProcessNumbered"/>
    <dgm:cxn modelId="{1BBC626F-5F05-4F4E-B010-B6B565C34BB4}" type="presOf" srcId="{D5D1C022-12FF-4D0D-B5B0-B5C09E7DA3D2}" destId="{6C1DC366-8E11-4FEF-AA50-349DC1AC696F}" srcOrd="0" destOrd="0" presId="urn:microsoft.com/office/officeart/2016/7/layout/LinearBlockProcessNumbered"/>
    <dgm:cxn modelId="{3AC95F7E-EC6E-4314-860B-8F1673918529}" type="presOf" srcId="{C95B54E7-94A8-4961-8BBC-18501D8E2BCB}" destId="{104B0E72-25DF-4C57-A086-579F3CDF0ECA}" srcOrd="0" destOrd="0" presId="urn:microsoft.com/office/officeart/2016/7/layout/LinearBlockProcessNumbered"/>
    <dgm:cxn modelId="{2F14C9CB-AA0B-4EA2-A21D-107D23BC9DAF}" srcId="{1FD8DAD4-AEE5-4DDC-9628-CFA143DD22E0}" destId="{911AF60D-7286-407B-8954-45292E9ABA16}" srcOrd="2" destOrd="0" parTransId="{0E11208C-2BF8-4751-81F9-74B0615C8282}" sibTransId="{D5D1C022-12FF-4D0D-B5B0-B5C09E7DA3D2}"/>
    <dgm:cxn modelId="{4DD216D4-439C-47A4-9443-2C6BB37E5167}" type="presOf" srcId="{911AF60D-7286-407B-8954-45292E9ABA16}" destId="{3091271F-D89B-4F28-9DB1-AACAD008A253}" srcOrd="0" destOrd="0" presId="urn:microsoft.com/office/officeart/2016/7/layout/LinearBlockProcessNumbered"/>
    <dgm:cxn modelId="{0CD4F0D6-FC26-4540-B2A4-5F6102CA9B8E}" srcId="{1FD8DAD4-AEE5-4DDC-9628-CFA143DD22E0}" destId="{BB91F342-E261-4DFE-BE11-C0E28F5A2EB9}" srcOrd="1" destOrd="0" parTransId="{A718B0E0-A54A-4B23-8C13-0041D429865A}" sibTransId="{59322B28-8D17-4C25-846C-568C5AB9441A}"/>
    <dgm:cxn modelId="{733C9CDA-4762-4A26-80C6-9A57B2619BFF}" type="presOf" srcId="{C95B54E7-94A8-4961-8BBC-18501D8E2BCB}" destId="{2ECDFD58-E26F-4E4F-A29D-4D6B104D0C36}" srcOrd="1" destOrd="0" presId="urn:microsoft.com/office/officeart/2016/7/layout/LinearBlockProcessNumbered"/>
    <dgm:cxn modelId="{7BC73DF0-99C1-41F8-BE32-A9F6806D82EF}" type="presOf" srcId="{BB91F342-E261-4DFE-BE11-C0E28F5A2EB9}" destId="{5B2392BE-5E27-44B3-A78B-EBE2A2C33B08}" srcOrd="1" destOrd="0" presId="urn:microsoft.com/office/officeart/2016/7/layout/LinearBlockProcessNumbered"/>
    <dgm:cxn modelId="{2D22A6F8-ED34-4DB0-9A7E-5C0E61248814}" type="presOf" srcId="{1FD8DAD4-AEE5-4DDC-9628-CFA143DD22E0}" destId="{532FA503-67F5-4BF8-A8B6-1FC32DA23440}" srcOrd="0" destOrd="0" presId="urn:microsoft.com/office/officeart/2016/7/layout/LinearBlockProcessNumbered"/>
    <dgm:cxn modelId="{32A1F5F8-D59D-4C24-8980-48A7C07E76A1}" srcId="{1FD8DAD4-AEE5-4DDC-9628-CFA143DD22E0}" destId="{C95B54E7-94A8-4961-8BBC-18501D8E2BCB}" srcOrd="0" destOrd="0" parTransId="{B46FDCB5-2287-495B-935E-F13F1F144849}" sibTransId="{EC96B7BA-6859-4CC2-9157-596D1541584F}"/>
    <dgm:cxn modelId="{56BC99F9-C388-4C4B-92A1-8B36A7FF1886}" type="presOf" srcId="{EC96B7BA-6859-4CC2-9157-596D1541584F}" destId="{D4808848-F277-444E-A5D5-089501535942}" srcOrd="0" destOrd="0" presId="urn:microsoft.com/office/officeart/2016/7/layout/LinearBlockProcessNumbered"/>
    <dgm:cxn modelId="{D00DDD3E-A26C-4248-8950-30ECC45DD258}" type="presParOf" srcId="{532FA503-67F5-4BF8-A8B6-1FC32DA23440}" destId="{59FF895D-45FD-4356-8738-DCE0676D53A2}" srcOrd="0" destOrd="0" presId="urn:microsoft.com/office/officeart/2016/7/layout/LinearBlockProcessNumbered"/>
    <dgm:cxn modelId="{9CFA2EC9-1342-445A-8A97-40B29DE1CB1C}" type="presParOf" srcId="{59FF895D-45FD-4356-8738-DCE0676D53A2}" destId="{104B0E72-25DF-4C57-A086-579F3CDF0ECA}" srcOrd="0" destOrd="0" presId="urn:microsoft.com/office/officeart/2016/7/layout/LinearBlockProcessNumbered"/>
    <dgm:cxn modelId="{4002A28E-0EC0-459F-BF22-7AD7DFC931B4}" type="presParOf" srcId="{59FF895D-45FD-4356-8738-DCE0676D53A2}" destId="{D4808848-F277-444E-A5D5-089501535942}" srcOrd="1" destOrd="0" presId="urn:microsoft.com/office/officeart/2016/7/layout/LinearBlockProcessNumbered"/>
    <dgm:cxn modelId="{912A8643-4975-464E-BD61-0F5A9CA4B752}" type="presParOf" srcId="{59FF895D-45FD-4356-8738-DCE0676D53A2}" destId="{2ECDFD58-E26F-4E4F-A29D-4D6B104D0C36}" srcOrd="2" destOrd="0" presId="urn:microsoft.com/office/officeart/2016/7/layout/LinearBlockProcessNumbered"/>
    <dgm:cxn modelId="{47843A53-6ED1-4AA6-A198-3BEF631F210A}" type="presParOf" srcId="{532FA503-67F5-4BF8-A8B6-1FC32DA23440}" destId="{44CDBA9B-A5BD-448C-AD49-54FB7BB340CA}" srcOrd="1" destOrd="0" presId="urn:microsoft.com/office/officeart/2016/7/layout/LinearBlockProcessNumbered"/>
    <dgm:cxn modelId="{397B532E-04BB-4591-AF16-9E5BB8114D5C}" type="presParOf" srcId="{532FA503-67F5-4BF8-A8B6-1FC32DA23440}" destId="{05ECAA60-88E9-456C-92F1-8F43D69845F8}" srcOrd="2" destOrd="0" presId="urn:microsoft.com/office/officeart/2016/7/layout/LinearBlockProcessNumbered"/>
    <dgm:cxn modelId="{24FD2012-8955-4812-86B6-2335EF9ADCE5}" type="presParOf" srcId="{05ECAA60-88E9-456C-92F1-8F43D69845F8}" destId="{0683C231-AFF1-4AD4-9CE6-8580CA910A4C}" srcOrd="0" destOrd="0" presId="urn:microsoft.com/office/officeart/2016/7/layout/LinearBlockProcessNumbered"/>
    <dgm:cxn modelId="{1DF1440A-EDC7-4F80-8DC3-0D6C8C716C86}" type="presParOf" srcId="{05ECAA60-88E9-456C-92F1-8F43D69845F8}" destId="{8D413613-33C4-408E-9E6E-ED3B2E93A050}" srcOrd="1" destOrd="0" presId="urn:microsoft.com/office/officeart/2016/7/layout/LinearBlockProcessNumbered"/>
    <dgm:cxn modelId="{89B74E2D-1ACC-4FDF-B055-E4743F0D8E3E}" type="presParOf" srcId="{05ECAA60-88E9-456C-92F1-8F43D69845F8}" destId="{5B2392BE-5E27-44B3-A78B-EBE2A2C33B08}" srcOrd="2" destOrd="0" presId="urn:microsoft.com/office/officeart/2016/7/layout/LinearBlockProcessNumbered"/>
    <dgm:cxn modelId="{FD9AA90D-FA85-46F9-9625-DBE58CDB3F76}" type="presParOf" srcId="{532FA503-67F5-4BF8-A8B6-1FC32DA23440}" destId="{378DE3B3-8420-4EB5-B62A-FF8B62C193D7}" srcOrd="3" destOrd="0" presId="urn:microsoft.com/office/officeart/2016/7/layout/LinearBlockProcessNumbered"/>
    <dgm:cxn modelId="{D252EA71-BACB-4B82-8DB2-3AE99376343B}" type="presParOf" srcId="{532FA503-67F5-4BF8-A8B6-1FC32DA23440}" destId="{8F8586A2-80F0-4C74-AE96-FDE2B2A28207}" srcOrd="4" destOrd="0" presId="urn:microsoft.com/office/officeart/2016/7/layout/LinearBlockProcessNumbered"/>
    <dgm:cxn modelId="{9BAA9E56-BF6E-44B4-AB2C-1C3591F63876}" type="presParOf" srcId="{8F8586A2-80F0-4C74-AE96-FDE2B2A28207}" destId="{3091271F-D89B-4F28-9DB1-AACAD008A253}" srcOrd="0" destOrd="0" presId="urn:microsoft.com/office/officeart/2016/7/layout/LinearBlockProcessNumbered"/>
    <dgm:cxn modelId="{9D5151F4-2976-485B-8AE7-3FBDF01CD2E7}" type="presParOf" srcId="{8F8586A2-80F0-4C74-AE96-FDE2B2A28207}" destId="{6C1DC366-8E11-4FEF-AA50-349DC1AC696F}" srcOrd="1" destOrd="0" presId="urn:microsoft.com/office/officeart/2016/7/layout/LinearBlockProcessNumbered"/>
    <dgm:cxn modelId="{F906E3CE-051C-4190-BE84-3B11149B5486}" type="presParOf" srcId="{8F8586A2-80F0-4C74-AE96-FDE2B2A28207}" destId="{BC761042-B128-40FA-979D-0655D6BFB00A}" srcOrd="2" destOrd="0" presId="urn:microsoft.com/office/officeart/2016/7/layout/LinearBlockProcessNumbered"/>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8903B021-DB64-43B0-9903-36028E4A7CE5}"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E3DEB4E5-C539-4359-835E-11A44C4EA69A}">
      <dgm:prSet/>
      <dgm:spPr/>
      <dgm:t>
        <a:bodyPr/>
        <a:lstStyle/>
        <a:p>
          <a:r>
            <a:rPr lang="pl-PL"/>
            <a:t>W klasycznych projektach IT głównymi artefaktami są kod źródłowy i dokumentacja systemu. W projektach Data Science lista rezultatów jest znacznie szersza, ponieważ produkt analityczny powstaje etapami i wymaga różnych form zapisu wiedzy.</a:t>
          </a:r>
          <a:endParaRPr lang="en-US"/>
        </a:p>
      </dgm:t>
    </dgm:pt>
    <dgm:pt modelId="{328D6CBA-652B-49C7-884C-62EE16F69F67}" type="parTrans" cxnId="{1AF15F23-72BB-45E4-A8F9-CBCE1EAB5254}">
      <dgm:prSet/>
      <dgm:spPr/>
      <dgm:t>
        <a:bodyPr/>
        <a:lstStyle/>
        <a:p>
          <a:endParaRPr lang="en-US"/>
        </a:p>
      </dgm:t>
    </dgm:pt>
    <dgm:pt modelId="{DDFE7438-903C-46D4-8019-13914BE67281}" type="sibTrans" cxnId="{1AF15F23-72BB-45E4-A8F9-CBCE1EAB5254}">
      <dgm:prSet/>
      <dgm:spPr/>
      <dgm:t>
        <a:bodyPr/>
        <a:lstStyle/>
        <a:p>
          <a:endParaRPr lang="en-US"/>
        </a:p>
      </dgm:t>
    </dgm:pt>
    <dgm:pt modelId="{B959D791-50C7-4D71-8965-ACCF277B9C37}">
      <dgm:prSet/>
      <dgm:spPr/>
      <dgm:t>
        <a:bodyPr/>
        <a:lstStyle/>
        <a:p>
          <a:r>
            <a:rPr lang="pl-PL"/>
            <a:t>Jednym z pierwszych artefaktów są notebooki analityczne, które służą do eksperymentów i testowania hipotez. Zawierają kod, wyniki analiz oraz komentarze pozwalające śledzić tok myślenia analityka. Kolejnym elementem są pipeline danych, czyli procesy automatycznie pobierające i przygotowujące dane.</a:t>
          </a:r>
          <a:endParaRPr lang="en-US"/>
        </a:p>
      </dgm:t>
    </dgm:pt>
    <dgm:pt modelId="{1EA4A31C-544B-45DC-864D-EA90333B7881}" type="parTrans" cxnId="{02FDE6C2-578E-4DCA-8C69-A60E97F0CFC5}">
      <dgm:prSet/>
      <dgm:spPr/>
      <dgm:t>
        <a:bodyPr/>
        <a:lstStyle/>
        <a:p>
          <a:endParaRPr lang="en-US"/>
        </a:p>
      </dgm:t>
    </dgm:pt>
    <dgm:pt modelId="{5481DF98-8276-45C1-8DCC-C0EA058D6B5A}" type="sibTrans" cxnId="{02FDE6C2-578E-4DCA-8C69-A60E97F0CFC5}">
      <dgm:prSet/>
      <dgm:spPr/>
      <dgm:t>
        <a:bodyPr/>
        <a:lstStyle/>
        <a:p>
          <a:endParaRPr lang="en-US"/>
        </a:p>
      </dgm:t>
    </dgm:pt>
    <dgm:pt modelId="{D541EE1C-4F9A-4DDC-9C7A-9D96D86BDBF0}">
      <dgm:prSet/>
      <dgm:spPr/>
      <dgm:t>
        <a:bodyPr/>
        <a:lstStyle/>
        <a:p>
          <a:r>
            <a:rPr lang="pl-PL"/>
            <a:t>Następnie powstają modele predykcyjne zapisane w repozytoriach wraz z wersjonowaniem parametrów. Bardzo ważnym artefaktem są również raporty biznesowe, które tłumaczą wyniki analizy osobom nietechnicznym. W późniejszej fazie pojawiają się dashboardy monitorujące skuteczność modelu po wdrożeniu.</a:t>
          </a:r>
          <a:endParaRPr lang="en-US"/>
        </a:p>
      </dgm:t>
    </dgm:pt>
    <dgm:pt modelId="{9C06B300-7CB5-49FC-A997-6340A47E3851}" type="parTrans" cxnId="{E57BB77D-3B94-46A0-A2F9-BE53A94DF500}">
      <dgm:prSet/>
      <dgm:spPr/>
      <dgm:t>
        <a:bodyPr/>
        <a:lstStyle/>
        <a:p>
          <a:endParaRPr lang="en-US"/>
        </a:p>
      </dgm:t>
    </dgm:pt>
    <dgm:pt modelId="{21B2FA76-424C-40AF-810A-9CE33E364979}" type="sibTrans" cxnId="{E57BB77D-3B94-46A0-A2F9-BE53A94DF500}">
      <dgm:prSet/>
      <dgm:spPr/>
      <dgm:t>
        <a:bodyPr/>
        <a:lstStyle/>
        <a:p>
          <a:endParaRPr lang="en-US"/>
        </a:p>
      </dgm:t>
    </dgm:pt>
    <dgm:pt modelId="{35609CF8-5AED-43B4-9EAA-591F7DFF5213}" type="pres">
      <dgm:prSet presAssocID="{8903B021-DB64-43B0-9903-36028E4A7CE5}" presName="root" presStyleCnt="0">
        <dgm:presLayoutVars>
          <dgm:dir/>
          <dgm:resizeHandles val="exact"/>
        </dgm:presLayoutVars>
      </dgm:prSet>
      <dgm:spPr/>
    </dgm:pt>
    <dgm:pt modelId="{437D2F14-B19C-4A12-A370-E321B18D3D93}" type="pres">
      <dgm:prSet presAssocID="{E3DEB4E5-C539-4359-835E-11A44C4EA69A}" presName="compNode" presStyleCnt="0"/>
      <dgm:spPr/>
    </dgm:pt>
    <dgm:pt modelId="{29A6B063-8C6C-4F74-BD8B-F4ED0CFD8F96}" type="pres">
      <dgm:prSet presAssocID="{E3DEB4E5-C539-4359-835E-11A44C4EA69A}" presName="bgRect" presStyleLbl="bgShp" presStyleIdx="0" presStyleCnt="3"/>
      <dgm:spPr/>
    </dgm:pt>
    <dgm:pt modelId="{EE7708A8-4CC6-4DF5-B16B-727A2DA6B198}" type="pres">
      <dgm:prSet presAssocID="{E3DEB4E5-C539-4359-835E-11A44C4EA69A}"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Schemat blokowy"/>
        </a:ext>
      </dgm:extLst>
    </dgm:pt>
    <dgm:pt modelId="{D6403390-B4F6-42A2-B27F-709F73BFCCDF}" type="pres">
      <dgm:prSet presAssocID="{E3DEB4E5-C539-4359-835E-11A44C4EA69A}" presName="spaceRect" presStyleCnt="0"/>
      <dgm:spPr/>
    </dgm:pt>
    <dgm:pt modelId="{1D87F1E6-6B2D-4475-A429-CEC90143FC78}" type="pres">
      <dgm:prSet presAssocID="{E3DEB4E5-C539-4359-835E-11A44C4EA69A}" presName="parTx" presStyleLbl="revTx" presStyleIdx="0" presStyleCnt="3">
        <dgm:presLayoutVars>
          <dgm:chMax val="0"/>
          <dgm:chPref val="0"/>
        </dgm:presLayoutVars>
      </dgm:prSet>
      <dgm:spPr/>
    </dgm:pt>
    <dgm:pt modelId="{24F37616-04F0-437A-A00E-0FAEFC0E21FE}" type="pres">
      <dgm:prSet presAssocID="{DDFE7438-903C-46D4-8019-13914BE67281}" presName="sibTrans" presStyleCnt="0"/>
      <dgm:spPr/>
    </dgm:pt>
    <dgm:pt modelId="{9FE948DA-DB67-4895-B697-BBADE3802352}" type="pres">
      <dgm:prSet presAssocID="{B959D791-50C7-4D71-8965-ACCF277B9C37}" presName="compNode" presStyleCnt="0"/>
      <dgm:spPr/>
    </dgm:pt>
    <dgm:pt modelId="{9C81A517-8341-4786-8E02-A2081E69737D}" type="pres">
      <dgm:prSet presAssocID="{B959D791-50C7-4D71-8965-ACCF277B9C37}" presName="bgRect" presStyleLbl="bgShp" presStyleIdx="1" presStyleCnt="3"/>
      <dgm:spPr/>
    </dgm:pt>
    <dgm:pt modelId="{2B569197-E825-40EE-8563-1C53562F7EB2}" type="pres">
      <dgm:prSet presAssocID="{B959D791-50C7-4D71-8965-ACCF277B9C37}"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adanie"/>
        </a:ext>
      </dgm:extLst>
    </dgm:pt>
    <dgm:pt modelId="{8A6A99DD-69BA-49A0-8DA5-3B0495013360}" type="pres">
      <dgm:prSet presAssocID="{B959D791-50C7-4D71-8965-ACCF277B9C37}" presName="spaceRect" presStyleCnt="0"/>
      <dgm:spPr/>
    </dgm:pt>
    <dgm:pt modelId="{8EB28667-4FC1-42F4-BFCE-397235EB8B45}" type="pres">
      <dgm:prSet presAssocID="{B959D791-50C7-4D71-8965-ACCF277B9C37}" presName="parTx" presStyleLbl="revTx" presStyleIdx="1" presStyleCnt="3">
        <dgm:presLayoutVars>
          <dgm:chMax val="0"/>
          <dgm:chPref val="0"/>
        </dgm:presLayoutVars>
      </dgm:prSet>
      <dgm:spPr/>
    </dgm:pt>
    <dgm:pt modelId="{884153D4-11F0-4618-8FD6-19E04D8CEFC5}" type="pres">
      <dgm:prSet presAssocID="{5481DF98-8276-45C1-8DCC-C0EA058D6B5A}" presName="sibTrans" presStyleCnt="0"/>
      <dgm:spPr/>
    </dgm:pt>
    <dgm:pt modelId="{B9FBB9D1-EA69-4690-B122-D41C407B254E}" type="pres">
      <dgm:prSet presAssocID="{D541EE1C-4F9A-4DDC-9C7A-9D96D86BDBF0}" presName="compNode" presStyleCnt="0"/>
      <dgm:spPr/>
    </dgm:pt>
    <dgm:pt modelId="{DD7FC880-0BFF-4756-9D94-1813AAA1AC09}" type="pres">
      <dgm:prSet presAssocID="{D541EE1C-4F9A-4DDC-9C7A-9D96D86BDBF0}" presName="bgRect" presStyleLbl="bgShp" presStyleIdx="2" presStyleCnt="3"/>
      <dgm:spPr/>
    </dgm:pt>
    <dgm:pt modelId="{FC3C94AC-CD0D-42D7-9B88-13A66AC197CB}" type="pres">
      <dgm:prSet presAssocID="{D541EE1C-4F9A-4DDC-9C7A-9D96D86BDBF0}"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Statystyki"/>
        </a:ext>
      </dgm:extLst>
    </dgm:pt>
    <dgm:pt modelId="{A5163346-6A7D-404E-B194-8E85CF2F2055}" type="pres">
      <dgm:prSet presAssocID="{D541EE1C-4F9A-4DDC-9C7A-9D96D86BDBF0}" presName="spaceRect" presStyleCnt="0"/>
      <dgm:spPr/>
    </dgm:pt>
    <dgm:pt modelId="{7379D1FC-6E81-483B-834C-3BBF95A5A289}" type="pres">
      <dgm:prSet presAssocID="{D541EE1C-4F9A-4DDC-9C7A-9D96D86BDBF0}" presName="parTx" presStyleLbl="revTx" presStyleIdx="2" presStyleCnt="3">
        <dgm:presLayoutVars>
          <dgm:chMax val="0"/>
          <dgm:chPref val="0"/>
        </dgm:presLayoutVars>
      </dgm:prSet>
      <dgm:spPr/>
    </dgm:pt>
  </dgm:ptLst>
  <dgm:cxnLst>
    <dgm:cxn modelId="{1AF15F23-72BB-45E4-A8F9-CBCE1EAB5254}" srcId="{8903B021-DB64-43B0-9903-36028E4A7CE5}" destId="{E3DEB4E5-C539-4359-835E-11A44C4EA69A}" srcOrd="0" destOrd="0" parTransId="{328D6CBA-652B-49C7-884C-62EE16F69F67}" sibTransId="{DDFE7438-903C-46D4-8019-13914BE67281}"/>
    <dgm:cxn modelId="{D807F63A-0586-40E9-A946-827E0F3CF3A0}" type="presOf" srcId="{E3DEB4E5-C539-4359-835E-11A44C4EA69A}" destId="{1D87F1E6-6B2D-4475-A429-CEC90143FC78}" srcOrd="0" destOrd="0" presId="urn:microsoft.com/office/officeart/2018/2/layout/IconVerticalSolidList"/>
    <dgm:cxn modelId="{E57BB77D-3B94-46A0-A2F9-BE53A94DF500}" srcId="{8903B021-DB64-43B0-9903-36028E4A7CE5}" destId="{D541EE1C-4F9A-4DDC-9C7A-9D96D86BDBF0}" srcOrd="2" destOrd="0" parTransId="{9C06B300-7CB5-49FC-A997-6340A47E3851}" sibTransId="{21B2FA76-424C-40AF-810A-9CE33E364979}"/>
    <dgm:cxn modelId="{220C45AD-625C-4C8C-9C93-D1C6FC41E550}" type="presOf" srcId="{B959D791-50C7-4D71-8965-ACCF277B9C37}" destId="{8EB28667-4FC1-42F4-BFCE-397235EB8B45}" srcOrd="0" destOrd="0" presId="urn:microsoft.com/office/officeart/2018/2/layout/IconVerticalSolidList"/>
    <dgm:cxn modelId="{473E75B4-2FF2-4596-BFDE-BFF644C71F25}" type="presOf" srcId="{8903B021-DB64-43B0-9903-36028E4A7CE5}" destId="{35609CF8-5AED-43B4-9EAA-591F7DFF5213}" srcOrd="0" destOrd="0" presId="urn:microsoft.com/office/officeart/2018/2/layout/IconVerticalSolidList"/>
    <dgm:cxn modelId="{02FDE6C2-578E-4DCA-8C69-A60E97F0CFC5}" srcId="{8903B021-DB64-43B0-9903-36028E4A7CE5}" destId="{B959D791-50C7-4D71-8965-ACCF277B9C37}" srcOrd="1" destOrd="0" parTransId="{1EA4A31C-544B-45DC-864D-EA90333B7881}" sibTransId="{5481DF98-8276-45C1-8DCC-C0EA058D6B5A}"/>
    <dgm:cxn modelId="{C928A3FB-16BE-43C4-B3A2-35B65B4292F9}" type="presOf" srcId="{D541EE1C-4F9A-4DDC-9C7A-9D96D86BDBF0}" destId="{7379D1FC-6E81-483B-834C-3BBF95A5A289}" srcOrd="0" destOrd="0" presId="urn:microsoft.com/office/officeart/2018/2/layout/IconVerticalSolidList"/>
    <dgm:cxn modelId="{724CD65E-A0B1-4D3A-BB8E-5D99D480A2DE}" type="presParOf" srcId="{35609CF8-5AED-43B4-9EAA-591F7DFF5213}" destId="{437D2F14-B19C-4A12-A370-E321B18D3D93}" srcOrd="0" destOrd="0" presId="urn:microsoft.com/office/officeart/2018/2/layout/IconVerticalSolidList"/>
    <dgm:cxn modelId="{1BDC48F3-9857-46FD-882E-EF6B22E6A87E}" type="presParOf" srcId="{437D2F14-B19C-4A12-A370-E321B18D3D93}" destId="{29A6B063-8C6C-4F74-BD8B-F4ED0CFD8F96}" srcOrd="0" destOrd="0" presId="urn:microsoft.com/office/officeart/2018/2/layout/IconVerticalSolidList"/>
    <dgm:cxn modelId="{7CE6FFAC-56F2-41BB-AAD2-175268D10A42}" type="presParOf" srcId="{437D2F14-B19C-4A12-A370-E321B18D3D93}" destId="{EE7708A8-4CC6-4DF5-B16B-727A2DA6B198}" srcOrd="1" destOrd="0" presId="urn:microsoft.com/office/officeart/2018/2/layout/IconVerticalSolidList"/>
    <dgm:cxn modelId="{EE2C03D2-C0C2-4C16-93F4-7BB27461B34A}" type="presParOf" srcId="{437D2F14-B19C-4A12-A370-E321B18D3D93}" destId="{D6403390-B4F6-42A2-B27F-709F73BFCCDF}" srcOrd="2" destOrd="0" presId="urn:microsoft.com/office/officeart/2018/2/layout/IconVerticalSolidList"/>
    <dgm:cxn modelId="{E73A4895-C362-4726-8FED-48ABF5922929}" type="presParOf" srcId="{437D2F14-B19C-4A12-A370-E321B18D3D93}" destId="{1D87F1E6-6B2D-4475-A429-CEC90143FC78}" srcOrd="3" destOrd="0" presId="urn:microsoft.com/office/officeart/2018/2/layout/IconVerticalSolidList"/>
    <dgm:cxn modelId="{FD8B70F1-F019-40FC-BD94-72C368F4C87E}" type="presParOf" srcId="{35609CF8-5AED-43B4-9EAA-591F7DFF5213}" destId="{24F37616-04F0-437A-A00E-0FAEFC0E21FE}" srcOrd="1" destOrd="0" presId="urn:microsoft.com/office/officeart/2018/2/layout/IconVerticalSolidList"/>
    <dgm:cxn modelId="{EE94FA8E-1E11-4622-82B4-F1E35185EE9A}" type="presParOf" srcId="{35609CF8-5AED-43B4-9EAA-591F7DFF5213}" destId="{9FE948DA-DB67-4895-B697-BBADE3802352}" srcOrd="2" destOrd="0" presId="urn:microsoft.com/office/officeart/2018/2/layout/IconVerticalSolidList"/>
    <dgm:cxn modelId="{31954009-5CED-439B-8AFB-CC047553F8AF}" type="presParOf" srcId="{9FE948DA-DB67-4895-B697-BBADE3802352}" destId="{9C81A517-8341-4786-8E02-A2081E69737D}" srcOrd="0" destOrd="0" presId="urn:microsoft.com/office/officeart/2018/2/layout/IconVerticalSolidList"/>
    <dgm:cxn modelId="{252577B6-4BB1-4EA8-BF20-D3289E8E0B98}" type="presParOf" srcId="{9FE948DA-DB67-4895-B697-BBADE3802352}" destId="{2B569197-E825-40EE-8563-1C53562F7EB2}" srcOrd="1" destOrd="0" presId="urn:microsoft.com/office/officeart/2018/2/layout/IconVerticalSolidList"/>
    <dgm:cxn modelId="{D2AE131B-985C-4EC2-A49F-749173EEDB4B}" type="presParOf" srcId="{9FE948DA-DB67-4895-B697-BBADE3802352}" destId="{8A6A99DD-69BA-49A0-8DA5-3B0495013360}" srcOrd="2" destOrd="0" presId="urn:microsoft.com/office/officeart/2018/2/layout/IconVerticalSolidList"/>
    <dgm:cxn modelId="{4791AF3E-9ABD-413F-863F-7FCD2BC4F3D8}" type="presParOf" srcId="{9FE948DA-DB67-4895-B697-BBADE3802352}" destId="{8EB28667-4FC1-42F4-BFCE-397235EB8B45}" srcOrd="3" destOrd="0" presId="urn:microsoft.com/office/officeart/2018/2/layout/IconVerticalSolidList"/>
    <dgm:cxn modelId="{828FDACA-AA7A-4F76-848C-044ED4C486E4}" type="presParOf" srcId="{35609CF8-5AED-43B4-9EAA-591F7DFF5213}" destId="{884153D4-11F0-4618-8FD6-19E04D8CEFC5}" srcOrd="3" destOrd="0" presId="urn:microsoft.com/office/officeart/2018/2/layout/IconVerticalSolidList"/>
    <dgm:cxn modelId="{CF89DC86-2AD0-477A-B2B1-97AE6ABC28F2}" type="presParOf" srcId="{35609CF8-5AED-43B4-9EAA-591F7DFF5213}" destId="{B9FBB9D1-EA69-4690-B122-D41C407B254E}" srcOrd="4" destOrd="0" presId="urn:microsoft.com/office/officeart/2018/2/layout/IconVerticalSolidList"/>
    <dgm:cxn modelId="{4F1D62EE-B400-49EF-9D2A-0492EED4A21F}" type="presParOf" srcId="{B9FBB9D1-EA69-4690-B122-D41C407B254E}" destId="{DD7FC880-0BFF-4756-9D94-1813AAA1AC09}" srcOrd="0" destOrd="0" presId="urn:microsoft.com/office/officeart/2018/2/layout/IconVerticalSolidList"/>
    <dgm:cxn modelId="{99A1D049-302E-4856-8182-98C8D1380E4D}" type="presParOf" srcId="{B9FBB9D1-EA69-4690-B122-D41C407B254E}" destId="{FC3C94AC-CD0D-42D7-9B88-13A66AC197CB}" srcOrd="1" destOrd="0" presId="urn:microsoft.com/office/officeart/2018/2/layout/IconVerticalSolidList"/>
    <dgm:cxn modelId="{9E89F27E-24E3-48EE-AA4F-6BF200442C30}" type="presParOf" srcId="{B9FBB9D1-EA69-4690-B122-D41C407B254E}" destId="{A5163346-6A7D-404E-B194-8E85CF2F2055}" srcOrd="2" destOrd="0" presId="urn:microsoft.com/office/officeart/2018/2/layout/IconVerticalSolidList"/>
    <dgm:cxn modelId="{BB2D1D09-86BD-487B-9A40-CBADAFC9E557}" type="presParOf" srcId="{B9FBB9D1-EA69-4690-B122-D41C407B254E}" destId="{7379D1FC-6E81-483B-834C-3BBF95A5A289}"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2EEE0C47-E968-48F4-9698-AB87B7DAD40F}"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37E14409-20A4-4216-AC0F-9055320A7A28}">
      <dgm:prSet/>
      <dgm:spPr/>
      <dgm:t>
        <a:bodyPr/>
        <a:lstStyle/>
        <a:p>
          <a:r>
            <a:rPr lang="pl-PL"/>
            <a:t>Iteracyjność wpływa na jakość poprzez:</a:t>
          </a:r>
          <a:endParaRPr lang="en-US"/>
        </a:p>
      </dgm:t>
    </dgm:pt>
    <dgm:pt modelId="{5EBEFF21-1B9B-49B3-B4AA-EBB0C725D059}" type="parTrans" cxnId="{8D87207A-6083-42D7-A758-73F96EEEAE1F}">
      <dgm:prSet/>
      <dgm:spPr/>
      <dgm:t>
        <a:bodyPr/>
        <a:lstStyle/>
        <a:p>
          <a:endParaRPr lang="en-US"/>
        </a:p>
      </dgm:t>
    </dgm:pt>
    <dgm:pt modelId="{6DE6339C-6BAC-474B-815E-7537647797CB}" type="sibTrans" cxnId="{8D87207A-6083-42D7-A758-73F96EEEAE1F}">
      <dgm:prSet/>
      <dgm:spPr/>
      <dgm:t>
        <a:bodyPr/>
        <a:lstStyle/>
        <a:p>
          <a:endParaRPr lang="en-US"/>
        </a:p>
      </dgm:t>
    </dgm:pt>
    <dgm:pt modelId="{ACEB50BE-0F92-49DA-BAD0-3E09DC4C942F}">
      <dgm:prSet/>
      <dgm:spPr/>
      <dgm:t>
        <a:bodyPr/>
        <a:lstStyle/>
        <a:p>
          <a:r>
            <a:rPr lang="pl-PL"/>
            <a:t>poprawę danych, </a:t>
          </a:r>
          <a:endParaRPr lang="en-US"/>
        </a:p>
      </dgm:t>
    </dgm:pt>
    <dgm:pt modelId="{58C00157-7EC9-4891-B3BD-614E5FE9FF34}" type="parTrans" cxnId="{FF2F83D6-C689-4625-9BFA-0059BE77B004}">
      <dgm:prSet/>
      <dgm:spPr/>
      <dgm:t>
        <a:bodyPr/>
        <a:lstStyle/>
        <a:p>
          <a:endParaRPr lang="en-US"/>
        </a:p>
      </dgm:t>
    </dgm:pt>
    <dgm:pt modelId="{C18FFFCF-F4B1-40C2-AC08-DCE070DE60FD}" type="sibTrans" cxnId="{FF2F83D6-C689-4625-9BFA-0059BE77B004}">
      <dgm:prSet/>
      <dgm:spPr/>
      <dgm:t>
        <a:bodyPr/>
        <a:lstStyle/>
        <a:p>
          <a:endParaRPr lang="en-US"/>
        </a:p>
      </dgm:t>
    </dgm:pt>
    <dgm:pt modelId="{9AC6131C-57CF-4DAC-AA5B-E329C7D00808}">
      <dgm:prSet/>
      <dgm:spPr/>
      <dgm:t>
        <a:bodyPr/>
        <a:lstStyle/>
        <a:p>
          <a:r>
            <a:rPr lang="pl-PL"/>
            <a:t>zmianę cech wejściowych, </a:t>
          </a:r>
          <a:endParaRPr lang="en-US"/>
        </a:p>
      </dgm:t>
    </dgm:pt>
    <dgm:pt modelId="{7E2A067C-88BE-4E54-B261-32FE05D2CB66}" type="parTrans" cxnId="{3F0E7007-28BA-432C-A097-903374A2FB93}">
      <dgm:prSet/>
      <dgm:spPr/>
      <dgm:t>
        <a:bodyPr/>
        <a:lstStyle/>
        <a:p>
          <a:endParaRPr lang="en-US"/>
        </a:p>
      </dgm:t>
    </dgm:pt>
    <dgm:pt modelId="{1795606E-2FAB-49C2-9392-BA28BD6B84A3}" type="sibTrans" cxnId="{3F0E7007-28BA-432C-A097-903374A2FB93}">
      <dgm:prSet/>
      <dgm:spPr/>
      <dgm:t>
        <a:bodyPr/>
        <a:lstStyle/>
        <a:p>
          <a:endParaRPr lang="en-US"/>
        </a:p>
      </dgm:t>
    </dgm:pt>
    <dgm:pt modelId="{FC8C5743-E0A5-44A7-B75E-D53B18A9694A}">
      <dgm:prSet/>
      <dgm:spPr/>
      <dgm:t>
        <a:bodyPr/>
        <a:lstStyle/>
        <a:p>
          <a:r>
            <a:rPr lang="pl-PL"/>
            <a:t>tuning parametrów, </a:t>
          </a:r>
          <a:endParaRPr lang="en-US"/>
        </a:p>
      </dgm:t>
    </dgm:pt>
    <dgm:pt modelId="{57195EA7-9CD8-4466-A4B7-F8E8E0C783F2}" type="parTrans" cxnId="{54721C0E-0F53-4414-A94E-4D5993C7C7DA}">
      <dgm:prSet/>
      <dgm:spPr/>
      <dgm:t>
        <a:bodyPr/>
        <a:lstStyle/>
        <a:p>
          <a:endParaRPr lang="en-US"/>
        </a:p>
      </dgm:t>
    </dgm:pt>
    <dgm:pt modelId="{51E1A11A-F48F-45C9-83BC-A02436E05A95}" type="sibTrans" cxnId="{54721C0E-0F53-4414-A94E-4D5993C7C7DA}">
      <dgm:prSet/>
      <dgm:spPr/>
      <dgm:t>
        <a:bodyPr/>
        <a:lstStyle/>
        <a:p>
          <a:endParaRPr lang="en-US"/>
        </a:p>
      </dgm:t>
    </dgm:pt>
    <dgm:pt modelId="{6C9E798F-C614-4B33-B06E-94899CB49249}">
      <dgm:prSet/>
      <dgm:spPr/>
      <dgm:t>
        <a:bodyPr/>
        <a:lstStyle/>
        <a:p>
          <a:r>
            <a:rPr lang="pl-PL"/>
            <a:t>zmianę algorytmu, </a:t>
          </a:r>
          <a:endParaRPr lang="en-US"/>
        </a:p>
      </dgm:t>
    </dgm:pt>
    <dgm:pt modelId="{F79D4FB7-3939-450A-B06F-E57645BE1673}" type="parTrans" cxnId="{52752236-22EC-498D-B4C7-6E1829A771E8}">
      <dgm:prSet/>
      <dgm:spPr/>
      <dgm:t>
        <a:bodyPr/>
        <a:lstStyle/>
        <a:p>
          <a:endParaRPr lang="en-US"/>
        </a:p>
      </dgm:t>
    </dgm:pt>
    <dgm:pt modelId="{4CAE31E7-3293-4EB4-BFCA-EEAE050D894C}" type="sibTrans" cxnId="{52752236-22EC-498D-B4C7-6E1829A771E8}">
      <dgm:prSet/>
      <dgm:spPr/>
      <dgm:t>
        <a:bodyPr/>
        <a:lstStyle/>
        <a:p>
          <a:endParaRPr lang="en-US"/>
        </a:p>
      </dgm:t>
    </dgm:pt>
    <dgm:pt modelId="{5F694615-43C8-4305-A504-6BD5768A9A97}">
      <dgm:prSet/>
      <dgm:spPr/>
      <dgm:t>
        <a:bodyPr/>
        <a:lstStyle/>
        <a:p>
          <a:r>
            <a:rPr lang="pl-PL"/>
            <a:t>lepsze dopasowanie do potrzeb użytkownika.</a:t>
          </a:r>
          <a:endParaRPr lang="en-US"/>
        </a:p>
      </dgm:t>
    </dgm:pt>
    <dgm:pt modelId="{20F2AC28-AD74-42FF-866E-6B2232226DA2}" type="parTrans" cxnId="{60C89070-B76C-4B7D-AB24-0AC1D4B1BB9D}">
      <dgm:prSet/>
      <dgm:spPr/>
      <dgm:t>
        <a:bodyPr/>
        <a:lstStyle/>
        <a:p>
          <a:endParaRPr lang="en-US"/>
        </a:p>
      </dgm:t>
    </dgm:pt>
    <dgm:pt modelId="{38CF93F3-D110-479E-9A5E-440DC3322C59}" type="sibTrans" cxnId="{60C89070-B76C-4B7D-AB24-0AC1D4B1BB9D}">
      <dgm:prSet/>
      <dgm:spPr/>
      <dgm:t>
        <a:bodyPr/>
        <a:lstStyle/>
        <a:p>
          <a:endParaRPr lang="en-US"/>
        </a:p>
      </dgm:t>
    </dgm:pt>
    <dgm:pt modelId="{E98CA64F-71EC-47CA-8CD7-6325FE259979}" type="pres">
      <dgm:prSet presAssocID="{2EEE0C47-E968-48F4-9698-AB87B7DAD40F}" presName="linear" presStyleCnt="0">
        <dgm:presLayoutVars>
          <dgm:animLvl val="lvl"/>
          <dgm:resizeHandles val="exact"/>
        </dgm:presLayoutVars>
      </dgm:prSet>
      <dgm:spPr/>
    </dgm:pt>
    <dgm:pt modelId="{23130904-F0F3-4C99-8C54-1D2C1C5E375A}" type="pres">
      <dgm:prSet presAssocID="{37E14409-20A4-4216-AC0F-9055320A7A28}" presName="parentText" presStyleLbl="node1" presStyleIdx="0" presStyleCnt="6">
        <dgm:presLayoutVars>
          <dgm:chMax val="0"/>
          <dgm:bulletEnabled val="1"/>
        </dgm:presLayoutVars>
      </dgm:prSet>
      <dgm:spPr/>
    </dgm:pt>
    <dgm:pt modelId="{A2782CF6-8C13-434B-B261-12B16E8F2E19}" type="pres">
      <dgm:prSet presAssocID="{6DE6339C-6BAC-474B-815E-7537647797CB}" presName="spacer" presStyleCnt="0"/>
      <dgm:spPr/>
    </dgm:pt>
    <dgm:pt modelId="{1B63237D-FF3C-439E-AA17-D2E5FBA5A0D5}" type="pres">
      <dgm:prSet presAssocID="{ACEB50BE-0F92-49DA-BAD0-3E09DC4C942F}" presName="parentText" presStyleLbl="node1" presStyleIdx="1" presStyleCnt="6">
        <dgm:presLayoutVars>
          <dgm:chMax val="0"/>
          <dgm:bulletEnabled val="1"/>
        </dgm:presLayoutVars>
      </dgm:prSet>
      <dgm:spPr/>
    </dgm:pt>
    <dgm:pt modelId="{369E7292-91A0-4028-BB49-DC98A0A52FD5}" type="pres">
      <dgm:prSet presAssocID="{C18FFFCF-F4B1-40C2-AC08-DCE070DE60FD}" presName="spacer" presStyleCnt="0"/>
      <dgm:spPr/>
    </dgm:pt>
    <dgm:pt modelId="{D4332252-0222-4E51-8648-E15B620230AF}" type="pres">
      <dgm:prSet presAssocID="{9AC6131C-57CF-4DAC-AA5B-E329C7D00808}" presName="parentText" presStyleLbl="node1" presStyleIdx="2" presStyleCnt="6">
        <dgm:presLayoutVars>
          <dgm:chMax val="0"/>
          <dgm:bulletEnabled val="1"/>
        </dgm:presLayoutVars>
      </dgm:prSet>
      <dgm:spPr/>
    </dgm:pt>
    <dgm:pt modelId="{0EA97883-E266-4174-B568-6FE086239804}" type="pres">
      <dgm:prSet presAssocID="{1795606E-2FAB-49C2-9392-BA28BD6B84A3}" presName="spacer" presStyleCnt="0"/>
      <dgm:spPr/>
    </dgm:pt>
    <dgm:pt modelId="{ED9D0EC7-B8C1-4E4D-9429-AEA840B2923B}" type="pres">
      <dgm:prSet presAssocID="{FC8C5743-E0A5-44A7-B75E-D53B18A9694A}" presName="parentText" presStyleLbl="node1" presStyleIdx="3" presStyleCnt="6">
        <dgm:presLayoutVars>
          <dgm:chMax val="0"/>
          <dgm:bulletEnabled val="1"/>
        </dgm:presLayoutVars>
      </dgm:prSet>
      <dgm:spPr/>
    </dgm:pt>
    <dgm:pt modelId="{A1AA7ED3-2D56-4EBC-8BCF-D1AA9BB9B6FC}" type="pres">
      <dgm:prSet presAssocID="{51E1A11A-F48F-45C9-83BC-A02436E05A95}" presName="spacer" presStyleCnt="0"/>
      <dgm:spPr/>
    </dgm:pt>
    <dgm:pt modelId="{E6F033FE-F1EC-4B24-BC49-45F8413A8566}" type="pres">
      <dgm:prSet presAssocID="{6C9E798F-C614-4B33-B06E-94899CB49249}" presName="parentText" presStyleLbl="node1" presStyleIdx="4" presStyleCnt="6">
        <dgm:presLayoutVars>
          <dgm:chMax val="0"/>
          <dgm:bulletEnabled val="1"/>
        </dgm:presLayoutVars>
      </dgm:prSet>
      <dgm:spPr/>
    </dgm:pt>
    <dgm:pt modelId="{A3C4A12F-6D5D-40BE-9315-3B486C255947}" type="pres">
      <dgm:prSet presAssocID="{4CAE31E7-3293-4EB4-BFCA-EEAE050D894C}" presName="spacer" presStyleCnt="0"/>
      <dgm:spPr/>
    </dgm:pt>
    <dgm:pt modelId="{4F32E1F7-F7D3-4DCF-8F74-8A9C7EE78294}" type="pres">
      <dgm:prSet presAssocID="{5F694615-43C8-4305-A504-6BD5768A9A97}" presName="parentText" presStyleLbl="node1" presStyleIdx="5" presStyleCnt="6">
        <dgm:presLayoutVars>
          <dgm:chMax val="0"/>
          <dgm:bulletEnabled val="1"/>
        </dgm:presLayoutVars>
      </dgm:prSet>
      <dgm:spPr/>
    </dgm:pt>
  </dgm:ptLst>
  <dgm:cxnLst>
    <dgm:cxn modelId="{3F0E7007-28BA-432C-A097-903374A2FB93}" srcId="{2EEE0C47-E968-48F4-9698-AB87B7DAD40F}" destId="{9AC6131C-57CF-4DAC-AA5B-E329C7D00808}" srcOrd="2" destOrd="0" parTransId="{7E2A067C-88BE-4E54-B261-32FE05D2CB66}" sibTransId="{1795606E-2FAB-49C2-9392-BA28BD6B84A3}"/>
    <dgm:cxn modelId="{54721C0E-0F53-4414-A94E-4D5993C7C7DA}" srcId="{2EEE0C47-E968-48F4-9698-AB87B7DAD40F}" destId="{FC8C5743-E0A5-44A7-B75E-D53B18A9694A}" srcOrd="3" destOrd="0" parTransId="{57195EA7-9CD8-4466-A4B7-F8E8E0C783F2}" sibTransId="{51E1A11A-F48F-45C9-83BC-A02436E05A95}"/>
    <dgm:cxn modelId="{1152202E-CC01-4EFE-BE57-DEAC08E88A24}" type="presOf" srcId="{37E14409-20A4-4216-AC0F-9055320A7A28}" destId="{23130904-F0F3-4C99-8C54-1D2C1C5E375A}" srcOrd="0" destOrd="0" presId="urn:microsoft.com/office/officeart/2005/8/layout/vList2"/>
    <dgm:cxn modelId="{52752236-22EC-498D-B4C7-6E1829A771E8}" srcId="{2EEE0C47-E968-48F4-9698-AB87B7DAD40F}" destId="{6C9E798F-C614-4B33-B06E-94899CB49249}" srcOrd="4" destOrd="0" parTransId="{F79D4FB7-3939-450A-B06F-E57645BE1673}" sibTransId="{4CAE31E7-3293-4EB4-BFCA-EEAE050D894C}"/>
    <dgm:cxn modelId="{1B294C5D-E848-457D-A0AA-3C2E54FDB36F}" type="presOf" srcId="{5F694615-43C8-4305-A504-6BD5768A9A97}" destId="{4F32E1F7-F7D3-4DCF-8F74-8A9C7EE78294}" srcOrd="0" destOrd="0" presId="urn:microsoft.com/office/officeart/2005/8/layout/vList2"/>
    <dgm:cxn modelId="{60C89070-B76C-4B7D-AB24-0AC1D4B1BB9D}" srcId="{2EEE0C47-E968-48F4-9698-AB87B7DAD40F}" destId="{5F694615-43C8-4305-A504-6BD5768A9A97}" srcOrd="5" destOrd="0" parTransId="{20F2AC28-AD74-42FF-866E-6B2232226DA2}" sibTransId="{38CF93F3-D110-479E-9A5E-440DC3322C59}"/>
    <dgm:cxn modelId="{64B74579-96F5-4E82-B9F8-6552357DBDB2}" type="presOf" srcId="{FC8C5743-E0A5-44A7-B75E-D53B18A9694A}" destId="{ED9D0EC7-B8C1-4E4D-9429-AEA840B2923B}" srcOrd="0" destOrd="0" presId="urn:microsoft.com/office/officeart/2005/8/layout/vList2"/>
    <dgm:cxn modelId="{8D87207A-6083-42D7-A758-73F96EEEAE1F}" srcId="{2EEE0C47-E968-48F4-9698-AB87B7DAD40F}" destId="{37E14409-20A4-4216-AC0F-9055320A7A28}" srcOrd="0" destOrd="0" parTransId="{5EBEFF21-1B9B-49B3-B4AA-EBB0C725D059}" sibTransId="{6DE6339C-6BAC-474B-815E-7537647797CB}"/>
    <dgm:cxn modelId="{EA4B5EB4-C4F8-43EF-BE65-645039CAB5C1}" type="presOf" srcId="{9AC6131C-57CF-4DAC-AA5B-E329C7D00808}" destId="{D4332252-0222-4E51-8648-E15B620230AF}" srcOrd="0" destOrd="0" presId="urn:microsoft.com/office/officeart/2005/8/layout/vList2"/>
    <dgm:cxn modelId="{9D41EDB7-068F-4C78-ACCF-B58DBCA90ED8}" type="presOf" srcId="{ACEB50BE-0F92-49DA-BAD0-3E09DC4C942F}" destId="{1B63237D-FF3C-439E-AA17-D2E5FBA5A0D5}" srcOrd="0" destOrd="0" presId="urn:microsoft.com/office/officeart/2005/8/layout/vList2"/>
    <dgm:cxn modelId="{FF2F83D6-C689-4625-9BFA-0059BE77B004}" srcId="{2EEE0C47-E968-48F4-9698-AB87B7DAD40F}" destId="{ACEB50BE-0F92-49DA-BAD0-3E09DC4C942F}" srcOrd="1" destOrd="0" parTransId="{58C00157-7EC9-4891-B3BD-614E5FE9FF34}" sibTransId="{C18FFFCF-F4B1-40C2-AC08-DCE070DE60FD}"/>
    <dgm:cxn modelId="{6B6B21EB-F773-45E6-9161-933E7DF955D7}" type="presOf" srcId="{6C9E798F-C614-4B33-B06E-94899CB49249}" destId="{E6F033FE-F1EC-4B24-BC49-45F8413A8566}" srcOrd="0" destOrd="0" presId="urn:microsoft.com/office/officeart/2005/8/layout/vList2"/>
    <dgm:cxn modelId="{BCC3D3F5-A3A6-4E25-BEE0-4FA50032252E}" type="presOf" srcId="{2EEE0C47-E968-48F4-9698-AB87B7DAD40F}" destId="{E98CA64F-71EC-47CA-8CD7-6325FE259979}" srcOrd="0" destOrd="0" presId="urn:microsoft.com/office/officeart/2005/8/layout/vList2"/>
    <dgm:cxn modelId="{593BD854-0D1E-4EC3-BC17-13CFB7DEE2A4}" type="presParOf" srcId="{E98CA64F-71EC-47CA-8CD7-6325FE259979}" destId="{23130904-F0F3-4C99-8C54-1D2C1C5E375A}" srcOrd="0" destOrd="0" presId="urn:microsoft.com/office/officeart/2005/8/layout/vList2"/>
    <dgm:cxn modelId="{35BCC73E-A3F6-48B9-B27D-BF07DFB649EE}" type="presParOf" srcId="{E98CA64F-71EC-47CA-8CD7-6325FE259979}" destId="{A2782CF6-8C13-434B-B261-12B16E8F2E19}" srcOrd="1" destOrd="0" presId="urn:microsoft.com/office/officeart/2005/8/layout/vList2"/>
    <dgm:cxn modelId="{47CE9543-8C26-476C-81C7-3838E6E63118}" type="presParOf" srcId="{E98CA64F-71EC-47CA-8CD7-6325FE259979}" destId="{1B63237D-FF3C-439E-AA17-D2E5FBA5A0D5}" srcOrd="2" destOrd="0" presId="urn:microsoft.com/office/officeart/2005/8/layout/vList2"/>
    <dgm:cxn modelId="{8972E9F1-5E1D-4841-9F60-9985DD2CA0F3}" type="presParOf" srcId="{E98CA64F-71EC-47CA-8CD7-6325FE259979}" destId="{369E7292-91A0-4028-BB49-DC98A0A52FD5}" srcOrd="3" destOrd="0" presId="urn:microsoft.com/office/officeart/2005/8/layout/vList2"/>
    <dgm:cxn modelId="{9FC02623-A4BE-4700-B9E1-948CBA378CF2}" type="presParOf" srcId="{E98CA64F-71EC-47CA-8CD7-6325FE259979}" destId="{D4332252-0222-4E51-8648-E15B620230AF}" srcOrd="4" destOrd="0" presId="urn:microsoft.com/office/officeart/2005/8/layout/vList2"/>
    <dgm:cxn modelId="{819F6894-CCFF-422B-80A0-CE15BD53E592}" type="presParOf" srcId="{E98CA64F-71EC-47CA-8CD7-6325FE259979}" destId="{0EA97883-E266-4174-B568-6FE086239804}" srcOrd="5" destOrd="0" presId="urn:microsoft.com/office/officeart/2005/8/layout/vList2"/>
    <dgm:cxn modelId="{4C6FD87D-8A7A-49BE-ADB5-36137DA2A5F3}" type="presParOf" srcId="{E98CA64F-71EC-47CA-8CD7-6325FE259979}" destId="{ED9D0EC7-B8C1-4E4D-9429-AEA840B2923B}" srcOrd="6" destOrd="0" presId="urn:microsoft.com/office/officeart/2005/8/layout/vList2"/>
    <dgm:cxn modelId="{0C843EC7-C558-47CE-A0F2-EDFB3156A55E}" type="presParOf" srcId="{E98CA64F-71EC-47CA-8CD7-6325FE259979}" destId="{A1AA7ED3-2D56-4EBC-8BCF-D1AA9BB9B6FC}" srcOrd="7" destOrd="0" presId="urn:microsoft.com/office/officeart/2005/8/layout/vList2"/>
    <dgm:cxn modelId="{1404C963-F684-41BC-9615-CFDE4262F68E}" type="presParOf" srcId="{E98CA64F-71EC-47CA-8CD7-6325FE259979}" destId="{E6F033FE-F1EC-4B24-BC49-45F8413A8566}" srcOrd="8" destOrd="0" presId="urn:microsoft.com/office/officeart/2005/8/layout/vList2"/>
    <dgm:cxn modelId="{8FFE8EA6-AEDB-4255-A96C-B8EF81B2A6D8}" type="presParOf" srcId="{E98CA64F-71EC-47CA-8CD7-6325FE259979}" destId="{A3C4A12F-6D5D-40BE-9315-3B486C255947}" srcOrd="9" destOrd="0" presId="urn:microsoft.com/office/officeart/2005/8/layout/vList2"/>
    <dgm:cxn modelId="{D2BF7A68-2F3E-48BE-A69A-7B974914148B}" type="presParOf" srcId="{E98CA64F-71EC-47CA-8CD7-6325FE259979}" destId="{4F32E1F7-F7D3-4DCF-8F74-8A9C7EE78294}" srcOrd="1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B969CCDD-D52A-4555-BE5E-CC84FD6C2056}" type="doc">
      <dgm:prSet loTypeId="urn:microsoft.com/office/officeart/2016/7/layout/BasicLinearProcessNumbered" loCatId="process" qsTypeId="urn:microsoft.com/office/officeart/2005/8/quickstyle/simple1" qsCatId="simple" csTypeId="urn:microsoft.com/office/officeart/2005/8/colors/colorful1" csCatId="colorful"/>
      <dgm:spPr/>
      <dgm:t>
        <a:bodyPr/>
        <a:lstStyle/>
        <a:p>
          <a:endParaRPr lang="en-US"/>
        </a:p>
      </dgm:t>
    </dgm:pt>
    <dgm:pt modelId="{02EC2A2B-2B7F-451D-9C37-AE2080B13D79}">
      <dgm:prSet/>
      <dgm:spPr/>
      <dgm:t>
        <a:bodyPr/>
        <a:lstStyle/>
        <a:p>
          <a:r>
            <a:rPr lang="pl-PL"/>
            <a:t>SEMMA opisuje pracę analityka, </a:t>
          </a:r>
          <a:endParaRPr lang="en-US"/>
        </a:p>
      </dgm:t>
    </dgm:pt>
    <dgm:pt modelId="{8936DA9E-6B36-4103-B26A-CFC437317ABD}" type="parTrans" cxnId="{E6C831D1-B2A7-4672-9EEE-9183693E89D3}">
      <dgm:prSet/>
      <dgm:spPr/>
      <dgm:t>
        <a:bodyPr/>
        <a:lstStyle/>
        <a:p>
          <a:endParaRPr lang="en-US"/>
        </a:p>
      </dgm:t>
    </dgm:pt>
    <dgm:pt modelId="{4FBCB484-9B11-4137-90BC-9893B582C8A0}" type="sibTrans" cxnId="{E6C831D1-B2A7-4672-9EEE-9183693E89D3}">
      <dgm:prSet phldrT="1" phldr="0"/>
      <dgm:spPr/>
      <dgm:t>
        <a:bodyPr/>
        <a:lstStyle/>
        <a:p>
          <a:r>
            <a:rPr lang="en-US"/>
            <a:t>1</a:t>
          </a:r>
        </a:p>
      </dgm:t>
    </dgm:pt>
    <dgm:pt modelId="{FF9EB45E-7B88-4C2F-A43F-77CD8FF59805}">
      <dgm:prSet/>
      <dgm:spPr/>
      <dgm:t>
        <a:bodyPr/>
        <a:lstStyle/>
        <a:p>
          <a:r>
            <a:rPr lang="pl-PL"/>
            <a:t>CRISP-DM opisuje pracę całego projektu. </a:t>
          </a:r>
          <a:endParaRPr lang="en-US"/>
        </a:p>
      </dgm:t>
    </dgm:pt>
    <dgm:pt modelId="{82FC378E-1CA0-4E22-A887-0666A986F458}" type="parTrans" cxnId="{C5970A21-FE3E-401B-9368-2020DAE88AC7}">
      <dgm:prSet/>
      <dgm:spPr/>
      <dgm:t>
        <a:bodyPr/>
        <a:lstStyle/>
        <a:p>
          <a:endParaRPr lang="en-US"/>
        </a:p>
      </dgm:t>
    </dgm:pt>
    <dgm:pt modelId="{57AF9053-7077-4582-90E3-B46770B97976}" type="sibTrans" cxnId="{C5970A21-FE3E-401B-9368-2020DAE88AC7}">
      <dgm:prSet phldrT="2" phldr="0"/>
      <dgm:spPr/>
      <dgm:t>
        <a:bodyPr/>
        <a:lstStyle/>
        <a:p>
          <a:r>
            <a:rPr lang="en-US"/>
            <a:t>2</a:t>
          </a:r>
        </a:p>
      </dgm:t>
    </dgm:pt>
    <dgm:pt modelId="{4A4CEA49-7ACE-41B2-B42B-BDC84D3C8FBF}">
      <dgm:prSet/>
      <dgm:spPr/>
      <dgm:t>
        <a:bodyPr/>
        <a:lstStyle/>
        <a:p>
          <a:r>
            <a:rPr lang="pl-PL"/>
            <a:t>W praktyce SEMMA jest bardziej techniczne, a CRISP-DM bardziej organizacyjne.</a:t>
          </a:r>
          <a:endParaRPr lang="en-US"/>
        </a:p>
      </dgm:t>
    </dgm:pt>
    <dgm:pt modelId="{5C130C8C-4198-4B0E-9A6E-5082BBBEDD5B}" type="parTrans" cxnId="{0B6E9866-1C0F-43DC-B9E9-983429F42AA6}">
      <dgm:prSet/>
      <dgm:spPr/>
      <dgm:t>
        <a:bodyPr/>
        <a:lstStyle/>
        <a:p>
          <a:endParaRPr lang="en-US"/>
        </a:p>
      </dgm:t>
    </dgm:pt>
    <dgm:pt modelId="{DAE685D5-5749-4ED5-9AF9-19E257A4B544}" type="sibTrans" cxnId="{0B6E9866-1C0F-43DC-B9E9-983429F42AA6}">
      <dgm:prSet phldrT="3" phldr="0"/>
      <dgm:spPr/>
      <dgm:t>
        <a:bodyPr/>
        <a:lstStyle/>
        <a:p>
          <a:r>
            <a:rPr lang="en-US"/>
            <a:t>3</a:t>
          </a:r>
        </a:p>
      </dgm:t>
    </dgm:pt>
    <dgm:pt modelId="{3E7D66E3-C46D-414E-8DF9-4C6A710E86D1}" type="pres">
      <dgm:prSet presAssocID="{B969CCDD-D52A-4555-BE5E-CC84FD6C2056}" presName="Name0" presStyleCnt="0">
        <dgm:presLayoutVars>
          <dgm:animLvl val="lvl"/>
          <dgm:resizeHandles val="exact"/>
        </dgm:presLayoutVars>
      </dgm:prSet>
      <dgm:spPr/>
    </dgm:pt>
    <dgm:pt modelId="{1BA65819-89C7-4F0E-8F05-1CAB3912A058}" type="pres">
      <dgm:prSet presAssocID="{02EC2A2B-2B7F-451D-9C37-AE2080B13D79}" presName="compositeNode" presStyleCnt="0">
        <dgm:presLayoutVars>
          <dgm:bulletEnabled val="1"/>
        </dgm:presLayoutVars>
      </dgm:prSet>
      <dgm:spPr/>
    </dgm:pt>
    <dgm:pt modelId="{FEBB8043-3214-4719-A4D1-268CEE05BE7A}" type="pres">
      <dgm:prSet presAssocID="{02EC2A2B-2B7F-451D-9C37-AE2080B13D79}" presName="bgRect" presStyleLbl="bgAccFollowNode1" presStyleIdx="0" presStyleCnt="3"/>
      <dgm:spPr/>
    </dgm:pt>
    <dgm:pt modelId="{5EBDCF50-B8B5-4210-AD58-0E118731BDD3}" type="pres">
      <dgm:prSet presAssocID="{4FBCB484-9B11-4137-90BC-9893B582C8A0}" presName="sibTransNodeCircle" presStyleLbl="alignNode1" presStyleIdx="0" presStyleCnt="6">
        <dgm:presLayoutVars>
          <dgm:chMax val="0"/>
          <dgm:bulletEnabled/>
        </dgm:presLayoutVars>
      </dgm:prSet>
      <dgm:spPr/>
    </dgm:pt>
    <dgm:pt modelId="{D468D6FB-7985-421D-8A69-7863A2AEA811}" type="pres">
      <dgm:prSet presAssocID="{02EC2A2B-2B7F-451D-9C37-AE2080B13D79}" presName="bottomLine" presStyleLbl="alignNode1" presStyleIdx="1" presStyleCnt="6">
        <dgm:presLayoutVars/>
      </dgm:prSet>
      <dgm:spPr/>
    </dgm:pt>
    <dgm:pt modelId="{84C3EFAA-9017-434A-BB21-D22B17082DCB}" type="pres">
      <dgm:prSet presAssocID="{02EC2A2B-2B7F-451D-9C37-AE2080B13D79}" presName="nodeText" presStyleLbl="bgAccFollowNode1" presStyleIdx="0" presStyleCnt="3">
        <dgm:presLayoutVars>
          <dgm:bulletEnabled val="1"/>
        </dgm:presLayoutVars>
      </dgm:prSet>
      <dgm:spPr/>
    </dgm:pt>
    <dgm:pt modelId="{43ED62C4-24F2-499B-A9DC-4740151926A7}" type="pres">
      <dgm:prSet presAssocID="{4FBCB484-9B11-4137-90BC-9893B582C8A0}" presName="sibTrans" presStyleCnt="0"/>
      <dgm:spPr/>
    </dgm:pt>
    <dgm:pt modelId="{B1B22952-03E1-4BE3-A390-9A64385F7826}" type="pres">
      <dgm:prSet presAssocID="{FF9EB45E-7B88-4C2F-A43F-77CD8FF59805}" presName="compositeNode" presStyleCnt="0">
        <dgm:presLayoutVars>
          <dgm:bulletEnabled val="1"/>
        </dgm:presLayoutVars>
      </dgm:prSet>
      <dgm:spPr/>
    </dgm:pt>
    <dgm:pt modelId="{2341990B-29B9-4577-8BA2-AE39E5B290BB}" type="pres">
      <dgm:prSet presAssocID="{FF9EB45E-7B88-4C2F-A43F-77CD8FF59805}" presName="bgRect" presStyleLbl="bgAccFollowNode1" presStyleIdx="1" presStyleCnt="3"/>
      <dgm:spPr/>
    </dgm:pt>
    <dgm:pt modelId="{F43AE1BA-2156-4A6B-AA81-323BFAE4D7B3}" type="pres">
      <dgm:prSet presAssocID="{57AF9053-7077-4582-90E3-B46770B97976}" presName="sibTransNodeCircle" presStyleLbl="alignNode1" presStyleIdx="2" presStyleCnt="6">
        <dgm:presLayoutVars>
          <dgm:chMax val="0"/>
          <dgm:bulletEnabled/>
        </dgm:presLayoutVars>
      </dgm:prSet>
      <dgm:spPr/>
    </dgm:pt>
    <dgm:pt modelId="{F131B1C7-B8F1-4DBB-98DB-E88E716D369E}" type="pres">
      <dgm:prSet presAssocID="{FF9EB45E-7B88-4C2F-A43F-77CD8FF59805}" presName="bottomLine" presStyleLbl="alignNode1" presStyleIdx="3" presStyleCnt="6">
        <dgm:presLayoutVars/>
      </dgm:prSet>
      <dgm:spPr/>
    </dgm:pt>
    <dgm:pt modelId="{EA3671AC-F6AB-4BB9-8C22-99ED43E8E4A6}" type="pres">
      <dgm:prSet presAssocID="{FF9EB45E-7B88-4C2F-A43F-77CD8FF59805}" presName="nodeText" presStyleLbl="bgAccFollowNode1" presStyleIdx="1" presStyleCnt="3">
        <dgm:presLayoutVars>
          <dgm:bulletEnabled val="1"/>
        </dgm:presLayoutVars>
      </dgm:prSet>
      <dgm:spPr/>
    </dgm:pt>
    <dgm:pt modelId="{968465B6-223E-47D4-9375-B01A620BF30A}" type="pres">
      <dgm:prSet presAssocID="{57AF9053-7077-4582-90E3-B46770B97976}" presName="sibTrans" presStyleCnt="0"/>
      <dgm:spPr/>
    </dgm:pt>
    <dgm:pt modelId="{6A0A3F0C-BAAE-473B-AB7E-933161ADA39E}" type="pres">
      <dgm:prSet presAssocID="{4A4CEA49-7ACE-41B2-B42B-BDC84D3C8FBF}" presName="compositeNode" presStyleCnt="0">
        <dgm:presLayoutVars>
          <dgm:bulletEnabled val="1"/>
        </dgm:presLayoutVars>
      </dgm:prSet>
      <dgm:spPr/>
    </dgm:pt>
    <dgm:pt modelId="{424B2A7D-A981-436C-9716-988F2D9D5DCE}" type="pres">
      <dgm:prSet presAssocID="{4A4CEA49-7ACE-41B2-B42B-BDC84D3C8FBF}" presName="bgRect" presStyleLbl="bgAccFollowNode1" presStyleIdx="2" presStyleCnt="3"/>
      <dgm:spPr/>
    </dgm:pt>
    <dgm:pt modelId="{49BDA500-FDB8-4DF5-9EA5-822E4A32F120}" type="pres">
      <dgm:prSet presAssocID="{DAE685D5-5749-4ED5-9AF9-19E257A4B544}" presName="sibTransNodeCircle" presStyleLbl="alignNode1" presStyleIdx="4" presStyleCnt="6">
        <dgm:presLayoutVars>
          <dgm:chMax val="0"/>
          <dgm:bulletEnabled/>
        </dgm:presLayoutVars>
      </dgm:prSet>
      <dgm:spPr/>
    </dgm:pt>
    <dgm:pt modelId="{2A8D6BD2-FDD5-4D28-A73B-34846020B2A0}" type="pres">
      <dgm:prSet presAssocID="{4A4CEA49-7ACE-41B2-B42B-BDC84D3C8FBF}" presName="bottomLine" presStyleLbl="alignNode1" presStyleIdx="5" presStyleCnt="6">
        <dgm:presLayoutVars/>
      </dgm:prSet>
      <dgm:spPr/>
    </dgm:pt>
    <dgm:pt modelId="{AAF72B9C-1154-47B0-B037-22F23BE30C94}" type="pres">
      <dgm:prSet presAssocID="{4A4CEA49-7ACE-41B2-B42B-BDC84D3C8FBF}" presName="nodeText" presStyleLbl="bgAccFollowNode1" presStyleIdx="2" presStyleCnt="3">
        <dgm:presLayoutVars>
          <dgm:bulletEnabled val="1"/>
        </dgm:presLayoutVars>
      </dgm:prSet>
      <dgm:spPr/>
    </dgm:pt>
  </dgm:ptLst>
  <dgm:cxnLst>
    <dgm:cxn modelId="{E159FA10-B7A6-4D0B-ACBD-8216C2924F7B}" type="presOf" srcId="{FF9EB45E-7B88-4C2F-A43F-77CD8FF59805}" destId="{2341990B-29B9-4577-8BA2-AE39E5B290BB}" srcOrd="0" destOrd="0" presId="urn:microsoft.com/office/officeart/2016/7/layout/BasicLinearProcessNumbered"/>
    <dgm:cxn modelId="{CD04EC16-F30D-4536-96BA-318D9CBE87B3}" type="presOf" srcId="{4A4CEA49-7ACE-41B2-B42B-BDC84D3C8FBF}" destId="{424B2A7D-A981-436C-9716-988F2D9D5DCE}" srcOrd="0" destOrd="0" presId="urn:microsoft.com/office/officeart/2016/7/layout/BasicLinearProcessNumbered"/>
    <dgm:cxn modelId="{C5970A21-FE3E-401B-9368-2020DAE88AC7}" srcId="{B969CCDD-D52A-4555-BE5E-CC84FD6C2056}" destId="{FF9EB45E-7B88-4C2F-A43F-77CD8FF59805}" srcOrd="1" destOrd="0" parTransId="{82FC378E-1CA0-4E22-A887-0666A986F458}" sibTransId="{57AF9053-7077-4582-90E3-B46770B97976}"/>
    <dgm:cxn modelId="{8FD24D24-32A0-4B07-B94A-8CA15DE082C9}" type="presOf" srcId="{DAE685D5-5749-4ED5-9AF9-19E257A4B544}" destId="{49BDA500-FDB8-4DF5-9EA5-822E4A32F120}" srcOrd="0" destOrd="0" presId="urn:microsoft.com/office/officeart/2016/7/layout/BasicLinearProcessNumbered"/>
    <dgm:cxn modelId="{022B892C-51F0-4BD4-B61B-142D09DFEDA4}" type="presOf" srcId="{4FBCB484-9B11-4137-90BC-9893B582C8A0}" destId="{5EBDCF50-B8B5-4210-AD58-0E118731BDD3}" srcOrd="0" destOrd="0" presId="urn:microsoft.com/office/officeart/2016/7/layout/BasicLinearProcessNumbered"/>
    <dgm:cxn modelId="{1EF5393E-8D4D-44FC-A7EF-A4636E99117B}" type="presOf" srcId="{B969CCDD-D52A-4555-BE5E-CC84FD6C2056}" destId="{3E7D66E3-C46D-414E-8DF9-4C6A710E86D1}" srcOrd="0" destOrd="0" presId="urn:microsoft.com/office/officeart/2016/7/layout/BasicLinearProcessNumbered"/>
    <dgm:cxn modelId="{0B6E9866-1C0F-43DC-B9E9-983429F42AA6}" srcId="{B969CCDD-D52A-4555-BE5E-CC84FD6C2056}" destId="{4A4CEA49-7ACE-41B2-B42B-BDC84D3C8FBF}" srcOrd="2" destOrd="0" parTransId="{5C130C8C-4198-4B0E-9A6E-5082BBBEDD5B}" sibTransId="{DAE685D5-5749-4ED5-9AF9-19E257A4B544}"/>
    <dgm:cxn modelId="{E96E5C6E-E834-4022-B101-BF6FF571A265}" type="presOf" srcId="{02EC2A2B-2B7F-451D-9C37-AE2080B13D79}" destId="{FEBB8043-3214-4719-A4D1-268CEE05BE7A}" srcOrd="0" destOrd="0" presId="urn:microsoft.com/office/officeart/2016/7/layout/BasicLinearProcessNumbered"/>
    <dgm:cxn modelId="{4E0E2172-7714-43DC-8CA6-85BA34BD4B22}" type="presOf" srcId="{57AF9053-7077-4582-90E3-B46770B97976}" destId="{F43AE1BA-2156-4A6B-AA81-323BFAE4D7B3}" srcOrd="0" destOrd="0" presId="urn:microsoft.com/office/officeart/2016/7/layout/BasicLinearProcessNumbered"/>
    <dgm:cxn modelId="{A6272087-069B-42A2-85C2-0F110DCBF6F6}" type="presOf" srcId="{02EC2A2B-2B7F-451D-9C37-AE2080B13D79}" destId="{84C3EFAA-9017-434A-BB21-D22B17082DCB}" srcOrd="1" destOrd="0" presId="urn:microsoft.com/office/officeart/2016/7/layout/BasicLinearProcessNumbered"/>
    <dgm:cxn modelId="{A2C4B4B3-3582-4623-BC83-CF64593DC4FD}" type="presOf" srcId="{4A4CEA49-7ACE-41B2-B42B-BDC84D3C8FBF}" destId="{AAF72B9C-1154-47B0-B037-22F23BE30C94}" srcOrd="1" destOrd="0" presId="urn:microsoft.com/office/officeart/2016/7/layout/BasicLinearProcessNumbered"/>
    <dgm:cxn modelId="{80DD47BF-070E-4332-A722-9743CA9566A2}" type="presOf" srcId="{FF9EB45E-7B88-4C2F-A43F-77CD8FF59805}" destId="{EA3671AC-F6AB-4BB9-8C22-99ED43E8E4A6}" srcOrd="1" destOrd="0" presId="urn:microsoft.com/office/officeart/2016/7/layout/BasicLinearProcessNumbered"/>
    <dgm:cxn modelId="{E6C831D1-B2A7-4672-9EEE-9183693E89D3}" srcId="{B969CCDD-D52A-4555-BE5E-CC84FD6C2056}" destId="{02EC2A2B-2B7F-451D-9C37-AE2080B13D79}" srcOrd="0" destOrd="0" parTransId="{8936DA9E-6B36-4103-B26A-CFC437317ABD}" sibTransId="{4FBCB484-9B11-4137-90BC-9893B582C8A0}"/>
    <dgm:cxn modelId="{2C0275CE-754F-40AB-995D-D4E92C2AF739}" type="presParOf" srcId="{3E7D66E3-C46D-414E-8DF9-4C6A710E86D1}" destId="{1BA65819-89C7-4F0E-8F05-1CAB3912A058}" srcOrd="0" destOrd="0" presId="urn:microsoft.com/office/officeart/2016/7/layout/BasicLinearProcessNumbered"/>
    <dgm:cxn modelId="{A7888237-9A37-41CD-8299-91079A1360D7}" type="presParOf" srcId="{1BA65819-89C7-4F0E-8F05-1CAB3912A058}" destId="{FEBB8043-3214-4719-A4D1-268CEE05BE7A}" srcOrd="0" destOrd="0" presId="urn:microsoft.com/office/officeart/2016/7/layout/BasicLinearProcessNumbered"/>
    <dgm:cxn modelId="{88DF528B-0651-44A5-AE10-88490A769F01}" type="presParOf" srcId="{1BA65819-89C7-4F0E-8F05-1CAB3912A058}" destId="{5EBDCF50-B8B5-4210-AD58-0E118731BDD3}" srcOrd="1" destOrd="0" presId="urn:microsoft.com/office/officeart/2016/7/layout/BasicLinearProcessNumbered"/>
    <dgm:cxn modelId="{8B43AA90-B986-43AF-8969-33BC23C8FB35}" type="presParOf" srcId="{1BA65819-89C7-4F0E-8F05-1CAB3912A058}" destId="{D468D6FB-7985-421D-8A69-7863A2AEA811}" srcOrd="2" destOrd="0" presId="urn:microsoft.com/office/officeart/2016/7/layout/BasicLinearProcessNumbered"/>
    <dgm:cxn modelId="{29FE3222-E1B3-49E7-A68B-509B98A25FA5}" type="presParOf" srcId="{1BA65819-89C7-4F0E-8F05-1CAB3912A058}" destId="{84C3EFAA-9017-434A-BB21-D22B17082DCB}" srcOrd="3" destOrd="0" presId="urn:microsoft.com/office/officeart/2016/7/layout/BasicLinearProcessNumbered"/>
    <dgm:cxn modelId="{F12F8194-4C99-4BA7-AB0A-FA492644AF18}" type="presParOf" srcId="{3E7D66E3-C46D-414E-8DF9-4C6A710E86D1}" destId="{43ED62C4-24F2-499B-A9DC-4740151926A7}" srcOrd="1" destOrd="0" presId="urn:microsoft.com/office/officeart/2016/7/layout/BasicLinearProcessNumbered"/>
    <dgm:cxn modelId="{87BC1E67-5598-482C-9785-DC017AAC6977}" type="presParOf" srcId="{3E7D66E3-C46D-414E-8DF9-4C6A710E86D1}" destId="{B1B22952-03E1-4BE3-A390-9A64385F7826}" srcOrd="2" destOrd="0" presId="urn:microsoft.com/office/officeart/2016/7/layout/BasicLinearProcessNumbered"/>
    <dgm:cxn modelId="{A9FC9CF5-93EA-4B5A-9AB0-14B9B8ADE8D5}" type="presParOf" srcId="{B1B22952-03E1-4BE3-A390-9A64385F7826}" destId="{2341990B-29B9-4577-8BA2-AE39E5B290BB}" srcOrd="0" destOrd="0" presId="urn:microsoft.com/office/officeart/2016/7/layout/BasicLinearProcessNumbered"/>
    <dgm:cxn modelId="{CFAD0562-0A9E-4D52-9E0B-D2F1314A4C57}" type="presParOf" srcId="{B1B22952-03E1-4BE3-A390-9A64385F7826}" destId="{F43AE1BA-2156-4A6B-AA81-323BFAE4D7B3}" srcOrd="1" destOrd="0" presId="urn:microsoft.com/office/officeart/2016/7/layout/BasicLinearProcessNumbered"/>
    <dgm:cxn modelId="{E4A5D23A-4FC1-413E-87E1-D9D3CC672D97}" type="presParOf" srcId="{B1B22952-03E1-4BE3-A390-9A64385F7826}" destId="{F131B1C7-B8F1-4DBB-98DB-E88E716D369E}" srcOrd="2" destOrd="0" presId="urn:microsoft.com/office/officeart/2016/7/layout/BasicLinearProcessNumbered"/>
    <dgm:cxn modelId="{A29AD230-F3A9-4C4A-9A62-616E7B377D47}" type="presParOf" srcId="{B1B22952-03E1-4BE3-A390-9A64385F7826}" destId="{EA3671AC-F6AB-4BB9-8C22-99ED43E8E4A6}" srcOrd="3" destOrd="0" presId="urn:microsoft.com/office/officeart/2016/7/layout/BasicLinearProcessNumbered"/>
    <dgm:cxn modelId="{9C5281BE-0C33-4377-B359-4CD905DD5BE0}" type="presParOf" srcId="{3E7D66E3-C46D-414E-8DF9-4C6A710E86D1}" destId="{968465B6-223E-47D4-9375-B01A620BF30A}" srcOrd="3" destOrd="0" presId="urn:microsoft.com/office/officeart/2016/7/layout/BasicLinearProcessNumbered"/>
    <dgm:cxn modelId="{906B7974-D023-4FFF-A993-BDF22E31FC84}" type="presParOf" srcId="{3E7D66E3-C46D-414E-8DF9-4C6A710E86D1}" destId="{6A0A3F0C-BAAE-473B-AB7E-933161ADA39E}" srcOrd="4" destOrd="0" presId="urn:microsoft.com/office/officeart/2016/7/layout/BasicLinearProcessNumbered"/>
    <dgm:cxn modelId="{B81EA658-8EDE-4F79-B783-17335A0AC26A}" type="presParOf" srcId="{6A0A3F0C-BAAE-473B-AB7E-933161ADA39E}" destId="{424B2A7D-A981-436C-9716-988F2D9D5DCE}" srcOrd="0" destOrd="0" presId="urn:microsoft.com/office/officeart/2016/7/layout/BasicLinearProcessNumbered"/>
    <dgm:cxn modelId="{BE882CA6-0ED4-4F6F-9949-5095C0FF7C79}" type="presParOf" srcId="{6A0A3F0C-BAAE-473B-AB7E-933161ADA39E}" destId="{49BDA500-FDB8-4DF5-9EA5-822E4A32F120}" srcOrd="1" destOrd="0" presId="urn:microsoft.com/office/officeart/2016/7/layout/BasicLinearProcessNumbered"/>
    <dgm:cxn modelId="{56E42EB1-D3D6-4330-869A-3E093DC4D0D0}" type="presParOf" srcId="{6A0A3F0C-BAAE-473B-AB7E-933161ADA39E}" destId="{2A8D6BD2-FDD5-4D28-A73B-34846020B2A0}" srcOrd="2" destOrd="0" presId="urn:microsoft.com/office/officeart/2016/7/layout/BasicLinearProcessNumbered"/>
    <dgm:cxn modelId="{6070E3A5-50FA-438D-97EC-16B24562EF4A}" type="presParOf" srcId="{6A0A3F0C-BAAE-473B-AB7E-933161ADA39E}" destId="{AAF72B9C-1154-47B0-B037-22F23BE30C94}" srcOrd="3" destOrd="0" presId="urn:microsoft.com/office/officeart/2016/7/layout/BasicLinearProcessNumbered"/>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13612B37-15A7-4959-B625-C700D4C00A11}" type="doc">
      <dgm:prSet loTypeId="urn:microsoft.com/office/officeart/2005/8/layout/hierarchy1" loCatId="hierarchy" qsTypeId="urn:microsoft.com/office/officeart/2005/8/quickstyle/simple1" qsCatId="simple" csTypeId="urn:microsoft.com/office/officeart/2005/8/colors/colorful2" csCatId="colorful"/>
      <dgm:spPr/>
      <dgm:t>
        <a:bodyPr/>
        <a:lstStyle/>
        <a:p>
          <a:endParaRPr lang="en-US"/>
        </a:p>
      </dgm:t>
    </dgm:pt>
    <dgm:pt modelId="{A873A9D7-D7BB-4FAC-9B06-3518723B5488}">
      <dgm:prSet/>
      <dgm:spPr/>
      <dgm:t>
        <a:bodyPr/>
        <a:lstStyle/>
        <a:p>
          <a:r>
            <a:rPr lang="pl-PL"/>
            <a:t>Różnorodność modeli takich jak CRISP-DM, SEMMA, TDSP, Domino czy OSEMN pokazuje, że projekty Data Science są złożone i nie da się opisać ich jednym uniwersalnym schematem.</a:t>
          </a:r>
          <a:endParaRPr lang="en-US"/>
        </a:p>
      </dgm:t>
    </dgm:pt>
    <dgm:pt modelId="{26203D50-81A7-41EA-9692-813D4F6B7FDD}" type="parTrans" cxnId="{12ED8344-50E5-4711-ACE0-3A798AE1D659}">
      <dgm:prSet/>
      <dgm:spPr/>
      <dgm:t>
        <a:bodyPr/>
        <a:lstStyle/>
        <a:p>
          <a:endParaRPr lang="en-US"/>
        </a:p>
      </dgm:t>
    </dgm:pt>
    <dgm:pt modelId="{F566E5F7-7D37-46BB-918E-25136BD5A7C4}" type="sibTrans" cxnId="{12ED8344-50E5-4711-ACE0-3A798AE1D659}">
      <dgm:prSet/>
      <dgm:spPr/>
      <dgm:t>
        <a:bodyPr/>
        <a:lstStyle/>
        <a:p>
          <a:endParaRPr lang="en-US"/>
        </a:p>
      </dgm:t>
    </dgm:pt>
    <dgm:pt modelId="{5F48EEB9-CFCD-47F7-8563-B3B65E96AEF4}">
      <dgm:prSet/>
      <dgm:spPr/>
      <dgm:t>
        <a:bodyPr/>
        <a:lstStyle/>
        <a:p>
          <a:r>
            <a:rPr lang="pl-PL"/>
            <a:t>W praktyce organizacje rzadko stosują jeden model w czystej postaci. Najczęściej łączą różne elementy w zależności od dojrzałości organizacyjnej i charakteru projektu.</a:t>
          </a:r>
          <a:endParaRPr lang="en-US"/>
        </a:p>
      </dgm:t>
    </dgm:pt>
    <dgm:pt modelId="{14EEF894-2720-4483-9ADB-B5ECA3DB6DE6}" type="parTrans" cxnId="{716BD5E7-59F2-4123-843F-48B41F614BBF}">
      <dgm:prSet/>
      <dgm:spPr/>
      <dgm:t>
        <a:bodyPr/>
        <a:lstStyle/>
        <a:p>
          <a:endParaRPr lang="en-US"/>
        </a:p>
      </dgm:t>
    </dgm:pt>
    <dgm:pt modelId="{6D9EC91D-43F5-4791-A1D1-51C764CE1585}" type="sibTrans" cxnId="{716BD5E7-59F2-4123-843F-48B41F614BBF}">
      <dgm:prSet/>
      <dgm:spPr/>
      <dgm:t>
        <a:bodyPr/>
        <a:lstStyle/>
        <a:p>
          <a:endParaRPr lang="en-US"/>
        </a:p>
      </dgm:t>
    </dgm:pt>
    <dgm:pt modelId="{91C06CF8-DF42-4A82-BAD8-782C64207A18}" type="pres">
      <dgm:prSet presAssocID="{13612B37-15A7-4959-B625-C700D4C00A11}" presName="hierChild1" presStyleCnt="0">
        <dgm:presLayoutVars>
          <dgm:chPref val="1"/>
          <dgm:dir/>
          <dgm:animOne val="branch"/>
          <dgm:animLvl val="lvl"/>
          <dgm:resizeHandles/>
        </dgm:presLayoutVars>
      </dgm:prSet>
      <dgm:spPr/>
    </dgm:pt>
    <dgm:pt modelId="{FE92C388-A76D-4FA8-BF6E-ACEDE84FDBD0}" type="pres">
      <dgm:prSet presAssocID="{A873A9D7-D7BB-4FAC-9B06-3518723B5488}" presName="hierRoot1" presStyleCnt="0"/>
      <dgm:spPr/>
    </dgm:pt>
    <dgm:pt modelId="{3BA4A9CA-A4CB-4A5D-9434-4ED4F4B61A30}" type="pres">
      <dgm:prSet presAssocID="{A873A9D7-D7BB-4FAC-9B06-3518723B5488}" presName="composite" presStyleCnt="0"/>
      <dgm:spPr/>
    </dgm:pt>
    <dgm:pt modelId="{F3CF9218-78DB-468B-A7F1-CD6016A56421}" type="pres">
      <dgm:prSet presAssocID="{A873A9D7-D7BB-4FAC-9B06-3518723B5488}" presName="background" presStyleLbl="node0" presStyleIdx="0" presStyleCnt="2"/>
      <dgm:spPr/>
    </dgm:pt>
    <dgm:pt modelId="{A903BBA7-A2AA-489B-B261-2655F14E9DAB}" type="pres">
      <dgm:prSet presAssocID="{A873A9D7-D7BB-4FAC-9B06-3518723B5488}" presName="text" presStyleLbl="fgAcc0" presStyleIdx="0" presStyleCnt="2">
        <dgm:presLayoutVars>
          <dgm:chPref val="3"/>
        </dgm:presLayoutVars>
      </dgm:prSet>
      <dgm:spPr/>
    </dgm:pt>
    <dgm:pt modelId="{C4272FFE-54C3-42B4-9406-95AC2A602599}" type="pres">
      <dgm:prSet presAssocID="{A873A9D7-D7BB-4FAC-9B06-3518723B5488}" presName="hierChild2" presStyleCnt="0"/>
      <dgm:spPr/>
    </dgm:pt>
    <dgm:pt modelId="{A3C2932C-8AF8-461B-9E52-6896C6A62AEA}" type="pres">
      <dgm:prSet presAssocID="{5F48EEB9-CFCD-47F7-8563-B3B65E96AEF4}" presName="hierRoot1" presStyleCnt="0"/>
      <dgm:spPr/>
    </dgm:pt>
    <dgm:pt modelId="{7F654219-D3FD-4CCC-B071-EC6D69CC2120}" type="pres">
      <dgm:prSet presAssocID="{5F48EEB9-CFCD-47F7-8563-B3B65E96AEF4}" presName="composite" presStyleCnt="0"/>
      <dgm:spPr/>
    </dgm:pt>
    <dgm:pt modelId="{C3015B76-FDAB-41DE-BE25-E8A0D1D0DC87}" type="pres">
      <dgm:prSet presAssocID="{5F48EEB9-CFCD-47F7-8563-B3B65E96AEF4}" presName="background" presStyleLbl="node0" presStyleIdx="1" presStyleCnt="2"/>
      <dgm:spPr/>
    </dgm:pt>
    <dgm:pt modelId="{70F94D22-654F-4957-9DF0-D1B3FB17E2BF}" type="pres">
      <dgm:prSet presAssocID="{5F48EEB9-CFCD-47F7-8563-B3B65E96AEF4}" presName="text" presStyleLbl="fgAcc0" presStyleIdx="1" presStyleCnt="2">
        <dgm:presLayoutVars>
          <dgm:chPref val="3"/>
        </dgm:presLayoutVars>
      </dgm:prSet>
      <dgm:spPr/>
    </dgm:pt>
    <dgm:pt modelId="{E84DD72E-87FE-42A7-BE39-868438D6A953}" type="pres">
      <dgm:prSet presAssocID="{5F48EEB9-CFCD-47F7-8563-B3B65E96AEF4}" presName="hierChild2" presStyleCnt="0"/>
      <dgm:spPr/>
    </dgm:pt>
  </dgm:ptLst>
  <dgm:cxnLst>
    <dgm:cxn modelId="{12ED8344-50E5-4711-ACE0-3A798AE1D659}" srcId="{13612B37-15A7-4959-B625-C700D4C00A11}" destId="{A873A9D7-D7BB-4FAC-9B06-3518723B5488}" srcOrd="0" destOrd="0" parTransId="{26203D50-81A7-41EA-9692-813D4F6B7FDD}" sibTransId="{F566E5F7-7D37-46BB-918E-25136BD5A7C4}"/>
    <dgm:cxn modelId="{A9309B8B-5698-4AC8-BD69-ECA90365177B}" type="presOf" srcId="{13612B37-15A7-4959-B625-C700D4C00A11}" destId="{91C06CF8-DF42-4A82-BAD8-782C64207A18}" srcOrd="0" destOrd="0" presId="urn:microsoft.com/office/officeart/2005/8/layout/hierarchy1"/>
    <dgm:cxn modelId="{FA0423AE-5E3D-48B9-81FA-740B2324D68F}" type="presOf" srcId="{5F48EEB9-CFCD-47F7-8563-B3B65E96AEF4}" destId="{70F94D22-654F-4957-9DF0-D1B3FB17E2BF}" srcOrd="0" destOrd="0" presId="urn:microsoft.com/office/officeart/2005/8/layout/hierarchy1"/>
    <dgm:cxn modelId="{6FF23DCA-A2FD-4D65-8B59-496CD6A36897}" type="presOf" srcId="{A873A9D7-D7BB-4FAC-9B06-3518723B5488}" destId="{A903BBA7-A2AA-489B-B261-2655F14E9DAB}" srcOrd="0" destOrd="0" presId="urn:microsoft.com/office/officeart/2005/8/layout/hierarchy1"/>
    <dgm:cxn modelId="{716BD5E7-59F2-4123-843F-48B41F614BBF}" srcId="{13612B37-15A7-4959-B625-C700D4C00A11}" destId="{5F48EEB9-CFCD-47F7-8563-B3B65E96AEF4}" srcOrd="1" destOrd="0" parTransId="{14EEF894-2720-4483-9ADB-B5ECA3DB6DE6}" sibTransId="{6D9EC91D-43F5-4791-A1D1-51C764CE1585}"/>
    <dgm:cxn modelId="{85E37532-CDE3-44E3-8F7B-570692AFEB40}" type="presParOf" srcId="{91C06CF8-DF42-4A82-BAD8-782C64207A18}" destId="{FE92C388-A76D-4FA8-BF6E-ACEDE84FDBD0}" srcOrd="0" destOrd="0" presId="urn:microsoft.com/office/officeart/2005/8/layout/hierarchy1"/>
    <dgm:cxn modelId="{D05B26A0-18DA-499C-8AD7-A031EC3BD3B0}" type="presParOf" srcId="{FE92C388-A76D-4FA8-BF6E-ACEDE84FDBD0}" destId="{3BA4A9CA-A4CB-4A5D-9434-4ED4F4B61A30}" srcOrd="0" destOrd="0" presId="urn:microsoft.com/office/officeart/2005/8/layout/hierarchy1"/>
    <dgm:cxn modelId="{2C17B96E-DC80-4155-A3CD-A7DD0D8F9FCE}" type="presParOf" srcId="{3BA4A9CA-A4CB-4A5D-9434-4ED4F4B61A30}" destId="{F3CF9218-78DB-468B-A7F1-CD6016A56421}" srcOrd="0" destOrd="0" presId="urn:microsoft.com/office/officeart/2005/8/layout/hierarchy1"/>
    <dgm:cxn modelId="{AA3EA7FD-56E4-4002-ACAF-06EBF0012D8F}" type="presParOf" srcId="{3BA4A9CA-A4CB-4A5D-9434-4ED4F4B61A30}" destId="{A903BBA7-A2AA-489B-B261-2655F14E9DAB}" srcOrd="1" destOrd="0" presId="urn:microsoft.com/office/officeart/2005/8/layout/hierarchy1"/>
    <dgm:cxn modelId="{2CDB98B0-0F8A-4EA2-BC1F-52FB2BA603CE}" type="presParOf" srcId="{FE92C388-A76D-4FA8-BF6E-ACEDE84FDBD0}" destId="{C4272FFE-54C3-42B4-9406-95AC2A602599}" srcOrd="1" destOrd="0" presId="urn:microsoft.com/office/officeart/2005/8/layout/hierarchy1"/>
    <dgm:cxn modelId="{9033C874-6B3D-4FE8-8199-068BBC67F1A2}" type="presParOf" srcId="{91C06CF8-DF42-4A82-BAD8-782C64207A18}" destId="{A3C2932C-8AF8-461B-9E52-6896C6A62AEA}" srcOrd="1" destOrd="0" presId="urn:microsoft.com/office/officeart/2005/8/layout/hierarchy1"/>
    <dgm:cxn modelId="{D93DED0B-BCE0-4325-8C4E-B46AA591EA08}" type="presParOf" srcId="{A3C2932C-8AF8-461B-9E52-6896C6A62AEA}" destId="{7F654219-D3FD-4CCC-B071-EC6D69CC2120}" srcOrd="0" destOrd="0" presId="urn:microsoft.com/office/officeart/2005/8/layout/hierarchy1"/>
    <dgm:cxn modelId="{9CE0453B-7705-44D3-83C0-E43A1462C373}" type="presParOf" srcId="{7F654219-D3FD-4CCC-B071-EC6D69CC2120}" destId="{C3015B76-FDAB-41DE-BE25-E8A0D1D0DC87}" srcOrd="0" destOrd="0" presId="urn:microsoft.com/office/officeart/2005/8/layout/hierarchy1"/>
    <dgm:cxn modelId="{C5655A78-5124-4EE6-8AB4-4E2BCF89526D}" type="presParOf" srcId="{7F654219-D3FD-4CCC-B071-EC6D69CC2120}" destId="{70F94D22-654F-4957-9DF0-D1B3FB17E2BF}" srcOrd="1" destOrd="0" presId="urn:microsoft.com/office/officeart/2005/8/layout/hierarchy1"/>
    <dgm:cxn modelId="{6006C008-9567-4664-824F-AAD1B56189BA}" type="presParOf" srcId="{A3C2932C-8AF8-461B-9E52-6896C6A62AEA}" destId="{E84DD72E-87FE-42A7-BE39-868438D6A953}"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8778CEB8-6F05-41C6-9A94-CB6F9CF420A9}" type="doc">
      <dgm:prSet loTypeId="urn:microsoft.com/office/officeart/2005/8/layout/vList5" loCatId="list" qsTypeId="urn:microsoft.com/office/officeart/2005/8/quickstyle/simple1" qsCatId="simple" csTypeId="urn:microsoft.com/office/officeart/2005/8/colors/accent1_2" csCatId="accent1"/>
      <dgm:spPr/>
      <dgm:t>
        <a:bodyPr/>
        <a:lstStyle/>
        <a:p>
          <a:endParaRPr lang="en-US"/>
        </a:p>
      </dgm:t>
    </dgm:pt>
    <dgm:pt modelId="{732F0BF2-6FA8-4280-A4B0-EA3C56308CAC}">
      <dgm:prSet/>
      <dgm:spPr/>
      <dgm:t>
        <a:bodyPr/>
        <a:lstStyle/>
        <a:p>
          <a:r>
            <a:rPr lang="pl-PL"/>
            <a:t>Najważniejsze ograniczenia klasycznych modeli obejmują:</a:t>
          </a:r>
          <a:endParaRPr lang="en-US"/>
        </a:p>
      </dgm:t>
    </dgm:pt>
    <dgm:pt modelId="{57AAE8DF-3755-4301-9EEE-7970F5A9CAAF}" type="parTrans" cxnId="{3F5228A8-8E3F-4C77-A153-ED24C55ED311}">
      <dgm:prSet/>
      <dgm:spPr/>
      <dgm:t>
        <a:bodyPr/>
        <a:lstStyle/>
        <a:p>
          <a:endParaRPr lang="en-US"/>
        </a:p>
      </dgm:t>
    </dgm:pt>
    <dgm:pt modelId="{E8F233D6-8E95-4E9F-B23C-AF8928FEE69C}" type="sibTrans" cxnId="{3F5228A8-8E3F-4C77-A153-ED24C55ED311}">
      <dgm:prSet/>
      <dgm:spPr/>
      <dgm:t>
        <a:bodyPr/>
        <a:lstStyle/>
        <a:p>
          <a:endParaRPr lang="en-US"/>
        </a:p>
      </dgm:t>
    </dgm:pt>
    <dgm:pt modelId="{456944E1-DBE3-44AD-86EC-DAE77553D134}">
      <dgm:prSet/>
      <dgm:spPr/>
      <dgm:t>
        <a:bodyPr/>
        <a:lstStyle/>
        <a:p>
          <a:r>
            <a:rPr lang="pl-PL"/>
            <a:t>brak monitorowania po wdrożeniu, </a:t>
          </a:r>
          <a:endParaRPr lang="en-US"/>
        </a:p>
      </dgm:t>
    </dgm:pt>
    <dgm:pt modelId="{93078363-C77C-48BC-8911-72C78004804E}" type="parTrans" cxnId="{F1E86083-DFB1-4EA3-AEAD-53A80B9F256E}">
      <dgm:prSet/>
      <dgm:spPr/>
      <dgm:t>
        <a:bodyPr/>
        <a:lstStyle/>
        <a:p>
          <a:endParaRPr lang="en-US"/>
        </a:p>
      </dgm:t>
    </dgm:pt>
    <dgm:pt modelId="{DD1CF670-82CE-41D0-9879-8450C254DC6D}" type="sibTrans" cxnId="{F1E86083-DFB1-4EA3-AEAD-53A80B9F256E}">
      <dgm:prSet/>
      <dgm:spPr/>
      <dgm:t>
        <a:bodyPr/>
        <a:lstStyle/>
        <a:p>
          <a:endParaRPr lang="en-US"/>
        </a:p>
      </dgm:t>
    </dgm:pt>
    <dgm:pt modelId="{2BAF7B9F-E96D-4FB9-A9BE-1EB1470BECBA}">
      <dgm:prSet/>
      <dgm:spPr/>
      <dgm:t>
        <a:bodyPr/>
        <a:lstStyle/>
        <a:p>
          <a:r>
            <a:rPr lang="pl-PL"/>
            <a:t>brak zarządzania driftem danych, </a:t>
          </a:r>
          <a:endParaRPr lang="en-US"/>
        </a:p>
      </dgm:t>
    </dgm:pt>
    <dgm:pt modelId="{3D0F012A-E4CD-4B2A-AB1C-B3C9890774F5}" type="parTrans" cxnId="{5C970FCE-EBD4-410D-A079-1AFA8BE3FE2F}">
      <dgm:prSet/>
      <dgm:spPr/>
      <dgm:t>
        <a:bodyPr/>
        <a:lstStyle/>
        <a:p>
          <a:endParaRPr lang="en-US"/>
        </a:p>
      </dgm:t>
    </dgm:pt>
    <dgm:pt modelId="{5269487E-0878-43E8-BEF0-EF5663F1E57A}" type="sibTrans" cxnId="{5C970FCE-EBD4-410D-A079-1AFA8BE3FE2F}">
      <dgm:prSet/>
      <dgm:spPr/>
      <dgm:t>
        <a:bodyPr/>
        <a:lstStyle/>
        <a:p>
          <a:endParaRPr lang="en-US"/>
        </a:p>
      </dgm:t>
    </dgm:pt>
    <dgm:pt modelId="{BBE4669A-32E0-41FC-B278-80FBB204BE96}">
      <dgm:prSet/>
      <dgm:spPr/>
      <dgm:t>
        <a:bodyPr/>
        <a:lstStyle/>
        <a:p>
          <a:r>
            <a:rPr lang="pl-PL"/>
            <a:t>brak wersjonowania modeli, </a:t>
          </a:r>
          <a:endParaRPr lang="en-US"/>
        </a:p>
      </dgm:t>
    </dgm:pt>
    <dgm:pt modelId="{5FEB45FA-CF66-494B-8DB7-094797D0FC50}" type="parTrans" cxnId="{F00EBC71-516A-4B34-982F-85440D910AC1}">
      <dgm:prSet/>
      <dgm:spPr/>
      <dgm:t>
        <a:bodyPr/>
        <a:lstStyle/>
        <a:p>
          <a:endParaRPr lang="en-US"/>
        </a:p>
      </dgm:t>
    </dgm:pt>
    <dgm:pt modelId="{AFFA2335-5E1A-48D3-A01D-0516A26311BA}" type="sibTrans" cxnId="{F00EBC71-516A-4B34-982F-85440D910AC1}">
      <dgm:prSet/>
      <dgm:spPr/>
      <dgm:t>
        <a:bodyPr/>
        <a:lstStyle/>
        <a:p>
          <a:endParaRPr lang="en-US"/>
        </a:p>
      </dgm:t>
    </dgm:pt>
    <dgm:pt modelId="{56CA8D06-789E-40CD-A5AE-FF37E7C8CC6C}">
      <dgm:prSet/>
      <dgm:spPr/>
      <dgm:t>
        <a:bodyPr/>
        <a:lstStyle/>
        <a:p>
          <a:r>
            <a:rPr lang="pl-PL"/>
            <a:t>brak ciągłej walidacji, </a:t>
          </a:r>
          <a:endParaRPr lang="en-US"/>
        </a:p>
      </dgm:t>
    </dgm:pt>
    <dgm:pt modelId="{B28CE216-63B1-4AB1-BC05-9F7BD7F05924}" type="parTrans" cxnId="{D75DA5A0-5A30-46FB-BD24-899C378632F4}">
      <dgm:prSet/>
      <dgm:spPr/>
      <dgm:t>
        <a:bodyPr/>
        <a:lstStyle/>
        <a:p>
          <a:endParaRPr lang="en-US"/>
        </a:p>
      </dgm:t>
    </dgm:pt>
    <dgm:pt modelId="{95726071-E9BB-4F28-BFDD-5B5738CD13B1}" type="sibTrans" cxnId="{D75DA5A0-5A30-46FB-BD24-899C378632F4}">
      <dgm:prSet/>
      <dgm:spPr/>
      <dgm:t>
        <a:bodyPr/>
        <a:lstStyle/>
        <a:p>
          <a:endParaRPr lang="en-US"/>
        </a:p>
      </dgm:t>
    </dgm:pt>
    <dgm:pt modelId="{24D67C76-9FCF-465A-9C11-54EBF63691C2}">
      <dgm:prSet/>
      <dgm:spPr/>
      <dgm:t>
        <a:bodyPr/>
        <a:lstStyle/>
        <a:p>
          <a:r>
            <a:rPr lang="pl-PL"/>
            <a:t>niewystarczające wsparcie dla współpracy DevOps.</a:t>
          </a:r>
          <a:endParaRPr lang="en-US"/>
        </a:p>
      </dgm:t>
    </dgm:pt>
    <dgm:pt modelId="{DB01576E-2248-4F89-BED6-C47F3338FB57}" type="parTrans" cxnId="{1A1F2F6C-28C9-4130-A066-5E1C482118FC}">
      <dgm:prSet/>
      <dgm:spPr/>
      <dgm:t>
        <a:bodyPr/>
        <a:lstStyle/>
        <a:p>
          <a:endParaRPr lang="en-US"/>
        </a:p>
      </dgm:t>
    </dgm:pt>
    <dgm:pt modelId="{62CC7EAF-AE1F-4AB5-8B19-16963DE655BF}" type="sibTrans" cxnId="{1A1F2F6C-28C9-4130-A066-5E1C482118FC}">
      <dgm:prSet/>
      <dgm:spPr/>
      <dgm:t>
        <a:bodyPr/>
        <a:lstStyle/>
        <a:p>
          <a:endParaRPr lang="en-US"/>
        </a:p>
      </dgm:t>
    </dgm:pt>
    <dgm:pt modelId="{1A4EFF2A-665F-4B56-B738-DBCEDC959B7C}" type="pres">
      <dgm:prSet presAssocID="{8778CEB8-6F05-41C6-9A94-CB6F9CF420A9}" presName="Name0" presStyleCnt="0">
        <dgm:presLayoutVars>
          <dgm:dir/>
          <dgm:animLvl val="lvl"/>
          <dgm:resizeHandles val="exact"/>
        </dgm:presLayoutVars>
      </dgm:prSet>
      <dgm:spPr/>
    </dgm:pt>
    <dgm:pt modelId="{0B514D4A-1921-48CB-B8E0-4C80235EE15B}" type="pres">
      <dgm:prSet presAssocID="{732F0BF2-6FA8-4280-A4B0-EA3C56308CAC}" presName="linNode" presStyleCnt="0"/>
      <dgm:spPr/>
    </dgm:pt>
    <dgm:pt modelId="{0A7A60E3-1804-402E-A27B-5D762715463D}" type="pres">
      <dgm:prSet presAssocID="{732F0BF2-6FA8-4280-A4B0-EA3C56308CAC}" presName="parentText" presStyleLbl="node1" presStyleIdx="0" presStyleCnt="6">
        <dgm:presLayoutVars>
          <dgm:chMax val="1"/>
          <dgm:bulletEnabled val="1"/>
        </dgm:presLayoutVars>
      </dgm:prSet>
      <dgm:spPr/>
    </dgm:pt>
    <dgm:pt modelId="{519E916B-392D-4E30-916D-ECCB9BA66B13}" type="pres">
      <dgm:prSet presAssocID="{E8F233D6-8E95-4E9F-B23C-AF8928FEE69C}" presName="sp" presStyleCnt="0"/>
      <dgm:spPr/>
    </dgm:pt>
    <dgm:pt modelId="{7A9F823E-B367-417B-ABA4-DA7B1CEB6E97}" type="pres">
      <dgm:prSet presAssocID="{456944E1-DBE3-44AD-86EC-DAE77553D134}" presName="linNode" presStyleCnt="0"/>
      <dgm:spPr/>
    </dgm:pt>
    <dgm:pt modelId="{8228AD65-C67D-42E3-8D7D-BD4DD02A654C}" type="pres">
      <dgm:prSet presAssocID="{456944E1-DBE3-44AD-86EC-DAE77553D134}" presName="parentText" presStyleLbl="node1" presStyleIdx="1" presStyleCnt="6">
        <dgm:presLayoutVars>
          <dgm:chMax val="1"/>
          <dgm:bulletEnabled val="1"/>
        </dgm:presLayoutVars>
      </dgm:prSet>
      <dgm:spPr/>
    </dgm:pt>
    <dgm:pt modelId="{45BE5F9B-8044-4D93-9BD2-E005ECA90BE3}" type="pres">
      <dgm:prSet presAssocID="{DD1CF670-82CE-41D0-9879-8450C254DC6D}" presName="sp" presStyleCnt="0"/>
      <dgm:spPr/>
    </dgm:pt>
    <dgm:pt modelId="{A7BC63E8-69D6-4A28-B7B0-DFA26B0AE01C}" type="pres">
      <dgm:prSet presAssocID="{2BAF7B9F-E96D-4FB9-A9BE-1EB1470BECBA}" presName="linNode" presStyleCnt="0"/>
      <dgm:spPr/>
    </dgm:pt>
    <dgm:pt modelId="{FDD4F5F6-2904-443E-870E-6BD2873828E1}" type="pres">
      <dgm:prSet presAssocID="{2BAF7B9F-E96D-4FB9-A9BE-1EB1470BECBA}" presName="parentText" presStyleLbl="node1" presStyleIdx="2" presStyleCnt="6">
        <dgm:presLayoutVars>
          <dgm:chMax val="1"/>
          <dgm:bulletEnabled val="1"/>
        </dgm:presLayoutVars>
      </dgm:prSet>
      <dgm:spPr/>
    </dgm:pt>
    <dgm:pt modelId="{2493CF48-2B4D-4D43-90C3-B12DA7B2D56B}" type="pres">
      <dgm:prSet presAssocID="{5269487E-0878-43E8-BEF0-EF5663F1E57A}" presName="sp" presStyleCnt="0"/>
      <dgm:spPr/>
    </dgm:pt>
    <dgm:pt modelId="{04729BE1-52C3-4A7D-8344-EA47FD01C137}" type="pres">
      <dgm:prSet presAssocID="{BBE4669A-32E0-41FC-B278-80FBB204BE96}" presName="linNode" presStyleCnt="0"/>
      <dgm:spPr/>
    </dgm:pt>
    <dgm:pt modelId="{59E14059-31A7-4C22-8CD4-FCB0CE685250}" type="pres">
      <dgm:prSet presAssocID="{BBE4669A-32E0-41FC-B278-80FBB204BE96}" presName="parentText" presStyleLbl="node1" presStyleIdx="3" presStyleCnt="6">
        <dgm:presLayoutVars>
          <dgm:chMax val="1"/>
          <dgm:bulletEnabled val="1"/>
        </dgm:presLayoutVars>
      </dgm:prSet>
      <dgm:spPr/>
    </dgm:pt>
    <dgm:pt modelId="{F5F2C3C5-871B-438F-B8CC-D74500D98E82}" type="pres">
      <dgm:prSet presAssocID="{AFFA2335-5E1A-48D3-A01D-0516A26311BA}" presName="sp" presStyleCnt="0"/>
      <dgm:spPr/>
    </dgm:pt>
    <dgm:pt modelId="{1439F2CF-79D2-467A-A6E9-0738223D4E7E}" type="pres">
      <dgm:prSet presAssocID="{56CA8D06-789E-40CD-A5AE-FF37E7C8CC6C}" presName="linNode" presStyleCnt="0"/>
      <dgm:spPr/>
    </dgm:pt>
    <dgm:pt modelId="{8FEBCDBA-E3D5-460D-B902-0560ADF2E251}" type="pres">
      <dgm:prSet presAssocID="{56CA8D06-789E-40CD-A5AE-FF37E7C8CC6C}" presName="parentText" presStyleLbl="node1" presStyleIdx="4" presStyleCnt="6">
        <dgm:presLayoutVars>
          <dgm:chMax val="1"/>
          <dgm:bulletEnabled val="1"/>
        </dgm:presLayoutVars>
      </dgm:prSet>
      <dgm:spPr/>
    </dgm:pt>
    <dgm:pt modelId="{F0A2EB7E-7E60-40BA-97FD-21777DE2A81E}" type="pres">
      <dgm:prSet presAssocID="{95726071-E9BB-4F28-BFDD-5B5738CD13B1}" presName="sp" presStyleCnt="0"/>
      <dgm:spPr/>
    </dgm:pt>
    <dgm:pt modelId="{DBEBE706-65B9-458E-B7F1-B3CE33C5490B}" type="pres">
      <dgm:prSet presAssocID="{24D67C76-9FCF-465A-9C11-54EBF63691C2}" presName="linNode" presStyleCnt="0"/>
      <dgm:spPr/>
    </dgm:pt>
    <dgm:pt modelId="{88FADDB1-3304-40C9-BDD5-82C590CF02BD}" type="pres">
      <dgm:prSet presAssocID="{24D67C76-9FCF-465A-9C11-54EBF63691C2}" presName="parentText" presStyleLbl="node1" presStyleIdx="5" presStyleCnt="6">
        <dgm:presLayoutVars>
          <dgm:chMax val="1"/>
          <dgm:bulletEnabled val="1"/>
        </dgm:presLayoutVars>
      </dgm:prSet>
      <dgm:spPr/>
    </dgm:pt>
  </dgm:ptLst>
  <dgm:cxnLst>
    <dgm:cxn modelId="{62D5F61B-81DF-49F2-BF01-77AFC6486DB9}" type="presOf" srcId="{BBE4669A-32E0-41FC-B278-80FBB204BE96}" destId="{59E14059-31A7-4C22-8CD4-FCB0CE685250}" srcOrd="0" destOrd="0" presId="urn:microsoft.com/office/officeart/2005/8/layout/vList5"/>
    <dgm:cxn modelId="{A80BCA2D-BFDC-4DAA-9522-AEC0C508485E}" type="presOf" srcId="{8778CEB8-6F05-41C6-9A94-CB6F9CF420A9}" destId="{1A4EFF2A-665F-4B56-B738-DBCEDC959B7C}" srcOrd="0" destOrd="0" presId="urn:microsoft.com/office/officeart/2005/8/layout/vList5"/>
    <dgm:cxn modelId="{6AE4DC5B-9329-40C8-95DF-A128C021DA84}" type="presOf" srcId="{56CA8D06-789E-40CD-A5AE-FF37E7C8CC6C}" destId="{8FEBCDBA-E3D5-460D-B902-0560ADF2E251}" srcOrd="0" destOrd="0" presId="urn:microsoft.com/office/officeart/2005/8/layout/vList5"/>
    <dgm:cxn modelId="{A3366C6B-21E4-4FC7-97C1-B8186FCC50B1}" type="presOf" srcId="{24D67C76-9FCF-465A-9C11-54EBF63691C2}" destId="{88FADDB1-3304-40C9-BDD5-82C590CF02BD}" srcOrd="0" destOrd="0" presId="urn:microsoft.com/office/officeart/2005/8/layout/vList5"/>
    <dgm:cxn modelId="{1A1F2F6C-28C9-4130-A066-5E1C482118FC}" srcId="{8778CEB8-6F05-41C6-9A94-CB6F9CF420A9}" destId="{24D67C76-9FCF-465A-9C11-54EBF63691C2}" srcOrd="5" destOrd="0" parTransId="{DB01576E-2248-4F89-BED6-C47F3338FB57}" sibTransId="{62CC7EAF-AE1F-4AB5-8B19-16963DE655BF}"/>
    <dgm:cxn modelId="{1A19A14F-7D5C-4BC8-82CC-017D73CF4535}" type="presOf" srcId="{456944E1-DBE3-44AD-86EC-DAE77553D134}" destId="{8228AD65-C67D-42E3-8D7D-BD4DD02A654C}" srcOrd="0" destOrd="0" presId="urn:microsoft.com/office/officeart/2005/8/layout/vList5"/>
    <dgm:cxn modelId="{F00EBC71-516A-4B34-982F-85440D910AC1}" srcId="{8778CEB8-6F05-41C6-9A94-CB6F9CF420A9}" destId="{BBE4669A-32E0-41FC-B278-80FBB204BE96}" srcOrd="3" destOrd="0" parTransId="{5FEB45FA-CF66-494B-8DB7-094797D0FC50}" sibTransId="{AFFA2335-5E1A-48D3-A01D-0516A26311BA}"/>
    <dgm:cxn modelId="{F1E86083-DFB1-4EA3-AEAD-53A80B9F256E}" srcId="{8778CEB8-6F05-41C6-9A94-CB6F9CF420A9}" destId="{456944E1-DBE3-44AD-86EC-DAE77553D134}" srcOrd="1" destOrd="0" parTransId="{93078363-C77C-48BC-8911-72C78004804E}" sibTransId="{DD1CF670-82CE-41D0-9879-8450C254DC6D}"/>
    <dgm:cxn modelId="{D75DA5A0-5A30-46FB-BD24-899C378632F4}" srcId="{8778CEB8-6F05-41C6-9A94-CB6F9CF420A9}" destId="{56CA8D06-789E-40CD-A5AE-FF37E7C8CC6C}" srcOrd="4" destOrd="0" parTransId="{B28CE216-63B1-4AB1-BC05-9F7BD7F05924}" sibTransId="{95726071-E9BB-4F28-BFDD-5B5738CD13B1}"/>
    <dgm:cxn modelId="{3F5228A8-8E3F-4C77-A153-ED24C55ED311}" srcId="{8778CEB8-6F05-41C6-9A94-CB6F9CF420A9}" destId="{732F0BF2-6FA8-4280-A4B0-EA3C56308CAC}" srcOrd="0" destOrd="0" parTransId="{57AAE8DF-3755-4301-9EEE-7970F5A9CAAF}" sibTransId="{E8F233D6-8E95-4E9F-B23C-AF8928FEE69C}"/>
    <dgm:cxn modelId="{0B6E0DB4-A1D9-4265-842F-FFE5611D4BBE}" type="presOf" srcId="{732F0BF2-6FA8-4280-A4B0-EA3C56308CAC}" destId="{0A7A60E3-1804-402E-A27B-5D762715463D}" srcOrd="0" destOrd="0" presId="urn:microsoft.com/office/officeart/2005/8/layout/vList5"/>
    <dgm:cxn modelId="{5C970FCE-EBD4-410D-A079-1AFA8BE3FE2F}" srcId="{8778CEB8-6F05-41C6-9A94-CB6F9CF420A9}" destId="{2BAF7B9F-E96D-4FB9-A9BE-1EB1470BECBA}" srcOrd="2" destOrd="0" parTransId="{3D0F012A-E4CD-4B2A-AB1C-B3C9890774F5}" sibTransId="{5269487E-0878-43E8-BEF0-EF5663F1E57A}"/>
    <dgm:cxn modelId="{45AAAED6-DF8B-44B4-AF43-03FF5E118441}" type="presOf" srcId="{2BAF7B9F-E96D-4FB9-A9BE-1EB1470BECBA}" destId="{FDD4F5F6-2904-443E-870E-6BD2873828E1}" srcOrd="0" destOrd="0" presId="urn:microsoft.com/office/officeart/2005/8/layout/vList5"/>
    <dgm:cxn modelId="{C8B17DC5-19CD-4111-B44A-73F40EE16555}" type="presParOf" srcId="{1A4EFF2A-665F-4B56-B738-DBCEDC959B7C}" destId="{0B514D4A-1921-48CB-B8E0-4C80235EE15B}" srcOrd="0" destOrd="0" presId="urn:microsoft.com/office/officeart/2005/8/layout/vList5"/>
    <dgm:cxn modelId="{D256B798-47E7-49E9-BC35-9B00C52C2B40}" type="presParOf" srcId="{0B514D4A-1921-48CB-B8E0-4C80235EE15B}" destId="{0A7A60E3-1804-402E-A27B-5D762715463D}" srcOrd="0" destOrd="0" presId="urn:microsoft.com/office/officeart/2005/8/layout/vList5"/>
    <dgm:cxn modelId="{91049AE9-F6C1-4237-B5B5-F9ABC039CB45}" type="presParOf" srcId="{1A4EFF2A-665F-4B56-B738-DBCEDC959B7C}" destId="{519E916B-392D-4E30-916D-ECCB9BA66B13}" srcOrd="1" destOrd="0" presId="urn:microsoft.com/office/officeart/2005/8/layout/vList5"/>
    <dgm:cxn modelId="{F05281C6-DAD3-46B7-A6FD-1C16D935C4A1}" type="presParOf" srcId="{1A4EFF2A-665F-4B56-B738-DBCEDC959B7C}" destId="{7A9F823E-B367-417B-ABA4-DA7B1CEB6E97}" srcOrd="2" destOrd="0" presId="urn:microsoft.com/office/officeart/2005/8/layout/vList5"/>
    <dgm:cxn modelId="{D84C0E7D-C34C-406F-BC43-FAF2EC28DDD1}" type="presParOf" srcId="{7A9F823E-B367-417B-ABA4-DA7B1CEB6E97}" destId="{8228AD65-C67D-42E3-8D7D-BD4DD02A654C}" srcOrd="0" destOrd="0" presId="urn:microsoft.com/office/officeart/2005/8/layout/vList5"/>
    <dgm:cxn modelId="{1BA7A2DD-D32E-473A-8B99-0FBC76D3E51B}" type="presParOf" srcId="{1A4EFF2A-665F-4B56-B738-DBCEDC959B7C}" destId="{45BE5F9B-8044-4D93-9BD2-E005ECA90BE3}" srcOrd="3" destOrd="0" presId="urn:microsoft.com/office/officeart/2005/8/layout/vList5"/>
    <dgm:cxn modelId="{1936A184-61FC-4833-A79E-CD04D1EA58D7}" type="presParOf" srcId="{1A4EFF2A-665F-4B56-B738-DBCEDC959B7C}" destId="{A7BC63E8-69D6-4A28-B7B0-DFA26B0AE01C}" srcOrd="4" destOrd="0" presId="urn:microsoft.com/office/officeart/2005/8/layout/vList5"/>
    <dgm:cxn modelId="{C2915905-0A7F-4487-BF06-7B623AE978F4}" type="presParOf" srcId="{A7BC63E8-69D6-4A28-B7B0-DFA26B0AE01C}" destId="{FDD4F5F6-2904-443E-870E-6BD2873828E1}" srcOrd="0" destOrd="0" presId="urn:microsoft.com/office/officeart/2005/8/layout/vList5"/>
    <dgm:cxn modelId="{2814AFD8-36A2-48FB-99B5-73E52FD9F17A}" type="presParOf" srcId="{1A4EFF2A-665F-4B56-B738-DBCEDC959B7C}" destId="{2493CF48-2B4D-4D43-90C3-B12DA7B2D56B}" srcOrd="5" destOrd="0" presId="urn:microsoft.com/office/officeart/2005/8/layout/vList5"/>
    <dgm:cxn modelId="{574B3E71-32DD-4A3B-A1D6-EC4ADF0B557A}" type="presParOf" srcId="{1A4EFF2A-665F-4B56-B738-DBCEDC959B7C}" destId="{04729BE1-52C3-4A7D-8344-EA47FD01C137}" srcOrd="6" destOrd="0" presId="urn:microsoft.com/office/officeart/2005/8/layout/vList5"/>
    <dgm:cxn modelId="{7DA77A17-CEE9-40FD-91E5-25CF655101E5}" type="presParOf" srcId="{04729BE1-52C3-4A7D-8344-EA47FD01C137}" destId="{59E14059-31A7-4C22-8CD4-FCB0CE685250}" srcOrd="0" destOrd="0" presId="urn:microsoft.com/office/officeart/2005/8/layout/vList5"/>
    <dgm:cxn modelId="{AA65E8F5-C0C7-4856-8E3B-DBC49EFE0EC1}" type="presParOf" srcId="{1A4EFF2A-665F-4B56-B738-DBCEDC959B7C}" destId="{F5F2C3C5-871B-438F-B8CC-D74500D98E82}" srcOrd="7" destOrd="0" presId="urn:microsoft.com/office/officeart/2005/8/layout/vList5"/>
    <dgm:cxn modelId="{AF34AF9B-CAC9-4EAE-BA8E-154D12561CB6}" type="presParOf" srcId="{1A4EFF2A-665F-4B56-B738-DBCEDC959B7C}" destId="{1439F2CF-79D2-467A-A6E9-0738223D4E7E}" srcOrd="8" destOrd="0" presId="urn:microsoft.com/office/officeart/2005/8/layout/vList5"/>
    <dgm:cxn modelId="{34437826-2B3A-403C-A5ED-F299E096D2D6}" type="presParOf" srcId="{1439F2CF-79D2-467A-A6E9-0738223D4E7E}" destId="{8FEBCDBA-E3D5-460D-B902-0560ADF2E251}" srcOrd="0" destOrd="0" presId="urn:microsoft.com/office/officeart/2005/8/layout/vList5"/>
    <dgm:cxn modelId="{AD25A274-ECA7-4F3E-9881-F0DA0FB787A6}" type="presParOf" srcId="{1A4EFF2A-665F-4B56-B738-DBCEDC959B7C}" destId="{F0A2EB7E-7E60-40BA-97FD-21777DE2A81E}" srcOrd="9" destOrd="0" presId="urn:microsoft.com/office/officeart/2005/8/layout/vList5"/>
    <dgm:cxn modelId="{2D6B690B-95B5-44F9-A5FF-1F7986632A00}" type="presParOf" srcId="{1A4EFF2A-665F-4B56-B738-DBCEDC959B7C}" destId="{DBEBE706-65B9-458E-B7F1-B3CE33C5490B}" srcOrd="10" destOrd="0" presId="urn:microsoft.com/office/officeart/2005/8/layout/vList5"/>
    <dgm:cxn modelId="{4E7C11A6-05E6-4AB3-A9F1-0E236478EE51}" type="presParOf" srcId="{DBEBE706-65B9-458E-B7F1-B3CE33C5490B}" destId="{88FADDB1-3304-40C9-BDD5-82C590CF02BD}" srcOrd="0"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FE21536A-EC5C-4AE5-9D52-E908BD695A6F}" type="doc">
      <dgm:prSet loTypeId="urn:microsoft.com/office/officeart/2005/8/layout/hierarchy1" loCatId="hierarchy" qsTypeId="urn:microsoft.com/office/officeart/2005/8/quickstyle/simple1" qsCatId="simple" csTypeId="urn:microsoft.com/office/officeart/2005/8/colors/colorful2" csCatId="colorful" phldr="1"/>
      <dgm:spPr/>
      <dgm:t>
        <a:bodyPr/>
        <a:lstStyle/>
        <a:p>
          <a:endParaRPr lang="en-US"/>
        </a:p>
      </dgm:t>
    </dgm:pt>
    <dgm:pt modelId="{2B8B83FC-685E-4DAA-9723-F448F1B71D48}">
      <dgm:prSet/>
      <dgm:spPr/>
      <dgm:t>
        <a:bodyPr/>
        <a:lstStyle/>
        <a:p>
          <a:r>
            <a:rPr lang="pl-PL"/>
            <a:t>CRISP-DM i Agile mogą wydawać się podejściami pochodzącymi z dwóch różnych światów. CRISP-DM porządkuje logikę projektu analitycznego, natomiast Agile koncentruje się na iteracyjnym dostarczaniu wartości. W praktyce jednak oba podejścia można skutecznie połączyć.</a:t>
          </a:r>
          <a:endParaRPr lang="en-US"/>
        </a:p>
      </dgm:t>
    </dgm:pt>
    <dgm:pt modelId="{4EBECE28-FB37-42DA-A191-5ED2C8FD8C2D}" type="parTrans" cxnId="{ECB47FB6-3BA2-4D65-9965-55DEA6A2C6DC}">
      <dgm:prSet/>
      <dgm:spPr/>
      <dgm:t>
        <a:bodyPr/>
        <a:lstStyle/>
        <a:p>
          <a:endParaRPr lang="en-US"/>
        </a:p>
      </dgm:t>
    </dgm:pt>
    <dgm:pt modelId="{E6ACCE61-950C-420B-A4F1-C742F870829B}" type="sibTrans" cxnId="{ECB47FB6-3BA2-4D65-9965-55DEA6A2C6DC}">
      <dgm:prSet/>
      <dgm:spPr/>
      <dgm:t>
        <a:bodyPr/>
        <a:lstStyle/>
        <a:p>
          <a:endParaRPr lang="en-US"/>
        </a:p>
      </dgm:t>
    </dgm:pt>
    <dgm:pt modelId="{F4EC6A12-FA7C-490F-8277-8EA8A7E866AC}">
      <dgm:prSet/>
      <dgm:spPr/>
      <dgm:t>
        <a:bodyPr/>
        <a:lstStyle/>
        <a:p>
          <a:r>
            <a:rPr lang="pl-PL" dirty="0"/>
            <a:t>Połączenie tych podejść daje dwie korzyści</a:t>
          </a:r>
          <a:r>
            <a:rPr lang="en-US"/>
            <a:t>:</a:t>
          </a:r>
          <a:br>
            <a:rPr lang="pl-PL" dirty="0"/>
          </a:br>
          <a:r>
            <a:rPr lang="pl-PL" dirty="0"/>
            <a:t>CRISP-DM zapewnia strukturę i logiczny porządek.</a:t>
          </a:r>
          <a:br>
            <a:rPr lang="pl-PL" dirty="0"/>
          </a:br>
          <a:r>
            <a:rPr lang="pl-PL" dirty="0"/>
            <a:t>Agile zapewnia elastyczność i szybkość uczenia się.</a:t>
          </a:r>
          <a:endParaRPr lang="en-US" dirty="0"/>
        </a:p>
      </dgm:t>
    </dgm:pt>
    <dgm:pt modelId="{B40FB739-373E-41CB-B7CE-E0D7D6877D2F}" type="parTrans" cxnId="{A6DCB15C-7306-4377-BBA1-C3D73511B5E5}">
      <dgm:prSet/>
      <dgm:spPr/>
      <dgm:t>
        <a:bodyPr/>
        <a:lstStyle/>
        <a:p>
          <a:endParaRPr lang="en-US"/>
        </a:p>
      </dgm:t>
    </dgm:pt>
    <dgm:pt modelId="{129ADBD8-FD82-449B-AE78-05F283BE44F3}" type="sibTrans" cxnId="{A6DCB15C-7306-4377-BBA1-C3D73511B5E5}">
      <dgm:prSet/>
      <dgm:spPr/>
      <dgm:t>
        <a:bodyPr/>
        <a:lstStyle/>
        <a:p>
          <a:endParaRPr lang="en-US"/>
        </a:p>
      </dgm:t>
    </dgm:pt>
    <dgm:pt modelId="{C4EF6FAF-F91C-46BC-B2B2-0891D2AE4EBE}" type="pres">
      <dgm:prSet presAssocID="{FE21536A-EC5C-4AE5-9D52-E908BD695A6F}" presName="hierChild1" presStyleCnt="0">
        <dgm:presLayoutVars>
          <dgm:chPref val="1"/>
          <dgm:dir/>
          <dgm:animOne val="branch"/>
          <dgm:animLvl val="lvl"/>
          <dgm:resizeHandles/>
        </dgm:presLayoutVars>
      </dgm:prSet>
      <dgm:spPr/>
    </dgm:pt>
    <dgm:pt modelId="{71BF4681-BA20-4F8C-A2D2-F200A936DA20}" type="pres">
      <dgm:prSet presAssocID="{2B8B83FC-685E-4DAA-9723-F448F1B71D48}" presName="hierRoot1" presStyleCnt="0"/>
      <dgm:spPr/>
    </dgm:pt>
    <dgm:pt modelId="{51CC023B-9241-4BFC-AD4A-A0396FEB15A1}" type="pres">
      <dgm:prSet presAssocID="{2B8B83FC-685E-4DAA-9723-F448F1B71D48}" presName="composite" presStyleCnt="0"/>
      <dgm:spPr/>
    </dgm:pt>
    <dgm:pt modelId="{8193DA1F-9A77-42CD-BD7C-97AF08480C0D}" type="pres">
      <dgm:prSet presAssocID="{2B8B83FC-685E-4DAA-9723-F448F1B71D48}" presName="background" presStyleLbl="node0" presStyleIdx="0" presStyleCnt="2"/>
      <dgm:spPr/>
    </dgm:pt>
    <dgm:pt modelId="{4DE5996C-82F9-4764-A221-F2B4FB0B57B2}" type="pres">
      <dgm:prSet presAssocID="{2B8B83FC-685E-4DAA-9723-F448F1B71D48}" presName="text" presStyleLbl="fgAcc0" presStyleIdx="0" presStyleCnt="2">
        <dgm:presLayoutVars>
          <dgm:chPref val="3"/>
        </dgm:presLayoutVars>
      </dgm:prSet>
      <dgm:spPr/>
    </dgm:pt>
    <dgm:pt modelId="{C6CFAF1A-7106-464D-96B7-FC27E5EECCCB}" type="pres">
      <dgm:prSet presAssocID="{2B8B83FC-685E-4DAA-9723-F448F1B71D48}" presName="hierChild2" presStyleCnt="0"/>
      <dgm:spPr/>
    </dgm:pt>
    <dgm:pt modelId="{D2EF8EBF-4185-4110-8663-B2086887C288}" type="pres">
      <dgm:prSet presAssocID="{F4EC6A12-FA7C-490F-8277-8EA8A7E866AC}" presName="hierRoot1" presStyleCnt="0"/>
      <dgm:spPr/>
    </dgm:pt>
    <dgm:pt modelId="{14C9DBB8-9C97-4E80-A222-07B6CE2DB685}" type="pres">
      <dgm:prSet presAssocID="{F4EC6A12-FA7C-490F-8277-8EA8A7E866AC}" presName="composite" presStyleCnt="0"/>
      <dgm:spPr/>
    </dgm:pt>
    <dgm:pt modelId="{4CC361A6-79D1-4974-A8D7-62EF1317B292}" type="pres">
      <dgm:prSet presAssocID="{F4EC6A12-FA7C-490F-8277-8EA8A7E866AC}" presName="background" presStyleLbl="node0" presStyleIdx="1" presStyleCnt="2"/>
      <dgm:spPr/>
    </dgm:pt>
    <dgm:pt modelId="{BAEF0B2A-CEAD-47A0-872D-50B61C438CF8}" type="pres">
      <dgm:prSet presAssocID="{F4EC6A12-FA7C-490F-8277-8EA8A7E866AC}" presName="text" presStyleLbl="fgAcc0" presStyleIdx="1" presStyleCnt="2">
        <dgm:presLayoutVars>
          <dgm:chPref val="3"/>
        </dgm:presLayoutVars>
      </dgm:prSet>
      <dgm:spPr/>
    </dgm:pt>
    <dgm:pt modelId="{5EC9CAF3-1FC5-4C76-AC17-D88C71C304B2}" type="pres">
      <dgm:prSet presAssocID="{F4EC6A12-FA7C-490F-8277-8EA8A7E866AC}" presName="hierChild2" presStyleCnt="0"/>
      <dgm:spPr/>
    </dgm:pt>
  </dgm:ptLst>
  <dgm:cxnLst>
    <dgm:cxn modelId="{6EFF2628-6814-435C-899C-65CE3FD7BC7A}" type="presOf" srcId="{FE21536A-EC5C-4AE5-9D52-E908BD695A6F}" destId="{C4EF6FAF-F91C-46BC-B2B2-0891D2AE4EBE}" srcOrd="0" destOrd="0" presId="urn:microsoft.com/office/officeart/2005/8/layout/hierarchy1"/>
    <dgm:cxn modelId="{A6DCB15C-7306-4377-BBA1-C3D73511B5E5}" srcId="{FE21536A-EC5C-4AE5-9D52-E908BD695A6F}" destId="{F4EC6A12-FA7C-490F-8277-8EA8A7E866AC}" srcOrd="1" destOrd="0" parTransId="{B40FB739-373E-41CB-B7CE-E0D7D6877D2F}" sibTransId="{129ADBD8-FD82-449B-AE78-05F283BE44F3}"/>
    <dgm:cxn modelId="{C4DEBD5E-F793-4B65-8636-B32B2AB9913B}" type="presOf" srcId="{F4EC6A12-FA7C-490F-8277-8EA8A7E866AC}" destId="{BAEF0B2A-CEAD-47A0-872D-50B61C438CF8}" srcOrd="0" destOrd="0" presId="urn:microsoft.com/office/officeart/2005/8/layout/hierarchy1"/>
    <dgm:cxn modelId="{6D248198-F37D-422B-8E19-74A7795D4F36}" type="presOf" srcId="{2B8B83FC-685E-4DAA-9723-F448F1B71D48}" destId="{4DE5996C-82F9-4764-A221-F2B4FB0B57B2}" srcOrd="0" destOrd="0" presId="urn:microsoft.com/office/officeart/2005/8/layout/hierarchy1"/>
    <dgm:cxn modelId="{ECB47FB6-3BA2-4D65-9965-55DEA6A2C6DC}" srcId="{FE21536A-EC5C-4AE5-9D52-E908BD695A6F}" destId="{2B8B83FC-685E-4DAA-9723-F448F1B71D48}" srcOrd="0" destOrd="0" parTransId="{4EBECE28-FB37-42DA-A191-5ED2C8FD8C2D}" sibTransId="{E6ACCE61-950C-420B-A4F1-C742F870829B}"/>
    <dgm:cxn modelId="{2E63EE22-0F1F-4ABF-8555-496C08416ACE}" type="presParOf" srcId="{C4EF6FAF-F91C-46BC-B2B2-0891D2AE4EBE}" destId="{71BF4681-BA20-4F8C-A2D2-F200A936DA20}" srcOrd="0" destOrd="0" presId="urn:microsoft.com/office/officeart/2005/8/layout/hierarchy1"/>
    <dgm:cxn modelId="{033E10F3-D50B-481D-A980-AE0EB0232D20}" type="presParOf" srcId="{71BF4681-BA20-4F8C-A2D2-F200A936DA20}" destId="{51CC023B-9241-4BFC-AD4A-A0396FEB15A1}" srcOrd="0" destOrd="0" presId="urn:microsoft.com/office/officeart/2005/8/layout/hierarchy1"/>
    <dgm:cxn modelId="{09410F41-F78B-4A62-9093-1EA0F06451DB}" type="presParOf" srcId="{51CC023B-9241-4BFC-AD4A-A0396FEB15A1}" destId="{8193DA1F-9A77-42CD-BD7C-97AF08480C0D}" srcOrd="0" destOrd="0" presId="urn:microsoft.com/office/officeart/2005/8/layout/hierarchy1"/>
    <dgm:cxn modelId="{C79C5E56-7C77-463B-816C-900CCEAAB149}" type="presParOf" srcId="{51CC023B-9241-4BFC-AD4A-A0396FEB15A1}" destId="{4DE5996C-82F9-4764-A221-F2B4FB0B57B2}" srcOrd="1" destOrd="0" presId="urn:microsoft.com/office/officeart/2005/8/layout/hierarchy1"/>
    <dgm:cxn modelId="{BADA47B0-01EA-4557-AD64-B432FF33468F}" type="presParOf" srcId="{71BF4681-BA20-4F8C-A2D2-F200A936DA20}" destId="{C6CFAF1A-7106-464D-96B7-FC27E5EECCCB}" srcOrd="1" destOrd="0" presId="urn:microsoft.com/office/officeart/2005/8/layout/hierarchy1"/>
    <dgm:cxn modelId="{42FFB896-BD3C-4AE6-90FB-97A4B4FD5AE4}" type="presParOf" srcId="{C4EF6FAF-F91C-46BC-B2B2-0891D2AE4EBE}" destId="{D2EF8EBF-4185-4110-8663-B2086887C288}" srcOrd="1" destOrd="0" presId="urn:microsoft.com/office/officeart/2005/8/layout/hierarchy1"/>
    <dgm:cxn modelId="{A41544E3-0DDD-46F8-A6E4-9BBE022D5B32}" type="presParOf" srcId="{D2EF8EBF-4185-4110-8663-B2086887C288}" destId="{14C9DBB8-9C97-4E80-A222-07B6CE2DB685}" srcOrd="0" destOrd="0" presId="urn:microsoft.com/office/officeart/2005/8/layout/hierarchy1"/>
    <dgm:cxn modelId="{DF9C8007-0C6E-48BD-B6CE-968A3DE03FC4}" type="presParOf" srcId="{14C9DBB8-9C97-4E80-A222-07B6CE2DB685}" destId="{4CC361A6-79D1-4974-A8D7-62EF1317B292}" srcOrd="0" destOrd="0" presId="urn:microsoft.com/office/officeart/2005/8/layout/hierarchy1"/>
    <dgm:cxn modelId="{0A64C23B-9D1B-49A7-9B36-4E8A7DBFAF3F}" type="presParOf" srcId="{14C9DBB8-9C97-4E80-A222-07B6CE2DB685}" destId="{BAEF0B2A-CEAD-47A0-872D-50B61C438CF8}" srcOrd="1" destOrd="0" presId="urn:microsoft.com/office/officeart/2005/8/layout/hierarchy1"/>
    <dgm:cxn modelId="{E61334BA-FA13-498F-8E08-5B1D380F4D88}" type="presParOf" srcId="{D2EF8EBF-4185-4110-8663-B2086887C288}" destId="{5EC9CAF3-1FC5-4C76-AC17-D88C71C304B2}"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CCDE8F6-74D3-4D4A-8049-46E8448FA72B}">
      <dsp:nvSpPr>
        <dsp:cNvPr id="0" name=""/>
        <dsp:cNvSpPr/>
      </dsp:nvSpPr>
      <dsp:spPr>
        <a:xfrm>
          <a:off x="1265" y="201038"/>
          <a:ext cx="4440287" cy="281958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2F90974-FD1A-4268-9B4B-9E2F488BC745}">
      <dsp:nvSpPr>
        <dsp:cNvPr id="0" name=""/>
        <dsp:cNvSpPr/>
      </dsp:nvSpPr>
      <dsp:spPr>
        <a:xfrm>
          <a:off x="494630" y="669735"/>
          <a:ext cx="4440287" cy="2819582"/>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pl-PL" sz="1800" kern="1200"/>
            <a:t>Klasyczny projekt IT polega najczęściej na stworzeniu systemu, którego wymagania są stosunkowo jasno określone już na początku. Zespół wie, jaki problem ma rozwiązać, jakie funkcje należy wdrożyć oraz jak powinien wyglądać końcowy produkt. Głównym wyzwaniem jest wtedy dostarczenie rozwiązania zgodnie z harmonogramem i budżetem.</a:t>
          </a:r>
          <a:endParaRPr lang="en-US" sz="1800" kern="1200"/>
        </a:p>
      </dsp:txBody>
      <dsp:txXfrm>
        <a:off x="577213" y="752318"/>
        <a:ext cx="4275121" cy="2654416"/>
      </dsp:txXfrm>
    </dsp:sp>
    <dsp:sp modelId="{E94A8408-DEA4-4686-BBA4-E992A9D3AFAC}">
      <dsp:nvSpPr>
        <dsp:cNvPr id="0" name=""/>
        <dsp:cNvSpPr/>
      </dsp:nvSpPr>
      <dsp:spPr>
        <a:xfrm>
          <a:off x="5428282" y="201038"/>
          <a:ext cx="4440287" cy="281958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D3D8BC9-8346-4323-9C35-3873ED63DED6}">
      <dsp:nvSpPr>
        <dsp:cNvPr id="0" name=""/>
        <dsp:cNvSpPr/>
      </dsp:nvSpPr>
      <dsp:spPr>
        <a:xfrm>
          <a:off x="5921647" y="669735"/>
          <a:ext cx="4440287" cy="2819582"/>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pl-PL" sz="1800" kern="1200"/>
            <a:t>Projekt Data Science różni się od klasycznego IT tym, że rezultat nie jest z góry przewidywalny. W tradycyjnym projekcie programista buduje funkcję, która ma działać zgodnie ze specyfikacją. W Data Science zespół najpierw musi sprawdzić, czy rozwiązanie w ogóle da się zbudować.</a:t>
          </a:r>
          <a:endParaRPr lang="en-US" sz="1800" kern="1200"/>
        </a:p>
      </dsp:txBody>
      <dsp:txXfrm>
        <a:off x="6004230" y="752318"/>
        <a:ext cx="4275121" cy="265441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223E6AC-42E6-4CEB-AE66-5928249E0446}">
      <dsp:nvSpPr>
        <dsp:cNvPr id="0" name=""/>
        <dsp:cNvSpPr/>
      </dsp:nvSpPr>
      <dsp:spPr>
        <a:xfrm>
          <a:off x="0" y="52"/>
          <a:ext cx="8264143" cy="952087"/>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pl-PL" sz="1600" kern="1200" dirty="0"/>
            <a:t>Największą siłą tego modelu jest to, że nie zaczyna się od technologii. Zaczyna się od wartości biznesowej lub klinicznej. Dzięki temu zespół nie tworzy modelu </a:t>
          </a:r>
          <a:r>
            <a:rPr lang="en-US" sz="1600" kern="1200" dirty="0"/>
            <a:t>“</a:t>
          </a:r>
          <a:r>
            <a:rPr lang="pl-PL" sz="1600" kern="1200" dirty="0"/>
            <a:t>dla modelu</a:t>
          </a:r>
          <a:r>
            <a:rPr lang="en-US" sz="1600" kern="1200" dirty="0"/>
            <a:t>”</a:t>
          </a:r>
          <a:r>
            <a:rPr lang="pl-PL" sz="1600" kern="1200" dirty="0"/>
            <a:t>, ale rozwija rozwiązanie, które ma realnie wspierać lekarzy.</a:t>
          </a:r>
          <a:r>
            <a:rPr lang="en-US" sz="1600" kern="1200" dirty="0"/>
            <a:t> </a:t>
          </a:r>
          <a:r>
            <a:rPr lang="pl-PL" sz="1600" kern="1200" dirty="0"/>
            <a:t>CRISP-DM jest nadal szeroko stosowany, ponieważ:</a:t>
          </a:r>
          <a:endParaRPr lang="en-US" sz="1600" kern="1200" dirty="0"/>
        </a:p>
      </dsp:txBody>
      <dsp:txXfrm>
        <a:off x="46477" y="46529"/>
        <a:ext cx="8171189" cy="859133"/>
      </dsp:txXfrm>
    </dsp:sp>
    <dsp:sp modelId="{EF33E478-C49C-4E6E-A6BF-5AAB4CEB1211}">
      <dsp:nvSpPr>
        <dsp:cNvPr id="0" name=""/>
        <dsp:cNvSpPr/>
      </dsp:nvSpPr>
      <dsp:spPr>
        <a:xfrm>
          <a:off x="0" y="964346"/>
          <a:ext cx="8264143" cy="952087"/>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pl-PL" sz="1600" kern="1200"/>
            <a:t>porządkuje pracę, </a:t>
          </a:r>
          <a:endParaRPr lang="en-US" sz="1600" kern="1200"/>
        </a:p>
      </dsp:txBody>
      <dsp:txXfrm>
        <a:off x="46477" y="1010823"/>
        <a:ext cx="8171189" cy="859133"/>
      </dsp:txXfrm>
    </dsp:sp>
    <dsp:sp modelId="{E259B8F6-C8B2-409D-B6F4-3CC9AF597B4E}">
      <dsp:nvSpPr>
        <dsp:cNvPr id="0" name=""/>
        <dsp:cNvSpPr/>
      </dsp:nvSpPr>
      <dsp:spPr>
        <a:xfrm>
          <a:off x="0" y="1928640"/>
          <a:ext cx="8264143" cy="952087"/>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pl-PL" sz="1600" kern="1200"/>
            <a:t>wspiera iteracje, </a:t>
          </a:r>
          <a:endParaRPr lang="en-US" sz="1600" kern="1200"/>
        </a:p>
      </dsp:txBody>
      <dsp:txXfrm>
        <a:off x="46477" y="1975117"/>
        <a:ext cx="8171189" cy="859133"/>
      </dsp:txXfrm>
    </dsp:sp>
    <dsp:sp modelId="{1E6BAE8F-CFEB-46B3-82DE-3DBB7C4BEA3E}">
      <dsp:nvSpPr>
        <dsp:cNvPr id="0" name=""/>
        <dsp:cNvSpPr/>
      </dsp:nvSpPr>
      <dsp:spPr>
        <a:xfrm>
          <a:off x="0" y="2892934"/>
          <a:ext cx="8264143" cy="952087"/>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pl-PL" sz="1600" kern="1200"/>
            <a:t>poprawia komunikację, </a:t>
          </a:r>
          <a:endParaRPr lang="en-US" sz="1600" kern="1200"/>
        </a:p>
      </dsp:txBody>
      <dsp:txXfrm>
        <a:off x="46477" y="2939411"/>
        <a:ext cx="8171189" cy="859133"/>
      </dsp:txXfrm>
    </dsp:sp>
    <dsp:sp modelId="{32022A96-77E4-4508-9D0D-648997E15C9C}">
      <dsp:nvSpPr>
        <dsp:cNvPr id="0" name=""/>
        <dsp:cNvSpPr/>
      </dsp:nvSpPr>
      <dsp:spPr>
        <a:xfrm>
          <a:off x="0" y="3857227"/>
          <a:ext cx="8264143" cy="952087"/>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pl-PL" sz="1600" kern="1200"/>
            <a:t>łączy technologię z celem biznesowym, </a:t>
          </a:r>
          <a:endParaRPr lang="en-US" sz="1600" kern="1200"/>
        </a:p>
      </dsp:txBody>
      <dsp:txXfrm>
        <a:off x="46477" y="3903704"/>
        <a:ext cx="8171189" cy="859133"/>
      </dsp:txXfrm>
    </dsp:sp>
    <dsp:sp modelId="{71029917-827A-4620-A08F-AEE2BD502AD0}">
      <dsp:nvSpPr>
        <dsp:cNvPr id="0" name=""/>
        <dsp:cNvSpPr/>
      </dsp:nvSpPr>
      <dsp:spPr>
        <a:xfrm>
          <a:off x="0" y="4821521"/>
          <a:ext cx="8264143" cy="952087"/>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pl-PL" sz="1600" kern="1200"/>
            <a:t>zmniejsza chaos projektowy.</a:t>
          </a:r>
          <a:endParaRPr lang="en-US" sz="1600" kern="1200"/>
        </a:p>
      </dsp:txBody>
      <dsp:txXfrm>
        <a:off x="46477" y="4867998"/>
        <a:ext cx="8171189" cy="85913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9371C04-53B7-42C4-BF5C-C5F172B91AD1}">
      <dsp:nvSpPr>
        <dsp:cNvPr id="0" name=""/>
        <dsp:cNvSpPr/>
      </dsp:nvSpPr>
      <dsp:spPr>
        <a:xfrm>
          <a:off x="0" y="0"/>
          <a:ext cx="5988574" cy="1083789"/>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pl-PL" sz="1600" kern="1200"/>
            <a:t>KDD najlepiej opisuje sam proces odkrywania wiedzy w danych. Pokazuje drogę od surowej informacji do praktycznej wiedzy wspierającej decyzję medyczną.</a:t>
          </a:r>
          <a:endParaRPr lang="en-US" sz="1600" kern="1200"/>
        </a:p>
      </dsp:txBody>
      <dsp:txXfrm>
        <a:off x="31743" y="31743"/>
        <a:ext cx="4727500" cy="1020303"/>
      </dsp:txXfrm>
    </dsp:sp>
    <dsp:sp modelId="{A8ABA923-5625-45FC-8D4F-5D65D3A21639}">
      <dsp:nvSpPr>
        <dsp:cNvPr id="0" name=""/>
        <dsp:cNvSpPr/>
      </dsp:nvSpPr>
      <dsp:spPr>
        <a:xfrm>
          <a:off x="501543" y="1280842"/>
          <a:ext cx="5988574" cy="1083789"/>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pl-PL" sz="1600" kern="1200"/>
            <a:t>CRISP-DM koncentruje się bardziej na zarządzaniu projektem. Pomaga koordynować współpracę między analitykami, inżynierami i ekspertami domenowymi.</a:t>
          </a:r>
          <a:endParaRPr lang="en-US" sz="1600" kern="1200"/>
        </a:p>
      </dsp:txBody>
      <dsp:txXfrm>
        <a:off x="533286" y="1312585"/>
        <a:ext cx="4719081" cy="1020303"/>
      </dsp:txXfrm>
    </dsp:sp>
    <dsp:sp modelId="{242FAF55-E7F9-4410-B4DA-91694FCDEBEA}">
      <dsp:nvSpPr>
        <dsp:cNvPr id="0" name=""/>
        <dsp:cNvSpPr/>
      </dsp:nvSpPr>
      <dsp:spPr>
        <a:xfrm>
          <a:off x="995600" y="2561685"/>
          <a:ext cx="5988574" cy="1083789"/>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pl-PL" sz="1600" kern="1200"/>
            <a:t>SEMMA skupia się natomiast na technicznej stronie analizy i obejmuje:</a:t>
          </a:r>
          <a:r>
            <a:rPr lang="en-US" sz="1600" kern="1200"/>
            <a:t> </a:t>
          </a:r>
          <a:r>
            <a:rPr lang="pl-PL" sz="1600" kern="1200"/>
            <a:t>Sample, Explore, Modify, Model, Assess. </a:t>
          </a:r>
          <a:endParaRPr lang="en-US" sz="1600" kern="1200"/>
        </a:p>
      </dsp:txBody>
      <dsp:txXfrm>
        <a:off x="1027343" y="2593428"/>
        <a:ext cx="4726567" cy="1020303"/>
      </dsp:txXfrm>
    </dsp:sp>
    <dsp:sp modelId="{39E167A4-322D-437F-9327-72AB5E46401B}">
      <dsp:nvSpPr>
        <dsp:cNvPr id="0" name=""/>
        <dsp:cNvSpPr/>
      </dsp:nvSpPr>
      <dsp:spPr>
        <a:xfrm>
          <a:off x="1497143" y="3842528"/>
          <a:ext cx="5988574" cy="1083789"/>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pl-PL" sz="1600" kern="1200"/>
            <a:t>W praktyce:</a:t>
          </a:r>
          <a:r>
            <a:rPr lang="en-US" sz="1600" kern="1200"/>
            <a:t> </a:t>
          </a:r>
          <a:r>
            <a:rPr lang="pl-PL" sz="1600" kern="1200"/>
            <a:t>KDD jest bardziej naukowy, </a:t>
          </a:r>
          <a:r>
            <a:rPr lang="en-US" sz="1600" kern="1200"/>
            <a:t> </a:t>
          </a:r>
          <a:r>
            <a:rPr lang="pl-PL" sz="1600" kern="1200"/>
            <a:t>CRISP-DM bardziej projektowy, SEMMA bardziej analityczny.</a:t>
          </a:r>
          <a:endParaRPr lang="en-US" sz="1600" kern="1200"/>
        </a:p>
      </dsp:txBody>
      <dsp:txXfrm>
        <a:off x="1528886" y="3874271"/>
        <a:ext cx="4719081" cy="1020303"/>
      </dsp:txXfrm>
    </dsp:sp>
    <dsp:sp modelId="{03091DE0-A4BB-4529-AB92-F5733F2FF81D}">
      <dsp:nvSpPr>
        <dsp:cNvPr id="0" name=""/>
        <dsp:cNvSpPr/>
      </dsp:nvSpPr>
      <dsp:spPr>
        <a:xfrm>
          <a:off x="5284110" y="830084"/>
          <a:ext cx="704463" cy="704463"/>
        </a:xfrm>
        <a:prstGeom prst="downArrow">
          <a:avLst>
            <a:gd name="adj1" fmla="val 55000"/>
            <a:gd name="adj2" fmla="val 45000"/>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0640" tIns="40640" rIns="40640" bIns="40640" numCol="1" spcCol="1270" anchor="ctr" anchorCtr="0">
          <a:noAutofit/>
        </a:bodyPr>
        <a:lstStyle/>
        <a:p>
          <a:pPr marL="0" lvl="0" indent="0" algn="ctr" defTabSz="1422400">
            <a:lnSpc>
              <a:spcPct val="90000"/>
            </a:lnSpc>
            <a:spcBef>
              <a:spcPct val="0"/>
            </a:spcBef>
            <a:spcAft>
              <a:spcPct val="35000"/>
            </a:spcAft>
            <a:buNone/>
          </a:pPr>
          <a:endParaRPr lang="en-US" sz="3200" kern="1200"/>
        </a:p>
      </dsp:txBody>
      <dsp:txXfrm>
        <a:off x="5442614" y="830084"/>
        <a:ext cx="387455" cy="530108"/>
      </dsp:txXfrm>
    </dsp:sp>
    <dsp:sp modelId="{290DB6B4-AC28-4D8F-99B0-8660BC8A3B93}">
      <dsp:nvSpPr>
        <dsp:cNvPr id="0" name=""/>
        <dsp:cNvSpPr/>
      </dsp:nvSpPr>
      <dsp:spPr>
        <a:xfrm>
          <a:off x="5785654" y="2110927"/>
          <a:ext cx="704463" cy="704463"/>
        </a:xfrm>
        <a:prstGeom prst="downArrow">
          <a:avLst>
            <a:gd name="adj1" fmla="val 55000"/>
            <a:gd name="adj2" fmla="val 45000"/>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0640" tIns="40640" rIns="40640" bIns="40640" numCol="1" spcCol="1270" anchor="ctr" anchorCtr="0">
          <a:noAutofit/>
        </a:bodyPr>
        <a:lstStyle/>
        <a:p>
          <a:pPr marL="0" lvl="0" indent="0" algn="ctr" defTabSz="1422400">
            <a:lnSpc>
              <a:spcPct val="90000"/>
            </a:lnSpc>
            <a:spcBef>
              <a:spcPct val="0"/>
            </a:spcBef>
            <a:spcAft>
              <a:spcPct val="35000"/>
            </a:spcAft>
            <a:buNone/>
          </a:pPr>
          <a:endParaRPr lang="en-US" sz="3200" kern="1200"/>
        </a:p>
      </dsp:txBody>
      <dsp:txXfrm>
        <a:off x="5944158" y="2110927"/>
        <a:ext cx="387455" cy="530108"/>
      </dsp:txXfrm>
    </dsp:sp>
    <dsp:sp modelId="{8E34C2D2-C14A-481F-B7FD-AEA71638DDB5}">
      <dsp:nvSpPr>
        <dsp:cNvPr id="0" name=""/>
        <dsp:cNvSpPr/>
      </dsp:nvSpPr>
      <dsp:spPr>
        <a:xfrm>
          <a:off x="6279711" y="3391769"/>
          <a:ext cx="704463" cy="704463"/>
        </a:xfrm>
        <a:prstGeom prst="downArrow">
          <a:avLst>
            <a:gd name="adj1" fmla="val 55000"/>
            <a:gd name="adj2" fmla="val 45000"/>
          </a:avLst>
        </a:prstGeom>
        <a:solidFill>
          <a:schemeClr val="accent4">
            <a:tint val="40000"/>
            <a:alpha val="90000"/>
            <a:hueOff val="0"/>
            <a:satOff val="0"/>
            <a:lumOff val="0"/>
            <a:alphaOff val="0"/>
          </a:schemeClr>
        </a:solidFill>
        <a:ln w="12700" cap="flat" cmpd="sng" algn="ctr">
          <a:solidFill>
            <a:schemeClr val="accent4">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0640" tIns="40640" rIns="40640" bIns="40640" numCol="1" spcCol="1270" anchor="ctr" anchorCtr="0">
          <a:noAutofit/>
        </a:bodyPr>
        <a:lstStyle/>
        <a:p>
          <a:pPr marL="0" lvl="0" indent="0" algn="ctr" defTabSz="1422400">
            <a:lnSpc>
              <a:spcPct val="90000"/>
            </a:lnSpc>
            <a:spcBef>
              <a:spcPct val="0"/>
            </a:spcBef>
            <a:spcAft>
              <a:spcPct val="35000"/>
            </a:spcAft>
            <a:buNone/>
          </a:pPr>
          <a:endParaRPr lang="en-US" sz="3200" kern="1200"/>
        </a:p>
      </dsp:txBody>
      <dsp:txXfrm>
        <a:off x="6438215" y="3391769"/>
        <a:ext cx="387455" cy="53010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04B0E72-25DF-4C57-A086-579F3CDF0ECA}">
      <dsp:nvSpPr>
        <dsp:cNvPr id="0" name=""/>
        <dsp:cNvSpPr/>
      </dsp:nvSpPr>
      <dsp:spPr>
        <a:xfrm>
          <a:off x="850" y="0"/>
          <a:ext cx="3445958" cy="3738863"/>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0384" tIns="0" rIns="340384" bIns="330200" numCol="1" spcCol="1270" anchor="t" anchorCtr="0">
          <a:noAutofit/>
        </a:bodyPr>
        <a:lstStyle/>
        <a:p>
          <a:pPr marL="0" lvl="0" indent="0" algn="l" defTabSz="533400">
            <a:lnSpc>
              <a:spcPct val="90000"/>
            </a:lnSpc>
            <a:spcBef>
              <a:spcPct val="0"/>
            </a:spcBef>
            <a:spcAft>
              <a:spcPct val="35000"/>
            </a:spcAft>
            <a:buNone/>
          </a:pPr>
          <a:r>
            <a:rPr lang="pl-PL" sz="1200" kern="1200" dirty="0"/>
            <a:t>W projektach Data Science odpowiedzialność zespołu zmienia się wraz z przechodzeniem przez kolejne etapy projektu. Na początku najważniejsze jest zrozumienie problemu biznesowego. W tym momencie odpowiedzialność spoczywa głównie na Product </a:t>
          </a:r>
          <a:r>
            <a:rPr lang="pl-PL" sz="1200" kern="1200" dirty="0" err="1"/>
            <a:t>Ownerze</a:t>
          </a:r>
          <a:r>
            <a:rPr lang="pl-PL" sz="1200" kern="1200" dirty="0"/>
            <a:t> oraz ekspertach domenowych, którzy muszą określić, jaki problem organizacja chce rozwiązać i jakie rezultaty będą miały wartość.</a:t>
          </a:r>
          <a:endParaRPr lang="en-US" sz="1200" kern="1200" dirty="0"/>
        </a:p>
      </dsp:txBody>
      <dsp:txXfrm>
        <a:off x="850" y="1495545"/>
        <a:ext cx="3445958" cy="2243317"/>
      </dsp:txXfrm>
    </dsp:sp>
    <dsp:sp modelId="{D4808848-F277-444E-A5D5-089501535942}">
      <dsp:nvSpPr>
        <dsp:cNvPr id="0" name=""/>
        <dsp:cNvSpPr/>
      </dsp:nvSpPr>
      <dsp:spPr>
        <a:xfrm>
          <a:off x="850" y="0"/>
          <a:ext cx="3445958" cy="1495545"/>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40384" tIns="165100" rIns="340384" bIns="165100" numCol="1" spcCol="1270" anchor="ctr" anchorCtr="0">
          <a:noAutofit/>
        </a:bodyPr>
        <a:lstStyle/>
        <a:p>
          <a:pPr marL="0" lvl="0" indent="0" algn="l" defTabSz="2933700">
            <a:lnSpc>
              <a:spcPct val="90000"/>
            </a:lnSpc>
            <a:spcBef>
              <a:spcPct val="0"/>
            </a:spcBef>
            <a:spcAft>
              <a:spcPct val="35000"/>
            </a:spcAft>
            <a:buNone/>
          </a:pPr>
          <a:r>
            <a:rPr lang="en-US" sz="6600" kern="1200"/>
            <a:t>01</a:t>
          </a:r>
        </a:p>
      </dsp:txBody>
      <dsp:txXfrm>
        <a:off x="850" y="0"/>
        <a:ext cx="3445958" cy="1495545"/>
      </dsp:txXfrm>
    </dsp:sp>
    <dsp:sp modelId="{0683C231-AFF1-4AD4-9CE6-8580CA910A4C}">
      <dsp:nvSpPr>
        <dsp:cNvPr id="0" name=""/>
        <dsp:cNvSpPr/>
      </dsp:nvSpPr>
      <dsp:spPr>
        <a:xfrm>
          <a:off x="3722485" y="0"/>
          <a:ext cx="3445958" cy="3738863"/>
        </a:xfrm>
        <a:prstGeom prst="rect">
          <a:avLst/>
        </a:prstGeom>
        <a:solidFill>
          <a:schemeClr val="accent2">
            <a:hueOff val="3536049"/>
            <a:satOff val="-13319"/>
            <a:lumOff val="11176"/>
            <a:alphaOff val="0"/>
          </a:schemeClr>
        </a:solidFill>
        <a:ln w="12700" cap="flat" cmpd="sng" algn="ctr">
          <a:solidFill>
            <a:schemeClr val="accent2">
              <a:hueOff val="3536049"/>
              <a:satOff val="-13319"/>
              <a:lumOff val="11176"/>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0384" tIns="0" rIns="340384" bIns="330200" numCol="1" spcCol="1270" anchor="t" anchorCtr="0">
          <a:noAutofit/>
        </a:bodyPr>
        <a:lstStyle/>
        <a:p>
          <a:pPr marL="0" lvl="0" indent="0" algn="l" defTabSz="533400">
            <a:lnSpc>
              <a:spcPct val="90000"/>
            </a:lnSpc>
            <a:spcBef>
              <a:spcPct val="0"/>
            </a:spcBef>
            <a:spcAft>
              <a:spcPct val="35000"/>
            </a:spcAft>
            <a:buNone/>
          </a:pPr>
          <a:r>
            <a:rPr lang="pl-PL" sz="1200" kern="1200" dirty="0"/>
            <a:t>Kiedy projekt przechodzi do etapu pracy z danymi, ciężar odpowiedzialności przesuwa się w stronę Data </a:t>
          </a:r>
          <a:r>
            <a:rPr lang="pl-PL" sz="1200" kern="1200" dirty="0" err="1"/>
            <a:t>Engineerów</a:t>
          </a:r>
          <a:r>
            <a:rPr lang="pl-PL" sz="1200" kern="1200" dirty="0"/>
            <a:t> oraz analityków. To oni odpowiadają za jakość źródeł danych, poprawność ich integracji oraz przygotowanie środowiska analitycznego. Bez tego model nie ma szans działać poprawnie.</a:t>
          </a:r>
          <a:endParaRPr lang="en-US" sz="1200" kern="1200" dirty="0"/>
        </a:p>
      </dsp:txBody>
      <dsp:txXfrm>
        <a:off x="3722485" y="1495545"/>
        <a:ext cx="3445958" cy="2243317"/>
      </dsp:txXfrm>
    </dsp:sp>
    <dsp:sp modelId="{8D413613-33C4-408E-9E6E-ED3B2E93A050}">
      <dsp:nvSpPr>
        <dsp:cNvPr id="0" name=""/>
        <dsp:cNvSpPr/>
      </dsp:nvSpPr>
      <dsp:spPr>
        <a:xfrm>
          <a:off x="3722485" y="0"/>
          <a:ext cx="3445958" cy="1495545"/>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40384" tIns="165100" rIns="340384" bIns="165100" numCol="1" spcCol="1270" anchor="ctr" anchorCtr="0">
          <a:noAutofit/>
        </a:bodyPr>
        <a:lstStyle/>
        <a:p>
          <a:pPr marL="0" lvl="0" indent="0" algn="l" defTabSz="2933700">
            <a:lnSpc>
              <a:spcPct val="90000"/>
            </a:lnSpc>
            <a:spcBef>
              <a:spcPct val="0"/>
            </a:spcBef>
            <a:spcAft>
              <a:spcPct val="35000"/>
            </a:spcAft>
            <a:buNone/>
          </a:pPr>
          <a:r>
            <a:rPr lang="en-US" sz="6600" kern="1200"/>
            <a:t>02</a:t>
          </a:r>
        </a:p>
      </dsp:txBody>
      <dsp:txXfrm>
        <a:off x="3722485" y="0"/>
        <a:ext cx="3445958" cy="1495545"/>
      </dsp:txXfrm>
    </dsp:sp>
    <dsp:sp modelId="{3091271F-D89B-4F28-9DB1-AACAD008A253}">
      <dsp:nvSpPr>
        <dsp:cNvPr id="0" name=""/>
        <dsp:cNvSpPr/>
      </dsp:nvSpPr>
      <dsp:spPr>
        <a:xfrm>
          <a:off x="7444120" y="0"/>
          <a:ext cx="3445958" cy="3738863"/>
        </a:xfrm>
        <a:prstGeom prst="rect">
          <a:avLst/>
        </a:prstGeom>
        <a:solidFill>
          <a:schemeClr val="accent2">
            <a:hueOff val="7072097"/>
            <a:satOff val="-26638"/>
            <a:lumOff val="22353"/>
            <a:alphaOff val="0"/>
          </a:schemeClr>
        </a:solidFill>
        <a:ln w="12700" cap="flat" cmpd="sng" algn="ctr">
          <a:solidFill>
            <a:schemeClr val="accent2">
              <a:hueOff val="7072097"/>
              <a:satOff val="-26638"/>
              <a:lumOff val="2235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0384" tIns="0" rIns="340384" bIns="330200" numCol="1" spcCol="1270" anchor="t" anchorCtr="0">
          <a:noAutofit/>
        </a:bodyPr>
        <a:lstStyle/>
        <a:p>
          <a:pPr marL="0" lvl="0" indent="0" algn="l" defTabSz="533400">
            <a:lnSpc>
              <a:spcPct val="90000"/>
            </a:lnSpc>
            <a:spcBef>
              <a:spcPct val="0"/>
            </a:spcBef>
            <a:spcAft>
              <a:spcPct val="35000"/>
            </a:spcAft>
            <a:buNone/>
          </a:pPr>
          <a:r>
            <a:rPr lang="pl-PL" sz="1200" kern="1200"/>
            <a:t>W fazie modelowania główną rolę przejmuje Data Scientist. Odpowiada za dobór algorytmu, ocenę skuteczności oraz interpretację wyników. Gdy projekt przechodzi do wdrożenia, odpowiedzialność przejmuje Machine Learning Engineer, który dba o stabilność modelu w środowisku produkcyjnym.</a:t>
          </a:r>
          <a:endParaRPr lang="en-US" sz="1200" kern="1200"/>
        </a:p>
      </dsp:txBody>
      <dsp:txXfrm>
        <a:off x="7444120" y="1495545"/>
        <a:ext cx="3445958" cy="2243317"/>
      </dsp:txXfrm>
    </dsp:sp>
    <dsp:sp modelId="{6C1DC366-8E11-4FEF-AA50-349DC1AC696F}">
      <dsp:nvSpPr>
        <dsp:cNvPr id="0" name=""/>
        <dsp:cNvSpPr/>
      </dsp:nvSpPr>
      <dsp:spPr>
        <a:xfrm>
          <a:off x="7444120" y="0"/>
          <a:ext cx="3445958" cy="1495545"/>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40384" tIns="165100" rIns="340384" bIns="165100" numCol="1" spcCol="1270" anchor="ctr" anchorCtr="0">
          <a:noAutofit/>
        </a:bodyPr>
        <a:lstStyle/>
        <a:p>
          <a:pPr marL="0" lvl="0" indent="0" algn="l" defTabSz="2933700">
            <a:lnSpc>
              <a:spcPct val="90000"/>
            </a:lnSpc>
            <a:spcBef>
              <a:spcPct val="0"/>
            </a:spcBef>
            <a:spcAft>
              <a:spcPct val="35000"/>
            </a:spcAft>
            <a:buNone/>
          </a:pPr>
          <a:r>
            <a:rPr lang="en-US" sz="6600" kern="1200"/>
            <a:t>03</a:t>
          </a:r>
        </a:p>
      </dsp:txBody>
      <dsp:txXfrm>
        <a:off x="7444120" y="0"/>
        <a:ext cx="3445958" cy="149554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9A6B063-8C6C-4F74-BD8B-F4ED0CFD8F96}">
      <dsp:nvSpPr>
        <dsp:cNvPr id="0" name=""/>
        <dsp:cNvSpPr/>
      </dsp:nvSpPr>
      <dsp:spPr>
        <a:xfrm>
          <a:off x="0" y="623"/>
          <a:ext cx="7216416" cy="146000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E7708A8-4CC6-4DF5-B16B-727A2DA6B198}">
      <dsp:nvSpPr>
        <dsp:cNvPr id="0" name=""/>
        <dsp:cNvSpPr/>
      </dsp:nvSpPr>
      <dsp:spPr>
        <a:xfrm>
          <a:off x="441651" y="329124"/>
          <a:ext cx="803001" cy="80300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D87F1E6-6B2D-4475-A429-CEC90143FC78}">
      <dsp:nvSpPr>
        <dsp:cNvPr id="0" name=""/>
        <dsp:cNvSpPr/>
      </dsp:nvSpPr>
      <dsp:spPr>
        <a:xfrm>
          <a:off x="1686304" y="623"/>
          <a:ext cx="5530111" cy="14600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4517" tIns="154517" rIns="154517" bIns="154517" numCol="1" spcCol="1270" anchor="ctr" anchorCtr="0">
          <a:noAutofit/>
        </a:bodyPr>
        <a:lstStyle/>
        <a:p>
          <a:pPr marL="0" lvl="0" indent="0" algn="l" defTabSz="622300">
            <a:lnSpc>
              <a:spcPct val="90000"/>
            </a:lnSpc>
            <a:spcBef>
              <a:spcPct val="0"/>
            </a:spcBef>
            <a:spcAft>
              <a:spcPct val="35000"/>
            </a:spcAft>
            <a:buNone/>
          </a:pPr>
          <a:r>
            <a:rPr lang="pl-PL" sz="1400" kern="1200"/>
            <a:t>W klasycznych projektach IT głównymi artefaktami są kod źródłowy i dokumentacja systemu. W projektach Data Science lista rezultatów jest znacznie szersza, ponieważ produkt analityczny powstaje etapami i wymaga różnych form zapisu wiedzy.</a:t>
          </a:r>
          <a:endParaRPr lang="en-US" sz="1400" kern="1200"/>
        </a:p>
      </dsp:txBody>
      <dsp:txXfrm>
        <a:off x="1686304" y="623"/>
        <a:ext cx="5530111" cy="1460003"/>
      </dsp:txXfrm>
    </dsp:sp>
    <dsp:sp modelId="{9C81A517-8341-4786-8E02-A2081E69737D}">
      <dsp:nvSpPr>
        <dsp:cNvPr id="0" name=""/>
        <dsp:cNvSpPr/>
      </dsp:nvSpPr>
      <dsp:spPr>
        <a:xfrm>
          <a:off x="0" y="1825628"/>
          <a:ext cx="7216416" cy="146000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B569197-E825-40EE-8563-1C53562F7EB2}">
      <dsp:nvSpPr>
        <dsp:cNvPr id="0" name=""/>
        <dsp:cNvSpPr/>
      </dsp:nvSpPr>
      <dsp:spPr>
        <a:xfrm>
          <a:off x="441651" y="2154129"/>
          <a:ext cx="803001" cy="80300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EB28667-4FC1-42F4-BFCE-397235EB8B45}">
      <dsp:nvSpPr>
        <dsp:cNvPr id="0" name=""/>
        <dsp:cNvSpPr/>
      </dsp:nvSpPr>
      <dsp:spPr>
        <a:xfrm>
          <a:off x="1686304" y="1825628"/>
          <a:ext cx="5530111" cy="14600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4517" tIns="154517" rIns="154517" bIns="154517" numCol="1" spcCol="1270" anchor="ctr" anchorCtr="0">
          <a:noAutofit/>
        </a:bodyPr>
        <a:lstStyle/>
        <a:p>
          <a:pPr marL="0" lvl="0" indent="0" algn="l" defTabSz="622300">
            <a:lnSpc>
              <a:spcPct val="90000"/>
            </a:lnSpc>
            <a:spcBef>
              <a:spcPct val="0"/>
            </a:spcBef>
            <a:spcAft>
              <a:spcPct val="35000"/>
            </a:spcAft>
            <a:buNone/>
          </a:pPr>
          <a:r>
            <a:rPr lang="pl-PL" sz="1400" kern="1200"/>
            <a:t>Jednym z pierwszych artefaktów są notebooki analityczne, które służą do eksperymentów i testowania hipotez. Zawierają kod, wyniki analiz oraz komentarze pozwalające śledzić tok myślenia analityka. Kolejnym elementem są pipeline danych, czyli procesy automatycznie pobierające i przygotowujące dane.</a:t>
          </a:r>
          <a:endParaRPr lang="en-US" sz="1400" kern="1200"/>
        </a:p>
      </dsp:txBody>
      <dsp:txXfrm>
        <a:off x="1686304" y="1825628"/>
        <a:ext cx="5530111" cy="1460003"/>
      </dsp:txXfrm>
    </dsp:sp>
    <dsp:sp modelId="{DD7FC880-0BFF-4756-9D94-1813AAA1AC09}">
      <dsp:nvSpPr>
        <dsp:cNvPr id="0" name=""/>
        <dsp:cNvSpPr/>
      </dsp:nvSpPr>
      <dsp:spPr>
        <a:xfrm>
          <a:off x="0" y="3650632"/>
          <a:ext cx="7216416" cy="146000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C3C94AC-CD0D-42D7-9B88-13A66AC197CB}">
      <dsp:nvSpPr>
        <dsp:cNvPr id="0" name=""/>
        <dsp:cNvSpPr/>
      </dsp:nvSpPr>
      <dsp:spPr>
        <a:xfrm>
          <a:off x="441651" y="3979133"/>
          <a:ext cx="803001" cy="80300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379D1FC-6E81-483B-834C-3BBF95A5A289}">
      <dsp:nvSpPr>
        <dsp:cNvPr id="0" name=""/>
        <dsp:cNvSpPr/>
      </dsp:nvSpPr>
      <dsp:spPr>
        <a:xfrm>
          <a:off x="1686304" y="3650632"/>
          <a:ext cx="5530111" cy="14600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4517" tIns="154517" rIns="154517" bIns="154517" numCol="1" spcCol="1270" anchor="ctr" anchorCtr="0">
          <a:noAutofit/>
        </a:bodyPr>
        <a:lstStyle/>
        <a:p>
          <a:pPr marL="0" lvl="0" indent="0" algn="l" defTabSz="622300">
            <a:lnSpc>
              <a:spcPct val="90000"/>
            </a:lnSpc>
            <a:spcBef>
              <a:spcPct val="0"/>
            </a:spcBef>
            <a:spcAft>
              <a:spcPct val="35000"/>
            </a:spcAft>
            <a:buNone/>
          </a:pPr>
          <a:r>
            <a:rPr lang="pl-PL" sz="1400" kern="1200"/>
            <a:t>Następnie powstają modele predykcyjne zapisane w repozytoriach wraz z wersjonowaniem parametrów. Bardzo ważnym artefaktem są również raporty biznesowe, które tłumaczą wyniki analizy osobom nietechnicznym. W późniejszej fazie pojawiają się dashboardy monitorujące skuteczność modelu po wdrożeniu.</a:t>
          </a:r>
          <a:endParaRPr lang="en-US" sz="1400" kern="1200"/>
        </a:p>
      </dsp:txBody>
      <dsp:txXfrm>
        <a:off x="1686304" y="3650632"/>
        <a:ext cx="5530111" cy="1460003"/>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3130904-F0F3-4C99-8C54-1D2C1C5E375A}">
      <dsp:nvSpPr>
        <dsp:cNvPr id="0" name=""/>
        <dsp:cNvSpPr/>
      </dsp:nvSpPr>
      <dsp:spPr>
        <a:xfrm>
          <a:off x="0" y="484283"/>
          <a:ext cx="6479357" cy="599625"/>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pl-PL" sz="2500" kern="1200"/>
            <a:t>Iteracyjność wpływa na jakość poprzez:</a:t>
          </a:r>
          <a:endParaRPr lang="en-US" sz="2500" kern="1200"/>
        </a:p>
      </dsp:txBody>
      <dsp:txXfrm>
        <a:off x="29271" y="513554"/>
        <a:ext cx="6420815" cy="541083"/>
      </dsp:txXfrm>
    </dsp:sp>
    <dsp:sp modelId="{1B63237D-FF3C-439E-AA17-D2E5FBA5A0D5}">
      <dsp:nvSpPr>
        <dsp:cNvPr id="0" name=""/>
        <dsp:cNvSpPr/>
      </dsp:nvSpPr>
      <dsp:spPr>
        <a:xfrm>
          <a:off x="0" y="1155908"/>
          <a:ext cx="6479357" cy="599625"/>
        </a:xfrm>
        <a:prstGeom prst="roundRect">
          <a:avLst/>
        </a:prstGeom>
        <a:solidFill>
          <a:schemeClr val="accent5">
            <a:hueOff val="1802159"/>
            <a:satOff val="-4508"/>
            <a:lumOff val="-490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pl-PL" sz="2500" kern="1200"/>
            <a:t>poprawę danych, </a:t>
          </a:r>
          <a:endParaRPr lang="en-US" sz="2500" kern="1200"/>
        </a:p>
      </dsp:txBody>
      <dsp:txXfrm>
        <a:off x="29271" y="1185179"/>
        <a:ext cx="6420815" cy="541083"/>
      </dsp:txXfrm>
    </dsp:sp>
    <dsp:sp modelId="{D4332252-0222-4E51-8648-E15B620230AF}">
      <dsp:nvSpPr>
        <dsp:cNvPr id="0" name=""/>
        <dsp:cNvSpPr/>
      </dsp:nvSpPr>
      <dsp:spPr>
        <a:xfrm>
          <a:off x="0" y="1827534"/>
          <a:ext cx="6479357" cy="599625"/>
        </a:xfrm>
        <a:prstGeom prst="roundRect">
          <a:avLst/>
        </a:prstGeom>
        <a:solidFill>
          <a:schemeClr val="accent5">
            <a:hueOff val="3604318"/>
            <a:satOff val="-9016"/>
            <a:lumOff val="-980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pl-PL" sz="2500" kern="1200"/>
            <a:t>zmianę cech wejściowych, </a:t>
          </a:r>
          <a:endParaRPr lang="en-US" sz="2500" kern="1200"/>
        </a:p>
      </dsp:txBody>
      <dsp:txXfrm>
        <a:off x="29271" y="1856805"/>
        <a:ext cx="6420815" cy="541083"/>
      </dsp:txXfrm>
    </dsp:sp>
    <dsp:sp modelId="{ED9D0EC7-B8C1-4E4D-9429-AEA840B2923B}">
      <dsp:nvSpPr>
        <dsp:cNvPr id="0" name=""/>
        <dsp:cNvSpPr/>
      </dsp:nvSpPr>
      <dsp:spPr>
        <a:xfrm>
          <a:off x="0" y="2499159"/>
          <a:ext cx="6479357" cy="599625"/>
        </a:xfrm>
        <a:prstGeom prst="roundRect">
          <a:avLst/>
        </a:prstGeom>
        <a:solidFill>
          <a:schemeClr val="accent5">
            <a:hueOff val="5406476"/>
            <a:satOff val="-13523"/>
            <a:lumOff val="-1470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pl-PL" sz="2500" kern="1200"/>
            <a:t>tuning parametrów, </a:t>
          </a:r>
          <a:endParaRPr lang="en-US" sz="2500" kern="1200"/>
        </a:p>
      </dsp:txBody>
      <dsp:txXfrm>
        <a:off x="29271" y="2528430"/>
        <a:ext cx="6420815" cy="541083"/>
      </dsp:txXfrm>
    </dsp:sp>
    <dsp:sp modelId="{E6F033FE-F1EC-4B24-BC49-45F8413A8566}">
      <dsp:nvSpPr>
        <dsp:cNvPr id="0" name=""/>
        <dsp:cNvSpPr/>
      </dsp:nvSpPr>
      <dsp:spPr>
        <a:xfrm>
          <a:off x="0" y="3170784"/>
          <a:ext cx="6479357" cy="599625"/>
        </a:xfrm>
        <a:prstGeom prst="roundRect">
          <a:avLst/>
        </a:prstGeom>
        <a:solidFill>
          <a:schemeClr val="accent5">
            <a:hueOff val="7208635"/>
            <a:satOff val="-18031"/>
            <a:lumOff val="-1960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pl-PL" sz="2500" kern="1200"/>
            <a:t>zmianę algorytmu, </a:t>
          </a:r>
          <a:endParaRPr lang="en-US" sz="2500" kern="1200"/>
        </a:p>
      </dsp:txBody>
      <dsp:txXfrm>
        <a:off x="29271" y="3200055"/>
        <a:ext cx="6420815" cy="541083"/>
      </dsp:txXfrm>
    </dsp:sp>
    <dsp:sp modelId="{4F32E1F7-F7D3-4DCF-8F74-8A9C7EE78294}">
      <dsp:nvSpPr>
        <dsp:cNvPr id="0" name=""/>
        <dsp:cNvSpPr/>
      </dsp:nvSpPr>
      <dsp:spPr>
        <a:xfrm>
          <a:off x="0" y="3842409"/>
          <a:ext cx="6479357" cy="599625"/>
        </a:xfrm>
        <a:prstGeom prst="roundRect">
          <a:avLst/>
        </a:prstGeom>
        <a:solidFill>
          <a:schemeClr val="accent5">
            <a:hueOff val="9010794"/>
            <a:satOff val="-22539"/>
            <a:lumOff val="-2451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pl-PL" sz="2500" kern="1200"/>
            <a:t>lepsze dopasowanie do potrzeb użytkownika.</a:t>
          </a:r>
          <a:endParaRPr lang="en-US" sz="2500" kern="1200"/>
        </a:p>
      </dsp:txBody>
      <dsp:txXfrm>
        <a:off x="29271" y="3871680"/>
        <a:ext cx="6420815" cy="541083"/>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EBB8043-3214-4719-A4D1-268CEE05BE7A}">
      <dsp:nvSpPr>
        <dsp:cNvPr id="0" name=""/>
        <dsp:cNvSpPr/>
      </dsp:nvSpPr>
      <dsp:spPr>
        <a:xfrm>
          <a:off x="0" y="0"/>
          <a:ext cx="3403415" cy="3738868"/>
        </a:xfrm>
        <a:prstGeom prst="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5343" tIns="330200" rIns="265343" bIns="330200" numCol="1" spcCol="1270" anchor="t" anchorCtr="0">
          <a:noAutofit/>
        </a:bodyPr>
        <a:lstStyle/>
        <a:p>
          <a:pPr marL="0" lvl="0" indent="0" algn="l" defTabSz="1022350">
            <a:lnSpc>
              <a:spcPct val="90000"/>
            </a:lnSpc>
            <a:spcBef>
              <a:spcPct val="0"/>
            </a:spcBef>
            <a:spcAft>
              <a:spcPct val="35000"/>
            </a:spcAft>
            <a:buNone/>
          </a:pPr>
          <a:r>
            <a:rPr lang="pl-PL" sz="2300" kern="1200"/>
            <a:t>SEMMA opisuje pracę analityka, </a:t>
          </a:r>
          <a:endParaRPr lang="en-US" sz="2300" kern="1200"/>
        </a:p>
      </dsp:txBody>
      <dsp:txXfrm>
        <a:off x="0" y="1420769"/>
        <a:ext cx="3403415" cy="2243320"/>
      </dsp:txXfrm>
    </dsp:sp>
    <dsp:sp modelId="{5EBDCF50-B8B5-4210-AD58-0E118731BDD3}">
      <dsp:nvSpPr>
        <dsp:cNvPr id="0" name=""/>
        <dsp:cNvSpPr/>
      </dsp:nvSpPr>
      <dsp:spPr>
        <a:xfrm>
          <a:off x="1140877" y="373886"/>
          <a:ext cx="1121660" cy="1121660"/>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449" tIns="12700" rIns="87449" bIns="12700" numCol="1" spcCol="1270" anchor="ctr" anchorCtr="0">
          <a:noAutofit/>
        </a:bodyPr>
        <a:lstStyle/>
        <a:p>
          <a:pPr marL="0" lvl="0" indent="0" algn="ctr" defTabSz="2133600">
            <a:lnSpc>
              <a:spcPct val="90000"/>
            </a:lnSpc>
            <a:spcBef>
              <a:spcPct val="0"/>
            </a:spcBef>
            <a:spcAft>
              <a:spcPct val="35000"/>
            </a:spcAft>
            <a:buNone/>
          </a:pPr>
          <a:r>
            <a:rPr lang="en-US" sz="4800" kern="1200"/>
            <a:t>1</a:t>
          </a:r>
        </a:p>
      </dsp:txBody>
      <dsp:txXfrm>
        <a:off x="1305140" y="538149"/>
        <a:ext cx="793134" cy="793134"/>
      </dsp:txXfrm>
    </dsp:sp>
    <dsp:sp modelId="{D468D6FB-7985-421D-8A69-7863A2AEA811}">
      <dsp:nvSpPr>
        <dsp:cNvPr id="0" name=""/>
        <dsp:cNvSpPr/>
      </dsp:nvSpPr>
      <dsp:spPr>
        <a:xfrm>
          <a:off x="0" y="3738796"/>
          <a:ext cx="3403415" cy="72"/>
        </a:xfrm>
        <a:prstGeom prst="rect">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341990B-29B9-4577-8BA2-AE39E5B290BB}">
      <dsp:nvSpPr>
        <dsp:cNvPr id="0" name=""/>
        <dsp:cNvSpPr/>
      </dsp:nvSpPr>
      <dsp:spPr>
        <a:xfrm>
          <a:off x="3743756" y="0"/>
          <a:ext cx="3403415" cy="3738868"/>
        </a:xfrm>
        <a:prstGeom prst="rect">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5343" tIns="330200" rIns="265343" bIns="330200" numCol="1" spcCol="1270" anchor="t" anchorCtr="0">
          <a:noAutofit/>
        </a:bodyPr>
        <a:lstStyle/>
        <a:p>
          <a:pPr marL="0" lvl="0" indent="0" algn="l" defTabSz="1022350">
            <a:lnSpc>
              <a:spcPct val="90000"/>
            </a:lnSpc>
            <a:spcBef>
              <a:spcPct val="0"/>
            </a:spcBef>
            <a:spcAft>
              <a:spcPct val="35000"/>
            </a:spcAft>
            <a:buNone/>
          </a:pPr>
          <a:r>
            <a:rPr lang="pl-PL" sz="2300" kern="1200"/>
            <a:t>CRISP-DM opisuje pracę całego projektu. </a:t>
          </a:r>
          <a:endParaRPr lang="en-US" sz="2300" kern="1200"/>
        </a:p>
      </dsp:txBody>
      <dsp:txXfrm>
        <a:off x="3743756" y="1420769"/>
        <a:ext cx="3403415" cy="2243320"/>
      </dsp:txXfrm>
    </dsp:sp>
    <dsp:sp modelId="{F43AE1BA-2156-4A6B-AA81-323BFAE4D7B3}">
      <dsp:nvSpPr>
        <dsp:cNvPr id="0" name=""/>
        <dsp:cNvSpPr/>
      </dsp:nvSpPr>
      <dsp:spPr>
        <a:xfrm>
          <a:off x="4884634" y="373886"/>
          <a:ext cx="1121660" cy="1121660"/>
        </a:xfrm>
        <a:prstGeom prst="ellips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449" tIns="12700" rIns="87449" bIns="12700" numCol="1" spcCol="1270" anchor="ctr" anchorCtr="0">
          <a:noAutofit/>
        </a:bodyPr>
        <a:lstStyle/>
        <a:p>
          <a:pPr marL="0" lvl="0" indent="0" algn="ctr" defTabSz="2133600">
            <a:lnSpc>
              <a:spcPct val="90000"/>
            </a:lnSpc>
            <a:spcBef>
              <a:spcPct val="0"/>
            </a:spcBef>
            <a:spcAft>
              <a:spcPct val="35000"/>
            </a:spcAft>
            <a:buNone/>
          </a:pPr>
          <a:r>
            <a:rPr lang="en-US" sz="4800" kern="1200"/>
            <a:t>2</a:t>
          </a:r>
        </a:p>
      </dsp:txBody>
      <dsp:txXfrm>
        <a:off x="5048897" y="538149"/>
        <a:ext cx="793134" cy="793134"/>
      </dsp:txXfrm>
    </dsp:sp>
    <dsp:sp modelId="{F131B1C7-B8F1-4DBB-98DB-E88E716D369E}">
      <dsp:nvSpPr>
        <dsp:cNvPr id="0" name=""/>
        <dsp:cNvSpPr/>
      </dsp:nvSpPr>
      <dsp:spPr>
        <a:xfrm>
          <a:off x="3743756" y="3738796"/>
          <a:ext cx="3403415" cy="72"/>
        </a:xfrm>
        <a:prstGeom prst="rect">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24B2A7D-A981-436C-9716-988F2D9D5DCE}">
      <dsp:nvSpPr>
        <dsp:cNvPr id="0" name=""/>
        <dsp:cNvSpPr/>
      </dsp:nvSpPr>
      <dsp:spPr>
        <a:xfrm>
          <a:off x="7487513" y="0"/>
          <a:ext cx="3403415" cy="3738868"/>
        </a:xfrm>
        <a:prstGeom prst="rect">
          <a:avLst/>
        </a:prstGeom>
        <a:solidFill>
          <a:schemeClr val="accent4">
            <a:tint val="40000"/>
            <a:alpha val="90000"/>
            <a:hueOff val="0"/>
            <a:satOff val="0"/>
            <a:lumOff val="0"/>
            <a:alphaOff val="0"/>
          </a:schemeClr>
        </a:solidFill>
        <a:ln w="12700" cap="flat" cmpd="sng" algn="ctr">
          <a:solidFill>
            <a:schemeClr val="accent4">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5343" tIns="330200" rIns="265343" bIns="330200" numCol="1" spcCol="1270" anchor="t" anchorCtr="0">
          <a:noAutofit/>
        </a:bodyPr>
        <a:lstStyle/>
        <a:p>
          <a:pPr marL="0" lvl="0" indent="0" algn="l" defTabSz="1022350">
            <a:lnSpc>
              <a:spcPct val="90000"/>
            </a:lnSpc>
            <a:spcBef>
              <a:spcPct val="0"/>
            </a:spcBef>
            <a:spcAft>
              <a:spcPct val="35000"/>
            </a:spcAft>
            <a:buNone/>
          </a:pPr>
          <a:r>
            <a:rPr lang="pl-PL" sz="2300" kern="1200"/>
            <a:t>W praktyce SEMMA jest bardziej techniczne, a CRISP-DM bardziej organizacyjne.</a:t>
          </a:r>
          <a:endParaRPr lang="en-US" sz="2300" kern="1200"/>
        </a:p>
      </dsp:txBody>
      <dsp:txXfrm>
        <a:off x="7487513" y="1420769"/>
        <a:ext cx="3403415" cy="2243320"/>
      </dsp:txXfrm>
    </dsp:sp>
    <dsp:sp modelId="{49BDA500-FDB8-4DF5-9EA5-822E4A32F120}">
      <dsp:nvSpPr>
        <dsp:cNvPr id="0" name=""/>
        <dsp:cNvSpPr/>
      </dsp:nvSpPr>
      <dsp:spPr>
        <a:xfrm>
          <a:off x="8628391" y="373886"/>
          <a:ext cx="1121660" cy="1121660"/>
        </a:xfrm>
        <a:prstGeom prst="ellipse">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449" tIns="12700" rIns="87449" bIns="12700" numCol="1" spcCol="1270" anchor="ctr" anchorCtr="0">
          <a:noAutofit/>
        </a:bodyPr>
        <a:lstStyle/>
        <a:p>
          <a:pPr marL="0" lvl="0" indent="0" algn="ctr" defTabSz="2133600">
            <a:lnSpc>
              <a:spcPct val="90000"/>
            </a:lnSpc>
            <a:spcBef>
              <a:spcPct val="0"/>
            </a:spcBef>
            <a:spcAft>
              <a:spcPct val="35000"/>
            </a:spcAft>
            <a:buNone/>
          </a:pPr>
          <a:r>
            <a:rPr lang="en-US" sz="4800" kern="1200"/>
            <a:t>3</a:t>
          </a:r>
        </a:p>
      </dsp:txBody>
      <dsp:txXfrm>
        <a:off x="8792654" y="538149"/>
        <a:ext cx="793134" cy="793134"/>
      </dsp:txXfrm>
    </dsp:sp>
    <dsp:sp modelId="{2A8D6BD2-FDD5-4D28-A73B-34846020B2A0}">
      <dsp:nvSpPr>
        <dsp:cNvPr id="0" name=""/>
        <dsp:cNvSpPr/>
      </dsp:nvSpPr>
      <dsp:spPr>
        <a:xfrm>
          <a:off x="7487513" y="3738796"/>
          <a:ext cx="3403415" cy="72"/>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CF9218-78DB-468B-A7F1-CD6016A56421}">
      <dsp:nvSpPr>
        <dsp:cNvPr id="0" name=""/>
        <dsp:cNvSpPr/>
      </dsp:nvSpPr>
      <dsp:spPr>
        <a:xfrm>
          <a:off x="1329" y="141566"/>
          <a:ext cx="4666401" cy="296316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903BBA7-A2AA-489B-B261-2655F14E9DAB}">
      <dsp:nvSpPr>
        <dsp:cNvPr id="0" name=""/>
        <dsp:cNvSpPr/>
      </dsp:nvSpPr>
      <dsp:spPr>
        <a:xfrm>
          <a:off x="519818" y="634131"/>
          <a:ext cx="4666401" cy="296316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pl-PL" sz="2600" kern="1200"/>
            <a:t>Różnorodność modeli takich jak CRISP-DM, SEMMA, TDSP, Domino czy OSEMN pokazuje, że projekty Data Science są złożone i nie da się opisać ich jednym uniwersalnym schematem.</a:t>
          </a:r>
          <a:endParaRPr lang="en-US" sz="2600" kern="1200"/>
        </a:p>
      </dsp:txBody>
      <dsp:txXfrm>
        <a:off x="606606" y="720919"/>
        <a:ext cx="4492825" cy="2789588"/>
      </dsp:txXfrm>
    </dsp:sp>
    <dsp:sp modelId="{C3015B76-FDAB-41DE-BE25-E8A0D1D0DC87}">
      <dsp:nvSpPr>
        <dsp:cNvPr id="0" name=""/>
        <dsp:cNvSpPr/>
      </dsp:nvSpPr>
      <dsp:spPr>
        <a:xfrm>
          <a:off x="5704709" y="141566"/>
          <a:ext cx="4666401" cy="296316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0F94D22-654F-4957-9DF0-D1B3FB17E2BF}">
      <dsp:nvSpPr>
        <dsp:cNvPr id="0" name=""/>
        <dsp:cNvSpPr/>
      </dsp:nvSpPr>
      <dsp:spPr>
        <a:xfrm>
          <a:off x="6223198" y="634131"/>
          <a:ext cx="4666401" cy="296316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pl-PL" sz="2600" kern="1200"/>
            <a:t>W praktyce organizacje rzadko stosują jeden model w czystej postaci. Najczęściej łączą różne elementy w zależności od dojrzałości organizacyjnej i charakteru projektu.</a:t>
          </a:r>
          <a:endParaRPr lang="en-US" sz="2600" kern="1200"/>
        </a:p>
      </dsp:txBody>
      <dsp:txXfrm>
        <a:off x="6309986" y="720919"/>
        <a:ext cx="4492825" cy="2789588"/>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A7A60E3-1804-402E-A27B-5D762715463D}">
      <dsp:nvSpPr>
        <dsp:cNvPr id="0" name=""/>
        <dsp:cNvSpPr/>
      </dsp:nvSpPr>
      <dsp:spPr>
        <a:xfrm>
          <a:off x="3485096" y="979"/>
          <a:ext cx="3920734" cy="57027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None/>
          </a:pPr>
          <a:r>
            <a:rPr lang="pl-PL" sz="1600" kern="1200"/>
            <a:t>Najważniejsze ograniczenia klasycznych modeli obejmują:</a:t>
          </a:r>
          <a:endParaRPr lang="en-US" sz="1600" kern="1200"/>
        </a:p>
      </dsp:txBody>
      <dsp:txXfrm>
        <a:off x="3512934" y="28817"/>
        <a:ext cx="3865058" cy="514596"/>
      </dsp:txXfrm>
    </dsp:sp>
    <dsp:sp modelId="{8228AD65-C67D-42E3-8D7D-BD4DD02A654C}">
      <dsp:nvSpPr>
        <dsp:cNvPr id="0" name=""/>
        <dsp:cNvSpPr/>
      </dsp:nvSpPr>
      <dsp:spPr>
        <a:xfrm>
          <a:off x="3485096" y="599765"/>
          <a:ext cx="3920734" cy="57027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None/>
          </a:pPr>
          <a:r>
            <a:rPr lang="pl-PL" sz="1600" kern="1200"/>
            <a:t>brak monitorowania po wdrożeniu, </a:t>
          </a:r>
          <a:endParaRPr lang="en-US" sz="1600" kern="1200"/>
        </a:p>
      </dsp:txBody>
      <dsp:txXfrm>
        <a:off x="3512934" y="627603"/>
        <a:ext cx="3865058" cy="514596"/>
      </dsp:txXfrm>
    </dsp:sp>
    <dsp:sp modelId="{FDD4F5F6-2904-443E-870E-6BD2873828E1}">
      <dsp:nvSpPr>
        <dsp:cNvPr id="0" name=""/>
        <dsp:cNvSpPr/>
      </dsp:nvSpPr>
      <dsp:spPr>
        <a:xfrm>
          <a:off x="3485096" y="1198551"/>
          <a:ext cx="3920734" cy="57027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None/>
          </a:pPr>
          <a:r>
            <a:rPr lang="pl-PL" sz="1600" kern="1200"/>
            <a:t>brak zarządzania driftem danych, </a:t>
          </a:r>
          <a:endParaRPr lang="en-US" sz="1600" kern="1200"/>
        </a:p>
      </dsp:txBody>
      <dsp:txXfrm>
        <a:off x="3512934" y="1226389"/>
        <a:ext cx="3865058" cy="514596"/>
      </dsp:txXfrm>
    </dsp:sp>
    <dsp:sp modelId="{59E14059-31A7-4C22-8CD4-FCB0CE685250}">
      <dsp:nvSpPr>
        <dsp:cNvPr id="0" name=""/>
        <dsp:cNvSpPr/>
      </dsp:nvSpPr>
      <dsp:spPr>
        <a:xfrm>
          <a:off x="3485096" y="1797336"/>
          <a:ext cx="3920734" cy="57027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None/>
          </a:pPr>
          <a:r>
            <a:rPr lang="pl-PL" sz="1600" kern="1200"/>
            <a:t>brak wersjonowania modeli, </a:t>
          </a:r>
          <a:endParaRPr lang="en-US" sz="1600" kern="1200"/>
        </a:p>
      </dsp:txBody>
      <dsp:txXfrm>
        <a:off x="3512934" y="1825174"/>
        <a:ext cx="3865058" cy="514596"/>
      </dsp:txXfrm>
    </dsp:sp>
    <dsp:sp modelId="{8FEBCDBA-E3D5-460D-B902-0560ADF2E251}">
      <dsp:nvSpPr>
        <dsp:cNvPr id="0" name=""/>
        <dsp:cNvSpPr/>
      </dsp:nvSpPr>
      <dsp:spPr>
        <a:xfrm>
          <a:off x="3485096" y="2396122"/>
          <a:ext cx="3920734" cy="57027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None/>
          </a:pPr>
          <a:r>
            <a:rPr lang="pl-PL" sz="1600" kern="1200"/>
            <a:t>brak ciągłej walidacji, </a:t>
          </a:r>
          <a:endParaRPr lang="en-US" sz="1600" kern="1200"/>
        </a:p>
      </dsp:txBody>
      <dsp:txXfrm>
        <a:off x="3512934" y="2423960"/>
        <a:ext cx="3865058" cy="514596"/>
      </dsp:txXfrm>
    </dsp:sp>
    <dsp:sp modelId="{88FADDB1-3304-40C9-BDD5-82C590CF02BD}">
      <dsp:nvSpPr>
        <dsp:cNvPr id="0" name=""/>
        <dsp:cNvSpPr/>
      </dsp:nvSpPr>
      <dsp:spPr>
        <a:xfrm>
          <a:off x="3485096" y="2994908"/>
          <a:ext cx="3920734" cy="57027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None/>
          </a:pPr>
          <a:r>
            <a:rPr lang="pl-PL" sz="1600" kern="1200"/>
            <a:t>niewystarczające wsparcie dla współpracy DevOps.</a:t>
          </a:r>
          <a:endParaRPr lang="en-US" sz="1600" kern="1200"/>
        </a:p>
      </dsp:txBody>
      <dsp:txXfrm>
        <a:off x="3512934" y="3022746"/>
        <a:ext cx="3865058" cy="514596"/>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193DA1F-9A77-42CD-BD7C-97AF08480C0D}">
      <dsp:nvSpPr>
        <dsp:cNvPr id="0" name=""/>
        <dsp:cNvSpPr/>
      </dsp:nvSpPr>
      <dsp:spPr>
        <a:xfrm>
          <a:off x="1329" y="141566"/>
          <a:ext cx="4666401" cy="296316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DE5996C-82F9-4764-A221-F2B4FB0B57B2}">
      <dsp:nvSpPr>
        <dsp:cNvPr id="0" name=""/>
        <dsp:cNvSpPr/>
      </dsp:nvSpPr>
      <dsp:spPr>
        <a:xfrm>
          <a:off x="519818" y="634131"/>
          <a:ext cx="4666401" cy="296316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pl-PL" sz="2100" kern="1200"/>
            <a:t>CRISP-DM i Agile mogą wydawać się podejściami pochodzącymi z dwóch różnych światów. CRISP-DM porządkuje logikę projektu analitycznego, natomiast Agile koncentruje się na iteracyjnym dostarczaniu wartości. W praktyce jednak oba podejścia można skutecznie połączyć.</a:t>
          </a:r>
          <a:endParaRPr lang="en-US" sz="2100" kern="1200"/>
        </a:p>
      </dsp:txBody>
      <dsp:txXfrm>
        <a:off x="606606" y="720919"/>
        <a:ext cx="4492825" cy="2789588"/>
      </dsp:txXfrm>
    </dsp:sp>
    <dsp:sp modelId="{4CC361A6-79D1-4974-A8D7-62EF1317B292}">
      <dsp:nvSpPr>
        <dsp:cNvPr id="0" name=""/>
        <dsp:cNvSpPr/>
      </dsp:nvSpPr>
      <dsp:spPr>
        <a:xfrm>
          <a:off x="5704709" y="141566"/>
          <a:ext cx="4666401" cy="296316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AEF0B2A-CEAD-47A0-872D-50B61C438CF8}">
      <dsp:nvSpPr>
        <dsp:cNvPr id="0" name=""/>
        <dsp:cNvSpPr/>
      </dsp:nvSpPr>
      <dsp:spPr>
        <a:xfrm>
          <a:off x="6223198" y="634131"/>
          <a:ext cx="4666401" cy="296316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pl-PL" sz="2100" kern="1200" dirty="0"/>
            <a:t>Połączenie tych podejść daje dwie korzyści</a:t>
          </a:r>
          <a:r>
            <a:rPr lang="en-US" sz="2100" kern="1200"/>
            <a:t>:</a:t>
          </a:r>
          <a:br>
            <a:rPr lang="pl-PL" sz="2100" kern="1200" dirty="0"/>
          </a:br>
          <a:r>
            <a:rPr lang="pl-PL" sz="2100" kern="1200" dirty="0"/>
            <a:t>CRISP-DM zapewnia strukturę i logiczny porządek.</a:t>
          </a:r>
          <a:br>
            <a:rPr lang="pl-PL" sz="2100" kern="1200" dirty="0"/>
          </a:br>
          <a:r>
            <a:rPr lang="pl-PL" sz="2100" kern="1200" dirty="0"/>
            <a:t>Agile zapewnia elastyczność i szybkość uczenia się.</a:t>
          </a:r>
          <a:endParaRPr lang="en-US" sz="2100" kern="1200" dirty="0"/>
        </a:p>
      </dsp:txBody>
      <dsp:txXfrm>
        <a:off x="6309986" y="720919"/>
        <a:ext cx="4492825" cy="2789588"/>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4.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16/7/layout/BasicLinearProcessNumbered">
  <dgm:title val="Basic Linear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1"/>
      <dgm:constr type="primFontSz" for="des" forName="sibTransNodeCircle" op="equ"/>
      <dgm:constr type="primFontSz" for="des" forName="nodeText" op="equ"/>
      <dgm:constr type="h" for="des" forName="sibTransNodeCircle" op="equ"/>
      <dgm:constr type="w" for="des" forName="sibTransNodeCircle" op="equ"/>
    </dgm:constrLst>
    <dgm:ruleLst>
      <dgm:rule type="h" val="NaN" fact="1.2" max="NaN"/>
    </dgm:ruleLst>
    <dgm:forEach name="Name4" axis="ch" ptType="node">
      <dgm:layoutNode name="compositeNode">
        <dgm:varLst>
          <dgm:bulletEnabled val="1"/>
        </dgm:varLst>
        <dgm:alg type="composite"/>
        <dgm:constrLst>
          <dgm:constr type="h" refType="w" op="lte" fact="1.4"/>
          <dgm:constr type="w" for="ch" forName="bgRect" refType="w"/>
          <dgm:constr type="h" for="ch" forName="bgRect" refType="h"/>
          <dgm:constr type="t" for="ch" forName="bgRect"/>
          <dgm:constr type="l" for="ch" forName="bgRect"/>
          <dgm:constr type="h" for="ch" forName="sibTransNodeCircle" refType="h" refFor="ch" refForName="bgRect" fact="0.3"/>
          <dgm:constr type="w" for="ch" forName="sibTransNodeCircle" refType="h" refFor="ch" refForName="sibTransNodeCircle"/>
          <dgm:constr type="ctrX" for="ch" forName="sibTransNodeCircle" refType="w" fact="0.5"/>
          <dgm:constr type="ctrY" for="ch" forName="sibTransNodeCircle" refType="h" fact="0.25"/>
          <dgm:constr type="r" for="ch" forName="nodeText" refType="r" refFor="ch" refForName="bgRect"/>
          <dgm:constr type="h" for="ch" forName="nodeText" refType="h" refFor="ch" refForName="bgRect" fact="0.6"/>
          <dgm:constr type="t" for="ch" forName="nodeText" refType="h" refFor="ch" refForName="bgRect" fact="0.38"/>
          <dgm:constr type="b" for="ch" forName="bottomLine" refType="b" refFor="ch" refForName="bgRect"/>
          <dgm:constr type="w" for="ch" forName="bottomLine" refType="w" refFor="ch" refForName="bgRect"/>
          <dgm:constr type="h" for="ch" forName="bottomLine" val="0.002"/>
        </dgm:constrLst>
        <dgm:ruleLst/>
        <dgm:layoutNode name="bgRect" styleLbl="bgAccFollowNode1">
          <dgm:alg type="sp"/>
          <dgm:shape xmlns:r="http://schemas.openxmlformats.org/officeDocument/2006/relationships" type="rect" r:blip="">
            <dgm:adjLst/>
          </dgm:shape>
          <dgm:presOf axis="self"/>
          <dgm:constrLst/>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alg>
            <dgm:shape xmlns:r="http://schemas.openxmlformats.org/officeDocument/2006/relationships" type="ellipse" r:blip="">
              <dgm:adjLst/>
            </dgm:shape>
            <dgm:constrLst>
              <dgm:constr type="w" refType="h" op="lte"/>
              <dgm:constr type="primFontSz" val="48"/>
              <dgm:constr type="tMarg" val="1"/>
              <dgm:constr type="lMarg" refType="w" fact="0.221"/>
              <dgm:constr type="rMarg" refType="w" fact="0.221"/>
              <dgm:constr type="bMarg" val="1"/>
            </dgm:constrLst>
            <dgm:ruleLst>
              <dgm:rule type="primFontSz" val="14" fact="NaN" max="NaN"/>
            </dgm:ruleLst>
          </dgm:layoutNode>
        </dgm:forEach>
        <dgm:layoutNode name="bottomLine" styleLbl="alignNode1">
          <dgm:varLst/>
          <dgm:presOf/>
          <dgm:alg type="sp"/>
          <dgm:shape xmlns:r="http://schemas.openxmlformats.org/officeDocument/2006/relationships" type="rect" r:blip="">
            <dgm:adjLst/>
          </dgm:shape>
          <dgm:constrLst/>
          <dgm:ruleLst/>
        </dgm:layoutNode>
        <dgm:layoutNode name="nodeText" styleLbl="bgAccFollowNode1" moveWith="bgRect">
          <dgm:varLst>
            <dgm:bulletEnabled val="1"/>
          </dgm:varLst>
          <dgm:alg type="tx">
            <dgm:param type="parTxLTRAlign" val="l"/>
            <dgm:param type="parTxRTLAlign" val="r"/>
            <dgm:param type="txAnchorVert" val="t"/>
          </dgm:alg>
          <dgm:shape xmlns:r="http://schemas.openxmlformats.org/officeDocument/2006/relationships" type="rect" r:blip="" zOrderOff="-1" hideGeom="1">
            <dgm:adjLst/>
          </dgm:shape>
          <dgm:presOf axis="desOrSelf" ptType="node"/>
          <dgm:constrLst>
            <dgm:constr type="primFontSz" val="26"/>
            <dgm:constr type="tMarg" val="26"/>
            <dgm:constr type="lMarg" refType="w" fact="0.221"/>
            <dgm:constr type="rMarg" refType="w" fact="0.221"/>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layout8.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ymbol zastępczy nagłówka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l-PL"/>
          </a:p>
        </p:txBody>
      </p:sp>
      <p:sp>
        <p:nvSpPr>
          <p:cNvPr id="3" name="Symbol zastępczy daty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25CA85-C0C8-4375-9FAA-CC5D0E32C8BA}" type="datetimeFigureOut">
              <a:rPr lang="pl-PL" smtClean="0"/>
              <a:t>18.04.2026</a:t>
            </a:fld>
            <a:endParaRPr lang="pl-PL"/>
          </a:p>
        </p:txBody>
      </p:sp>
      <p:sp>
        <p:nvSpPr>
          <p:cNvPr id="4" name="Symbol zastępczy obrazu slajd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l-PL"/>
          </a:p>
        </p:txBody>
      </p:sp>
      <p:sp>
        <p:nvSpPr>
          <p:cNvPr id="5" name="Symbol zastępczy notatek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6" name="Symbol zastępczy stopki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l-PL"/>
          </a:p>
        </p:txBody>
      </p:sp>
      <p:sp>
        <p:nvSpPr>
          <p:cNvPr id="7" name="Symbol zastępczy numeru slajd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D3A348-C2A4-4BB5-A983-4F08953E26C8}" type="slidenum">
              <a:rPr lang="pl-PL" smtClean="0"/>
              <a:t>‹#›</a:t>
            </a:fld>
            <a:endParaRPr lang="pl-PL"/>
          </a:p>
        </p:txBody>
      </p:sp>
    </p:spTree>
    <p:extLst>
      <p:ext uri="{BB962C8B-B14F-4D97-AF65-F5344CB8AC3E}">
        <p14:creationId xmlns:p14="http://schemas.microsoft.com/office/powerpoint/2010/main" val="2117846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dirty="0"/>
              <a:t>W firmie </a:t>
            </a:r>
            <a:r>
              <a:rPr lang="pl-PL" b="0" dirty="0" err="1"/>
              <a:t>FihaAI</a:t>
            </a:r>
            <a:r>
              <a:rPr lang="pl-PL" dirty="0"/>
              <a:t> </a:t>
            </a:r>
            <a:r>
              <a:rPr lang="en-US" dirty="0"/>
              <a:t>z</a:t>
            </a:r>
            <a:r>
              <a:rPr lang="pl-PL" dirty="0" err="1"/>
              <a:t>espół</a:t>
            </a:r>
            <a:r>
              <a:rPr lang="pl-PL" dirty="0"/>
              <a:t> pracował nad modelem sztucznej inteligencji, który miał przewidywać ryzyko chorób serca na podstawie historii medycznej pacjenta. Problem polegał na tym, że nikt na początku projektu nie miał pewności, czy dane będą wystarczająco dobre, czy model osiągnie wymaganą skuteczność oraz czy lekarze będą ufali jego rekomendacjom.</a:t>
            </a:r>
            <a:endParaRPr lang="en-US" dirty="0"/>
          </a:p>
          <a:p>
            <a:endParaRPr lang="en-US" dirty="0"/>
          </a:p>
          <a:p>
            <a:r>
              <a:rPr lang="pl-PL" dirty="0"/>
              <a:t>https://justjoin.it/blog/data-analytics-data-science-machine-learning-wybrac</a:t>
            </a:r>
          </a:p>
        </p:txBody>
      </p:sp>
      <p:sp>
        <p:nvSpPr>
          <p:cNvPr id="4" name="Symbol zastępczy numeru slajdu 3"/>
          <p:cNvSpPr>
            <a:spLocks noGrp="1"/>
          </p:cNvSpPr>
          <p:nvPr>
            <p:ph type="sldNum" sz="quarter" idx="5"/>
          </p:nvPr>
        </p:nvSpPr>
        <p:spPr/>
        <p:txBody>
          <a:bodyPr/>
          <a:lstStyle/>
          <a:p>
            <a:fld id="{9FD3A348-C2A4-4BB5-A983-4F08953E26C8}" type="slidenum">
              <a:rPr lang="pl-PL" smtClean="0"/>
              <a:t>3</a:t>
            </a:fld>
            <a:endParaRPr lang="pl-PL"/>
          </a:p>
        </p:txBody>
      </p:sp>
    </p:spTree>
    <p:extLst>
      <p:ext uri="{BB962C8B-B14F-4D97-AF65-F5344CB8AC3E}">
        <p14:creationId xmlns:p14="http://schemas.microsoft.com/office/powerpoint/2010/main" val="24420715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dirty="0"/>
              <a:t>W </a:t>
            </a:r>
            <a:r>
              <a:rPr lang="pl-PL" b="0" dirty="0" err="1"/>
              <a:t>FihaAI</a:t>
            </a:r>
            <a:r>
              <a:rPr lang="pl-PL" dirty="0"/>
              <a:t> pierwszym krokiem było wybranie danych medycznych istotnych dla przewidywania ryzyka. Zespół musiał określić, które informacje rzeczywiście mają znaczenie: wiek pacjenta, ciśnienie, wyniki badań krwi czy historię rodzinną.</a:t>
            </a:r>
          </a:p>
          <a:p>
            <a:r>
              <a:rPr lang="pl-PL" dirty="0"/>
              <a:t>Następnie dane zostały oczyszczone, ponieważ dokumentacja medyczna zawierała błędy, braki i niespójności. Kolejnym etapem była transformacja danych, aby mogły zostać użyte przez algorytmy uczenia maszynowego.</a:t>
            </a:r>
          </a:p>
          <a:p>
            <a:r>
              <a:rPr lang="pl-PL" dirty="0"/>
              <a:t>Dopiero po przygotowaniu danych zespół rozpoczął data </a:t>
            </a:r>
            <a:r>
              <a:rPr lang="pl-PL" dirty="0" err="1"/>
              <a:t>mining</a:t>
            </a:r>
            <a:r>
              <a:rPr lang="pl-PL" dirty="0"/>
              <a:t>, czyli wyszukiwanie wzorców i budowę modeli predykcyjnych. Ostatni etap polegał na interpretacji wyników, ponieważ model musiał być zrozumiały nie tylko dla inżynierów, ale również dla lekarzy.</a:t>
            </a:r>
          </a:p>
          <a:p>
            <a:endParaRPr lang="en-US" dirty="0"/>
          </a:p>
          <a:p>
            <a:endParaRPr lang="en-US" dirty="0"/>
          </a:p>
          <a:p>
            <a:r>
              <a:rPr lang="pl-PL" dirty="0"/>
              <a:t>https://www.droptica.pl/blog/6-przeszkod-w-procesie-decyzyjnym-klienta-i-jak-sobie-z-nimi-poradzic/</a:t>
            </a:r>
          </a:p>
        </p:txBody>
      </p:sp>
      <p:sp>
        <p:nvSpPr>
          <p:cNvPr id="4" name="Symbol zastępczy numeru slajdu 3"/>
          <p:cNvSpPr>
            <a:spLocks noGrp="1"/>
          </p:cNvSpPr>
          <p:nvPr>
            <p:ph type="sldNum" sz="quarter" idx="5"/>
          </p:nvPr>
        </p:nvSpPr>
        <p:spPr/>
        <p:txBody>
          <a:bodyPr/>
          <a:lstStyle/>
          <a:p>
            <a:fld id="{9FD3A348-C2A4-4BB5-A983-4F08953E26C8}" type="slidenum">
              <a:rPr lang="pl-PL" smtClean="0"/>
              <a:t>4</a:t>
            </a:fld>
            <a:endParaRPr lang="pl-PL"/>
          </a:p>
        </p:txBody>
      </p:sp>
    </p:spTree>
    <p:extLst>
      <p:ext uri="{BB962C8B-B14F-4D97-AF65-F5344CB8AC3E}">
        <p14:creationId xmlns:p14="http://schemas.microsoft.com/office/powerpoint/2010/main" val="28553295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l-PL" dirty="0"/>
              <a:t>KDD pokazuje, że największa część pracy w Data Science często odbywa się jeszcze zanim rozpocznie się właściwe modelowanie.</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pl-PL" dirty="0"/>
              <a:t>https://www.droptica.pl/blog/6-przeszkod-w-procesie-decyzyjnym-klienta-i-jak-sobie-z-nimi-poradzic/</a:t>
            </a:r>
          </a:p>
          <a:p>
            <a:endParaRPr lang="pl-PL" dirty="0"/>
          </a:p>
        </p:txBody>
      </p:sp>
      <p:sp>
        <p:nvSpPr>
          <p:cNvPr id="4" name="Symbol zastępczy numeru slajdu 3"/>
          <p:cNvSpPr>
            <a:spLocks noGrp="1"/>
          </p:cNvSpPr>
          <p:nvPr>
            <p:ph type="sldNum" sz="quarter" idx="5"/>
          </p:nvPr>
        </p:nvSpPr>
        <p:spPr/>
        <p:txBody>
          <a:bodyPr/>
          <a:lstStyle/>
          <a:p>
            <a:fld id="{9FD3A348-C2A4-4BB5-A983-4F08953E26C8}" type="slidenum">
              <a:rPr lang="pl-PL" smtClean="0"/>
              <a:t>5</a:t>
            </a:fld>
            <a:endParaRPr lang="pl-PL"/>
          </a:p>
        </p:txBody>
      </p:sp>
    </p:spTree>
    <p:extLst>
      <p:ext uri="{BB962C8B-B14F-4D97-AF65-F5344CB8AC3E}">
        <p14:creationId xmlns:p14="http://schemas.microsoft.com/office/powerpoint/2010/main" val="36589845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dirty="0"/>
              <a:t>W </a:t>
            </a:r>
            <a:r>
              <a:rPr lang="pl-PL" b="0" dirty="0" err="1"/>
              <a:t>FihaAI</a:t>
            </a:r>
            <a:r>
              <a:rPr lang="pl-PL" dirty="0"/>
              <a:t> model CRISP-DM pomógł połączyć specjalistów medycznych z zespołem technicznym. Pierwszym etapem było zrozumienie biznesu, czyli odpowiedź na pytanie, jaki problem medyczny firma chce rozwiązać. Dopiero później zespół przechodził do zrozumienia danych, ich przygotowania, modelowania, ewaluacji i wdrożenia.</a:t>
            </a:r>
            <a:endParaRPr lang="en-US" dirty="0"/>
          </a:p>
          <a:p>
            <a:endParaRPr lang="en-US" dirty="0"/>
          </a:p>
          <a:p>
            <a:r>
              <a:rPr lang="pl-PL" dirty="0"/>
              <a:t>https://www.ibm.com/docs/pl/spss-modeler/saas?topic=dm-crisp-help-overview</a:t>
            </a:r>
          </a:p>
        </p:txBody>
      </p:sp>
      <p:sp>
        <p:nvSpPr>
          <p:cNvPr id="4" name="Symbol zastępczy numeru slajdu 3"/>
          <p:cNvSpPr>
            <a:spLocks noGrp="1"/>
          </p:cNvSpPr>
          <p:nvPr>
            <p:ph type="sldNum" sz="quarter" idx="5"/>
          </p:nvPr>
        </p:nvSpPr>
        <p:spPr/>
        <p:txBody>
          <a:bodyPr/>
          <a:lstStyle/>
          <a:p>
            <a:fld id="{9FD3A348-C2A4-4BB5-A983-4F08953E26C8}" type="slidenum">
              <a:rPr lang="pl-PL" smtClean="0"/>
              <a:t>6</a:t>
            </a:fld>
            <a:endParaRPr lang="pl-PL"/>
          </a:p>
        </p:txBody>
      </p:sp>
    </p:spTree>
    <p:extLst>
      <p:ext uri="{BB962C8B-B14F-4D97-AF65-F5344CB8AC3E}">
        <p14:creationId xmlns:p14="http://schemas.microsoft.com/office/powerpoint/2010/main" val="26464317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l-PL" dirty="0"/>
              <a:t>https://www.ibm.com/docs/pl/spss-modeler/saas?topic=dm-crisp-help-overview</a:t>
            </a:r>
          </a:p>
          <a:p>
            <a:endParaRPr lang="pl-PL" dirty="0"/>
          </a:p>
        </p:txBody>
      </p:sp>
      <p:sp>
        <p:nvSpPr>
          <p:cNvPr id="4" name="Symbol zastępczy numeru slajdu 3"/>
          <p:cNvSpPr>
            <a:spLocks noGrp="1"/>
          </p:cNvSpPr>
          <p:nvPr>
            <p:ph type="sldNum" sz="quarter" idx="5"/>
          </p:nvPr>
        </p:nvSpPr>
        <p:spPr/>
        <p:txBody>
          <a:bodyPr/>
          <a:lstStyle/>
          <a:p>
            <a:fld id="{9FD3A348-C2A4-4BB5-A983-4F08953E26C8}" type="slidenum">
              <a:rPr lang="pl-PL" smtClean="0"/>
              <a:t>7</a:t>
            </a:fld>
            <a:endParaRPr lang="pl-PL"/>
          </a:p>
        </p:txBody>
      </p:sp>
    </p:spTree>
    <p:extLst>
      <p:ext uri="{BB962C8B-B14F-4D97-AF65-F5344CB8AC3E}">
        <p14:creationId xmlns:p14="http://schemas.microsoft.com/office/powerpoint/2010/main" val="3406940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dirty="0"/>
              <a:t>https://www.datascience-pm.com/semma/</a:t>
            </a:r>
            <a:endParaRPr lang="en-US" dirty="0"/>
          </a:p>
          <a:p>
            <a:r>
              <a:rPr lang="pl-PL" dirty="0"/>
              <a:t>https://en.wikipedia.org/wiki/SEMMA</a:t>
            </a:r>
          </a:p>
        </p:txBody>
      </p:sp>
      <p:sp>
        <p:nvSpPr>
          <p:cNvPr id="4" name="Symbol zastępczy numeru slajdu 3"/>
          <p:cNvSpPr>
            <a:spLocks noGrp="1"/>
          </p:cNvSpPr>
          <p:nvPr>
            <p:ph type="sldNum" sz="quarter" idx="5"/>
          </p:nvPr>
        </p:nvSpPr>
        <p:spPr/>
        <p:txBody>
          <a:bodyPr/>
          <a:lstStyle/>
          <a:p>
            <a:fld id="{9FD3A348-C2A4-4BB5-A983-4F08953E26C8}" type="slidenum">
              <a:rPr lang="pl-PL" smtClean="0"/>
              <a:t>8</a:t>
            </a:fld>
            <a:endParaRPr lang="pl-PL"/>
          </a:p>
        </p:txBody>
      </p:sp>
    </p:spTree>
    <p:extLst>
      <p:ext uri="{BB962C8B-B14F-4D97-AF65-F5344CB8AC3E}">
        <p14:creationId xmlns:p14="http://schemas.microsoft.com/office/powerpoint/2010/main" val="17139596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dirty="0"/>
              <a:t>Choć KDD, CRISP-DM i SEMMA dotyczą pracy z danymi, każdy model patrzy na projekt z nieco innej perspektywy.</a:t>
            </a:r>
            <a:r>
              <a:rPr lang="en-US" dirty="0"/>
              <a:t> </a:t>
            </a:r>
            <a:r>
              <a:rPr lang="pl-PL" dirty="0"/>
              <a:t>Nowoczesne zespoły Data Science często nie wybierają jednego modelu, lecz łączą elementy różnych podejść w zależności od potrzeb konkretnego projektu.</a:t>
            </a:r>
          </a:p>
        </p:txBody>
      </p:sp>
      <p:sp>
        <p:nvSpPr>
          <p:cNvPr id="4" name="Symbol zastępczy numeru slajdu 3"/>
          <p:cNvSpPr>
            <a:spLocks noGrp="1"/>
          </p:cNvSpPr>
          <p:nvPr>
            <p:ph type="sldNum" sz="quarter" idx="5"/>
          </p:nvPr>
        </p:nvSpPr>
        <p:spPr/>
        <p:txBody>
          <a:bodyPr/>
          <a:lstStyle/>
          <a:p>
            <a:fld id="{9FD3A348-C2A4-4BB5-A983-4F08953E26C8}" type="slidenum">
              <a:rPr lang="pl-PL" smtClean="0"/>
              <a:t>9</a:t>
            </a:fld>
            <a:endParaRPr lang="pl-PL"/>
          </a:p>
        </p:txBody>
      </p:sp>
    </p:spTree>
    <p:extLst>
      <p:ext uri="{BB962C8B-B14F-4D97-AF65-F5344CB8AC3E}">
        <p14:creationId xmlns:p14="http://schemas.microsoft.com/office/powerpoint/2010/main" val="41019511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dirty="0"/>
              <a:t>W firmie </a:t>
            </a:r>
            <a:r>
              <a:rPr lang="pl-PL" b="0" dirty="0" err="1"/>
              <a:t>FihaAI</a:t>
            </a:r>
            <a:r>
              <a:rPr lang="pl-PL" dirty="0"/>
              <a:t> centralną rolę pełnił Data </a:t>
            </a:r>
            <a:r>
              <a:rPr lang="pl-PL" dirty="0" err="1"/>
              <a:t>Scientist</a:t>
            </a:r>
            <a:r>
              <a:rPr lang="pl-PL" dirty="0"/>
              <a:t>, który analizował dane medyczne i budował modele przewidujące ryzyko chorób serca. Obok niego pracował Data </a:t>
            </a:r>
            <a:r>
              <a:rPr lang="pl-PL" dirty="0" err="1"/>
              <a:t>Engineer</a:t>
            </a:r>
            <a:r>
              <a:rPr lang="pl-PL" dirty="0"/>
              <a:t> odpowiedzialny za integrację danych z systemów szpitalnych oraz przygotowanie ich do analizy.</a:t>
            </a:r>
            <a:r>
              <a:rPr lang="en-US" dirty="0"/>
              <a:t> </a:t>
            </a:r>
            <a:r>
              <a:rPr lang="pl-PL" dirty="0"/>
              <a:t>Machine Learning </a:t>
            </a:r>
            <a:r>
              <a:rPr lang="pl-PL" dirty="0" err="1"/>
              <a:t>Engineer</a:t>
            </a:r>
            <a:r>
              <a:rPr lang="pl-PL" dirty="0"/>
              <a:t> zajmował się wdrożeniem modeli do środowiska produkcyjnego i monitorowaniem ich jakości po uruchomieniu. Product </a:t>
            </a:r>
            <a:r>
              <a:rPr lang="pl-PL" dirty="0" err="1"/>
              <a:t>Owner</a:t>
            </a:r>
            <a:r>
              <a:rPr lang="pl-PL" dirty="0"/>
              <a:t> odpowiadał natomiast za to, aby rozwijane rozwiązanie rzeczywiście odpowiadało potrzebom lekarzy i pacjentów.</a:t>
            </a:r>
          </a:p>
          <a:p>
            <a:endParaRPr lang="en-US" dirty="0"/>
          </a:p>
          <a:p>
            <a:r>
              <a:rPr lang="pl-PL" dirty="0"/>
              <a:t>https://justjoin.it/blog/data-analytics-data-science-machine-learning-wybrac</a:t>
            </a:r>
          </a:p>
        </p:txBody>
      </p:sp>
      <p:sp>
        <p:nvSpPr>
          <p:cNvPr id="4" name="Symbol zastępczy numeru slajdu 3"/>
          <p:cNvSpPr>
            <a:spLocks noGrp="1"/>
          </p:cNvSpPr>
          <p:nvPr>
            <p:ph type="sldNum" sz="quarter" idx="5"/>
          </p:nvPr>
        </p:nvSpPr>
        <p:spPr/>
        <p:txBody>
          <a:bodyPr/>
          <a:lstStyle/>
          <a:p>
            <a:fld id="{9FD3A348-C2A4-4BB5-A983-4F08953E26C8}" type="slidenum">
              <a:rPr lang="pl-PL" smtClean="0"/>
              <a:t>10</a:t>
            </a:fld>
            <a:endParaRPr lang="pl-PL"/>
          </a:p>
        </p:txBody>
      </p:sp>
    </p:spTree>
    <p:extLst>
      <p:ext uri="{BB962C8B-B14F-4D97-AF65-F5344CB8AC3E}">
        <p14:creationId xmlns:p14="http://schemas.microsoft.com/office/powerpoint/2010/main" val="8051833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b="0" dirty="0"/>
              <a:t>Najważniejsze jest to, że odpowiedzialność nie znika, lecz przesuwa się pomiędzy członkami zespołu zgodnie z etapem rozwoju rozwiązania.</a:t>
            </a:r>
            <a:endParaRPr lang="en-US" b="0" dirty="0"/>
          </a:p>
          <a:p>
            <a:endParaRPr lang="pl-PL" b="0" dirty="0"/>
          </a:p>
          <a:p>
            <a:r>
              <a:rPr lang="pl-PL" b="0" dirty="0"/>
              <a:t>W </a:t>
            </a:r>
            <a:r>
              <a:rPr lang="pl-PL" b="0" dirty="0" err="1"/>
              <a:t>FihaAI</a:t>
            </a:r>
            <a:r>
              <a:rPr lang="pl-PL" b="0" dirty="0"/>
              <a:t> na początku lekarze definiowali problem medyczny, później inżynierowie danych przygotowywali historię pacjentów, a na końcu ML </a:t>
            </a:r>
            <a:r>
              <a:rPr lang="pl-PL" b="0" dirty="0" err="1"/>
              <a:t>Engineer</a:t>
            </a:r>
            <a:r>
              <a:rPr lang="pl-PL" b="0" dirty="0"/>
              <a:t> wdrażał model do systemu wspierającego diagnozę.</a:t>
            </a:r>
          </a:p>
          <a:p>
            <a:endParaRPr lang="pl-PL" b="0" dirty="0"/>
          </a:p>
        </p:txBody>
      </p:sp>
      <p:sp>
        <p:nvSpPr>
          <p:cNvPr id="4" name="Symbol zastępczy numeru slajdu 3"/>
          <p:cNvSpPr>
            <a:spLocks noGrp="1"/>
          </p:cNvSpPr>
          <p:nvPr>
            <p:ph type="sldNum" sz="quarter" idx="5"/>
          </p:nvPr>
        </p:nvSpPr>
        <p:spPr/>
        <p:txBody>
          <a:bodyPr/>
          <a:lstStyle/>
          <a:p>
            <a:fld id="{9FD3A348-C2A4-4BB5-A983-4F08953E26C8}" type="slidenum">
              <a:rPr lang="pl-PL" smtClean="0"/>
              <a:t>11</a:t>
            </a:fld>
            <a:endParaRPr lang="pl-PL"/>
          </a:p>
        </p:txBody>
      </p:sp>
    </p:spTree>
    <p:extLst>
      <p:ext uri="{BB962C8B-B14F-4D97-AF65-F5344CB8AC3E}">
        <p14:creationId xmlns:p14="http://schemas.microsoft.com/office/powerpoint/2010/main" val="41954710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b="0" dirty="0"/>
              <a:t>Każdy artefakt pełni inną funkcję i wspiera inny etap współpracy w zespole.</a:t>
            </a:r>
          </a:p>
          <a:p>
            <a:r>
              <a:rPr lang="pl-PL" b="0" dirty="0"/>
              <a:t>W </a:t>
            </a:r>
            <a:r>
              <a:rPr lang="pl-PL" b="0" dirty="0" err="1"/>
              <a:t>FihaAI</a:t>
            </a:r>
            <a:r>
              <a:rPr lang="pl-PL" b="0" dirty="0"/>
              <a:t> lekarze nie czytali kodu modelu, ale korzystali z raportów interpretujących, dlaczego algorytm wskazał podwyższone ryzyko choroby serca.</a:t>
            </a:r>
            <a:endParaRPr lang="en-US" dirty="0"/>
          </a:p>
          <a:p>
            <a:endParaRPr lang="en-US" dirty="0"/>
          </a:p>
          <a:p>
            <a:r>
              <a:rPr lang="pl-PL" dirty="0"/>
              <a:t>https://nofluffjobs.com/pl/etc/praca-w-it/artefakty-w-it/</a:t>
            </a:r>
          </a:p>
        </p:txBody>
      </p:sp>
      <p:sp>
        <p:nvSpPr>
          <p:cNvPr id="4" name="Symbol zastępczy numeru slajdu 3"/>
          <p:cNvSpPr>
            <a:spLocks noGrp="1"/>
          </p:cNvSpPr>
          <p:nvPr>
            <p:ph type="sldNum" sz="quarter" idx="5"/>
          </p:nvPr>
        </p:nvSpPr>
        <p:spPr/>
        <p:txBody>
          <a:bodyPr/>
          <a:lstStyle/>
          <a:p>
            <a:fld id="{9FD3A348-C2A4-4BB5-A983-4F08953E26C8}" type="slidenum">
              <a:rPr lang="pl-PL" smtClean="0"/>
              <a:t>12</a:t>
            </a:fld>
            <a:endParaRPr lang="pl-PL"/>
          </a:p>
        </p:txBody>
      </p:sp>
    </p:spTree>
    <p:extLst>
      <p:ext uri="{BB962C8B-B14F-4D97-AF65-F5344CB8AC3E}">
        <p14:creationId xmlns:p14="http://schemas.microsoft.com/office/powerpoint/2010/main" val="30681340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l-PL" b="0" dirty="0"/>
              <a:t>W </a:t>
            </a:r>
            <a:r>
              <a:rPr lang="pl-PL" b="0" dirty="0" err="1"/>
              <a:t>FihaAI</a:t>
            </a:r>
            <a:r>
              <a:rPr lang="pl-PL" b="0" dirty="0"/>
              <a:t> pierwsza wersja modelu miała wysoką skuteczność statystyczną, ale dopiero po kilku iteracjach lekarze uznali, że wyniki są wystarczająco zrozumiałe klinicznie.</a:t>
            </a:r>
          </a:p>
          <a:p>
            <a:endParaRPr lang="en-US" dirty="0"/>
          </a:p>
          <a:p>
            <a:r>
              <a:rPr lang="pl-PL" dirty="0"/>
              <a:t>https://www.atlassian.com/pl/work-management/project-management/iterative-proces</a:t>
            </a:r>
            <a:endParaRPr lang="en-US" dirty="0"/>
          </a:p>
          <a:p>
            <a:r>
              <a:rPr lang="pl-PL" dirty="0"/>
              <a:t>https://agile247.pl/podejscie-iteracyjne-oraz-przyrostowe/</a:t>
            </a:r>
          </a:p>
        </p:txBody>
      </p:sp>
      <p:sp>
        <p:nvSpPr>
          <p:cNvPr id="4" name="Symbol zastępczy numeru slajdu 3"/>
          <p:cNvSpPr>
            <a:spLocks noGrp="1"/>
          </p:cNvSpPr>
          <p:nvPr>
            <p:ph type="sldNum" sz="quarter" idx="5"/>
          </p:nvPr>
        </p:nvSpPr>
        <p:spPr/>
        <p:txBody>
          <a:bodyPr/>
          <a:lstStyle/>
          <a:p>
            <a:fld id="{9FD3A348-C2A4-4BB5-A983-4F08953E26C8}" type="slidenum">
              <a:rPr lang="pl-PL" smtClean="0"/>
              <a:t>13</a:t>
            </a:fld>
            <a:endParaRPr lang="pl-PL"/>
          </a:p>
        </p:txBody>
      </p:sp>
    </p:spTree>
    <p:extLst>
      <p:ext uri="{BB962C8B-B14F-4D97-AF65-F5344CB8AC3E}">
        <p14:creationId xmlns:p14="http://schemas.microsoft.com/office/powerpoint/2010/main" val="14219029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dirty="0"/>
              <a:t>https://www.atlassian.com/pl/work-management/project-management/iterative-proces</a:t>
            </a:r>
            <a:endParaRPr lang="en-US" dirty="0"/>
          </a:p>
          <a:p>
            <a:r>
              <a:rPr lang="pl-PL" dirty="0"/>
              <a:t>https://agile247.pl/podejscie-iteracyjne-oraz-przyrostowe/</a:t>
            </a:r>
          </a:p>
          <a:p>
            <a:endParaRPr lang="pl-PL" dirty="0"/>
          </a:p>
        </p:txBody>
      </p:sp>
      <p:sp>
        <p:nvSpPr>
          <p:cNvPr id="4" name="Symbol zastępczy numeru slajdu 3"/>
          <p:cNvSpPr>
            <a:spLocks noGrp="1"/>
          </p:cNvSpPr>
          <p:nvPr>
            <p:ph type="sldNum" sz="quarter" idx="5"/>
          </p:nvPr>
        </p:nvSpPr>
        <p:spPr/>
        <p:txBody>
          <a:bodyPr/>
          <a:lstStyle/>
          <a:p>
            <a:fld id="{9FD3A348-C2A4-4BB5-A983-4F08953E26C8}" type="slidenum">
              <a:rPr lang="pl-PL" smtClean="0"/>
              <a:t>14</a:t>
            </a:fld>
            <a:endParaRPr lang="pl-PL"/>
          </a:p>
        </p:txBody>
      </p:sp>
    </p:spTree>
    <p:extLst>
      <p:ext uri="{BB962C8B-B14F-4D97-AF65-F5344CB8AC3E}">
        <p14:creationId xmlns:p14="http://schemas.microsoft.com/office/powerpoint/2010/main" val="32024862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dirty="0"/>
              <a:t>Pierwszym etapem jest selekcja danych. Zespół wybiera tylko te informacje, które mogą mieć znaczenie dla analizowanego problemu. Następnie dane są przetwarzane, czyli czyszczone, ujednolicane i przygotowywane do analizy.</a:t>
            </a:r>
          </a:p>
          <a:p>
            <a:r>
              <a:rPr lang="pl-PL" dirty="0"/>
              <a:t>Kolejnym krokiem jest eksploracja danych. Na tym etapie analitycy szukają zależności, wzorców oraz anomalii. Dopiero później następuje modelowanie, czyli budowa algorytmu. Ostatnim etapem jest interpretacja wyników i ocena, czy uzyskana wiedza ma praktyczną wartość.</a:t>
            </a:r>
            <a:endParaRPr lang="en-US" dirty="0"/>
          </a:p>
          <a:p>
            <a:endParaRPr lang="en-US" dirty="0"/>
          </a:p>
          <a:p>
            <a:r>
              <a:rPr lang="pl-PL" dirty="0"/>
              <a:t>https://medium.com/@shawn.chumbar/kdd-process-in-data-science-a-beginners-guide-426d1f0fc062</a:t>
            </a:r>
          </a:p>
        </p:txBody>
      </p:sp>
      <p:sp>
        <p:nvSpPr>
          <p:cNvPr id="4" name="Symbol zastępczy numeru slajdu 3"/>
          <p:cNvSpPr>
            <a:spLocks noGrp="1"/>
          </p:cNvSpPr>
          <p:nvPr>
            <p:ph type="sldNum" sz="quarter" idx="5"/>
          </p:nvPr>
        </p:nvSpPr>
        <p:spPr/>
        <p:txBody>
          <a:bodyPr/>
          <a:lstStyle/>
          <a:p>
            <a:fld id="{9FD3A348-C2A4-4BB5-A983-4F08953E26C8}" type="slidenum">
              <a:rPr lang="pl-PL" smtClean="0"/>
              <a:t>15</a:t>
            </a:fld>
            <a:endParaRPr lang="pl-PL"/>
          </a:p>
        </p:txBody>
      </p:sp>
    </p:spTree>
    <p:extLst>
      <p:ext uri="{BB962C8B-B14F-4D97-AF65-F5344CB8AC3E}">
        <p14:creationId xmlns:p14="http://schemas.microsoft.com/office/powerpoint/2010/main" val="17967262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dirty="0"/>
              <a:t>W </a:t>
            </a:r>
            <a:r>
              <a:rPr lang="pl-PL" dirty="0" err="1"/>
              <a:t>FihaAI</a:t>
            </a:r>
            <a:r>
              <a:rPr lang="pl-PL" dirty="0"/>
              <a:t> odkrycie wzorca między wynikami badań a ryzykiem choroby miało wartość dopiero wtedy, gdy lekarz mógł wykorzystać je w decyzji klinicznej.</a:t>
            </a:r>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pl-PL" dirty="0"/>
              <a:t>https://medium.com/@shawn.chumbar/kdd-process-in-data-science-a-beginners-guide-426d1f0fc062</a:t>
            </a:r>
          </a:p>
          <a:p>
            <a:endParaRPr lang="pl-PL" dirty="0"/>
          </a:p>
        </p:txBody>
      </p:sp>
      <p:sp>
        <p:nvSpPr>
          <p:cNvPr id="4" name="Symbol zastępczy numeru slajdu 3"/>
          <p:cNvSpPr>
            <a:spLocks noGrp="1"/>
          </p:cNvSpPr>
          <p:nvPr>
            <p:ph type="sldNum" sz="quarter" idx="5"/>
          </p:nvPr>
        </p:nvSpPr>
        <p:spPr/>
        <p:txBody>
          <a:bodyPr/>
          <a:lstStyle/>
          <a:p>
            <a:fld id="{9FD3A348-C2A4-4BB5-A983-4F08953E26C8}" type="slidenum">
              <a:rPr lang="pl-PL" smtClean="0"/>
              <a:t>16</a:t>
            </a:fld>
            <a:endParaRPr lang="pl-PL"/>
          </a:p>
        </p:txBody>
      </p:sp>
    </p:spTree>
    <p:extLst>
      <p:ext uri="{BB962C8B-B14F-4D97-AF65-F5344CB8AC3E}">
        <p14:creationId xmlns:p14="http://schemas.microsoft.com/office/powerpoint/2010/main" val="37878086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dirty="0"/>
              <a:t>Pierwsza faza to zrozumienie biznesu, gdzie określa się cel projektu oraz kryteria sukcesu. Druga faza to zrozumienie danych, podczas której zespół analizuje dostępne źródła informacji.</a:t>
            </a:r>
          </a:p>
          <a:p>
            <a:r>
              <a:rPr lang="pl-PL" dirty="0"/>
              <a:t>Trzecia faza to przygotowanie danych. Obejmuje czyszczenie, łączenie i transformację danych. Czwarta faza to modelowanie, czyli budowa i testowanie modeli analitycznych.</a:t>
            </a:r>
          </a:p>
          <a:p>
            <a:r>
              <a:rPr lang="pl-PL" dirty="0"/>
              <a:t>Piąta faza to ewaluacja. Zespół sprawdza, czy model rzeczywiście rozwiązuje problem biznesowy. Ostatnia faza to wdrożenie, w którym model staje się częścią realnego procesu organizacyjnego.</a:t>
            </a:r>
            <a:endParaRPr lang="en-US" dirty="0"/>
          </a:p>
          <a:p>
            <a:endParaRPr lang="en-US" dirty="0"/>
          </a:p>
          <a:p>
            <a:r>
              <a:rPr lang="pl-PL" dirty="0"/>
              <a:t>https://medium.com/@shawn.chumbar/the-crisp-dm-process-a-comprehensive-guide-4d893aecb151</a:t>
            </a:r>
          </a:p>
        </p:txBody>
      </p:sp>
      <p:sp>
        <p:nvSpPr>
          <p:cNvPr id="4" name="Symbol zastępczy numeru slajdu 3"/>
          <p:cNvSpPr>
            <a:spLocks noGrp="1"/>
          </p:cNvSpPr>
          <p:nvPr>
            <p:ph type="sldNum" sz="quarter" idx="5"/>
          </p:nvPr>
        </p:nvSpPr>
        <p:spPr/>
        <p:txBody>
          <a:bodyPr/>
          <a:lstStyle/>
          <a:p>
            <a:fld id="{9FD3A348-C2A4-4BB5-A983-4F08953E26C8}" type="slidenum">
              <a:rPr lang="pl-PL" smtClean="0"/>
              <a:t>17</a:t>
            </a:fld>
            <a:endParaRPr lang="pl-PL"/>
          </a:p>
        </p:txBody>
      </p:sp>
    </p:spTree>
    <p:extLst>
      <p:ext uri="{BB962C8B-B14F-4D97-AF65-F5344CB8AC3E}">
        <p14:creationId xmlns:p14="http://schemas.microsoft.com/office/powerpoint/2010/main" val="18111943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dirty="0"/>
              <a:t>CRISP-DM pozostaje popularny, ponieważ dobrze odzwierciedla sposób myślenia współczesnych zespołów Data Science.</a:t>
            </a:r>
          </a:p>
          <a:p>
            <a:r>
              <a:rPr lang="pl-PL" b="0" dirty="0"/>
              <a:t>W </a:t>
            </a:r>
            <a:r>
              <a:rPr lang="pl-PL" b="0" dirty="0" err="1"/>
              <a:t>FihaAI</a:t>
            </a:r>
            <a:r>
              <a:rPr lang="pl-PL" b="0" dirty="0"/>
              <a:t> każda faza kończyła się wspólną decyzją zespołu technicznego i lekarzy, czy projekt powinien przejść do kolejnego etapu.</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pl-PL" dirty="0"/>
              <a:t>https://medium.com/@shawn.chumbar/the-crisp-dm-process-a-comprehensive-guide-4d893aecb151</a:t>
            </a:r>
          </a:p>
          <a:p>
            <a:endParaRPr lang="pl-PL" dirty="0"/>
          </a:p>
        </p:txBody>
      </p:sp>
      <p:sp>
        <p:nvSpPr>
          <p:cNvPr id="4" name="Symbol zastępczy numeru slajdu 3"/>
          <p:cNvSpPr>
            <a:spLocks noGrp="1"/>
          </p:cNvSpPr>
          <p:nvPr>
            <p:ph type="sldNum" sz="quarter" idx="5"/>
          </p:nvPr>
        </p:nvSpPr>
        <p:spPr/>
        <p:txBody>
          <a:bodyPr/>
          <a:lstStyle/>
          <a:p>
            <a:fld id="{9FD3A348-C2A4-4BB5-A983-4F08953E26C8}" type="slidenum">
              <a:rPr lang="pl-PL" smtClean="0"/>
              <a:t>18</a:t>
            </a:fld>
            <a:endParaRPr lang="pl-PL"/>
          </a:p>
        </p:txBody>
      </p:sp>
    </p:spTree>
    <p:extLst>
      <p:ext uri="{BB962C8B-B14F-4D97-AF65-F5344CB8AC3E}">
        <p14:creationId xmlns:p14="http://schemas.microsoft.com/office/powerpoint/2010/main" val="9380114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l-PL" dirty="0"/>
              <a:t>https://www.ibm.com/docs/pl/spss-modeler/saas?topic=dm-crisp-help-overview</a:t>
            </a:r>
          </a:p>
          <a:p>
            <a:r>
              <a:rPr lang="pl-PL" dirty="0"/>
              <a:t>https://www.datascience-pm.com/semma/</a:t>
            </a:r>
            <a:endParaRPr lang="en-US" dirty="0"/>
          </a:p>
          <a:p>
            <a:r>
              <a:rPr lang="pl-PL" dirty="0"/>
              <a:t>https://en.wikipedia.org/wiki/SEMMA</a:t>
            </a:r>
          </a:p>
          <a:p>
            <a:endParaRPr lang="en-US" dirty="0"/>
          </a:p>
        </p:txBody>
      </p:sp>
      <p:sp>
        <p:nvSpPr>
          <p:cNvPr id="4" name="Symbol zastępczy numeru slajdu 3"/>
          <p:cNvSpPr>
            <a:spLocks noGrp="1"/>
          </p:cNvSpPr>
          <p:nvPr>
            <p:ph type="sldNum" sz="quarter" idx="5"/>
          </p:nvPr>
        </p:nvSpPr>
        <p:spPr/>
        <p:txBody>
          <a:bodyPr/>
          <a:lstStyle/>
          <a:p>
            <a:fld id="{9FD3A348-C2A4-4BB5-A983-4F08953E26C8}" type="slidenum">
              <a:rPr lang="pl-PL" smtClean="0"/>
              <a:t>19</a:t>
            </a:fld>
            <a:endParaRPr lang="pl-PL"/>
          </a:p>
        </p:txBody>
      </p:sp>
    </p:spTree>
    <p:extLst>
      <p:ext uri="{BB962C8B-B14F-4D97-AF65-F5344CB8AC3E}">
        <p14:creationId xmlns:p14="http://schemas.microsoft.com/office/powerpoint/2010/main" val="72399728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l-PL" b="0" dirty="0"/>
              <a:t>W </a:t>
            </a:r>
            <a:r>
              <a:rPr lang="pl-PL" b="0" dirty="0" err="1"/>
              <a:t>FihaAI</a:t>
            </a:r>
            <a:r>
              <a:rPr lang="pl-PL" b="0" dirty="0"/>
              <a:t> Data </a:t>
            </a:r>
            <a:r>
              <a:rPr lang="pl-PL" b="0" dirty="0" err="1"/>
              <a:t>Scientist</a:t>
            </a:r>
            <a:r>
              <a:rPr lang="pl-PL" b="0" dirty="0"/>
              <a:t> używał logiki SEMMA podczas budowy modelu, ale cały zespół zarządzał projektem zgodnie z logiką CRISP-DM.</a:t>
            </a:r>
            <a:endParaRPr lang="en-US" b="0"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pl-PL" dirty="0"/>
              <a:t>https://www.ibm.com/docs/pl/spss-modeler/saas?topic=dm-crisp-help-overview</a:t>
            </a:r>
          </a:p>
          <a:p>
            <a:r>
              <a:rPr lang="pl-PL" dirty="0"/>
              <a:t>https://www.datascience-pm.com/semma/</a:t>
            </a:r>
            <a:endParaRPr lang="en-US" dirty="0"/>
          </a:p>
          <a:p>
            <a:r>
              <a:rPr lang="pl-PL" dirty="0"/>
              <a:t>https://en.wikipedia.org/wiki/SEMMA</a:t>
            </a:r>
          </a:p>
          <a:p>
            <a:endParaRPr lang="pl-PL" dirty="0"/>
          </a:p>
        </p:txBody>
      </p:sp>
      <p:sp>
        <p:nvSpPr>
          <p:cNvPr id="4" name="Symbol zastępczy numeru slajdu 3"/>
          <p:cNvSpPr>
            <a:spLocks noGrp="1"/>
          </p:cNvSpPr>
          <p:nvPr>
            <p:ph type="sldNum" sz="quarter" idx="5"/>
          </p:nvPr>
        </p:nvSpPr>
        <p:spPr/>
        <p:txBody>
          <a:bodyPr/>
          <a:lstStyle/>
          <a:p>
            <a:fld id="{9FD3A348-C2A4-4BB5-A983-4F08953E26C8}" type="slidenum">
              <a:rPr lang="pl-PL" smtClean="0"/>
              <a:t>20</a:t>
            </a:fld>
            <a:endParaRPr lang="pl-PL"/>
          </a:p>
        </p:txBody>
      </p:sp>
    </p:spTree>
    <p:extLst>
      <p:ext uri="{BB962C8B-B14F-4D97-AF65-F5344CB8AC3E}">
        <p14:creationId xmlns:p14="http://schemas.microsoft.com/office/powerpoint/2010/main" val="161731756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dirty="0"/>
              <a:t>TDSP dzieli projekt na wspólne etapy:</a:t>
            </a:r>
          </a:p>
          <a:p>
            <a:r>
              <a:rPr lang="en-US" dirty="0"/>
              <a:t>- </a:t>
            </a:r>
            <a:r>
              <a:rPr lang="pl-PL" dirty="0"/>
              <a:t>zrozumienie problemu, </a:t>
            </a:r>
          </a:p>
          <a:p>
            <a:r>
              <a:rPr lang="en-US" dirty="0"/>
              <a:t>- </a:t>
            </a:r>
            <a:r>
              <a:rPr lang="pl-PL" dirty="0"/>
              <a:t>pozyskanie danych, </a:t>
            </a:r>
          </a:p>
          <a:p>
            <a:r>
              <a:rPr lang="en-US" dirty="0"/>
              <a:t>- </a:t>
            </a:r>
            <a:r>
              <a:rPr lang="pl-PL" dirty="0"/>
              <a:t>modelowanie, </a:t>
            </a:r>
          </a:p>
          <a:p>
            <a:r>
              <a:rPr lang="en-US" dirty="0"/>
              <a:t>- </a:t>
            </a:r>
            <a:r>
              <a:rPr lang="pl-PL" dirty="0"/>
              <a:t>wdrożenie, </a:t>
            </a:r>
          </a:p>
          <a:p>
            <a:r>
              <a:rPr lang="en-US" dirty="0"/>
              <a:t>- </a:t>
            </a:r>
            <a:r>
              <a:rPr lang="pl-PL" dirty="0"/>
              <a:t>akceptację klienta. </a:t>
            </a:r>
          </a:p>
          <a:p>
            <a:r>
              <a:rPr lang="pl-PL" dirty="0"/>
              <a:t>Najważniejsze jest to, że model jasno wskazuje odpowiedzialność poszczególnych ról. Dzięki temu każdy członek zespołu wie, kiedy przejmuje odpowiedzialność i komu przekazuje wynik swojej pracy.</a:t>
            </a:r>
            <a:endParaRPr lang="en-US" dirty="0"/>
          </a:p>
          <a:p>
            <a:endParaRPr lang="en-US" dirty="0"/>
          </a:p>
          <a:p>
            <a:r>
              <a:rPr lang="pl-PL" dirty="0"/>
              <a:t>https://www.datascience-pm.com/tdsp/</a:t>
            </a:r>
          </a:p>
        </p:txBody>
      </p:sp>
      <p:sp>
        <p:nvSpPr>
          <p:cNvPr id="4" name="Symbol zastępczy numeru slajdu 3"/>
          <p:cNvSpPr>
            <a:spLocks noGrp="1"/>
          </p:cNvSpPr>
          <p:nvPr>
            <p:ph type="sldNum" sz="quarter" idx="5"/>
          </p:nvPr>
        </p:nvSpPr>
        <p:spPr/>
        <p:txBody>
          <a:bodyPr/>
          <a:lstStyle/>
          <a:p>
            <a:fld id="{9FD3A348-C2A4-4BB5-A983-4F08953E26C8}" type="slidenum">
              <a:rPr lang="pl-PL" smtClean="0"/>
              <a:t>21</a:t>
            </a:fld>
            <a:endParaRPr lang="pl-PL"/>
          </a:p>
        </p:txBody>
      </p:sp>
    </p:spTree>
    <p:extLst>
      <p:ext uri="{BB962C8B-B14F-4D97-AF65-F5344CB8AC3E}">
        <p14:creationId xmlns:p14="http://schemas.microsoft.com/office/powerpoint/2010/main" val="191607686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2032B7-9A31-35AD-A3DC-62CDC8A3F31E}"/>
            </a:ext>
          </a:extLst>
        </p:cNvPr>
        <p:cNvGrpSpPr/>
        <p:nvPr/>
      </p:nvGrpSpPr>
      <p:grpSpPr>
        <a:xfrm>
          <a:off x="0" y="0"/>
          <a:ext cx="0" cy="0"/>
          <a:chOff x="0" y="0"/>
          <a:chExt cx="0" cy="0"/>
        </a:xfrm>
      </p:grpSpPr>
      <p:sp>
        <p:nvSpPr>
          <p:cNvPr id="2" name="Symbol zastępczy obrazu slajdu 1">
            <a:extLst>
              <a:ext uri="{FF2B5EF4-FFF2-40B4-BE49-F238E27FC236}">
                <a16:creationId xmlns:a16="http://schemas.microsoft.com/office/drawing/2014/main" id="{11739850-CA4E-4C7E-F140-AD4EE2D83497}"/>
              </a:ext>
            </a:extLst>
          </p:cNvPr>
          <p:cNvSpPr>
            <a:spLocks noGrp="1" noRot="1" noChangeAspect="1"/>
          </p:cNvSpPr>
          <p:nvPr>
            <p:ph type="sldImg"/>
          </p:nvPr>
        </p:nvSpPr>
        <p:spPr/>
      </p:sp>
      <p:sp>
        <p:nvSpPr>
          <p:cNvPr id="3" name="Symbol zastępczy notatek 2">
            <a:extLst>
              <a:ext uri="{FF2B5EF4-FFF2-40B4-BE49-F238E27FC236}">
                <a16:creationId xmlns:a16="http://schemas.microsoft.com/office/drawing/2014/main" id="{D79B089F-53FB-0FA7-316B-C753C4F0482F}"/>
              </a:ext>
            </a:extLst>
          </p:cNvPr>
          <p:cNvSpPr>
            <a:spLocks noGrp="1"/>
          </p:cNvSpPr>
          <p:nvPr>
            <p:ph type="body" idx="1"/>
          </p:nvPr>
        </p:nvSpPr>
        <p:spPr/>
        <p:txBody>
          <a:bodyPr/>
          <a:lstStyle/>
          <a:p>
            <a:r>
              <a:rPr lang="pl-PL" dirty="0"/>
              <a:t>W </a:t>
            </a:r>
            <a:r>
              <a:rPr lang="pl-PL" dirty="0" err="1"/>
              <a:t>FihaAI</a:t>
            </a:r>
            <a:r>
              <a:rPr lang="pl-PL" dirty="0"/>
              <a:t> TDSP pomógł połączyć pracę lekarzy, analityków i inżynierów w jeden proces prowadzący od danych pacjenta do gotowego narzędzia diagnostycznego.</a:t>
            </a:r>
            <a:endParaRPr lang="en-US" dirty="0"/>
          </a:p>
          <a:p>
            <a:endParaRPr lang="en-US" dirty="0"/>
          </a:p>
          <a:p>
            <a:r>
              <a:rPr lang="pl-PL" dirty="0"/>
              <a:t>https://www.datascience-pm.com/tdsp/</a:t>
            </a:r>
          </a:p>
        </p:txBody>
      </p:sp>
      <p:sp>
        <p:nvSpPr>
          <p:cNvPr id="4" name="Symbol zastępczy numeru slajdu 3">
            <a:extLst>
              <a:ext uri="{FF2B5EF4-FFF2-40B4-BE49-F238E27FC236}">
                <a16:creationId xmlns:a16="http://schemas.microsoft.com/office/drawing/2014/main" id="{3C5DC992-8D8F-1057-06C0-01A6A535F715}"/>
              </a:ext>
            </a:extLst>
          </p:cNvPr>
          <p:cNvSpPr>
            <a:spLocks noGrp="1"/>
          </p:cNvSpPr>
          <p:nvPr>
            <p:ph type="sldNum" sz="quarter" idx="5"/>
          </p:nvPr>
        </p:nvSpPr>
        <p:spPr/>
        <p:txBody>
          <a:bodyPr/>
          <a:lstStyle/>
          <a:p>
            <a:fld id="{9FD3A348-C2A4-4BB5-A983-4F08953E26C8}" type="slidenum">
              <a:rPr lang="pl-PL" smtClean="0"/>
              <a:t>22</a:t>
            </a:fld>
            <a:endParaRPr lang="pl-PL"/>
          </a:p>
        </p:txBody>
      </p:sp>
    </p:spTree>
    <p:extLst>
      <p:ext uri="{BB962C8B-B14F-4D97-AF65-F5344CB8AC3E}">
        <p14:creationId xmlns:p14="http://schemas.microsoft.com/office/powerpoint/2010/main" val="91369404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dirty="0"/>
              <a:t>Domino Data Science Life </a:t>
            </a:r>
            <a:r>
              <a:rPr lang="pl-PL" dirty="0" err="1"/>
              <a:t>Cycle</a:t>
            </a:r>
            <a:r>
              <a:rPr lang="pl-PL" dirty="0"/>
              <a:t> został stworzony właśnie po to, aby pokazać pełny cykl życia modelu. Proces obejmuje:</a:t>
            </a:r>
          </a:p>
          <a:p>
            <a:r>
              <a:rPr lang="en-US" dirty="0"/>
              <a:t>- </a:t>
            </a:r>
            <a:r>
              <a:rPr lang="pl-PL" dirty="0"/>
              <a:t>eksplorację danych, </a:t>
            </a:r>
          </a:p>
          <a:p>
            <a:r>
              <a:rPr lang="en-US" dirty="0"/>
              <a:t>- </a:t>
            </a:r>
            <a:r>
              <a:rPr lang="pl-PL" dirty="0"/>
              <a:t>eksperymentowanie, </a:t>
            </a:r>
          </a:p>
          <a:p>
            <a:r>
              <a:rPr lang="en-US" dirty="0"/>
              <a:t>- </a:t>
            </a:r>
            <a:r>
              <a:rPr lang="pl-PL" dirty="0"/>
              <a:t>walidację, </a:t>
            </a:r>
          </a:p>
          <a:p>
            <a:r>
              <a:rPr lang="en-US" dirty="0"/>
              <a:t>- </a:t>
            </a:r>
            <a:r>
              <a:rPr lang="pl-PL" dirty="0"/>
              <a:t>wdrożenie, </a:t>
            </a:r>
          </a:p>
          <a:p>
            <a:r>
              <a:rPr lang="en-US" dirty="0"/>
              <a:t>- </a:t>
            </a:r>
            <a:r>
              <a:rPr lang="pl-PL" dirty="0"/>
              <a:t>monitorowanie, </a:t>
            </a:r>
          </a:p>
          <a:p>
            <a:r>
              <a:rPr lang="en-US" dirty="0"/>
              <a:t>- </a:t>
            </a:r>
            <a:r>
              <a:rPr lang="pl-PL" dirty="0"/>
              <a:t>ciągłe doskonalenie. </a:t>
            </a:r>
          </a:p>
          <a:p>
            <a:r>
              <a:rPr lang="pl-PL" dirty="0"/>
              <a:t>Najważniejsze w tym podejściu jest to, że model nie kończy życia po wdrożeniu. Po uruchomieniu nadal jest obserwowany i oceniany. Dane mogą się zmieniać, zachowania użytkowników mogą ewoluować, a skuteczność modelu może spadać.</a:t>
            </a:r>
          </a:p>
          <a:p>
            <a:endParaRPr lang="en-US" dirty="0"/>
          </a:p>
          <a:p>
            <a:r>
              <a:rPr lang="pl-PL" dirty="0"/>
              <a:t>W </a:t>
            </a:r>
            <a:r>
              <a:rPr lang="pl-PL" dirty="0" err="1"/>
              <a:t>FihaAI</a:t>
            </a:r>
            <a:r>
              <a:rPr lang="pl-PL" dirty="0"/>
              <a:t> po wdrożeniu modelu przewidującego ryzyko chorób serca zespół stale monitorował, czy algorytm nadal działa poprawnie dla nowych grup pacjentów.</a:t>
            </a:r>
            <a:endParaRPr lang="en-US" dirty="0"/>
          </a:p>
          <a:p>
            <a:endParaRPr lang="en-US" dirty="0"/>
          </a:p>
          <a:p>
            <a:r>
              <a:rPr lang="pl-PL" dirty="0"/>
              <a:t>https://www.datascience-pm.com/domino-data-science-life-cycle/</a:t>
            </a:r>
          </a:p>
        </p:txBody>
      </p:sp>
      <p:sp>
        <p:nvSpPr>
          <p:cNvPr id="4" name="Symbol zastępczy numeru slajdu 3"/>
          <p:cNvSpPr>
            <a:spLocks noGrp="1"/>
          </p:cNvSpPr>
          <p:nvPr>
            <p:ph type="sldNum" sz="quarter" idx="5"/>
          </p:nvPr>
        </p:nvSpPr>
        <p:spPr/>
        <p:txBody>
          <a:bodyPr/>
          <a:lstStyle/>
          <a:p>
            <a:fld id="{9FD3A348-C2A4-4BB5-A983-4F08953E26C8}" type="slidenum">
              <a:rPr lang="pl-PL" smtClean="0"/>
              <a:t>23</a:t>
            </a:fld>
            <a:endParaRPr lang="pl-PL"/>
          </a:p>
        </p:txBody>
      </p:sp>
    </p:spTree>
    <p:extLst>
      <p:ext uri="{BB962C8B-B14F-4D97-AF65-F5344CB8AC3E}">
        <p14:creationId xmlns:p14="http://schemas.microsoft.com/office/powerpoint/2010/main" val="228544803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dirty="0"/>
              <a:t>Model OSEMN jest ceniony, ponieważ:</a:t>
            </a:r>
          </a:p>
          <a:p>
            <a:r>
              <a:rPr lang="en-US" dirty="0"/>
              <a:t>a) </a:t>
            </a:r>
            <a:r>
              <a:rPr lang="pl-PL" dirty="0"/>
              <a:t>jest prosty</a:t>
            </a:r>
          </a:p>
          <a:p>
            <a:r>
              <a:rPr lang="en-US" dirty="0"/>
              <a:t>b) </a:t>
            </a:r>
            <a:r>
              <a:rPr lang="pl-PL" dirty="0"/>
              <a:t>łatwy do zapamiętania</a:t>
            </a:r>
          </a:p>
          <a:p>
            <a:r>
              <a:rPr lang="en-US" dirty="0"/>
              <a:t>c) </a:t>
            </a:r>
            <a:r>
              <a:rPr lang="pl-PL" dirty="0"/>
              <a:t>intuicyjny</a:t>
            </a:r>
          </a:p>
          <a:p>
            <a:r>
              <a:rPr lang="en-US" dirty="0"/>
              <a:t>d) </a:t>
            </a:r>
            <a:r>
              <a:rPr lang="pl-PL" dirty="0"/>
              <a:t>dobrze opisuje pracę analityka</a:t>
            </a:r>
          </a:p>
          <a:p>
            <a:r>
              <a:rPr lang="en-US" dirty="0"/>
              <a:t>e) </a:t>
            </a:r>
            <a:r>
              <a:rPr lang="pl-PL" dirty="0"/>
              <a:t>podkreśla znaczenie interpretacji</a:t>
            </a:r>
          </a:p>
          <a:p>
            <a:r>
              <a:rPr lang="pl-PL" dirty="0"/>
              <a:t>W przeciwieństwie do bardziej formalnych metod OSEMN dobrze oddaje codzienną pracę specjalisty danych.</a:t>
            </a:r>
          </a:p>
          <a:p>
            <a:r>
              <a:rPr lang="pl-PL" b="0" dirty="0"/>
              <a:t>W </a:t>
            </a:r>
            <a:r>
              <a:rPr lang="pl-PL" b="0" dirty="0" err="1"/>
              <a:t>FihaAI</a:t>
            </a:r>
            <a:r>
              <a:rPr lang="pl-PL" b="0" dirty="0"/>
              <a:t> lekarze najbardziej cenili ostatni etap OSEMN, ponieważ sam model był mniej ważny niż umiejętność wyjaśnienia jego decyzji medycznych.</a:t>
            </a:r>
          </a:p>
          <a:p>
            <a:endParaRPr lang="en-US" dirty="0"/>
          </a:p>
          <a:p>
            <a:r>
              <a:rPr lang="pl-PL" dirty="0"/>
              <a:t>https://www.datascience-pm.com/osemn/</a:t>
            </a:r>
          </a:p>
        </p:txBody>
      </p:sp>
      <p:sp>
        <p:nvSpPr>
          <p:cNvPr id="4" name="Symbol zastępczy numeru slajdu 3"/>
          <p:cNvSpPr>
            <a:spLocks noGrp="1"/>
          </p:cNvSpPr>
          <p:nvPr>
            <p:ph type="sldNum" sz="quarter" idx="5"/>
          </p:nvPr>
        </p:nvSpPr>
        <p:spPr/>
        <p:txBody>
          <a:bodyPr/>
          <a:lstStyle/>
          <a:p>
            <a:fld id="{9FD3A348-C2A4-4BB5-A983-4F08953E26C8}" type="slidenum">
              <a:rPr lang="pl-PL" smtClean="0"/>
              <a:t>24</a:t>
            </a:fld>
            <a:endParaRPr lang="pl-PL"/>
          </a:p>
        </p:txBody>
      </p:sp>
    </p:spTree>
    <p:extLst>
      <p:ext uri="{BB962C8B-B14F-4D97-AF65-F5344CB8AC3E}">
        <p14:creationId xmlns:p14="http://schemas.microsoft.com/office/powerpoint/2010/main" val="28982352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dirty="0"/>
              <a:t>W </a:t>
            </a:r>
            <a:r>
              <a:rPr lang="pl-PL" dirty="0" err="1"/>
              <a:t>FihaAI</a:t>
            </a:r>
            <a:r>
              <a:rPr lang="pl-PL" dirty="0"/>
              <a:t> zespół zrozumiał, że skuteczny model pracy nie musi być idealny</a:t>
            </a:r>
            <a:r>
              <a:rPr lang="en-US" dirty="0"/>
              <a:t>,</a:t>
            </a:r>
            <a:r>
              <a:rPr lang="pl-PL" dirty="0"/>
              <a:t> musi po prostu pomagać ludziom podejmować lepsze decyzje</a:t>
            </a:r>
          </a:p>
        </p:txBody>
      </p:sp>
      <p:sp>
        <p:nvSpPr>
          <p:cNvPr id="4" name="Symbol zastępczy numeru slajdu 3"/>
          <p:cNvSpPr>
            <a:spLocks noGrp="1"/>
          </p:cNvSpPr>
          <p:nvPr>
            <p:ph type="sldNum" sz="quarter" idx="5"/>
          </p:nvPr>
        </p:nvSpPr>
        <p:spPr/>
        <p:txBody>
          <a:bodyPr/>
          <a:lstStyle/>
          <a:p>
            <a:fld id="{9FD3A348-C2A4-4BB5-A983-4F08953E26C8}" type="slidenum">
              <a:rPr lang="pl-PL" smtClean="0"/>
              <a:t>26</a:t>
            </a:fld>
            <a:endParaRPr lang="pl-PL"/>
          </a:p>
        </p:txBody>
      </p:sp>
    </p:spTree>
    <p:extLst>
      <p:ext uri="{BB962C8B-B14F-4D97-AF65-F5344CB8AC3E}">
        <p14:creationId xmlns:p14="http://schemas.microsoft.com/office/powerpoint/2010/main" val="164120064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dirty="0"/>
              <a:t>W firmie </a:t>
            </a:r>
            <a:r>
              <a:rPr lang="pl-PL" b="0" dirty="0" err="1"/>
              <a:t>FihaAI</a:t>
            </a:r>
            <a:r>
              <a:rPr lang="pl-PL" dirty="0"/>
              <a:t> zespół szybko zauważył, że klasyczny proces kończy się formalnie w momencie wdrożenia modelu. Problem polegał na tym, że po kilku miesiącach dane pacjentów zaczęły się zmieniać, a skuteczność modelu zaczęła stopniowo spadać. Tradycyjny model nie odpowiadał na pytanie, kto odpowiada za ciągły nadzór nad systemem</a:t>
            </a:r>
          </a:p>
        </p:txBody>
      </p:sp>
      <p:sp>
        <p:nvSpPr>
          <p:cNvPr id="4" name="Symbol zastępczy numeru slajdu 3"/>
          <p:cNvSpPr>
            <a:spLocks noGrp="1"/>
          </p:cNvSpPr>
          <p:nvPr>
            <p:ph type="sldNum" sz="quarter" idx="5"/>
          </p:nvPr>
        </p:nvSpPr>
        <p:spPr/>
        <p:txBody>
          <a:bodyPr/>
          <a:lstStyle/>
          <a:p>
            <a:fld id="{9FD3A348-C2A4-4BB5-A983-4F08953E26C8}" type="slidenum">
              <a:rPr lang="pl-PL" smtClean="0"/>
              <a:t>27</a:t>
            </a:fld>
            <a:endParaRPr lang="pl-PL"/>
          </a:p>
        </p:txBody>
      </p:sp>
    </p:spTree>
    <p:extLst>
      <p:ext uri="{BB962C8B-B14F-4D97-AF65-F5344CB8AC3E}">
        <p14:creationId xmlns:p14="http://schemas.microsoft.com/office/powerpoint/2010/main" val="349836056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dirty="0" err="1"/>
              <a:t>Współczesn</a:t>
            </a:r>
            <a:r>
              <a:rPr lang="en-US" dirty="0"/>
              <a:t>a</a:t>
            </a:r>
            <a:r>
              <a:rPr lang="pl-PL" dirty="0"/>
              <a:t> AI wymaga podejścia, w którym model nie jest końcem projektu, ale początkiem nowego etapu życia produktu. Dlatego organizacje coraz częściej rozszerzają klasyczne </a:t>
            </a:r>
            <a:r>
              <a:rPr lang="pl-PL" b="0" dirty="0"/>
              <a:t>metody o elementy </a:t>
            </a:r>
            <a:r>
              <a:rPr lang="pl-PL" b="0" dirty="0" err="1"/>
              <a:t>MLOps</a:t>
            </a:r>
            <a:r>
              <a:rPr lang="pl-PL" b="0" dirty="0"/>
              <a:t> oraz ciągłego monitorowania jakości.</a:t>
            </a:r>
            <a:endParaRPr lang="en-US" b="0" dirty="0"/>
          </a:p>
          <a:p>
            <a:endParaRPr lang="pl-PL" b="0" dirty="0"/>
          </a:p>
          <a:p>
            <a:r>
              <a:rPr lang="pl-PL" b="0" dirty="0"/>
              <a:t>W </a:t>
            </a:r>
            <a:r>
              <a:rPr lang="pl-PL" b="0" dirty="0" err="1"/>
              <a:t>FihaAI</a:t>
            </a:r>
            <a:r>
              <a:rPr lang="pl-PL" b="0" dirty="0"/>
              <a:t> dopiero po wdrożeniu modelu zespół zrozumiał, że największym wyzwaniem nie jest stworzenie algorytmu, ale utrzymanie jego jakości przez kolejne lata działania.</a:t>
            </a:r>
          </a:p>
          <a:p>
            <a:endParaRPr lang="pl-PL" dirty="0"/>
          </a:p>
        </p:txBody>
      </p:sp>
      <p:sp>
        <p:nvSpPr>
          <p:cNvPr id="4" name="Symbol zastępczy numeru slajdu 3"/>
          <p:cNvSpPr>
            <a:spLocks noGrp="1"/>
          </p:cNvSpPr>
          <p:nvPr>
            <p:ph type="sldNum" sz="quarter" idx="5"/>
          </p:nvPr>
        </p:nvSpPr>
        <p:spPr/>
        <p:txBody>
          <a:bodyPr/>
          <a:lstStyle/>
          <a:p>
            <a:fld id="{9FD3A348-C2A4-4BB5-A983-4F08953E26C8}" type="slidenum">
              <a:rPr lang="pl-PL" smtClean="0"/>
              <a:t>28</a:t>
            </a:fld>
            <a:endParaRPr lang="pl-PL"/>
          </a:p>
        </p:txBody>
      </p:sp>
    </p:spTree>
    <p:extLst>
      <p:ext uri="{BB962C8B-B14F-4D97-AF65-F5344CB8AC3E}">
        <p14:creationId xmlns:p14="http://schemas.microsoft.com/office/powerpoint/2010/main" val="140295529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dirty="0"/>
              <a:t>W firmie </a:t>
            </a:r>
            <a:r>
              <a:rPr lang="pl-PL" b="0" dirty="0" err="1"/>
              <a:t>FihaAI</a:t>
            </a:r>
            <a:r>
              <a:rPr lang="pl-PL" dirty="0"/>
              <a:t> zespół zachował strukturę CRISP-DM jako mapę całego projektu, ale realizował poszczególne fazy w krótkich sprintach. Dzięki temu możliwe było regularne testowanie hipotez i szybkie reagowanie na zmiany.</a:t>
            </a:r>
          </a:p>
          <a:p>
            <a:r>
              <a:rPr lang="pl-PL" dirty="0"/>
              <a:t>Przykładowo:</a:t>
            </a:r>
          </a:p>
          <a:p>
            <a:r>
              <a:rPr lang="en-US" dirty="0"/>
              <a:t>- </a:t>
            </a:r>
            <a:r>
              <a:rPr lang="pl-PL" dirty="0"/>
              <a:t>faza zrozumienia biznesu była aktualizowana w kolejnych sprintach, </a:t>
            </a:r>
          </a:p>
          <a:p>
            <a:r>
              <a:rPr lang="en-US" dirty="0"/>
              <a:t>- </a:t>
            </a:r>
            <a:r>
              <a:rPr lang="pl-PL" dirty="0"/>
              <a:t>analiza danych odbywała się iteracyjnie, </a:t>
            </a:r>
          </a:p>
          <a:p>
            <a:r>
              <a:rPr lang="en-US" dirty="0"/>
              <a:t>- </a:t>
            </a:r>
            <a:r>
              <a:rPr lang="pl-PL" dirty="0"/>
              <a:t>modele rozwijano małymi krokami, </a:t>
            </a:r>
          </a:p>
          <a:p>
            <a:r>
              <a:rPr lang="en-US" dirty="0"/>
              <a:t>- </a:t>
            </a:r>
            <a:r>
              <a:rPr lang="pl-PL" dirty="0"/>
              <a:t>każda iteracja kończyła się oceną biznesową, </a:t>
            </a:r>
          </a:p>
          <a:p>
            <a:r>
              <a:rPr lang="en-US" dirty="0"/>
              <a:t>- </a:t>
            </a:r>
            <a:r>
              <a:rPr lang="pl-PL" dirty="0"/>
              <a:t>wdrożenie następowało stopniowo.</a:t>
            </a:r>
          </a:p>
          <a:p>
            <a:endParaRPr lang="en-US" dirty="0"/>
          </a:p>
          <a:p>
            <a:r>
              <a:rPr lang="pl-PL" dirty="0"/>
              <a:t>https://uxairforce.pl/crisp-dm-standardowy-proces-analityczny-dla-projektow-data-science-en25</a:t>
            </a:r>
          </a:p>
        </p:txBody>
      </p:sp>
      <p:sp>
        <p:nvSpPr>
          <p:cNvPr id="4" name="Symbol zastępczy numeru slajdu 3"/>
          <p:cNvSpPr>
            <a:spLocks noGrp="1"/>
          </p:cNvSpPr>
          <p:nvPr>
            <p:ph type="sldNum" sz="quarter" idx="5"/>
          </p:nvPr>
        </p:nvSpPr>
        <p:spPr/>
        <p:txBody>
          <a:bodyPr/>
          <a:lstStyle/>
          <a:p>
            <a:fld id="{9FD3A348-C2A4-4BB5-A983-4F08953E26C8}" type="slidenum">
              <a:rPr lang="pl-PL" smtClean="0"/>
              <a:t>29</a:t>
            </a:fld>
            <a:endParaRPr lang="pl-PL"/>
          </a:p>
        </p:txBody>
      </p:sp>
    </p:spTree>
    <p:extLst>
      <p:ext uri="{BB962C8B-B14F-4D97-AF65-F5344CB8AC3E}">
        <p14:creationId xmlns:p14="http://schemas.microsoft.com/office/powerpoint/2010/main" val="58163932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dirty="0"/>
              <a:t>Na początku </a:t>
            </a:r>
            <a:r>
              <a:rPr lang="pl-PL" dirty="0" err="1"/>
              <a:t>FihaAI</a:t>
            </a:r>
            <a:r>
              <a:rPr lang="pl-PL" dirty="0"/>
              <a:t> była małym zespołem, który chciał jedynie sprawdzić, czy dane medyczne mogą pomóc przewidywać choroby serca. Z czasem projekt przerodził się w pełnoprawny produkt oparty na sztucznej inteligencji. Zespół odkrył jednak, że największym wyzwaniem nie było samo stworzenie modelu, lecz zbudowanie organizacji zdolnej do ciągłego uczenia się</a:t>
            </a:r>
          </a:p>
        </p:txBody>
      </p:sp>
      <p:sp>
        <p:nvSpPr>
          <p:cNvPr id="4" name="Symbol zastępczy numeru slajdu 3"/>
          <p:cNvSpPr>
            <a:spLocks noGrp="1"/>
          </p:cNvSpPr>
          <p:nvPr>
            <p:ph type="sldNum" sz="quarter" idx="5"/>
          </p:nvPr>
        </p:nvSpPr>
        <p:spPr/>
        <p:txBody>
          <a:bodyPr/>
          <a:lstStyle/>
          <a:p>
            <a:fld id="{9FD3A348-C2A4-4BB5-A983-4F08953E26C8}" type="slidenum">
              <a:rPr lang="pl-PL" smtClean="0"/>
              <a:t>30</a:t>
            </a:fld>
            <a:endParaRPr lang="pl-PL"/>
          </a:p>
        </p:txBody>
      </p:sp>
    </p:spTree>
    <p:extLst>
      <p:ext uri="{BB962C8B-B14F-4D97-AF65-F5344CB8AC3E}">
        <p14:creationId xmlns:p14="http://schemas.microsoft.com/office/powerpoint/2010/main" val="12908860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610A-17B4-4656-93CF-E1D9982860F7}"/>
              </a:ext>
            </a:extLst>
          </p:cNvPr>
          <p:cNvSpPr>
            <a:spLocks noGrp="1"/>
          </p:cNvSpPr>
          <p:nvPr>
            <p:ph type="ctrTitle"/>
          </p:nvPr>
        </p:nvSpPr>
        <p:spPr>
          <a:xfrm>
            <a:off x="640080" y="1371599"/>
            <a:ext cx="6675120" cy="2951825"/>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451C80B-DFD6-415B-BA5B-E56E510CD12B}"/>
              </a:ext>
            </a:extLst>
          </p:cNvPr>
          <p:cNvSpPr>
            <a:spLocks noGrp="1"/>
          </p:cNvSpPr>
          <p:nvPr>
            <p:ph type="subTitle" idx="1"/>
          </p:nvPr>
        </p:nvSpPr>
        <p:spPr>
          <a:xfrm>
            <a:off x="640080" y="4584879"/>
            <a:ext cx="6675120" cy="1287887"/>
          </a:xfrm>
        </p:spPr>
        <p:txBody>
          <a:bodyPr anchor="b">
            <a:normAutofit/>
          </a:bodyPr>
          <a:lstStyle>
            <a:lvl1pPr marL="0" indent="0" algn="l">
              <a:lnSpc>
                <a:spcPct val="13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67A2065B-06FF-4991-9F8A-4BE25457B479}"/>
              </a:ext>
            </a:extLst>
          </p:cNvPr>
          <p:cNvSpPr>
            <a:spLocks noGrp="1"/>
          </p:cNvSpPr>
          <p:nvPr>
            <p:ph type="dt" sz="half" idx="10"/>
          </p:nvPr>
        </p:nvSpPr>
        <p:spPr/>
        <p:txBody>
          <a:bodyPr/>
          <a:lstStyle/>
          <a:p>
            <a:fld id="{6444479B-705B-4489-957E-7E8A228BDFA0}" type="datetime1">
              <a:rPr lang="en-US" smtClean="0"/>
              <a:t>4/18/2026</a:t>
            </a:fld>
            <a:endParaRPr lang="en-US"/>
          </a:p>
        </p:txBody>
      </p:sp>
      <p:sp>
        <p:nvSpPr>
          <p:cNvPr id="5" name="Footer Placeholder 4">
            <a:extLst>
              <a:ext uri="{FF2B5EF4-FFF2-40B4-BE49-F238E27FC236}">
                <a16:creationId xmlns:a16="http://schemas.microsoft.com/office/drawing/2014/main" id="{B20DF2FA-C604-45D8-A633-11D3742EC14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2EE5DA9-2D04-4850-AB9F-BD353816504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1513125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8B246-6A68-46BE-9DBD-614FA8CF4E26}"/>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3E47706-8D18-4093-A7C1-F30D7543CE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C7C8FC-AAEA-4AB6-9DB5-2503F58F0E69}"/>
              </a:ext>
            </a:extLst>
          </p:cNvPr>
          <p:cNvSpPr>
            <a:spLocks noGrp="1"/>
          </p:cNvSpPr>
          <p:nvPr>
            <p:ph type="dt" sz="half" idx="10"/>
          </p:nvPr>
        </p:nvSpPr>
        <p:spPr/>
        <p:txBody>
          <a:bodyPr/>
          <a:lstStyle/>
          <a:p>
            <a:fld id="{9F89F774-3FA6-43B8-9241-99959C8FD463}" type="datetime1">
              <a:rPr lang="en-US" smtClean="0"/>
              <a:t>4/18/2026</a:t>
            </a:fld>
            <a:endParaRPr lang="en-US"/>
          </a:p>
        </p:txBody>
      </p:sp>
      <p:sp>
        <p:nvSpPr>
          <p:cNvPr id="5" name="Footer Placeholder 4">
            <a:extLst>
              <a:ext uri="{FF2B5EF4-FFF2-40B4-BE49-F238E27FC236}">
                <a16:creationId xmlns:a16="http://schemas.microsoft.com/office/drawing/2014/main" id="{E8B1616B-3F08-4869-A522-773C38940F6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E030CE6-9124-4B3A-A912-AE16B5C34003}"/>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946792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1BB59B6-79B9-97F5-AC3B-DF65899D39D8}"/>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C78885-57B2-4930-BD7D-CBF916EDF1C6}"/>
              </a:ext>
            </a:extLst>
          </p:cNvPr>
          <p:cNvSpPr>
            <a:spLocks noGrp="1"/>
          </p:cNvSpPr>
          <p:nvPr>
            <p:ph type="title"/>
          </p:nvPr>
        </p:nvSpPr>
        <p:spPr>
          <a:xfrm>
            <a:off x="640080" y="1291366"/>
            <a:ext cx="9214884" cy="3159974"/>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BE495E4-2F8B-4CC7-88AC-A312067E60D2}"/>
              </a:ext>
            </a:extLst>
          </p:cNvPr>
          <p:cNvSpPr>
            <a:spLocks noGrp="1"/>
          </p:cNvSpPr>
          <p:nvPr>
            <p:ph type="body" idx="1"/>
          </p:nvPr>
        </p:nvSpPr>
        <p:spPr>
          <a:xfrm>
            <a:off x="640080" y="5018567"/>
            <a:ext cx="7907079" cy="1073889"/>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585CC9-BAD3-4807-90BB-97DA2D6A6BE2}"/>
              </a:ext>
            </a:extLst>
          </p:cNvPr>
          <p:cNvSpPr>
            <a:spLocks noGrp="1"/>
          </p:cNvSpPr>
          <p:nvPr>
            <p:ph type="dt" sz="half" idx="10"/>
          </p:nvPr>
        </p:nvSpPr>
        <p:spPr/>
        <p:txBody>
          <a:bodyPr/>
          <a:lstStyle/>
          <a:p>
            <a:fld id="{F9504452-5DCC-4FE2-A5C9-8A5EF6714D65}" type="datetime1">
              <a:rPr lang="en-US" smtClean="0"/>
              <a:t>4/18/2026</a:t>
            </a:fld>
            <a:endParaRPr lang="en-US"/>
          </a:p>
        </p:txBody>
      </p:sp>
      <p:sp>
        <p:nvSpPr>
          <p:cNvPr id="5" name="Footer Placeholder 4">
            <a:extLst>
              <a:ext uri="{FF2B5EF4-FFF2-40B4-BE49-F238E27FC236}">
                <a16:creationId xmlns:a16="http://schemas.microsoft.com/office/drawing/2014/main" id="{5F108CEF-165F-4D7E-9666-5CD0156B497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E0EBC3D-3277-4D34-9F67-71040C21E3B3}"/>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FF05EAE5-4812-F718-6D75-9627884180BF}"/>
              </a:ext>
              <a:ext uri="{C183D7F6-B498-43B3-948B-1728B52AA6E4}">
                <adec:decorative xmlns:adec="http://schemas.microsoft.com/office/drawing/2017/decorative" val="1"/>
              </a:ext>
            </a:extLst>
          </p:cNvPr>
          <p:cNvCxnSpPr>
            <a:cxnSpLocks/>
          </p:cNvCxnSpPr>
          <p:nvPr/>
        </p:nvCxnSpPr>
        <p:spPr>
          <a:xfrm>
            <a:off x="716281" y="4715234"/>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591007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477A4-4D01-45B6-9563-0BF13BA72F7C}"/>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EE17E00-96AC-45F0-82B2-9F601E9B93C2}"/>
              </a:ext>
            </a:extLst>
          </p:cNvPr>
          <p:cNvSpPr>
            <a:spLocks noGrp="1"/>
          </p:cNvSpPr>
          <p:nvPr>
            <p:ph sz="half" idx="1"/>
          </p:nvPr>
        </p:nvSpPr>
        <p:spPr>
          <a:xfrm>
            <a:off x="640080"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BA30CD-95C0-427B-A571-A7D8A53278F4}"/>
              </a:ext>
            </a:extLst>
          </p:cNvPr>
          <p:cNvSpPr>
            <a:spLocks noGrp="1"/>
          </p:cNvSpPr>
          <p:nvPr>
            <p:ph sz="half" idx="2"/>
          </p:nvPr>
        </p:nvSpPr>
        <p:spPr>
          <a:xfrm>
            <a:off x="6318928"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6F67CAC-53E4-44AF-BEAC-8FFB96F05A86}"/>
              </a:ext>
            </a:extLst>
          </p:cNvPr>
          <p:cNvSpPr>
            <a:spLocks noGrp="1"/>
          </p:cNvSpPr>
          <p:nvPr>
            <p:ph type="dt" sz="half" idx="10"/>
          </p:nvPr>
        </p:nvSpPr>
        <p:spPr/>
        <p:txBody>
          <a:bodyPr/>
          <a:lstStyle/>
          <a:p>
            <a:fld id="{E579ABC2-0180-4F3A-A895-A85BC724D472}" type="datetime1">
              <a:rPr lang="en-US" smtClean="0"/>
              <a:t>4/18/2026</a:t>
            </a:fld>
            <a:endParaRPr lang="en-US"/>
          </a:p>
        </p:txBody>
      </p:sp>
      <p:sp>
        <p:nvSpPr>
          <p:cNvPr id="6" name="Footer Placeholder 5">
            <a:extLst>
              <a:ext uri="{FF2B5EF4-FFF2-40B4-BE49-F238E27FC236}">
                <a16:creationId xmlns:a16="http://schemas.microsoft.com/office/drawing/2014/main" id="{083D9F3A-E7F0-45E7-AFA8-0D4A669EC16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C5F008B-58BB-45FF-923F-5909DAB49D34}"/>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3179605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7B549-9E51-42E0-992A-73E775957773}"/>
              </a:ext>
            </a:extLst>
          </p:cNvPr>
          <p:cNvSpPr>
            <a:spLocks noGrp="1"/>
          </p:cNvSpPr>
          <p:nvPr>
            <p:ph type="title"/>
          </p:nvPr>
        </p:nvSpPr>
        <p:spPr>
          <a:xfrm>
            <a:off x="640079" y="1371599"/>
            <a:ext cx="10890929" cy="93975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81A5FDC-7C4B-45FB-8462-E2CE79919F33}"/>
              </a:ext>
            </a:extLst>
          </p:cNvPr>
          <p:cNvSpPr>
            <a:spLocks noGrp="1"/>
          </p:cNvSpPr>
          <p:nvPr>
            <p:ph type="body" idx="1"/>
          </p:nvPr>
        </p:nvSpPr>
        <p:spPr>
          <a:xfrm>
            <a:off x="640079"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D8B686-2E92-45B9-A3D7-9DCAA0C50B36}"/>
              </a:ext>
            </a:extLst>
          </p:cNvPr>
          <p:cNvSpPr>
            <a:spLocks noGrp="1"/>
          </p:cNvSpPr>
          <p:nvPr>
            <p:ph sz="half" idx="2"/>
          </p:nvPr>
        </p:nvSpPr>
        <p:spPr>
          <a:xfrm>
            <a:off x="640079"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6ADB526-4A44-47B6-8D14-93202E590AA7}"/>
              </a:ext>
            </a:extLst>
          </p:cNvPr>
          <p:cNvSpPr>
            <a:spLocks noGrp="1"/>
          </p:cNvSpPr>
          <p:nvPr>
            <p:ph type="body" sz="quarter" idx="3"/>
          </p:nvPr>
        </p:nvSpPr>
        <p:spPr>
          <a:xfrm>
            <a:off x="6318928"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4177CA-5C13-4311-BFD3-B98FBD942DA5}"/>
              </a:ext>
            </a:extLst>
          </p:cNvPr>
          <p:cNvSpPr>
            <a:spLocks noGrp="1"/>
          </p:cNvSpPr>
          <p:nvPr>
            <p:ph sz="quarter" idx="4"/>
          </p:nvPr>
        </p:nvSpPr>
        <p:spPr>
          <a:xfrm>
            <a:off x="6318928"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EA255A-4CB5-40CA-B756-1AA5E27C20BF}"/>
              </a:ext>
            </a:extLst>
          </p:cNvPr>
          <p:cNvSpPr>
            <a:spLocks noGrp="1"/>
          </p:cNvSpPr>
          <p:nvPr>
            <p:ph type="dt" sz="half" idx="10"/>
          </p:nvPr>
        </p:nvSpPr>
        <p:spPr/>
        <p:txBody>
          <a:bodyPr/>
          <a:lstStyle/>
          <a:p>
            <a:fld id="{6AEEA9BA-4E8F-439E-BEA4-91FBA01E3F5F}" type="datetime1">
              <a:rPr lang="en-US" smtClean="0"/>
              <a:t>4/18/2026</a:t>
            </a:fld>
            <a:endParaRPr lang="en-US"/>
          </a:p>
        </p:txBody>
      </p:sp>
      <p:sp>
        <p:nvSpPr>
          <p:cNvPr id="8" name="Footer Placeholder 7">
            <a:extLst>
              <a:ext uri="{FF2B5EF4-FFF2-40B4-BE49-F238E27FC236}">
                <a16:creationId xmlns:a16="http://schemas.microsoft.com/office/drawing/2014/main" id="{FF3072C4-10F1-49B8-B0BF-69204EDDCFAE}"/>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4A5ACC97-44C1-4887-909B-E6732D3C1FF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7586340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7D313-943A-47E0-8A7A-DFFBCC297AB7}"/>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23AC25A7-81C8-4AA1-AD9F-C78A451FDE2E}"/>
              </a:ext>
            </a:extLst>
          </p:cNvPr>
          <p:cNvSpPr>
            <a:spLocks noGrp="1"/>
          </p:cNvSpPr>
          <p:nvPr>
            <p:ph type="dt" sz="half" idx="10"/>
          </p:nvPr>
        </p:nvSpPr>
        <p:spPr/>
        <p:txBody>
          <a:bodyPr/>
          <a:lstStyle/>
          <a:p>
            <a:fld id="{BE15BF18-0007-481C-AA29-413124BC3EE7}" type="datetime1">
              <a:rPr lang="en-US" smtClean="0"/>
              <a:t>4/18/2026</a:t>
            </a:fld>
            <a:endParaRPr lang="en-US"/>
          </a:p>
        </p:txBody>
      </p:sp>
      <p:sp>
        <p:nvSpPr>
          <p:cNvPr id="4" name="Footer Placeholder 3">
            <a:extLst>
              <a:ext uri="{FF2B5EF4-FFF2-40B4-BE49-F238E27FC236}">
                <a16:creationId xmlns:a16="http://schemas.microsoft.com/office/drawing/2014/main" id="{6EF54740-6022-46B2-9C55-B60E9651684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89497C9-6B5E-46D6-8FE9-0A5E0CF7F95B}"/>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9599106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149F9F0F-FB8C-5565-247C-BDCC156B5CAF}"/>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a:extLst>
              <a:ext uri="{FF2B5EF4-FFF2-40B4-BE49-F238E27FC236}">
                <a16:creationId xmlns:a16="http://schemas.microsoft.com/office/drawing/2014/main" id="{92740D3C-270A-401A-810C-2F86BBBB87D4}"/>
              </a:ext>
            </a:extLst>
          </p:cNvPr>
          <p:cNvSpPr>
            <a:spLocks noGrp="1"/>
          </p:cNvSpPr>
          <p:nvPr>
            <p:ph type="dt" sz="half" idx="10"/>
          </p:nvPr>
        </p:nvSpPr>
        <p:spPr/>
        <p:txBody>
          <a:bodyPr/>
          <a:lstStyle/>
          <a:p>
            <a:fld id="{09BE9870-3748-43AD-B547-02A075CB4A1D}" type="datetime1">
              <a:rPr lang="en-US" smtClean="0"/>
              <a:t>4/18/2026</a:t>
            </a:fld>
            <a:endParaRPr lang="en-US"/>
          </a:p>
        </p:txBody>
      </p:sp>
      <p:sp>
        <p:nvSpPr>
          <p:cNvPr id="3" name="Footer Placeholder 2">
            <a:extLst>
              <a:ext uri="{FF2B5EF4-FFF2-40B4-BE49-F238E27FC236}">
                <a16:creationId xmlns:a16="http://schemas.microsoft.com/office/drawing/2014/main" id="{DDCBE9F8-1765-4F36-A4DE-1DB136025AC9}"/>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7790CF9E-A6C6-4873-ADBE-7A2939319E58}"/>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1879946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8CDF8-00AD-4441-A6D5-9D7A659EB6C0}"/>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8C330AF-CB7E-420A-AE8A-E02E90325885}"/>
              </a:ext>
            </a:extLst>
          </p:cNvPr>
          <p:cNvSpPr>
            <a:spLocks noGrp="1"/>
          </p:cNvSpPr>
          <p:nvPr>
            <p:ph idx="1"/>
          </p:nvPr>
        </p:nvSpPr>
        <p:spPr>
          <a:xfrm>
            <a:off x="4936519" y="1031001"/>
            <a:ext cx="6594490" cy="516636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F43257AD-2422-4CDA-9C55-700F4B5BF251}"/>
              </a:ext>
            </a:extLst>
          </p:cNvPr>
          <p:cNvSpPr>
            <a:spLocks noGrp="1"/>
          </p:cNvSpPr>
          <p:nvPr>
            <p:ph type="body" sz="half" idx="2"/>
          </p:nvPr>
        </p:nvSpPr>
        <p:spPr>
          <a:xfrm>
            <a:off x="640080" y="2972168"/>
            <a:ext cx="3859397" cy="322682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1B7454-C1CC-46F2-A6FB-1FE786C48F49}"/>
              </a:ext>
            </a:extLst>
          </p:cNvPr>
          <p:cNvSpPr>
            <a:spLocks noGrp="1"/>
          </p:cNvSpPr>
          <p:nvPr>
            <p:ph type="dt" sz="half" idx="10"/>
          </p:nvPr>
        </p:nvSpPr>
        <p:spPr/>
        <p:txBody>
          <a:bodyPr/>
          <a:lstStyle/>
          <a:p>
            <a:fld id="{558E7897-33C5-4F1A-9307-D068E37F3DC7}" type="datetime1">
              <a:rPr lang="en-US" smtClean="0"/>
              <a:t>4/18/2026</a:t>
            </a:fld>
            <a:endParaRPr lang="en-US"/>
          </a:p>
        </p:txBody>
      </p:sp>
      <p:sp>
        <p:nvSpPr>
          <p:cNvPr id="6" name="Footer Placeholder 5">
            <a:extLst>
              <a:ext uri="{FF2B5EF4-FFF2-40B4-BE49-F238E27FC236}">
                <a16:creationId xmlns:a16="http://schemas.microsoft.com/office/drawing/2014/main" id="{49077DBE-6CC7-421B-AB5E-341E20BD922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D6EAB8F-7526-4CDB-B782-FAD8B3E70B0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6673668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1647F-5A61-44C9-81DC-331C9AE5DDAE}"/>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1627A0F-F1B8-49BE-A0FF-7FE16E3BDCC1}"/>
              </a:ext>
            </a:extLst>
          </p:cNvPr>
          <p:cNvSpPr>
            <a:spLocks noGrp="1"/>
          </p:cNvSpPr>
          <p:nvPr>
            <p:ph type="pic" idx="1"/>
          </p:nvPr>
        </p:nvSpPr>
        <p:spPr>
          <a:xfrm>
            <a:off x="4937760" y="1033271"/>
            <a:ext cx="6592824" cy="516636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C86D1BD6-1519-4431-9FAF-7D4F4129972C}"/>
              </a:ext>
            </a:extLst>
          </p:cNvPr>
          <p:cNvSpPr>
            <a:spLocks noGrp="1"/>
          </p:cNvSpPr>
          <p:nvPr>
            <p:ph type="body" sz="half" idx="2"/>
          </p:nvPr>
        </p:nvSpPr>
        <p:spPr>
          <a:xfrm>
            <a:off x="640080" y="2972167"/>
            <a:ext cx="3859397" cy="32268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A587A0-353B-42C2-BA96-B1ADEDF642BE}"/>
              </a:ext>
            </a:extLst>
          </p:cNvPr>
          <p:cNvSpPr>
            <a:spLocks noGrp="1"/>
          </p:cNvSpPr>
          <p:nvPr>
            <p:ph type="dt" sz="half" idx="10"/>
          </p:nvPr>
        </p:nvSpPr>
        <p:spPr/>
        <p:txBody>
          <a:bodyPr/>
          <a:lstStyle/>
          <a:p>
            <a:fld id="{82E171BA-CC09-47C8-A6DF-F5C5CB59CEEC}" type="datetime1">
              <a:rPr lang="en-US" smtClean="0"/>
              <a:t>4/18/2026</a:t>
            </a:fld>
            <a:endParaRPr lang="en-US"/>
          </a:p>
        </p:txBody>
      </p:sp>
      <p:sp>
        <p:nvSpPr>
          <p:cNvPr id="6" name="Footer Placeholder 5">
            <a:extLst>
              <a:ext uri="{FF2B5EF4-FFF2-40B4-BE49-F238E27FC236}">
                <a16:creationId xmlns:a16="http://schemas.microsoft.com/office/drawing/2014/main" id="{44D5A88E-3957-4B76-B1BE-4164029217B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5F7C5FD-E56A-4C66-8F23-087F95A2FD0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7540318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4BB7-3F30-4C31-9BB2-8EC24FC0A1D6}"/>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1ECF4134-70F5-4EE6-88BE-49D129630C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19EABC7-C044-44DE-B303-55A0581DA1E8}"/>
              </a:ext>
            </a:extLst>
          </p:cNvPr>
          <p:cNvSpPr>
            <a:spLocks noGrp="1"/>
          </p:cNvSpPr>
          <p:nvPr>
            <p:ph type="dt" sz="half" idx="10"/>
          </p:nvPr>
        </p:nvSpPr>
        <p:spPr/>
        <p:txBody>
          <a:bodyPr/>
          <a:lstStyle/>
          <a:p>
            <a:fld id="{C07B66AD-7C08-490A-ADA4-B47E10FB2407}" type="datetime1">
              <a:rPr lang="en-US" smtClean="0"/>
              <a:t>4/18/2026</a:t>
            </a:fld>
            <a:endParaRPr lang="en-US"/>
          </a:p>
        </p:txBody>
      </p:sp>
      <p:sp>
        <p:nvSpPr>
          <p:cNvPr id="5" name="Footer Placeholder 4">
            <a:extLst>
              <a:ext uri="{FF2B5EF4-FFF2-40B4-BE49-F238E27FC236}">
                <a16:creationId xmlns:a16="http://schemas.microsoft.com/office/drawing/2014/main" id="{4D4A63E1-5BC5-402E-9916-BAB84BCF0BB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A2EF915-AF64-4ECC-8B1A-B7E6A89B7917}"/>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2865312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1CB3635-47E1-90D8-B693-DA85A66B3831}"/>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a:extLst>
              <a:ext uri="{FF2B5EF4-FFF2-40B4-BE49-F238E27FC236}">
                <a16:creationId xmlns:a16="http://schemas.microsoft.com/office/drawing/2014/main" id="{6EB09414-2AA1-4D8E-A00A-C092FBC92D91}"/>
              </a:ext>
            </a:extLst>
          </p:cNvPr>
          <p:cNvSpPr>
            <a:spLocks noGrp="1"/>
          </p:cNvSpPr>
          <p:nvPr>
            <p:ph type="title" orient="vert"/>
          </p:nvPr>
        </p:nvSpPr>
        <p:spPr>
          <a:xfrm>
            <a:off x="9209219" y="640079"/>
            <a:ext cx="1811773" cy="5536884"/>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42C3A78-37C5-46D0-9DF4-CB78AF883C2C}"/>
              </a:ext>
            </a:extLst>
          </p:cNvPr>
          <p:cNvSpPr>
            <a:spLocks noGrp="1"/>
          </p:cNvSpPr>
          <p:nvPr>
            <p:ph type="body" orient="vert" idx="1"/>
          </p:nvPr>
        </p:nvSpPr>
        <p:spPr>
          <a:xfrm>
            <a:off x="640080" y="640080"/>
            <a:ext cx="8412422" cy="553688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9D8705E-925D-4F57-8268-107CE3CF4C45}"/>
              </a:ext>
            </a:extLst>
          </p:cNvPr>
          <p:cNvSpPr>
            <a:spLocks noGrp="1"/>
          </p:cNvSpPr>
          <p:nvPr>
            <p:ph type="dt" sz="half" idx="10"/>
          </p:nvPr>
        </p:nvSpPr>
        <p:spPr/>
        <p:txBody>
          <a:bodyPr/>
          <a:lstStyle/>
          <a:p>
            <a:fld id="{05B95027-4255-49E7-9841-CD21BCC99996}" type="datetime1">
              <a:rPr lang="en-US" smtClean="0"/>
              <a:t>4/18/2026</a:t>
            </a:fld>
            <a:endParaRPr lang="en-US"/>
          </a:p>
        </p:txBody>
      </p:sp>
      <p:sp>
        <p:nvSpPr>
          <p:cNvPr id="5" name="Footer Placeholder 4">
            <a:extLst>
              <a:ext uri="{FF2B5EF4-FFF2-40B4-BE49-F238E27FC236}">
                <a16:creationId xmlns:a16="http://schemas.microsoft.com/office/drawing/2014/main" id="{50FE207E-070D-4EC8-A44C-21F1815FDAA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15D01D1-C266-4161-A820-C084B980131C}"/>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3230604F-219C-2DEE-830E-27274CC2FE19}"/>
              </a:ext>
              <a:ext uri="{C183D7F6-B498-43B3-948B-1728B52AA6E4}">
                <adec:decorative xmlns:adec="http://schemas.microsoft.com/office/drawing/2017/decorative" val="1"/>
              </a:ext>
            </a:extLst>
          </p:cNvPr>
          <p:cNvCxnSpPr>
            <a:cxnSpLocks/>
          </p:cNvCxnSpPr>
          <p:nvPr/>
        </p:nvCxnSpPr>
        <p:spPr>
          <a:xfrm rot="5400000">
            <a:off x="10872154" y="119243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971758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B4E786-7636-4278-8595-D365D28A796A}"/>
              </a:ext>
            </a:extLst>
          </p:cNvPr>
          <p:cNvSpPr>
            <a:spLocks noGrp="1"/>
          </p:cNvSpPr>
          <p:nvPr>
            <p:ph type="title"/>
          </p:nvPr>
        </p:nvSpPr>
        <p:spPr>
          <a:xfrm>
            <a:off x="640079" y="1371601"/>
            <a:ext cx="10890929" cy="109728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A740849-7059-4C70-992B-5304D2EE9BAB}"/>
              </a:ext>
            </a:extLst>
          </p:cNvPr>
          <p:cNvSpPr>
            <a:spLocks noGrp="1"/>
          </p:cNvSpPr>
          <p:nvPr>
            <p:ph type="body" idx="1"/>
          </p:nvPr>
        </p:nvSpPr>
        <p:spPr>
          <a:xfrm>
            <a:off x="640080" y="2633472"/>
            <a:ext cx="10890928" cy="35661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09FEBF6-CEA6-4332-87B3-697807571C84}"/>
              </a:ext>
            </a:extLst>
          </p:cNvPr>
          <p:cNvSpPr>
            <a:spLocks noGrp="1"/>
          </p:cNvSpPr>
          <p:nvPr>
            <p:ph type="dt" sz="half" idx="2"/>
          </p:nvPr>
        </p:nvSpPr>
        <p:spPr>
          <a:xfrm>
            <a:off x="640080" y="6356350"/>
            <a:ext cx="2743200" cy="365125"/>
          </a:xfrm>
          <a:prstGeom prst="rect">
            <a:avLst/>
          </a:prstGeom>
        </p:spPr>
        <p:txBody>
          <a:bodyPr vert="horz" lIns="91440" tIns="45720" rIns="91440" bIns="45720" rtlCol="0" anchor="ctr"/>
          <a:lstStyle>
            <a:lvl1pPr algn="l">
              <a:defRPr sz="900" b="1" cap="all" spc="300" baseline="0">
                <a:solidFill>
                  <a:schemeClr val="tx1"/>
                </a:solidFill>
              </a:defRPr>
            </a:lvl1pPr>
          </a:lstStyle>
          <a:p>
            <a:fld id="{7DA38F49-B3E2-4BF0-BEC7-C30D34ABBB8D}" type="datetime1">
              <a:rPr lang="en-US" smtClean="0"/>
              <a:t>4/18/2026</a:t>
            </a:fld>
            <a:endParaRPr lang="en-US"/>
          </a:p>
        </p:txBody>
      </p:sp>
      <p:sp>
        <p:nvSpPr>
          <p:cNvPr id="5" name="Footer Placeholder 4">
            <a:extLst>
              <a:ext uri="{FF2B5EF4-FFF2-40B4-BE49-F238E27FC236}">
                <a16:creationId xmlns:a16="http://schemas.microsoft.com/office/drawing/2014/main" id="{BC6BAF94-621C-43E1-BA0C-410A6899031B}"/>
              </a:ext>
            </a:extLst>
          </p:cNvPr>
          <p:cNvSpPr>
            <a:spLocks noGrp="1"/>
          </p:cNvSpPr>
          <p:nvPr>
            <p:ph type="ftr" sz="quarter" idx="3"/>
          </p:nvPr>
        </p:nvSpPr>
        <p:spPr>
          <a:xfrm>
            <a:off x="6767622" y="6356350"/>
            <a:ext cx="4040373" cy="365125"/>
          </a:xfrm>
          <a:prstGeom prst="rect">
            <a:avLst/>
          </a:prstGeom>
        </p:spPr>
        <p:txBody>
          <a:bodyPr vert="horz" lIns="91440" tIns="45720" rIns="91440" bIns="45720" rtlCol="0" anchor="ctr"/>
          <a:lstStyle>
            <a:lvl1pPr algn="r">
              <a:defRPr sz="900" b="1" cap="all" spc="300" baseline="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137D19E5-9E16-48C9-AAE2-0C70679A8D7B}"/>
              </a:ext>
            </a:extLst>
          </p:cNvPr>
          <p:cNvSpPr>
            <a:spLocks noGrp="1"/>
          </p:cNvSpPr>
          <p:nvPr>
            <p:ph type="sldNum" sz="quarter" idx="4"/>
          </p:nvPr>
        </p:nvSpPr>
        <p:spPr>
          <a:xfrm>
            <a:off x="10807995" y="6356350"/>
            <a:ext cx="723014" cy="365125"/>
          </a:xfrm>
          <a:prstGeom prst="rect">
            <a:avLst/>
          </a:prstGeom>
        </p:spPr>
        <p:txBody>
          <a:bodyPr vert="horz" lIns="91440" tIns="45720" rIns="91440" bIns="45720" rtlCol="0" anchor="ctr"/>
          <a:lstStyle>
            <a:lvl1pPr algn="r">
              <a:defRPr sz="900" b="1" cap="all" spc="300" baseline="0">
                <a:solidFill>
                  <a:schemeClr val="tx1"/>
                </a:solidFill>
              </a:defRPr>
            </a:lvl1pPr>
          </a:lstStyle>
          <a:p>
            <a:fld id="{70C12960-6E85-460F-B6E3-5B82CB31AF3D}" type="slidenum">
              <a:rPr lang="en-US" smtClean="0"/>
              <a:t>‹#›</a:t>
            </a:fld>
            <a:endParaRPr lang="en-US"/>
          </a:p>
        </p:txBody>
      </p:sp>
      <p:cxnSp>
        <p:nvCxnSpPr>
          <p:cNvPr id="9" name="Straight Connector 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p:cNvCxnSpPr>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47319473"/>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79" r:id="rId6"/>
    <p:sldLayoutId id="2147483675" r:id="rId7"/>
    <p:sldLayoutId id="2147483676" r:id="rId8"/>
    <p:sldLayoutId id="2147483677" r:id="rId9"/>
    <p:sldLayoutId id="2147483678" r:id="rId10"/>
    <p:sldLayoutId id="2147483680" r:id="rId11"/>
  </p:sldLayoutIdLst>
  <p:hf sldNum="0" hdr="0" ftr="0" dt="0"/>
  <p:txStyles>
    <p:titleStyle>
      <a:lvl1pPr algn="l" defTabSz="914400" rtl="0" eaLnBrk="1" latinLnBrk="0" hangingPunct="1">
        <a:lnSpc>
          <a:spcPct val="10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2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29.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B0316EE2-85BE-EAC6-956F-2CA0B84E0111}"/>
              </a:ext>
            </a:extLst>
          </p:cNvPr>
          <p:cNvPicPr>
            <a:picLocks noChangeAspect="1"/>
          </p:cNvPicPr>
          <p:nvPr/>
        </p:nvPicPr>
        <p:blipFill>
          <a:blip r:embed="rId2"/>
          <a:srcRect t="30976" b="12774"/>
          <a:stretch>
            <a:fillRect/>
          </a:stretch>
        </p:blipFill>
        <p:spPr>
          <a:xfrm>
            <a:off x="1" y="10"/>
            <a:ext cx="12192000" cy="6857990"/>
          </a:xfrm>
          <a:prstGeom prst="rect">
            <a:avLst/>
          </a:prstGeom>
        </p:spPr>
      </p:pic>
      <p:sp useBgFill="1">
        <p:nvSpPr>
          <p:cNvPr id="11" name="Rectangle 10">
            <a:extLst>
              <a:ext uri="{FF2B5EF4-FFF2-40B4-BE49-F238E27FC236}">
                <a16:creationId xmlns:a16="http://schemas.microsoft.com/office/drawing/2014/main" id="{D30DD7D3-2712-4491-B2C2-5FC23330C7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3569" y="1066800"/>
            <a:ext cx="5128322" cy="47244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FC6A2ABE-91FA-AC8B-93CA-8C5C899108C8}"/>
              </a:ext>
            </a:extLst>
          </p:cNvPr>
          <p:cNvSpPr>
            <a:spLocks noGrp="1"/>
          </p:cNvSpPr>
          <p:nvPr>
            <p:ph type="ctrTitle"/>
          </p:nvPr>
        </p:nvSpPr>
        <p:spPr>
          <a:xfrm>
            <a:off x="898737" y="1562101"/>
            <a:ext cx="4359744" cy="2738530"/>
          </a:xfrm>
        </p:spPr>
        <p:txBody>
          <a:bodyPr anchor="t">
            <a:normAutofit/>
          </a:bodyPr>
          <a:lstStyle/>
          <a:p>
            <a:pPr>
              <a:lnSpc>
                <a:spcPct val="90000"/>
              </a:lnSpc>
            </a:pPr>
            <a:r>
              <a:rPr lang="pl-PL" sz="3400" dirty="0"/>
              <a:t>AKTUALNE TRENDY I PREDYKCJE DOTYCZĄCE PRACY ZESPOŁOWEJ IT (CD, DS PROJECTS)</a:t>
            </a:r>
          </a:p>
        </p:txBody>
      </p:sp>
      <p:sp>
        <p:nvSpPr>
          <p:cNvPr id="3" name="Podtytuł 2">
            <a:extLst>
              <a:ext uri="{FF2B5EF4-FFF2-40B4-BE49-F238E27FC236}">
                <a16:creationId xmlns:a16="http://schemas.microsoft.com/office/drawing/2014/main" id="{9FCAF5BF-CCF3-1EA3-BD45-39AAE9C8EC61}"/>
              </a:ext>
            </a:extLst>
          </p:cNvPr>
          <p:cNvSpPr>
            <a:spLocks noGrp="1"/>
          </p:cNvSpPr>
          <p:nvPr>
            <p:ph type="subTitle" idx="1"/>
          </p:nvPr>
        </p:nvSpPr>
        <p:spPr>
          <a:xfrm>
            <a:off x="900273" y="4300631"/>
            <a:ext cx="4358208" cy="933760"/>
          </a:xfrm>
        </p:spPr>
        <p:txBody>
          <a:bodyPr>
            <a:normAutofit fontScale="62500" lnSpcReduction="20000"/>
          </a:bodyPr>
          <a:lstStyle/>
          <a:p>
            <a:r>
              <a:rPr lang="en-US" dirty="0"/>
              <a:t>Filip </a:t>
            </a:r>
            <a:r>
              <a:rPr lang="en-US" dirty="0" err="1"/>
              <a:t>hałys</a:t>
            </a:r>
            <a:endParaRPr lang="en-US" dirty="0"/>
          </a:p>
          <a:p>
            <a:r>
              <a:rPr lang="en-US" dirty="0" err="1"/>
              <a:t>Prezentacja</a:t>
            </a:r>
            <a:r>
              <a:rPr lang="en-US" dirty="0"/>
              <a:t> XV</a:t>
            </a:r>
          </a:p>
          <a:p>
            <a:r>
              <a:rPr lang="en-US" dirty="0" err="1"/>
              <a:t>Geoinformatyka</a:t>
            </a:r>
            <a:r>
              <a:rPr lang="en-US" dirty="0"/>
              <a:t> V </a:t>
            </a:r>
            <a:r>
              <a:rPr lang="en-US" dirty="0" err="1"/>
              <a:t>rok</a:t>
            </a:r>
            <a:endParaRPr lang="pl-PL" dirty="0"/>
          </a:p>
        </p:txBody>
      </p:sp>
      <p:cxnSp>
        <p:nvCxnSpPr>
          <p:cNvPr id="13" name="Straight Connector 12">
            <a:extLst>
              <a:ext uri="{FF2B5EF4-FFF2-40B4-BE49-F238E27FC236}">
                <a16:creationId xmlns:a16="http://schemas.microsoft.com/office/drawing/2014/main" id="{FFD0734C-004D-4938-8EA0-2C3867A11A6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36937" y="5780876"/>
            <a:ext cx="5131168"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086362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7D84419B-B311-2841-4EBD-C0E09E91E9A5}"/>
              </a:ext>
            </a:extLst>
          </p:cNvPr>
          <p:cNvSpPr>
            <a:spLocks noGrp="1"/>
          </p:cNvSpPr>
          <p:nvPr>
            <p:ph type="title"/>
          </p:nvPr>
        </p:nvSpPr>
        <p:spPr>
          <a:xfrm>
            <a:off x="5496821" y="1371600"/>
            <a:ext cx="6034187" cy="1097280"/>
          </a:xfrm>
        </p:spPr>
        <p:txBody>
          <a:bodyPr>
            <a:normAutofit/>
          </a:bodyPr>
          <a:lstStyle/>
          <a:p>
            <a:r>
              <a:rPr lang="pl-PL" dirty="0" err="1"/>
              <a:t>FihaAI</a:t>
            </a:r>
            <a:r>
              <a:rPr lang="pl-PL" dirty="0"/>
              <a:t> </a:t>
            </a:r>
          </a:p>
        </p:txBody>
      </p:sp>
      <p:pic>
        <p:nvPicPr>
          <p:cNvPr id="5" name="Picture 4" descr="Obraz promieniowania elektromagnetycznego">
            <a:extLst>
              <a:ext uri="{FF2B5EF4-FFF2-40B4-BE49-F238E27FC236}">
                <a16:creationId xmlns:a16="http://schemas.microsoft.com/office/drawing/2014/main" id="{6F8C4FDD-B811-CB04-CC96-F2961EEAD639}"/>
              </a:ext>
            </a:extLst>
          </p:cNvPr>
          <p:cNvPicPr>
            <a:picLocks noChangeAspect="1"/>
          </p:cNvPicPr>
          <p:nvPr/>
        </p:nvPicPr>
        <p:blipFill>
          <a:blip r:embed="rId2"/>
          <a:srcRect l="26826" r="25715" b="2"/>
          <a:stretch>
            <a:fillRect/>
          </a:stretch>
        </p:blipFill>
        <p:spPr>
          <a:xfrm>
            <a:off x="20" y="10"/>
            <a:ext cx="4857871" cy="6857990"/>
          </a:xfrm>
          <a:prstGeom prst="rect">
            <a:avLst/>
          </a:prstGeom>
        </p:spPr>
      </p:pic>
      <p:cxnSp>
        <p:nvCxnSpPr>
          <p:cNvPr id="11" name="Straight Connector 10">
            <a:extLst>
              <a:ext uri="{FF2B5EF4-FFF2-40B4-BE49-F238E27FC236}">
                <a16:creationId xmlns:a16="http://schemas.microsoft.com/office/drawing/2014/main" id="{691422F5-4221-4812-AFD9-5479C6D60AD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580905" y="1031005"/>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Symbol zastępczy zawartości 2">
            <a:extLst>
              <a:ext uri="{FF2B5EF4-FFF2-40B4-BE49-F238E27FC236}">
                <a16:creationId xmlns:a16="http://schemas.microsoft.com/office/drawing/2014/main" id="{E482C76D-9C9B-87FC-ADC6-CC48F6294997}"/>
              </a:ext>
            </a:extLst>
          </p:cNvPr>
          <p:cNvSpPr>
            <a:spLocks noGrp="1"/>
          </p:cNvSpPr>
          <p:nvPr>
            <p:ph idx="1"/>
          </p:nvPr>
        </p:nvSpPr>
        <p:spPr>
          <a:xfrm>
            <a:off x="5496821" y="2633236"/>
            <a:ext cx="6034187" cy="3664687"/>
          </a:xfrm>
        </p:spPr>
        <p:txBody>
          <a:bodyPr>
            <a:normAutofit/>
          </a:bodyPr>
          <a:lstStyle/>
          <a:p>
            <a:pPr marL="0" indent="0">
              <a:buNone/>
            </a:pPr>
            <a:r>
              <a:rPr lang="en-US" dirty="0"/>
              <a:t>S</a:t>
            </a:r>
            <a:r>
              <a:rPr lang="pl-PL" dirty="0" err="1"/>
              <a:t>tartup</a:t>
            </a:r>
            <a:r>
              <a:rPr lang="pl-PL" dirty="0"/>
              <a:t> tworzący system sztucznej inteligencji do przewidywania ryzyka chorób serca na podstawie danych medycznych pacjentów.</a:t>
            </a:r>
          </a:p>
        </p:txBody>
      </p:sp>
    </p:spTree>
    <p:extLst>
      <p:ext uri="{BB962C8B-B14F-4D97-AF65-F5344CB8AC3E}">
        <p14:creationId xmlns:p14="http://schemas.microsoft.com/office/powerpoint/2010/main" val="6534914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637580D-1176-4083-A9A1-BD8ED08996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CDDD7BB1-4E58-F855-8100-8955C09CFE46}"/>
              </a:ext>
            </a:extLst>
          </p:cNvPr>
          <p:cNvSpPr>
            <a:spLocks noGrp="1"/>
          </p:cNvSpPr>
          <p:nvPr>
            <p:ph type="title"/>
          </p:nvPr>
        </p:nvSpPr>
        <p:spPr>
          <a:xfrm>
            <a:off x="914400" y="1371600"/>
            <a:ext cx="10360152" cy="1139911"/>
          </a:xfrm>
        </p:spPr>
        <p:txBody>
          <a:bodyPr>
            <a:normAutofit/>
          </a:bodyPr>
          <a:lstStyle/>
          <a:p>
            <a:pPr>
              <a:lnSpc>
                <a:spcPct val="90000"/>
              </a:lnSpc>
            </a:pPr>
            <a:r>
              <a:rPr lang="pl-PL" sz="3700"/>
              <a:t>Czym projekt Data Science różni się od klasycznego projektu IT</a:t>
            </a:r>
          </a:p>
        </p:txBody>
      </p:sp>
      <p:cxnSp>
        <p:nvCxnSpPr>
          <p:cNvPr id="11" name="Straight Connector 10">
            <a:extLst>
              <a:ext uri="{FF2B5EF4-FFF2-40B4-BE49-F238E27FC236}">
                <a16:creationId xmlns:a16="http://schemas.microsoft.com/office/drawing/2014/main" id="{B9C96FDC-E4C2-7D8A-44BA-572E7CD9E89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91585" y="1027306"/>
            <a:ext cx="10208830" cy="0"/>
          </a:xfrm>
          <a:prstGeom prst="line">
            <a:avLst/>
          </a:prstGeom>
          <a:ln w="76200"/>
        </p:spPr>
        <p:style>
          <a:lnRef idx="1">
            <a:schemeClr val="accent1"/>
          </a:lnRef>
          <a:fillRef idx="0">
            <a:schemeClr val="accent1"/>
          </a:fillRef>
          <a:effectRef idx="0">
            <a:schemeClr val="accent1"/>
          </a:effectRef>
          <a:fontRef idx="minor">
            <a:schemeClr val="tx1"/>
          </a:fontRef>
        </p:style>
      </p:cxnSp>
      <p:graphicFrame>
        <p:nvGraphicFramePr>
          <p:cNvPr id="5" name="Symbol zastępczy zawartości 2">
            <a:extLst>
              <a:ext uri="{FF2B5EF4-FFF2-40B4-BE49-F238E27FC236}">
                <a16:creationId xmlns:a16="http://schemas.microsoft.com/office/drawing/2014/main" id="{8A444883-9143-7359-B5D8-6E0B469FFB9F}"/>
              </a:ext>
            </a:extLst>
          </p:cNvPr>
          <p:cNvGraphicFramePr>
            <a:graphicFrameLocks noGrp="1"/>
          </p:cNvGraphicFramePr>
          <p:nvPr>
            <p:ph idx="1"/>
            <p:extLst>
              <p:ext uri="{D42A27DB-BD31-4B8C-83A1-F6EECF244321}">
                <p14:modId xmlns:p14="http://schemas.microsoft.com/office/powerpoint/2010/main" val="4201644401"/>
              </p:ext>
            </p:extLst>
          </p:nvPr>
        </p:nvGraphicFramePr>
        <p:xfrm>
          <a:off x="914400" y="2607561"/>
          <a:ext cx="10363200" cy="369035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5929875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063F27BC-7079-4FF7-8F7C-ABC82FA3C2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D554AC17-4EE1-D5F5-1FB2-827A54340B9E}"/>
              </a:ext>
            </a:extLst>
          </p:cNvPr>
          <p:cNvSpPr>
            <a:spLocks noGrp="1"/>
          </p:cNvSpPr>
          <p:nvPr>
            <p:ph type="title"/>
          </p:nvPr>
        </p:nvSpPr>
        <p:spPr>
          <a:xfrm>
            <a:off x="640080" y="1371600"/>
            <a:ext cx="3502152" cy="3591463"/>
          </a:xfrm>
        </p:spPr>
        <p:txBody>
          <a:bodyPr anchor="t">
            <a:normAutofit/>
          </a:bodyPr>
          <a:lstStyle/>
          <a:p>
            <a:r>
              <a:rPr lang="pl-PL" dirty="0"/>
              <a:t>Jakie są etapy procesu KDD</a:t>
            </a:r>
          </a:p>
        </p:txBody>
      </p:sp>
      <p:sp>
        <p:nvSpPr>
          <p:cNvPr id="3" name="Symbol zastępczy zawartości 2">
            <a:extLst>
              <a:ext uri="{FF2B5EF4-FFF2-40B4-BE49-F238E27FC236}">
                <a16:creationId xmlns:a16="http://schemas.microsoft.com/office/drawing/2014/main" id="{D78AF4D1-8A31-FE17-6D06-9F6A203D36EB}"/>
              </a:ext>
            </a:extLst>
          </p:cNvPr>
          <p:cNvSpPr>
            <a:spLocks noGrp="1"/>
          </p:cNvSpPr>
          <p:nvPr>
            <p:ph idx="1"/>
          </p:nvPr>
        </p:nvSpPr>
        <p:spPr>
          <a:xfrm>
            <a:off x="4931664" y="1371601"/>
            <a:ext cx="6620256" cy="4926318"/>
          </a:xfrm>
        </p:spPr>
        <p:txBody>
          <a:bodyPr>
            <a:normAutofit/>
          </a:bodyPr>
          <a:lstStyle/>
          <a:p>
            <a:pPr marL="0" indent="0">
              <a:buNone/>
            </a:pPr>
            <a:r>
              <a:rPr lang="pl-PL" dirty="0"/>
              <a:t>KDD, czyli Knowledge Discovery in Databases, opisuje proces przekształcania surowych danych w użyteczną wiedzę. Model ten pokazuje, że wartość projektu analitycznego nie wynika wyłącznie z samego modelu, ale z całego procesu pracy z informacją.</a:t>
            </a:r>
          </a:p>
        </p:txBody>
      </p:sp>
      <p:cxnSp>
        <p:nvCxnSpPr>
          <p:cNvPr id="17" name="Straight Connector 16">
            <a:extLst>
              <a:ext uri="{FF2B5EF4-FFF2-40B4-BE49-F238E27FC236}">
                <a16:creationId xmlns:a16="http://schemas.microsoft.com/office/drawing/2014/main" id="{40BBF191-9CC8-4313-B1CA-8DF1A53AE4F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541186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9" name="Straight Connector 1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21" name="Rectangle 20">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C5D35169-6EC4-35CB-7BB2-49801B6E9989}"/>
              </a:ext>
            </a:extLst>
          </p:cNvPr>
          <p:cNvSpPr>
            <a:spLocks noGrp="1"/>
          </p:cNvSpPr>
          <p:nvPr>
            <p:ph type="title"/>
          </p:nvPr>
        </p:nvSpPr>
        <p:spPr>
          <a:xfrm>
            <a:off x="992570" y="1171145"/>
            <a:ext cx="10168106" cy="955515"/>
          </a:xfrm>
        </p:spPr>
        <p:txBody>
          <a:bodyPr vert="horz" lIns="91440" tIns="45720" rIns="91440" bIns="45720" rtlCol="0" anchor="t">
            <a:normAutofit/>
          </a:bodyPr>
          <a:lstStyle/>
          <a:p>
            <a:pPr algn="ctr"/>
            <a:r>
              <a:rPr lang="pl-PL" sz="4800" dirty="0"/>
              <a:t>Jakie są etapy procesu KDD</a:t>
            </a:r>
            <a:endParaRPr lang="en-US" sz="4800" dirty="0"/>
          </a:p>
        </p:txBody>
      </p:sp>
      <p:cxnSp>
        <p:nvCxnSpPr>
          <p:cNvPr id="23" name="Straight Connector 22">
            <a:extLst>
              <a:ext uri="{FF2B5EF4-FFF2-40B4-BE49-F238E27FC236}">
                <a16:creationId xmlns:a16="http://schemas.microsoft.com/office/drawing/2014/main" id="{6CE0D2A5-C167-FB61-F32A-674B344F2D1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92570" y="914400"/>
            <a:ext cx="10208830"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5" name="Symbol zastępczy zawartości 4">
            <a:extLst>
              <a:ext uri="{FF2B5EF4-FFF2-40B4-BE49-F238E27FC236}">
                <a16:creationId xmlns:a16="http://schemas.microsoft.com/office/drawing/2014/main" id="{6783754D-81C9-73ED-7A6E-EC1A23EF9E3D}"/>
              </a:ext>
            </a:extLst>
          </p:cNvPr>
          <p:cNvPicPr>
            <a:picLocks noGrp="1" noChangeAspect="1"/>
          </p:cNvPicPr>
          <p:nvPr>
            <p:ph idx="1"/>
          </p:nvPr>
        </p:nvPicPr>
        <p:blipFill>
          <a:blip r:embed="rId3"/>
          <a:stretch>
            <a:fillRect/>
          </a:stretch>
        </p:blipFill>
        <p:spPr>
          <a:xfrm>
            <a:off x="2384222" y="2886923"/>
            <a:ext cx="3586523" cy="3299601"/>
          </a:xfrm>
          <a:prstGeom prst="rect">
            <a:avLst/>
          </a:prstGeom>
        </p:spPr>
      </p:pic>
      <p:pic>
        <p:nvPicPr>
          <p:cNvPr id="7" name="Obraz 6">
            <a:extLst>
              <a:ext uri="{FF2B5EF4-FFF2-40B4-BE49-F238E27FC236}">
                <a16:creationId xmlns:a16="http://schemas.microsoft.com/office/drawing/2014/main" id="{8D8EE1C4-6332-19AB-F280-77AE48448B78}"/>
              </a:ext>
            </a:extLst>
          </p:cNvPr>
          <p:cNvPicPr>
            <a:picLocks noChangeAspect="1"/>
          </p:cNvPicPr>
          <p:nvPr/>
        </p:nvPicPr>
        <p:blipFill>
          <a:blip r:embed="rId4"/>
          <a:stretch>
            <a:fillRect/>
          </a:stretch>
        </p:blipFill>
        <p:spPr>
          <a:xfrm>
            <a:off x="6182500" y="2886923"/>
            <a:ext cx="4176710" cy="3299601"/>
          </a:xfrm>
          <a:prstGeom prst="rect">
            <a:avLst/>
          </a:prstGeom>
        </p:spPr>
      </p:pic>
    </p:spTree>
    <p:extLst>
      <p:ext uri="{BB962C8B-B14F-4D97-AF65-F5344CB8AC3E}">
        <p14:creationId xmlns:p14="http://schemas.microsoft.com/office/powerpoint/2010/main" val="37828844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9">
            <a:extLst>
              <a:ext uri="{FF2B5EF4-FFF2-40B4-BE49-F238E27FC236}">
                <a16:creationId xmlns:a16="http://schemas.microsoft.com/office/drawing/2014/main" id="{DBDA151C-5770-45E4-AAFF-59E7F4038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ytuł 1">
            <a:extLst>
              <a:ext uri="{FF2B5EF4-FFF2-40B4-BE49-F238E27FC236}">
                <a16:creationId xmlns:a16="http://schemas.microsoft.com/office/drawing/2014/main" id="{D389109C-B408-99CB-8FA7-2661C07BFCEB}"/>
              </a:ext>
            </a:extLst>
          </p:cNvPr>
          <p:cNvSpPr>
            <a:spLocks noGrp="1"/>
          </p:cNvSpPr>
          <p:nvPr>
            <p:ph type="title"/>
          </p:nvPr>
        </p:nvSpPr>
        <p:spPr>
          <a:xfrm>
            <a:off x="640080" y="914399"/>
            <a:ext cx="10847494" cy="1171069"/>
          </a:xfrm>
        </p:spPr>
        <p:txBody>
          <a:bodyPr anchor="t">
            <a:normAutofit/>
          </a:bodyPr>
          <a:lstStyle/>
          <a:p>
            <a:r>
              <a:rPr lang="pl-PL" dirty="0"/>
              <a:t>CRISP-DM</a:t>
            </a:r>
          </a:p>
        </p:txBody>
      </p:sp>
      <p:pic>
        <p:nvPicPr>
          <p:cNvPr id="5" name="Obraz 4">
            <a:extLst>
              <a:ext uri="{FF2B5EF4-FFF2-40B4-BE49-F238E27FC236}">
                <a16:creationId xmlns:a16="http://schemas.microsoft.com/office/drawing/2014/main" id="{707984D4-15FE-AB97-950E-5A2D0FA2D616}"/>
              </a:ext>
            </a:extLst>
          </p:cNvPr>
          <p:cNvPicPr>
            <a:picLocks noChangeAspect="1"/>
          </p:cNvPicPr>
          <p:nvPr/>
        </p:nvPicPr>
        <p:blipFill>
          <a:blip r:embed="rId3"/>
          <a:stretch>
            <a:fillRect/>
          </a:stretch>
        </p:blipFill>
        <p:spPr>
          <a:xfrm>
            <a:off x="1371600" y="1517213"/>
            <a:ext cx="5077968" cy="4633646"/>
          </a:xfrm>
          <a:prstGeom prst="rect">
            <a:avLst/>
          </a:prstGeom>
        </p:spPr>
      </p:pic>
      <p:sp>
        <p:nvSpPr>
          <p:cNvPr id="3" name="Symbol zastępczy zawartości 2">
            <a:extLst>
              <a:ext uri="{FF2B5EF4-FFF2-40B4-BE49-F238E27FC236}">
                <a16:creationId xmlns:a16="http://schemas.microsoft.com/office/drawing/2014/main" id="{8C1E7266-D5C4-A1A6-2B01-44BF6FA5ECE1}"/>
              </a:ext>
            </a:extLst>
          </p:cNvPr>
          <p:cNvSpPr>
            <a:spLocks noGrp="1"/>
          </p:cNvSpPr>
          <p:nvPr>
            <p:ph idx="1"/>
          </p:nvPr>
        </p:nvSpPr>
        <p:spPr>
          <a:xfrm>
            <a:off x="6686762" y="1256163"/>
            <a:ext cx="4563618" cy="3760459"/>
          </a:xfrm>
        </p:spPr>
        <p:txBody>
          <a:bodyPr anchor="t">
            <a:normAutofit/>
          </a:bodyPr>
          <a:lstStyle/>
          <a:p>
            <a:pPr marL="0" indent="0">
              <a:buNone/>
            </a:pPr>
            <a:r>
              <a:rPr lang="pl-PL" dirty="0"/>
              <a:t>CRISP-DM to jeden z najczęściej stosowanych modeli prowadzenia projektów analitycznych. Jego popularność wynika z tego, że łączy świat biznesu z analizą danych i pozwala uporządkować współpracę w zespole.</a:t>
            </a:r>
          </a:p>
        </p:txBody>
      </p:sp>
      <p:cxnSp>
        <p:nvCxnSpPr>
          <p:cNvPr id="15" name="Straight Connector 11">
            <a:extLst>
              <a:ext uri="{FF2B5EF4-FFF2-40B4-BE49-F238E27FC236}">
                <a16:creationId xmlns:a16="http://schemas.microsoft.com/office/drawing/2014/main" id="{2EA0F4A6-3CC9-C9E2-BA02-58FA29F7DD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2253" y="6272784"/>
            <a:ext cx="10847495"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853954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063F27BC-7079-4FF7-8F7C-ABC82FA3C2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0C912D41-3DB4-9D4B-94D8-5C08B7C6E8B4}"/>
              </a:ext>
            </a:extLst>
          </p:cNvPr>
          <p:cNvSpPr>
            <a:spLocks noGrp="1"/>
          </p:cNvSpPr>
          <p:nvPr>
            <p:ph type="title"/>
          </p:nvPr>
        </p:nvSpPr>
        <p:spPr>
          <a:xfrm>
            <a:off x="640080" y="1371600"/>
            <a:ext cx="3677920" cy="3919267"/>
          </a:xfrm>
        </p:spPr>
        <p:txBody>
          <a:bodyPr anchor="t">
            <a:normAutofit/>
          </a:bodyPr>
          <a:lstStyle/>
          <a:p>
            <a:r>
              <a:rPr lang="pl-PL" dirty="0"/>
              <a:t>CRISP-DM</a:t>
            </a:r>
          </a:p>
        </p:txBody>
      </p:sp>
      <p:cxnSp>
        <p:nvCxnSpPr>
          <p:cNvPr id="18" name="Straight Connector 17">
            <a:extLst>
              <a:ext uri="{FF2B5EF4-FFF2-40B4-BE49-F238E27FC236}">
                <a16:creationId xmlns:a16="http://schemas.microsoft.com/office/drawing/2014/main" id="{40BBF191-9CC8-4313-B1CA-8DF1A53AE4F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graphicFrame>
        <p:nvGraphicFramePr>
          <p:cNvPr id="5" name="Symbol zastępczy zawartości 2">
            <a:extLst>
              <a:ext uri="{FF2B5EF4-FFF2-40B4-BE49-F238E27FC236}">
                <a16:creationId xmlns:a16="http://schemas.microsoft.com/office/drawing/2014/main" id="{20159DF4-6937-E68B-2BBD-88ABD81FE3D1}"/>
              </a:ext>
            </a:extLst>
          </p:cNvPr>
          <p:cNvGraphicFramePr>
            <a:graphicFrameLocks noGrp="1"/>
          </p:cNvGraphicFramePr>
          <p:nvPr>
            <p:ph idx="1"/>
            <p:extLst>
              <p:ext uri="{D42A27DB-BD31-4B8C-83A1-F6EECF244321}">
                <p14:modId xmlns:p14="http://schemas.microsoft.com/office/powerpoint/2010/main" val="1121194867"/>
              </p:ext>
            </p:extLst>
          </p:nvPr>
        </p:nvGraphicFramePr>
        <p:xfrm>
          <a:off x="3574288" y="542169"/>
          <a:ext cx="8264143" cy="577366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288040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8C5062DC-FE8B-B997-B736-B3240BDB5380}"/>
              </a:ext>
            </a:extLst>
          </p:cNvPr>
          <p:cNvSpPr>
            <a:spLocks noGrp="1"/>
          </p:cNvSpPr>
          <p:nvPr>
            <p:ph type="title"/>
          </p:nvPr>
        </p:nvSpPr>
        <p:spPr>
          <a:xfrm>
            <a:off x="5793149" y="1371600"/>
            <a:ext cx="5737859" cy="1097280"/>
          </a:xfrm>
        </p:spPr>
        <p:txBody>
          <a:bodyPr>
            <a:normAutofit/>
          </a:bodyPr>
          <a:lstStyle/>
          <a:p>
            <a:r>
              <a:rPr lang="en-US" dirty="0"/>
              <a:t>SEMMA</a:t>
            </a:r>
            <a:endParaRPr lang="pl-PL" dirty="0"/>
          </a:p>
        </p:txBody>
      </p:sp>
      <p:pic>
        <p:nvPicPr>
          <p:cNvPr id="5" name="Obraz 4">
            <a:extLst>
              <a:ext uri="{FF2B5EF4-FFF2-40B4-BE49-F238E27FC236}">
                <a16:creationId xmlns:a16="http://schemas.microsoft.com/office/drawing/2014/main" id="{3C5B005D-74AD-5692-94A9-FE0E5F6E1F8D}"/>
              </a:ext>
            </a:extLst>
          </p:cNvPr>
          <p:cNvPicPr>
            <a:picLocks noChangeAspect="1"/>
          </p:cNvPicPr>
          <p:nvPr/>
        </p:nvPicPr>
        <p:blipFill>
          <a:blip r:embed="rId3"/>
          <a:stretch>
            <a:fillRect/>
          </a:stretch>
        </p:blipFill>
        <p:spPr>
          <a:xfrm>
            <a:off x="713232" y="914400"/>
            <a:ext cx="3022488" cy="5385816"/>
          </a:xfrm>
          <a:prstGeom prst="rect">
            <a:avLst/>
          </a:prstGeom>
        </p:spPr>
      </p:pic>
      <p:cxnSp>
        <p:nvCxnSpPr>
          <p:cNvPr id="12" name="Straight Connector 11">
            <a:extLst>
              <a:ext uri="{FF2B5EF4-FFF2-40B4-BE49-F238E27FC236}">
                <a16:creationId xmlns:a16="http://schemas.microsoft.com/office/drawing/2014/main" id="{753FE100-D0AB-4AE2-824B-60CFA31EC6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866301"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Symbol zastępczy zawartości 2">
            <a:extLst>
              <a:ext uri="{FF2B5EF4-FFF2-40B4-BE49-F238E27FC236}">
                <a16:creationId xmlns:a16="http://schemas.microsoft.com/office/drawing/2014/main" id="{42FEED70-E62E-7B0C-2ED9-447ED9C4F326}"/>
              </a:ext>
            </a:extLst>
          </p:cNvPr>
          <p:cNvSpPr>
            <a:spLocks noGrp="1"/>
          </p:cNvSpPr>
          <p:nvPr>
            <p:ph idx="1"/>
          </p:nvPr>
        </p:nvSpPr>
        <p:spPr>
          <a:xfrm>
            <a:off x="5793149" y="2633236"/>
            <a:ext cx="5737860" cy="3666980"/>
          </a:xfrm>
        </p:spPr>
        <p:txBody>
          <a:bodyPr>
            <a:normAutofit/>
          </a:bodyPr>
          <a:lstStyle/>
          <a:p>
            <a:pPr marL="0" indent="0">
              <a:buNone/>
            </a:pPr>
            <a:r>
              <a:rPr lang="pl-PL" dirty="0"/>
              <a:t>SEMMA to metodyka analizy danych opracowana przez SAS </a:t>
            </a:r>
            <a:r>
              <a:rPr lang="pl-PL" dirty="0" err="1"/>
              <a:t>Institute</a:t>
            </a:r>
            <a:r>
              <a:rPr lang="pl-PL" dirty="0"/>
              <a:t>, obejmująca etapy </a:t>
            </a:r>
            <a:r>
              <a:rPr lang="pl-PL" dirty="0" err="1"/>
              <a:t>Sample</a:t>
            </a:r>
            <a:r>
              <a:rPr lang="pl-PL" dirty="0"/>
              <a:t>, </a:t>
            </a:r>
            <a:r>
              <a:rPr lang="pl-PL" dirty="0" err="1"/>
              <a:t>Explore</a:t>
            </a:r>
            <a:r>
              <a:rPr lang="pl-PL" dirty="0"/>
              <a:t>, </a:t>
            </a:r>
            <a:r>
              <a:rPr lang="pl-PL" dirty="0" err="1"/>
              <a:t>Modify</a:t>
            </a:r>
            <a:r>
              <a:rPr lang="pl-PL" dirty="0"/>
              <a:t>, Model i </a:t>
            </a:r>
            <a:r>
              <a:rPr lang="pl-PL" dirty="0" err="1"/>
              <a:t>Assess</a:t>
            </a:r>
            <a:r>
              <a:rPr lang="pl-PL" dirty="0"/>
              <a:t>, służące do budowy modeli predykcyjnych.</a:t>
            </a:r>
          </a:p>
        </p:txBody>
      </p:sp>
    </p:spTree>
    <p:extLst>
      <p:ext uri="{BB962C8B-B14F-4D97-AF65-F5344CB8AC3E}">
        <p14:creationId xmlns:p14="http://schemas.microsoft.com/office/powerpoint/2010/main" val="26203877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637580D-1176-4083-A9A1-BD8ED08996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B61691F1-3F48-3B23-F1E9-392B4BAC37F0}"/>
              </a:ext>
            </a:extLst>
          </p:cNvPr>
          <p:cNvSpPr>
            <a:spLocks noGrp="1"/>
          </p:cNvSpPr>
          <p:nvPr>
            <p:ph type="title"/>
          </p:nvPr>
        </p:nvSpPr>
        <p:spPr>
          <a:xfrm>
            <a:off x="640080" y="1371600"/>
            <a:ext cx="2652779" cy="4150811"/>
          </a:xfrm>
        </p:spPr>
        <p:txBody>
          <a:bodyPr>
            <a:normAutofit/>
          </a:bodyPr>
          <a:lstStyle/>
          <a:p>
            <a:r>
              <a:rPr lang="pl-PL" sz="3400"/>
              <a:t>Różnice między KDD, CRISP-DM i SEMMA</a:t>
            </a:r>
          </a:p>
        </p:txBody>
      </p:sp>
      <p:cxnSp>
        <p:nvCxnSpPr>
          <p:cNvPr id="11" name="Straight Connector 10">
            <a:extLst>
              <a:ext uri="{FF2B5EF4-FFF2-40B4-BE49-F238E27FC236}">
                <a16:creationId xmlns:a16="http://schemas.microsoft.com/office/drawing/2014/main" id="{1A85A180-17F0-9F5F-51D9-6D242E7884A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graphicFrame>
        <p:nvGraphicFramePr>
          <p:cNvPr id="5" name="Symbol zastępczy zawartości 2">
            <a:extLst>
              <a:ext uri="{FF2B5EF4-FFF2-40B4-BE49-F238E27FC236}">
                <a16:creationId xmlns:a16="http://schemas.microsoft.com/office/drawing/2014/main" id="{ACB2B653-14DE-3609-36D2-506832114A03}"/>
              </a:ext>
            </a:extLst>
          </p:cNvPr>
          <p:cNvGraphicFramePr>
            <a:graphicFrameLocks noGrp="1"/>
          </p:cNvGraphicFramePr>
          <p:nvPr>
            <p:ph idx="1"/>
            <p:extLst>
              <p:ext uri="{D42A27DB-BD31-4B8C-83A1-F6EECF244321}">
                <p14:modId xmlns:p14="http://schemas.microsoft.com/office/powerpoint/2010/main" val="1405487117"/>
              </p:ext>
            </p:extLst>
          </p:nvPr>
        </p:nvGraphicFramePr>
        <p:xfrm>
          <a:off x="4045291" y="1371600"/>
          <a:ext cx="7485718" cy="492631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635430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71876D83-7E80-F03E-67D1-3EDC5381F3AA}"/>
              </a:ext>
            </a:extLst>
          </p:cNvPr>
          <p:cNvSpPr>
            <a:spLocks noGrp="1"/>
          </p:cNvSpPr>
          <p:nvPr>
            <p:ph type="title"/>
          </p:nvPr>
        </p:nvSpPr>
        <p:spPr>
          <a:xfrm>
            <a:off x="5793149" y="1371600"/>
            <a:ext cx="5737859" cy="1097280"/>
          </a:xfrm>
        </p:spPr>
        <p:txBody>
          <a:bodyPr>
            <a:normAutofit/>
          </a:bodyPr>
          <a:lstStyle/>
          <a:p>
            <a:pPr>
              <a:lnSpc>
                <a:spcPct val="90000"/>
              </a:lnSpc>
            </a:pPr>
            <a:r>
              <a:rPr lang="en-US" sz="3400"/>
              <a:t>R</a:t>
            </a:r>
            <a:r>
              <a:rPr lang="pl-PL" sz="3400" err="1"/>
              <a:t>ole</a:t>
            </a:r>
            <a:r>
              <a:rPr lang="pl-PL" sz="3400"/>
              <a:t> w projekcie Data Science</a:t>
            </a:r>
          </a:p>
        </p:txBody>
      </p:sp>
      <p:pic>
        <p:nvPicPr>
          <p:cNvPr id="7" name="Graphic 6" descr="Odcisk palca">
            <a:extLst>
              <a:ext uri="{FF2B5EF4-FFF2-40B4-BE49-F238E27FC236}">
                <a16:creationId xmlns:a16="http://schemas.microsoft.com/office/drawing/2014/main" id="{B27A3800-5235-94A7-2B11-08E61EB7201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13232" y="1956816"/>
            <a:ext cx="4343400" cy="4343400"/>
          </a:xfrm>
          <a:prstGeom prst="rect">
            <a:avLst/>
          </a:prstGeom>
        </p:spPr>
      </p:pic>
      <p:cxnSp>
        <p:nvCxnSpPr>
          <p:cNvPr id="12" name="Straight Connector 11">
            <a:extLst>
              <a:ext uri="{FF2B5EF4-FFF2-40B4-BE49-F238E27FC236}">
                <a16:creationId xmlns:a16="http://schemas.microsoft.com/office/drawing/2014/main" id="{753FE100-D0AB-4AE2-824B-60CFA31EC6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866301"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Symbol zastępczy zawartości 2">
            <a:extLst>
              <a:ext uri="{FF2B5EF4-FFF2-40B4-BE49-F238E27FC236}">
                <a16:creationId xmlns:a16="http://schemas.microsoft.com/office/drawing/2014/main" id="{667295A2-8390-FBBA-A19A-AEE629F9AFB8}"/>
              </a:ext>
            </a:extLst>
          </p:cNvPr>
          <p:cNvSpPr>
            <a:spLocks noGrp="1"/>
          </p:cNvSpPr>
          <p:nvPr>
            <p:ph idx="1"/>
          </p:nvPr>
        </p:nvSpPr>
        <p:spPr>
          <a:xfrm>
            <a:off x="5793149" y="2633236"/>
            <a:ext cx="5737860" cy="3666980"/>
          </a:xfrm>
        </p:spPr>
        <p:txBody>
          <a:bodyPr>
            <a:normAutofit/>
          </a:bodyPr>
          <a:lstStyle/>
          <a:p>
            <a:pPr marL="0" indent="0">
              <a:lnSpc>
                <a:spcPct val="110000"/>
              </a:lnSpc>
              <a:buNone/>
            </a:pPr>
            <a:r>
              <a:rPr lang="pl-PL" sz="1600" dirty="0"/>
              <a:t>Projekt Data Science wymaga współpracy specjalistów o różnych kompetencjach, ponieważ żaden pojedynczy ekspert nie jest w stanie samodzielnie przeprowadzić całego procesu.</a:t>
            </a:r>
            <a:r>
              <a:rPr lang="en-US" sz="1600" dirty="0"/>
              <a:t> </a:t>
            </a:r>
            <a:r>
              <a:rPr lang="pl-PL" sz="1600" dirty="0"/>
              <a:t>W praktyce role te wzajemnie </a:t>
            </a:r>
            <a:r>
              <a:rPr lang="en-US" sz="1600" dirty="0" err="1"/>
              <a:t>często</a:t>
            </a:r>
            <a:r>
              <a:rPr lang="en-US" sz="1600" dirty="0"/>
              <a:t> </a:t>
            </a:r>
            <a:r>
              <a:rPr lang="pl-PL" sz="1600" dirty="0"/>
              <a:t>się uzupełniają:</a:t>
            </a:r>
          </a:p>
          <a:p>
            <a:pPr marL="0" indent="0">
              <a:lnSpc>
                <a:spcPct val="110000"/>
              </a:lnSpc>
              <a:buNone/>
            </a:pPr>
            <a:r>
              <a:rPr lang="pl-PL" sz="1600" dirty="0"/>
              <a:t>Data </a:t>
            </a:r>
            <a:r>
              <a:rPr lang="pl-PL" sz="1600" dirty="0" err="1"/>
              <a:t>Scientist</a:t>
            </a:r>
            <a:r>
              <a:rPr lang="pl-PL" sz="1600" dirty="0"/>
              <a:t>,</a:t>
            </a:r>
          </a:p>
          <a:p>
            <a:pPr marL="0" indent="0">
              <a:lnSpc>
                <a:spcPct val="110000"/>
              </a:lnSpc>
              <a:buNone/>
            </a:pPr>
            <a:r>
              <a:rPr lang="pl-PL" sz="1600" dirty="0"/>
              <a:t>Data </a:t>
            </a:r>
            <a:r>
              <a:rPr lang="pl-PL" sz="1600" dirty="0" err="1"/>
              <a:t>Engineer</a:t>
            </a:r>
            <a:r>
              <a:rPr lang="pl-PL" sz="1600" dirty="0"/>
              <a:t> </a:t>
            </a:r>
            <a:endParaRPr lang="en-US" sz="1600" dirty="0"/>
          </a:p>
          <a:p>
            <a:pPr marL="0" indent="0">
              <a:lnSpc>
                <a:spcPct val="110000"/>
              </a:lnSpc>
              <a:buNone/>
            </a:pPr>
            <a:r>
              <a:rPr lang="pl-PL" sz="1600" dirty="0"/>
              <a:t>ML </a:t>
            </a:r>
            <a:r>
              <a:rPr lang="pl-PL" sz="1600" dirty="0" err="1"/>
              <a:t>Engineer</a:t>
            </a:r>
            <a:r>
              <a:rPr lang="pl-PL" sz="1600" dirty="0"/>
              <a:t> </a:t>
            </a:r>
            <a:endParaRPr lang="en-US" sz="1600" dirty="0"/>
          </a:p>
          <a:p>
            <a:pPr marL="0" indent="0">
              <a:lnSpc>
                <a:spcPct val="110000"/>
              </a:lnSpc>
              <a:buNone/>
            </a:pPr>
            <a:r>
              <a:rPr lang="pl-PL" sz="1600" dirty="0"/>
              <a:t>Product </a:t>
            </a:r>
            <a:r>
              <a:rPr lang="pl-PL" sz="1600" dirty="0" err="1"/>
              <a:t>Owne</a:t>
            </a:r>
            <a:r>
              <a:rPr lang="en-US" sz="1600" dirty="0"/>
              <a:t>r</a:t>
            </a:r>
          </a:p>
          <a:p>
            <a:pPr marL="0" indent="0">
              <a:lnSpc>
                <a:spcPct val="110000"/>
              </a:lnSpc>
              <a:buNone/>
            </a:pPr>
            <a:r>
              <a:rPr lang="en-US" sz="1600" dirty="0"/>
              <a:t>AI/ML Engineer</a:t>
            </a:r>
          </a:p>
          <a:p>
            <a:pPr marL="0" indent="0">
              <a:lnSpc>
                <a:spcPct val="110000"/>
              </a:lnSpc>
              <a:buNone/>
            </a:pPr>
            <a:r>
              <a:rPr lang="en-US" sz="1600" dirty="0" err="1"/>
              <a:t>MLops</a:t>
            </a:r>
            <a:r>
              <a:rPr lang="en-US" sz="1600" dirty="0"/>
              <a:t> engineer</a:t>
            </a:r>
            <a:endParaRPr lang="pl-PL" sz="1600" dirty="0"/>
          </a:p>
        </p:txBody>
      </p:sp>
    </p:spTree>
    <p:extLst>
      <p:ext uri="{BB962C8B-B14F-4D97-AF65-F5344CB8AC3E}">
        <p14:creationId xmlns:p14="http://schemas.microsoft.com/office/powerpoint/2010/main" val="8120754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BDA151C-5770-45E4-AAFF-59E7F4038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F923C97D-21E1-AFF2-5073-1A04C5528F2B}"/>
              </a:ext>
            </a:extLst>
          </p:cNvPr>
          <p:cNvSpPr>
            <a:spLocks noGrp="1"/>
          </p:cNvSpPr>
          <p:nvPr>
            <p:ph type="title"/>
          </p:nvPr>
        </p:nvSpPr>
        <p:spPr>
          <a:xfrm>
            <a:off x="640079" y="570750"/>
            <a:ext cx="10890929" cy="1387934"/>
          </a:xfrm>
        </p:spPr>
        <p:txBody>
          <a:bodyPr anchor="b">
            <a:normAutofit/>
          </a:bodyPr>
          <a:lstStyle/>
          <a:p>
            <a:r>
              <a:rPr lang="en-US" dirty="0"/>
              <a:t>O</a:t>
            </a:r>
            <a:r>
              <a:rPr lang="pl-PL"/>
              <a:t>dpowiedzialność</a:t>
            </a:r>
            <a:r>
              <a:rPr lang="pl-PL" dirty="0"/>
              <a:t> zespołu w kolejnych fazach projektu</a:t>
            </a:r>
          </a:p>
        </p:txBody>
      </p:sp>
      <p:cxnSp>
        <p:nvCxnSpPr>
          <p:cNvPr id="11" name="Straight Connector 10">
            <a:extLst>
              <a:ext uri="{FF2B5EF4-FFF2-40B4-BE49-F238E27FC236}">
                <a16:creationId xmlns:a16="http://schemas.microsoft.com/office/drawing/2014/main" id="{E62D3963-2153-4637-96E6-E31BD2CE5D0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2307479"/>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graphicFrame>
        <p:nvGraphicFramePr>
          <p:cNvPr id="5" name="Symbol zastępczy zawartości 2">
            <a:extLst>
              <a:ext uri="{FF2B5EF4-FFF2-40B4-BE49-F238E27FC236}">
                <a16:creationId xmlns:a16="http://schemas.microsoft.com/office/drawing/2014/main" id="{F663B3AB-5414-40C5-EEFA-E6F930E0AF1B}"/>
              </a:ext>
            </a:extLst>
          </p:cNvPr>
          <p:cNvGraphicFramePr>
            <a:graphicFrameLocks noGrp="1"/>
          </p:cNvGraphicFramePr>
          <p:nvPr>
            <p:ph idx="1"/>
            <p:extLst>
              <p:ext uri="{D42A27DB-BD31-4B8C-83A1-F6EECF244321}">
                <p14:modId xmlns:p14="http://schemas.microsoft.com/office/powerpoint/2010/main" val="2745677175"/>
              </p:ext>
            </p:extLst>
          </p:nvPr>
        </p:nvGraphicFramePr>
        <p:xfrm>
          <a:off x="640079" y="2559050"/>
          <a:ext cx="10890929" cy="37388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9847338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BDA151C-5770-45E4-AAFF-59E7F4038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ytuł 1">
            <a:extLst>
              <a:ext uri="{FF2B5EF4-FFF2-40B4-BE49-F238E27FC236}">
                <a16:creationId xmlns:a16="http://schemas.microsoft.com/office/drawing/2014/main" id="{C1B25622-415C-B618-CBA4-BE34AE0F197E}"/>
              </a:ext>
            </a:extLst>
          </p:cNvPr>
          <p:cNvSpPr>
            <a:spLocks noGrp="1"/>
          </p:cNvSpPr>
          <p:nvPr>
            <p:ph type="title"/>
          </p:nvPr>
        </p:nvSpPr>
        <p:spPr>
          <a:xfrm>
            <a:off x="640080" y="914399"/>
            <a:ext cx="3000587" cy="4160520"/>
          </a:xfrm>
        </p:spPr>
        <p:txBody>
          <a:bodyPr anchor="t">
            <a:normAutofit/>
          </a:bodyPr>
          <a:lstStyle/>
          <a:p>
            <a:r>
              <a:rPr lang="en-US" sz="3600"/>
              <a:t>A</a:t>
            </a:r>
            <a:r>
              <a:rPr lang="pl-PL" sz="3600"/>
              <a:t>rtefakty w projekcie Data Science</a:t>
            </a:r>
          </a:p>
        </p:txBody>
      </p:sp>
      <p:cxnSp>
        <p:nvCxnSpPr>
          <p:cNvPr id="11" name="Straight Connector 10">
            <a:extLst>
              <a:ext uri="{FF2B5EF4-FFF2-40B4-BE49-F238E27FC236}">
                <a16:creationId xmlns:a16="http://schemas.microsoft.com/office/drawing/2014/main" id="{05ADA91C-AD52-A530-A898-AD6E6987459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2253" y="6272784"/>
            <a:ext cx="10847495" cy="0"/>
          </a:xfrm>
          <a:prstGeom prst="line">
            <a:avLst/>
          </a:prstGeom>
          <a:ln w="76200"/>
        </p:spPr>
        <p:style>
          <a:lnRef idx="1">
            <a:schemeClr val="accent1"/>
          </a:lnRef>
          <a:fillRef idx="0">
            <a:schemeClr val="accent1"/>
          </a:fillRef>
          <a:effectRef idx="0">
            <a:schemeClr val="accent1"/>
          </a:effectRef>
          <a:fontRef idx="minor">
            <a:schemeClr val="tx1"/>
          </a:fontRef>
        </p:style>
      </p:cxnSp>
      <p:graphicFrame>
        <p:nvGraphicFramePr>
          <p:cNvPr id="5" name="Symbol zastępczy zawartości 2">
            <a:extLst>
              <a:ext uri="{FF2B5EF4-FFF2-40B4-BE49-F238E27FC236}">
                <a16:creationId xmlns:a16="http://schemas.microsoft.com/office/drawing/2014/main" id="{967EDDA8-957D-D867-24D5-A08F959FA040}"/>
              </a:ext>
            </a:extLst>
          </p:cNvPr>
          <p:cNvGraphicFramePr>
            <a:graphicFrameLocks noGrp="1"/>
          </p:cNvGraphicFramePr>
          <p:nvPr>
            <p:ph idx="1"/>
            <p:extLst>
              <p:ext uri="{D42A27DB-BD31-4B8C-83A1-F6EECF244321}">
                <p14:modId xmlns:p14="http://schemas.microsoft.com/office/powerpoint/2010/main" val="1378449084"/>
              </p:ext>
            </p:extLst>
          </p:nvPr>
        </p:nvGraphicFramePr>
        <p:xfrm>
          <a:off x="4303332" y="891606"/>
          <a:ext cx="7216416" cy="51112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231718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BDA151C-5770-45E4-AAFF-59E7F4038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ytuł 1">
            <a:extLst>
              <a:ext uri="{FF2B5EF4-FFF2-40B4-BE49-F238E27FC236}">
                <a16:creationId xmlns:a16="http://schemas.microsoft.com/office/drawing/2014/main" id="{F792792A-505A-3C30-6F7C-9F3741408298}"/>
              </a:ext>
            </a:extLst>
          </p:cNvPr>
          <p:cNvSpPr>
            <a:spLocks noGrp="1"/>
          </p:cNvSpPr>
          <p:nvPr>
            <p:ph type="title"/>
          </p:nvPr>
        </p:nvSpPr>
        <p:spPr>
          <a:xfrm>
            <a:off x="640080" y="914399"/>
            <a:ext cx="10847494" cy="1171069"/>
          </a:xfrm>
        </p:spPr>
        <p:txBody>
          <a:bodyPr anchor="t">
            <a:normAutofit/>
          </a:bodyPr>
          <a:lstStyle/>
          <a:p>
            <a:r>
              <a:rPr lang="pl-PL" dirty="0"/>
              <a:t>Jak iteracyjność wpływa na jakość modeli</a:t>
            </a:r>
          </a:p>
        </p:txBody>
      </p:sp>
      <p:pic>
        <p:nvPicPr>
          <p:cNvPr id="5" name="Obraz 4">
            <a:extLst>
              <a:ext uri="{FF2B5EF4-FFF2-40B4-BE49-F238E27FC236}">
                <a16:creationId xmlns:a16="http://schemas.microsoft.com/office/drawing/2014/main" id="{5B6264F8-DE64-93C4-780A-1E3656D897FB}"/>
              </a:ext>
            </a:extLst>
          </p:cNvPr>
          <p:cNvPicPr>
            <a:picLocks noChangeAspect="1"/>
          </p:cNvPicPr>
          <p:nvPr/>
        </p:nvPicPr>
        <p:blipFill>
          <a:blip r:embed="rId3"/>
          <a:stretch>
            <a:fillRect/>
          </a:stretch>
        </p:blipFill>
        <p:spPr>
          <a:xfrm>
            <a:off x="713232" y="3232806"/>
            <a:ext cx="5648193" cy="1807421"/>
          </a:xfrm>
          <a:prstGeom prst="rect">
            <a:avLst/>
          </a:prstGeom>
        </p:spPr>
      </p:pic>
      <p:sp>
        <p:nvSpPr>
          <p:cNvPr id="3" name="Symbol zastępczy zawartości 2">
            <a:extLst>
              <a:ext uri="{FF2B5EF4-FFF2-40B4-BE49-F238E27FC236}">
                <a16:creationId xmlns:a16="http://schemas.microsoft.com/office/drawing/2014/main" id="{B63610B0-33EB-631E-DF9C-D826B0CE1391}"/>
              </a:ext>
            </a:extLst>
          </p:cNvPr>
          <p:cNvSpPr>
            <a:spLocks noGrp="1"/>
          </p:cNvSpPr>
          <p:nvPr>
            <p:ph idx="1"/>
          </p:nvPr>
        </p:nvSpPr>
        <p:spPr>
          <a:xfrm>
            <a:off x="6915150" y="2256287"/>
            <a:ext cx="4563618" cy="3760459"/>
          </a:xfrm>
        </p:spPr>
        <p:txBody>
          <a:bodyPr anchor="t">
            <a:normAutofit/>
          </a:bodyPr>
          <a:lstStyle/>
          <a:p>
            <a:pPr>
              <a:lnSpc>
                <a:spcPct val="110000"/>
              </a:lnSpc>
            </a:pPr>
            <a:r>
              <a:rPr lang="pl-PL" sz="1400" dirty="0"/>
              <a:t>W projektach Data Science iteracyjność ma kluczowe znaczenie, ponieważ jakość modelu rzadko jest wysoka już w pierwszej wersji. Modele uczą się stopniowo, a każda kolejna iteracja pozwala poprawić dokładność, stabilność i użyteczność biznesową rozwiązania.</a:t>
            </a:r>
          </a:p>
          <a:p>
            <a:pPr>
              <a:lnSpc>
                <a:spcPct val="110000"/>
              </a:lnSpc>
            </a:pPr>
            <a:r>
              <a:rPr lang="pl-PL" sz="1400" dirty="0"/>
              <a:t>W pierwszym etapie zespół buduje model bazowy, który pozwala zrozumieć, czy problem jest w ogóle rozwiązywalny. Następnie analizowane są błędy modelu, jakość danych oraz reakcje użytkowników biznesowych. Na tej podstawie podejmowana jest decyzja o kolejnych zmianach.</a:t>
            </a:r>
          </a:p>
          <a:p>
            <a:pPr>
              <a:lnSpc>
                <a:spcPct val="110000"/>
              </a:lnSpc>
            </a:pPr>
            <a:endParaRPr lang="pl-PL" sz="1400" dirty="0"/>
          </a:p>
        </p:txBody>
      </p:sp>
      <p:cxnSp>
        <p:nvCxnSpPr>
          <p:cNvPr id="12" name="Straight Connector 11">
            <a:extLst>
              <a:ext uri="{FF2B5EF4-FFF2-40B4-BE49-F238E27FC236}">
                <a16:creationId xmlns:a16="http://schemas.microsoft.com/office/drawing/2014/main" id="{2EA0F4A6-3CC9-C9E2-BA02-58FA29F7DD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2253" y="6272784"/>
            <a:ext cx="10847495"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15173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63F27BC-7079-4FF7-8F7C-ABC82FA3C2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48C570D8-FCB0-6B96-99FF-6042F6550F86}"/>
              </a:ext>
            </a:extLst>
          </p:cNvPr>
          <p:cNvSpPr>
            <a:spLocks noGrp="1"/>
          </p:cNvSpPr>
          <p:nvPr>
            <p:ph type="title"/>
          </p:nvPr>
        </p:nvSpPr>
        <p:spPr>
          <a:xfrm>
            <a:off x="640080" y="1371600"/>
            <a:ext cx="3677920" cy="3919267"/>
          </a:xfrm>
        </p:spPr>
        <p:txBody>
          <a:bodyPr anchor="t">
            <a:normAutofit/>
          </a:bodyPr>
          <a:lstStyle/>
          <a:p>
            <a:r>
              <a:rPr lang="pl-PL" dirty="0"/>
              <a:t>Jak iteracyjność wpływa na jakość modeli</a:t>
            </a:r>
          </a:p>
        </p:txBody>
      </p:sp>
      <p:cxnSp>
        <p:nvCxnSpPr>
          <p:cNvPr id="11" name="Straight Connector 10">
            <a:extLst>
              <a:ext uri="{FF2B5EF4-FFF2-40B4-BE49-F238E27FC236}">
                <a16:creationId xmlns:a16="http://schemas.microsoft.com/office/drawing/2014/main" id="{40BBF191-9CC8-4313-B1CA-8DF1A53AE4F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graphicFrame>
        <p:nvGraphicFramePr>
          <p:cNvPr id="5" name="Symbol zastępczy zawartości 2">
            <a:extLst>
              <a:ext uri="{FF2B5EF4-FFF2-40B4-BE49-F238E27FC236}">
                <a16:creationId xmlns:a16="http://schemas.microsoft.com/office/drawing/2014/main" id="{027C8A83-6EB6-FE80-C242-A36C945BF8F6}"/>
              </a:ext>
            </a:extLst>
          </p:cNvPr>
          <p:cNvGraphicFramePr>
            <a:graphicFrameLocks noGrp="1"/>
          </p:cNvGraphicFramePr>
          <p:nvPr>
            <p:ph idx="1"/>
            <p:extLst>
              <p:ext uri="{D42A27DB-BD31-4B8C-83A1-F6EECF244321}">
                <p14:modId xmlns:p14="http://schemas.microsoft.com/office/powerpoint/2010/main" val="763743799"/>
              </p:ext>
            </p:extLst>
          </p:nvPr>
        </p:nvGraphicFramePr>
        <p:xfrm>
          <a:off x="5051651" y="1371600"/>
          <a:ext cx="6479357" cy="492631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891124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BDA151C-5770-45E4-AAFF-59E7F4038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ytuł 1">
            <a:extLst>
              <a:ext uri="{FF2B5EF4-FFF2-40B4-BE49-F238E27FC236}">
                <a16:creationId xmlns:a16="http://schemas.microsoft.com/office/drawing/2014/main" id="{10A1DB8C-EC7A-FC3E-4C77-D65B9787A2C4}"/>
              </a:ext>
            </a:extLst>
          </p:cNvPr>
          <p:cNvSpPr>
            <a:spLocks noGrp="1"/>
          </p:cNvSpPr>
          <p:nvPr>
            <p:ph type="title"/>
          </p:nvPr>
        </p:nvSpPr>
        <p:spPr>
          <a:xfrm>
            <a:off x="640080" y="914399"/>
            <a:ext cx="10847494" cy="1171069"/>
          </a:xfrm>
        </p:spPr>
        <p:txBody>
          <a:bodyPr anchor="t">
            <a:normAutofit/>
          </a:bodyPr>
          <a:lstStyle/>
          <a:p>
            <a:r>
              <a:rPr lang="pl-PL" dirty="0"/>
              <a:t>Jak wygląda proces KDD</a:t>
            </a:r>
          </a:p>
        </p:txBody>
      </p:sp>
      <p:pic>
        <p:nvPicPr>
          <p:cNvPr id="5" name="Obraz 4">
            <a:extLst>
              <a:ext uri="{FF2B5EF4-FFF2-40B4-BE49-F238E27FC236}">
                <a16:creationId xmlns:a16="http://schemas.microsoft.com/office/drawing/2014/main" id="{0E325298-6E79-77CD-134A-2241E37AF759}"/>
              </a:ext>
            </a:extLst>
          </p:cNvPr>
          <p:cNvPicPr>
            <a:picLocks noChangeAspect="1"/>
          </p:cNvPicPr>
          <p:nvPr/>
        </p:nvPicPr>
        <p:blipFill>
          <a:blip r:embed="rId3"/>
          <a:stretch>
            <a:fillRect/>
          </a:stretch>
        </p:blipFill>
        <p:spPr>
          <a:xfrm>
            <a:off x="713232" y="2498541"/>
            <a:ext cx="5648193" cy="3275951"/>
          </a:xfrm>
          <a:prstGeom prst="rect">
            <a:avLst/>
          </a:prstGeom>
        </p:spPr>
      </p:pic>
      <p:sp>
        <p:nvSpPr>
          <p:cNvPr id="3" name="Symbol zastępczy zawartości 2">
            <a:extLst>
              <a:ext uri="{FF2B5EF4-FFF2-40B4-BE49-F238E27FC236}">
                <a16:creationId xmlns:a16="http://schemas.microsoft.com/office/drawing/2014/main" id="{7B5E8F99-1347-CF16-B886-6017870C40BB}"/>
              </a:ext>
            </a:extLst>
          </p:cNvPr>
          <p:cNvSpPr>
            <a:spLocks noGrp="1"/>
          </p:cNvSpPr>
          <p:nvPr>
            <p:ph idx="1"/>
          </p:nvPr>
        </p:nvSpPr>
        <p:spPr>
          <a:xfrm>
            <a:off x="6915150" y="2256287"/>
            <a:ext cx="4563618" cy="3760459"/>
          </a:xfrm>
        </p:spPr>
        <p:txBody>
          <a:bodyPr anchor="t">
            <a:normAutofit/>
          </a:bodyPr>
          <a:lstStyle/>
          <a:p>
            <a:pPr marL="0" indent="0">
              <a:buNone/>
            </a:pPr>
            <a:r>
              <a:rPr lang="pl-PL" dirty="0"/>
              <a:t>Proces KDD pokazuje, że odkrywanie wiedzy w danych jest uporządkowanym cyklem działań prowadzącym od surowych informacji do praktycznych decyzji biznesowych.</a:t>
            </a:r>
          </a:p>
        </p:txBody>
      </p:sp>
      <p:cxnSp>
        <p:nvCxnSpPr>
          <p:cNvPr id="12" name="Straight Connector 11">
            <a:extLst>
              <a:ext uri="{FF2B5EF4-FFF2-40B4-BE49-F238E27FC236}">
                <a16:creationId xmlns:a16="http://schemas.microsoft.com/office/drawing/2014/main" id="{2EA0F4A6-3CC9-C9E2-BA02-58FA29F7DD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2253" y="6272784"/>
            <a:ext cx="10847495"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599335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8">
            <a:extLst>
              <a:ext uri="{FF2B5EF4-FFF2-40B4-BE49-F238E27FC236}">
                <a16:creationId xmlns:a16="http://schemas.microsoft.com/office/drawing/2014/main" id="{DBDA151C-5770-45E4-AAFF-59E7F4038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ytuł 1">
            <a:extLst>
              <a:ext uri="{FF2B5EF4-FFF2-40B4-BE49-F238E27FC236}">
                <a16:creationId xmlns:a16="http://schemas.microsoft.com/office/drawing/2014/main" id="{94F39F3E-8D6B-0C08-5356-23A52BEC1C28}"/>
              </a:ext>
            </a:extLst>
          </p:cNvPr>
          <p:cNvSpPr>
            <a:spLocks noGrp="1"/>
          </p:cNvSpPr>
          <p:nvPr>
            <p:ph type="title"/>
          </p:nvPr>
        </p:nvSpPr>
        <p:spPr>
          <a:xfrm>
            <a:off x="640080" y="914399"/>
            <a:ext cx="10847494" cy="1171069"/>
          </a:xfrm>
        </p:spPr>
        <p:txBody>
          <a:bodyPr anchor="t">
            <a:normAutofit/>
          </a:bodyPr>
          <a:lstStyle/>
          <a:p>
            <a:r>
              <a:rPr lang="pl-PL" dirty="0"/>
              <a:t>Jak wygląda proces KDD</a:t>
            </a:r>
          </a:p>
        </p:txBody>
      </p:sp>
      <p:pic>
        <p:nvPicPr>
          <p:cNvPr id="4" name="Obraz 3">
            <a:extLst>
              <a:ext uri="{FF2B5EF4-FFF2-40B4-BE49-F238E27FC236}">
                <a16:creationId xmlns:a16="http://schemas.microsoft.com/office/drawing/2014/main" id="{CB62F5EF-ADA5-F244-931A-6E7AD168CFD7}"/>
              </a:ext>
            </a:extLst>
          </p:cNvPr>
          <p:cNvPicPr>
            <a:picLocks noChangeAspect="1"/>
          </p:cNvPicPr>
          <p:nvPr/>
        </p:nvPicPr>
        <p:blipFill>
          <a:blip r:embed="rId3"/>
          <a:stretch>
            <a:fillRect/>
          </a:stretch>
        </p:blipFill>
        <p:spPr>
          <a:xfrm>
            <a:off x="713232" y="2498541"/>
            <a:ext cx="5648193" cy="3275951"/>
          </a:xfrm>
          <a:prstGeom prst="rect">
            <a:avLst/>
          </a:prstGeom>
        </p:spPr>
      </p:pic>
      <p:sp>
        <p:nvSpPr>
          <p:cNvPr id="3" name="Symbol zastępczy zawartości 2">
            <a:extLst>
              <a:ext uri="{FF2B5EF4-FFF2-40B4-BE49-F238E27FC236}">
                <a16:creationId xmlns:a16="http://schemas.microsoft.com/office/drawing/2014/main" id="{17DFFC2D-6F72-A882-BA2A-B6316B81364D}"/>
              </a:ext>
            </a:extLst>
          </p:cNvPr>
          <p:cNvSpPr>
            <a:spLocks noGrp="1"/>
          </p:cNvSpPr>
          <p:nvPr>
            <p:ph idx="1"/>
          </p:nvPr>
        </p:nvSpPr>
        <p:spPr>
          <a:xfrm>
            <a:off x="6915150" y="2256287"/>
            <a:ext cx="4563618" cy="3760459"/>
          </a:xfrm>
        </p:spPr>
        <p:txBody>
          <a:bodyPr anchor="t">
            <a:normAutofit/>
          </a:bodyPr>
          <a:lstStyle/>
          <a:p>
            <a:pPr marL="0" indent="0">
              <a:lnSpc>
                <a:spcPct val="110000"/>
              </a:lnSpc>
              <a:buNone/>
            </a:pPr>
            <a:r>
              <a:rPr lang="pl-PL" sz="1700" dirty="0"/>
              <a:t>Proces ten można przedstawić jako sekwencję:</a:t>
            </a:r>
          </a:p>
          <a:p>
            <a:pPr>
              <a:lnSpc>
                <a:spcPct val="110000"/>
              </a:lnSpc>
            </a:pPr>
            <a:r>
              <a:rPr lang="pl-PL" sz="1700" dirty="0"/>
              <a:t>selekcja, </a:t>
            </a:r>
          </a:p>
          <a:p>
            <a:pPr>
              <a:lnSpc>
                <a:spcPct val="110000"/>
              </a:lnSpc>
            </a:pPr>
            <a:r>
              <a:rPr lang="pl-PL" sz="1700" dirty="0"/>
              <a:t>przetwarzanie, </a:t>
            </a:r>
          </a:p>
          <a:p>
            <a:pPr>
              <a:lnSpc>
                <a:spcPct val="110000"/>
              </a:lnSpc>
            </a:pPr>
            <a:r>
              <a:rPr lang="pl-PL" sz="1700" dirty="0"/>
              <a:t>transformacja, </a:t>
            </a:r>
          </a:p>
          <a:p>
            <a:pPr>
              <a:lnSpc>
                <a:spcPct val="110000"/>
              </a:lnSpc>
            </a:pPr>
            <a:r>
              <a:rPr lang="pl-PL" sz="1700" dirty="0"/>
              <a:t>eksploracja, </a:t>
            </a:r>
          </a:p>
          <a:p>
            <a:pPr>
              <a:lnSpc>
                <a:spcPct val="110000"/>
              </a:lnSpc>
            </a:pPr>
            <a:r>
              <a:rPr lang="pl-PL" sz="1700" dirty="0"/>
              <a:t>interpretacja. </a:t>
            </a:r>
          </a:p>
          <a:p>
            <a:pPr marL="0" indent="0">
              <a:lnSpc>
                <a:spcPct val="110000"/>
              </a:lnSpc>
              <a:buNone/>
            </a:pPr>
            <a:r>
              <a:rPr lang="pl-PL" sz="1700" dirty="0"/>
              <a:t>Najważniejsze jest to, że KDD nie kończy się na modelu. Kończy się dopiero wtedy, gdy wiedza może zostać wykorzystana w praktyce.</a:t>
            </a:r>
          </a:p>
          <a:p>
            <a:pPr>
              <a:lnSpc>
                <a:spcPct val="110000"/>
              </a:lnSpc>
            </a:pPr>
            <a:endParaRPr lang="pl-PL" sz="1700" dirty="0"/>
          </a:p>
        </p:txBody>
      </p:sp>
      <p:cxnSp>
        <p:nvCxnSpPr>
          <p:cNvPr id="14" name="Straight Connector 10">
            <a:extLst>
              <a:ext uri="{FF2B5EF4-FFF2-40B4-BE49-F238E27FC236}">
                <a16:creationId xmlns:a16="http://schemas.microsoft.com/office/drawing/2014/main" id="{2EA0F4A6-3CC9-C9E2-BA02-58FA29F7DD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2253" y="6272784"/>
            <a:ext cx="10847495"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654609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BDA151C-5770-45E4-AAFF-59E7F4038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ytuł 1">
            <a:extLst>
              <a:ext uri="{FF2B5EF4-FFF2-40B4-BE49-F238E27FC236}">
                <a16:creationId xmlns:a16="http://schemas.microsoft.com/office/drawing/2014/main" id="{9F572807-83E2-12B8-573C-7B23B72D64D3}"/>
              </a:ext>
            </a:extLst>
          </p:cNvPr>
          <p:cNvSpPr>
            <a:spLocks noGrp="1"/>
          </p:cNvSpPr>
          <p:nvPr>
            <p:ph type="title"/>
          </p:nvPr>
        </p:nvSpPr>
        <p:spPr>
          <a:xfrm>
            <a:off x="640080" y="914399"/>
            <a:ext cx="10847494" cy="1171069"/>
          </a:xfrm>
        </p:spPr>
        <p:txBody>
          <a:bodyPr anchor="t">
            <a:normAutofit/>
          </a:bodyPr>
          <a:lstStyle/>
          <a:p>
            <a:r>
              <a:rPr lang="en-US" dirty="0"/>
              <a:t>S</a:t>
            </a:r>
            <a:r>
              <a:rPr lang="pl-PL" dirty="0" err="1"/>
              <a:t>ześć</a:t>
            </a:r>
            <a:r>
              <a:rPr lang="pl-PL" dirty="0"/>
              <a:t> faz CRISP-DM</a:t>
            </a:r>
          </a:p>
        </p:txBody>
      </p:sp>
      <p:pic>
        <p:nvPicPr>
          <p:cNvPr id="5" name="Obraz 4">
            <a:extLst>
              <a:ext uri="{FF2B5EF4-FFF2-40B4-BE49-F238E27FC236}">
                <a16:creationId xmlns:a16="http://schemas.microsoft.com/office/drawing/2014/main" id="{7235DE6B-2D5C-8C56-FD42-D654C0EBF6D8}"/>
              </a:ext>
            </a:extLst>
          </p:cNvPr>
          <p:cNvPicPr>
            <a:picLocks noChangeAspect="1"/>
          </p:cNvPicPr>
          <p:nvPr/>
        </p:nvPicPr>
        <p:blipFill>
          <a:blip r:embed="rId3"/>
          <a:stretch>
            <a:fillRect/>
          </a:stretch>
        </p:blipFill>
        <p:spPr>
          <a:xfrm>
            <a:off x="713232" y="2256287"/>
            <a:ext cx="4201630" cy="3760459"/>
          </a:xfrm>
          <a:prstGeom prst="rect">
            <a:avLst/>
          </a:prstGeom>
        </p:spPr>
      </p:pic>
      <p:sp>
        <p:nvSpPr>
          <p:cNvPr id="3" name="Symbol zastępczy zawartości 2">
            <a:extLst>
              <a:ext uri="{FF2B5EF4-FFF2-40B4-BE49-F238E27FC236}">
                <a16:creationId xmlns:a16="http://schemas.microsoft.com/office/drawing/2014/main" id="{08A29115-2C01-3FAD-5FAB-1AA1C5B65F3C}"/>
              </a:ext>
            </a:extLst>
          </p:cNvPr>
          <p:cNvSpPr>
            <a:spLocks noGrp="1"/>
          </p:cNvSpPr>
          <p:nvPr>
            <p:ph idx="1"/>
          </p:nvPr>
        </p:nvSpPr>
        <p:spPr>
          <a:xfrm>
            <a:off x="6915150" y="2256287"/>
            <a:ext cx="4563618" cy="3760459"/>
          </a:xfrm>
        </p:spPr>
        <p:txBody>
          <a:bodyPr anchor="t">
            <a:normAutofit/>
          </a:bodyPr>
          <a:lstStyle/>
          <a:p>
            <a:pPr marL="0" indent="0">
              <a:buNone/>
            </a:pPr>
            <a:r>
              <a:rPr lang="pl-PL" dirty="0"/>
              <a:t>Model CRISP-DM dzieli projekt Data Science na sześć logicznych faz, które pomagają zespołowi uporządkować pracę i podejmować właściwe decyzje na każdym etapie.</a:t>
            </a:r>
          </a:p>
        </p:txBody>
      </p:sp>
      <p:cxnSp>
        <p:nvCxnSpPr>
          <p:cNvPr id="12" name="Straight Connector 11">
            <a:extLst>
              <a:ext uri="{FF2B5EF4-FFF2-40B4-BE49-F238E27FC236}">
                <a16:creationId xmlns:a16="http://schemas.microsoft.com/office/drawing/2014/main" id="{2EA0F4A6-3CC9-C9E2-BA02-58FA29F7DD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2253" y="6272784"/>
            <a:ext cx="10847495"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907076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BDA151C-5770-45E4-AAFF-59E7F4038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ytuł 1">
            <a:extLst>
              <a:ext uri="{FF2B5EF4-FFF2-40B4-BE49-F238E27FC236}">
                <a16:creationId xmlns:a16="http://schemas.microsoft.com/office/drawing/2014/main" id="{84507785-B0E6-4175-56E9-E1E1B7CA4B00}"/>
              </a:ext>
            </a:extLst>
          </p:cNvPr>
          <p:cNvSpPr>
            <a:spLocks noGrp="1"/>
          </p:cNvSpPr>
          <p:nvPr>
            <p:ph type="title"/>
          </p:nvPr>
        </p:nvSpPr>
        <p:spPr>
          <a:xfrm>
            <a:off x="640080" y="914399"/>
            <a:ext cx="10847494" cy="1171069"/>
          </a:xfrm>
        </p:spPr>
        <p:txBody>
          <a:bodyPr anchor="t">
            <a:normAutofit/>
          </a:bodyPr>
          <a:lstStyle/>
          <a:p>
            <a:r>
              <a:rPr lang="en-US" dirty="0"/>
              <a:t>S</a:t>
            </a:r>
            <a:r>
              <a:rPr lang="pl-PL"/>
              <a:t>ześć</a:t>
            </a:r>
            <a:r>
              <a:rPr lang="pl-PL" dirty="0"/>
              <a:t> faz CRISP-DM</a:t>
            </a:r>
          </a:p>
        </p:txBody>
      </p:sp>
      <p:pic>
        <p:nvPicPr>
          <p:cNvPr id="5" name="Obraz 4">
            <a:extLst>
              <a:ext uri="{FF2B5EF4-FFF2-40B4-BE49-F238E27FC236}">
                <a16:creationId xmlns:a16="http://schemas.microsoft.com/office/drawing/2014/main" id="{FE02A180-A502-DD29-3E12-A844A0D65253}"/>
              </a:ext>
            </a:extLst>
          </p:cNvPr>
          <p:cNvPicPr>
            <a:picLocks noChangeAspect="1"/>
          </p:cNvPicPr>
          <p:nvPr/>
        </p:nvPicPr>
        <p:blipFill>
          <a:blip r:embed="rId3"/>
          <a:stretch>
            <a:fillRect/>
          </a:stretch>
        </p:blipFill>
        <p:spPr>
          <a:xfrm>
            <a:off x="713232" y="2256287"/>
            <a:ext cx="4201630" cy="3760459"/>
          </a:xfrm>
          <a:prstGeom prst="rect">
            <a:avLst/>
          </a:prstGeom>
        </p:spPr>
      </p:pic>
      <p:sp>
        <p:nvSpPr>
          <p:cNvPr id="3" name="Symbol zastępczy zawartości 2">
            <a:extLst>
              <a:ext uri="{FF2B5EF4-FFF2-40B4-BE49-F238E27FC236}">
                <a16:creationId xmlns:a16="http://schemas.microsoft.com/office/drawing/2014/main" id="{05B0EFAA-9040-AF08-865E-D888FC4FCE4A}"/>
              </a:ext>
            </a:extLst>
          </p:cNvPr>
          <p:cNvSpPr>
            <a:spLocks noGrp="1"/>
          </p:cNvSpPr>
          <p:nvPr>
            <p:ph idx="1"/>
          </p:nvPr>
        </p:nvSpPr>
        <p:spPr>
          <a:xfrm>
            <a:off x="6915150" y="2256287"/>
            <a:ext cx="4563618" cy="3760459"/>
          </a:xfrm>
        </p:spPr>
        <p:txBody>
          <a:bodyPr anchor="t">
            <a:normAutofit/>
          </a:bodyPr>
          <a:lstStyle/>
          <a:p>
            <a:pPr marL="0" indent="0">
              <a:buNone/>
            </a:pPr>
            <a:r>
              <a:rPr lang="pl-PL" dirty="0"/>
              <a:t>W każdej fazie podejmowane są inne decyzje:</a:t>
            </a:r>
          </a:p>
          <a:p>
            <a:r>
              <a:rPr lang="pl-PL" dirty="0"/>
              <a:t>czy problem jest wart rozwiązania, </a:t>
            </a:r>
          </a:p>
          <a:p>
            <a:r>
              <a:rPr lang="pl-PL" dirty="0"/>
              <a:t>czy dane są wystarczające, </a:t>
            </a:r>
          </a:p>
          <a:p>
            <a:r>
              <a:rPr lang="pl-PL" dirty="0"/>
              <a:t>jaki model wybrać, </a:t>
            </a:r>
          </a:p>
          <a:p>
            <a:r>
              <a:rPr lang="pl-PL" dirty="0"/>
              <a:t>czy wynik ma wartość, </a:t>
            </a:r>
          </a:p>
          <a:p>
            <a:r>
              <a:rPr lang="pl-PL" dirty="0"/>
              <a:t>jak wdrożyć rozwiązanie.</a:t>
            </a:r>
          </a:p>
          <a:p>
            <a:endParaRPr lang="pl-PL" dirty="0"/>
          </a:p>
        </p:txBody>
      </p:sp>
      <p:cxnSp>
        <p:nvCxnSpPr>
          <p:cNvPr id="12" name="Straight Connector 11">
            <a:extLst>
              <a:ext uri="{FF2B5EF4-FFF2-40B4-BE49-F238E27FC236}">
                <a16:creationId xmlns:a16="http://schemas.microsoft.com/office/drawing/2014/main" id="{2EA0F4A6-3CC9-C9E2-BA02-58FA29F7DD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2253" y="6272784"/>
            <a:ext cx="10847495"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828310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5344E645-3F9E-15E9-320A-3824AD428364}"/>
              </a:ext>
            </a:extLst>
          </p:cNvPr>
          <p:cNvSpPr>
            <a:spLocks noGrp="1"/>
          </p:cNvSpPr>
          <p:nvPr>
            <p:ph type="title"/>
          </p:nvPr>
        </p:nvSpPr>
        <p:spPr>
          <a:xfrm>
            <a:off x="640080" y="1371600"/>
            <a:ext cx="5852160" cy="1097280"/>
          </a:xfrm>
        </p:spPr>
        <p:txBody>
          <a:bodyPr anchor="t">
            <a:normAutofit/>
          </a:bodyPr>
          <a:lstStyle/>
          <a:p>
            <a:pPr>
              <a:lnSpc>
                <a:spcPct val="90000"/>
              </a:lnSpc>
            </a:pPr>
            <a:r>
              <a:rPr lang="pl-PL" sz="3400" dirty="0"/>
              <a:t>Czym SEMMA różni się od CRISP-DM</a:t>
            </a:r>
          </a:p>
        </p:txBody>
      </p:sp>
      <p:cxnSp>
        <p:nvCxnSpPr>
          <p:cNvPr id="11" name="Straight Connector 10">
            <a:extLst>
              <a:ext uri="{FF2B5EF4-FFF2-40B4-BE49-F238E27FC236}">
                <a16:creationId xmlns:a16="http://schemas.microsoft.com/office/drawing/2014/main" id="{753FE100-D0AB-4AE2-824B-60CFA31EC6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6281"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Symbol zastępczy zawartości 2">
            <a:extLst>
              <a:ext uri="{FF2B5EF4-FFF2-40B4-BE49-F238E27FC236}">
                <a16:creationId xmlns:a16="http://schemas.microsoft.com/office/drawing/2014/main" id="{89B0ECAA-D997-B7D4-799D-22066FAA9DF3}"/>
              </a:ext>
            </a:extLst>
          </p:cNvPr>
          <p:cNvSpPr>
            <a:spLocks noGrp="1"/>
          </p:cNvSpPr>
          <p:nvPr>
            <p:ph idx="1"/>
          </p:nvPr>
        </p:nvSpPr>
        <p:spPr>
          <a:xfrm>
            <a:off x="640080" y="2633236"/>
            <a:ext cx="5852160" cy="3664685"/>
          </a:xfrm>
        </p:spPr>
        <p:txBody>
          <a:bodyPr>
            <a:normAutofit/>
          </a:bodyPr>
          <a:lstStyle/>
          <a:p>
            <a:pPr marL="0" indent="0">
              <a:lnSpc>
                <a:spcPct val="110000"/>
              </a:lnSpc>
              <a:buNone/>
            </a:pPr>
            <a:r>
              <a:rPr lang="pl-PL" sz="1400" dirty="0"/>
              <a:t>SEMMA i CRISP-DM to dwa popularne modele prowadzenia projektów analitycznych, jednak powstały z zupełnie inną filozofią pracy. CRISP-DM został zaprojektowany jako model zarządzania całym projektem Data Science, natomiast SEMMA skupia się głównie na technicznej stronie analizy danych.</a:t>
            </a:r>
            <a:endParaRPr lang="en-US" sz="1400" dirty="0"/>
          </a:p>
          <a:p>
            <a:pPr marL="0" indent="0">
              <a:lnSpc>
                <a:spcPct val="110000"/>
              </a:lnSpc>
              <a:buNone/>
            </a:pPr>
            <a:r>
              <a:rPr lang="pl-PL" sz="1400" dirty="0"/>
              <a:t>Model ten zaczyna się od pobrania próbki danych, następnie przechodzi do eksploracji, modyfikacji danych, budowy modelu i oceny wyników. Podejście to jest bardzo użyteczne dla analityka pracującego nad samym modelem.</a:t>
            </a:r>
          </a:p>
          <a:p>
            <a:pPr marL="0" indent="0">
              <a:lnSpc>
                <a:spcPct val="110000"/>
              </a:lnSpc>
              <a:buNone/>
            </a:pPr>
            <a:r>
              <a:rPr lang="pl-PL" sz="1400" dirty="0"/>
              <a:t>CRISP-DM patrzy szerzej. Rozpoczyna od zrozumienia problemu biznesowego, a kończy wdrożeniem rozwiązania. Dzięki temu lepiej wspiera współpracę zespołową i komunikację z biznesem.</a:t>
            </a:r>
          </a:p>
          <a:p>
            <a:pPr marL="0" indent="0">
              <a:lnSpc>
                <a:spcPct val="110000"/>
              </a:lnSpc>
              <a:buNone/>
            </a:pPr>
            <a:endParaRPr lang="pl-PL" sz="1400" dirty="0"/>
          </a:p>
        </p:txBody>
      </p:sp>
      <p:pic>
        <p:nvPicPr>
          <p:cNvPr id="5" name="Picture 4" descr="Formuły chemiczne są pisane na papierze">
            <a:extLst>
              <a:ext uri="{FF2B5EF4-FFF2-40B4-BE49-F238E27FC236}">
                <a16:creationId xmlns:a16="http://schemas.microsoft.com/office/drawing/2014/main" id="{99C3E041-C75D-7C38-147E-0AEE384A82FD}"/>
              </a:ext>
            </a:extLst>
          </p:cNvPr>
          <p:cNvPicPr>
            <a:picLocks noChangeAspect="1"/>
          </p:cNvPicPr>
          <p:nvPr/>
        </p:nvPicPr>
        <p:blipFill>
          <a:blip r:embed="rId3"/>
          <a:srcRect l="29897" r="30353"/>
          <a:stretch>
            <a:fillRect/>
          </a:stretch>
        </p:blipFill>
        <p:spPr>
          <a:xfrm>
            <a:off x="7345680" y="10"/>
            <a:ext cx="4846320" cy="6857990"/>
          </a:xfrm>
          <a:prstGeom prst="rect">
            <a:avLst/>
          </a:prstGeom>
        </p:spPr>
      </p:pic>
    </p:spTree>
    <p:extLst>
      <p:ext uri="{BB962C8B-B14F-4D97-AF65-F5344CB8AC3E}">
        <p14:creationId xmlns:p14="http://schemas.microsoft.com/office/powerpoint/2010/main" val="38046144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1C69525-1BE4-4BA0-A23C-3BB6C162EF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216A4201-408B-8C22-CBA3-0C218DAF787E}"/>
              </a:ext>
            </a:extLst>
          </p:cNvPr>
          <p:cNvSpPr>
            <a:spLocks noGrp="1"/>
          </p:cNvSpPr>
          <p:nvPr>
            <p:ph type="title"/>
          </p:nvPr>
        </p:nvSpPr>
        <p:spPr>
          <a:xfrm>
            <a:off x="640079" y="1371601"/>
            <a:ext cx="10890929" cy="1097280"/>
          </a:xfrm>
        </p:spPr>
        <p:txBody>
          <a:bodyPr>
            <a:normAutofit/>
          </a:bodyPr>
          <a:lstStyle/>
          <a:p>
            <a:r>
              <a:rPr lang="pl-PL"/>
              <a:t>Czym SEMMA różni się od CRISP-DM</a:t>
            </a:r>
          </a:p>
        </p:txBody>
      </p:sp>
      <p:cxnSp>
        <p:nvCxnSpPr>
          <p:cNvPr id="11" name="Straight Connector 10">
            <a:extLst>
              <a:ext uri="{FF2B5EF4-FFF2-40B4-BE49-F238E27FC236}">
                <a16:creationId xmlns:a16="http://schemas.microsoft.com/office/drawing/2014/main" id="{B68AF875-C18B-4B48-AE4C-A63FD3CEFB1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graphicFrame>
        <p:nvGraphicFramePr>
          <p:cNvPr id="5" name="Symbol zastępczy zawartości 2">
            <a:extLst>
              <a:ext uri="{FF2B5EF4-FFF2-40B4-BE49-F238E27FC236}">
                <a16:creationId xmlns:a16="http://schemas.microsoft.com/office/drawing/2014/main" id="{623A9DEF-5AA6-3FA3-60E0-BDE627AF2AB8}"/>
              </a:ext>
            </a:extLst>
          </p:cNvPr>
          <p:cNvGraphicFramePr>
            <a:graphicFrameLocks noGrp="1"/>
          </p:cNvGraphicFramePr>
          <p:nvPr>
            <p:ph idx="1"/>
            <p:extLst>
              <p:ext uri="{D42A27DB-BD31-4B8C-83A1-F6EECF244321}">
                <p14:modId xmlns:p14="http://schemas.microsoft.com/office/powerpoint/2010/main" val="716301704"/>
              </p:ext>
            </p:extLst>
          </p:nvPr>
        </p:nvGraphicFramePr>
        <p:xfrm>
          <a:off x="640079" y="2559050"/>
          <a:ext cx="10890929" cy="373886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163252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BDA151C-5770-45E4-AAFF-59E7F4038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ytuł 1">
            <a:extLst>
              <a:ext uri="{FF2B5EF4-FFF2-40B4-BE49-F238E27FC236}">
                <a16:creationId xmlns:a16="http://schemas.microsoft.com/office/drawing/2014/main" id="{D782CFB2-F77E-9A95-2BD0-7A18CDAC8E4E}"/>
              </a:ext>
            </a:extLst>
          </p:cNvPr>
          <p:cNvSpPr>
            <a:spLocks noGrp="1"/>
          </p:cNvSpPr>
          <p:nvPr>
            <p:ph type="title"/>
          </p:nvPr>
        </p:nvSpPr>
        <p:spPr>
          <a:xfrm>
            <a:off x="640080" y="914399"/>
            <a:ext cx="10847494" cy="1171069"/>
          </a:xfrm>
        </p:spPr>
        <p:txBody>
          <a:bodyPr anchor="t">
            <a:normAutofit/>
          </a:bodyPr>
          <a:lstStyle/>
          <a:p>
            <a:r>
              <a:rPr lang="pl-PL" dirty="0"/>
              <a:t>Jak TDSP wspiera pracę zespołową</a:t>
            </a:r>
          </a:p>
        </p:txBody>
      </p:sp>
      <p:pic>
        <p:nvPicPr>
          <p:cNvPr id="5" name="Obraz 4">
            <a:extLst>
              <a:ext uri="{FF2B5EF4-FFF2-40B4-BE49-F238E27FC236}">
                <a16:creationId xmlns:a16="http://schemas.microsoft.com/office/drawing/2014/main" id="{3106901D-4DA8-74B1-3BE5-D0534C7B6895}"/>
              </a:ext>
            </a:extLst>
          </p:cNvPr>
          <p:cNvPicPr>
            <a:picLocks noChangeAspect="1"/>
          </p:cNvPicPr>
          <p:nvPr/>
        </p:nvPicPr>
        <p:blipFill>
          <a:blip r:embed="rId3"/>
          <a:stretch>
            <a:fillRect/>
          </a:stretch>
        </p:blipFill>
        <p:spPr>
          <a:xfrm>
            <a:off x="713232" y="2256287"/>
            <a:ext cx="5489722" cy="3760459"/>
          </a:xfrm>
          <a:prstGeom prst="rect">
            <a:avLst/>
          </a:prstGeom>
        </p:spPr>
      </p:pic>
      <p:sp>
        <p:nvSpPr>
          <p:cNvPr id="3" name="Symbol zastępczy zawartości 2">
            <a:extLst>
              <a:ext uri="{FF2B5EF4-FFF2-40B4-BE49-F238E27FC236}">
                <a16:creationId xmlns:a16="http://schemas.microsoft.com/office/drawing/2014/main" id="{5EDF2562-9779-F113-93CE-90E53A58EB32}"/>
              </a:ext>
            </a:extLst>
          </p:cNvPr>
          <p:cNvSpPr>
            <a:spLocks noGrp="1"/>
          </p:cNvSpPr>
          <p:nvPr>
            <p:ph idx="1"/>
          </p:nvPr>
        </p:nvSpPr>
        <p:spPr>
          <a:xfrm>
            <a:off x="6915150" y="2256287"/>
            <a:ext cx="4563618" cy="3760459"/>
          </a:xfrm>
        </p:spPr>
        <p:txBody>
          <a:bodyPr anchor="t">
            <a:normAutofit/>
          </a:bodyPr>
          <a:lstStyle/>
          <a:p>
            <a:pPr marL="0" indent="0">
              <a:buNone/>
            </a:pPr>
            <a:r>
              <a:rPr lang="pl-PL" dirty="0"/>
              <a:t>TDSP, czyli Team Data Science </a:t>
            </a:r>
            <a:r>
              <a:rPr lang="pl-PL" dirty="0" err="1"/>
              <a:t>Process</a:t>
            </a:r>
            <a:r>
              <a:rPr lang="pl-PL" dirty="0"/>
              <a:t>, to podejście stworzone po to, aby projekty Data Science były bardziej przewidywalne i lepiej zorganizowane na poziomie zespołu. W przeciwieństwie do wcześniejszych modeli skupia się nie tylko na analizie, ale na współpracy wielu specjalistów.</a:t>
            </a:r>
          </a:p>
        </p:txBody>
      </p:sp>
      <p:cxnSp>
        <p:nvCxnSpPr>
          <p:cNvPr id="12" name="Straight Connector 11">
            <a:extLst>
              <a:ext uri="{FF2B5EF4-FFF2-40B4-BE49-F238E27FC236}">
                <a16:creationId xmlns:a16="http://schemas.microsoft.com/office/drawing/2014/main" id="{2EA0F4A6-3CC9-C9E2-BA02-58FA29F7DD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2253" y="6272784"/>
            <a:ext cx="10847495"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191552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EAF658F-0AF8-0841-1B98-DFBC6AA38899}"/>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DBDA151C-5770-45E4-AAFF-59E7F4038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ytuł 1">
            <a:extLst>
              <a:ext uri="{FF2B5EF4-FFF2-40B4-BE49-F238E27FC236}">
                <a16:creationId xmlns:a16="http://schemas.microsoft.com/office/drawing/2014/main" id="{728BB9AA-EAF2-7062-1BCC-39232244F846}"/>
              </a:ext>
            </a:extLst>
          </p:cNvPr>
          <p:cNvSpPr>
            <a:spLocks noGrp="1"/>
          </p:cNvSpPr>
          <p:nvPr>
            <p:ph type="title"/>
          </p:nvPr>
        </p:nvSpPr>
        <p:spPr>
          <a:xfrm>
            <a:off x="640080" y="914399"/>
            <a:ext cx="10847494" cy="1171069"/>
          </a:xfrm>
        </p:spPr>
        <p:txBody>
          <a:bodyPr anchor="t">
            <a:normAutofit/>
          </a:bodyPr>
          <a:lstStyle/>
          <a:p>
            <a:r>
              <a:rPr lang="pl-PL" dirty="0"/>
              <a:t>Jak TDSP wspiera pracę zespołową</a:t>
            </a:r>
          </a:p>
        </p:txBody>
      </p:sp>
      <p:pic>
        <p:nvPicPr>
          <p:cNvPr id="5" name="Obraz 4">
            <a:extLst>
              <a:ext uri="{FF2B5EF4-FFF2-40B4-BE49-F238E27FC236}">
                <a16:creationId xmlns:a16="http://schemas.microsoft.com/office/drawing/2014/main" id="{BEAC1A8C-40B5-412A-382C-C6FDB7D46AED}"/>
              </a:ext>
            </a:extLst>
          </p:cNvPr>
          <p:cNvPicPr>
            <a:picLocks noChangeAspect="1"/>
          </p:cNvPicPr>
          <p:nvPr/>
        </p:nvPicPr>
        <p:blipFill>
          <a:blip r:embed="rId3"/>
          <a:stretch>
            <a:fillRect/>
          </a:stretch>
        </p:blipFill>
        <p:spPr>
          <a:xfrm>
            <a:off x="713232" y="2256287"/>
            <a:ext cx="5489722" cy="3760459"/>
          </a:xfrm>
          <a:prstGeom prst="rect">
            <a:avLst/>
          </a:prstGeom>
        </p:spPr>
      </p:pic>
      <p:sp>
        <p:nvSpPr>
          <p:cNvPr id="3" name="Symbol zastępczy zawartości 2">
            <a:extLst>
              <a:ext uri="{FF2B5EF4-FFF2-40B4-BE49-F238E27FC236}">
                <a16:creationId xmlns:a16="http://schemas.microsoft.com/office/drawing/2014/main" id="{5BDB7AC2-387D-8B75-D798-19D17B9940CE}"/>
              </a:ext>
            </a:extLst>
          </p:cNvPr>
          <p:cNvSpPr>
            <a:spLocks noGrp="1"/>
          </p:cNvSpPr>
          <p:nvPr>
            <p:ph idx="1"/>
          </p:nvPr>
        </p:nvSpPr>
        <p:spPr>
          <a:xfrm>
            <a:off x="6915150" y="2256287"/>
            <a:ext cx="4563618" cy="3760459"/>
          </a:xfrm>
        </p:spPr>
        <p:txBody>
          <a:bodyPr anchor="t">
            <a:normAutofit/>
          </a:bodyPr>
          <a:lstStyle/>
          <a:p>
            <a:pPr marL="0" indent="0">
              <a:lnSpc>
                <a:spcPct val="110000"/>
              </a:lnSpc>
              <a:buNone/>
            </a:pPr>
            <a:r>
              <a:rPr lang="pl-PL" sz="1600" dirty="0"/>
              <a:t>W zespołach Data Science problemem często jest chaos wynikający z eksperymentalnego charakteru pracy. TDSP ogranicza ten chaos poprzez:</a:t>
            </a:r>
          </a:p>
          <a:p>
            <a:pPr>
              <a:lnSpc>
                <a:spcPct val="110000"/>
              </a:lnSpc>
            </a:pPr>
            <a:r>
              <a:rPr lang="pl-PL" sz="1600" dirty="0"/>
              <a:t>wspólne repozytorium, </a:t>
            </a:r>
          </a:p>
          <a:p>
            <a:pPr>
              <a:lnSpc>
                <a:spcPct val="110000"/>
              </a:lnSpc>
            </a:pPr>
            <a:r>
              <a:rPr lang="pl-PL" sz="1600" dirty="0"/>
              <a:t>standardy dokumentacji, </a:t>
            </a:r>
          </a:p>
          <a:p>
            <a:pPr>
              <a:lnSpc>
                <a:spcPct val="110000"/>
              </a:lnSpc>
            </a:pPr>
            <a:r>
              <a:rPr lang="pl-PL" sz="1600" dirty="0"/>
              <a:t>regularne przeglądy, </a:t>
            </a:r>
          </a:p>
          <a:p>
            <a:pPr>
              <a:lnSpc>
                <a:spcPct val="110000"/>
              </a:lnSpc>
            </a:pPr>
            <a:r>
              <a:rPr lang="pl-PL" sz="1600" dirty="0"/>
              <a:t>wspólne metryki sukcesu. </a:t>
            </a:r>
          </a:p>
          <a:p>
            <a:pPr marL="0" indent="0">
              <a:lnSpc>
                <a:spcPct val="110000"/>
              </a:lnSpc>
              <a:buNone/>
            </a:pPr>
            <a:r>
              <a:rPr lang="pl-PL" sz="1600" dirty="0"/>
              <a:t>Dzięki temu zespół nie działa jako grupa niezależnych ekspertów, lecz jako spójny system współpracy.</a:t>
            </a:r>
          </a:p>
          <a:p>
            <a:pPr marL="0" indent="0">
              <a:lnSpc>
                <a:spcPct val="110000"/>
              </a:lnSpc>
              <a:buNone/>
            </a:pPr>
            <a:endParaRPr lang="pl-PL" sz="1600" dirty="0"/>
          </a:p>
        </p:txBody>
      </p:sp>
      <p:cxnSp>
        <p:nvCxnSpPr>
          <p:cNvPr id="19" name="Straight Connector 18">
            <a:extLst>
              <a:ext uri="{FF2B5EF4-FFF2-40B4-BE49-F238E27FC236}">
                <a16:creationId xmlns:a16="http://schemas.microsoft.com/office/drawing/2014/main" id="{2EA0F4A6-3CC9-C9E2-BA02-58FA29F7DD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2253" y="6272784"/>
            <a:ext cx="10847495"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237491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EFA08231-7410-6F42-0A64-73F5544435AB}"/>
              </a:ext>
            </a:extLst>
          </p:cNvPr>
          <p:cNvSpPr>
            <a:spLocks noGrp="1"/>
          </p:cNvSpPr>
          <p:nvPr>
            <p:ph type="title"/>
          </p:nvPr>
        </p:nvSpPr>
        <p:spPr>
          <a:xfrm>
            <a:off x="5793149" y="1371600"/>
            <a:ext cx="5737859" cy="1097280"/>
          </a:xfrm>
        </p:spPr>
        <p:txBody>
          <a:bodyPr>
            <a:normAutofit/>
          </a:bodyPr>
          <a:lstStyle/>
          <a:p>
            <a:pPr>
              <a:lnSpc>
                <a:spcPct val="90000"/>
              </a:lnSpc>
            </a:pPr>
            <a:r>
              <a:rPr lang="pl-PL" sz="2500"/>
              <a:t>Jak Domino Data Science Life </a:t>
            </a:r>
            <a:r>
              <a:rPr lang="pl-PL" sz="2500" err="1"/>
              <a:t>Cycle</a:t>
            </a:r>
            <a:r>
              <a:rPr lang="pl-PL" sz="2500"/>
              <a:t> łączy eksperyment z produkcją</a:t>
            </a:r>
          </a:p>
        </p:txBody>
      </p:sp>
      <p:pic>
        <p:nvPicPr>
          <p:cNvPr id="5" name="Obraz 4">
            <a:extLst>
              <a:ext uri="{FF2B5EF4-FFF2-40B4-BE49-F238E27FC236}">
                <a16:creationId xmlns:a16="http://schemas.microsoft.com/office/drawing/2014/main" id="{0404DC44-E9DE-EE1A-076D-65B15D867D97}"/>
              </a:ext>
            </a:extLst>
          </p:cNvPr>
          <p:cNvPicPr>
            <a:picLocks noChangeAspect="1"/>
          </p:cNvPicPr>
          <p:nvPr/>
        </p:nvPicPr>
        <p:blipFill>
          <a:blip r:embed="rId3"/>
          <a:stretch>
            <a:fillRect/>
          </a:stretch>
        </p:blipFill>
        <p:spPr>
          <a:xfrm>
            <a:off x="713232" y="2016974"/>
            <a:ext cx="4343400" cy="4283241"/>
          </a:xfrm>
          <a:prstGeom prst="rect">
            <a:avLst/>
          </a:prstGeom>
        </p:spPr>
      </p:pic>
      <p:cxnSp>
        <p:nvCxnSpPr>
          <p:cNvPr id="12" name="Straight Connector 11">
            <a:extLst>
              <a:ext uri="{FF2B5EF4-FFF2-40B4-BE49-F238E27FC236}">
                <a16:creationId xmlns:a16="http://schemas.microsoft.com/office/drawing/2014/main" id="{753FE100-D0AB-4AE2-824B-60CFA31EC6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866301"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Symbol zastępczy zawartości 2">
            <a:extLst>
              <a:ext uri="{FF2B5EF4-FFF2-40B4-BE49-F238E27FC236}">
                <a16:creationId xmlns:a16="http://schemas.microsoft.com/office/drawing/2014/main" id="{8485A217-5EB0-C51E-EA23-8B6AB733957B}"/>
              </a:ext>
            </a:extLst>
          </p:cNvPr>
          <p:cNvSpPr>
            <a:spLocks noGrp="1"/>
          </p:cNvSpPr>
          <p:nvPr>
            <p:ph idx="1"/>
          </p:nvPr>
        </p:nvSpPr>
        <p:spPr>
          <a:xfrm>
            <a:off x="5793149" y="2633236"/>
            <a:ext cx="5737860" cy="3666980"/>
          </a:xfrm>
        </p:spPr>
        <p:txBody>
          <a:bodyPr>
            <a:normAutofit/>
          </a:bodyPr>
          <a:lstStyle/>
          <a:p>
            <a:pPr marL="0" indent="0">
              <a:buNone/>
            </a:pPr>
            <a:r>
              <a:rPr lang="pl-PL" dirty="0"/>
              <a:t>Jednym z największych wyzwań w Data Science jest przejście od eksperymentu analitycznego do stabilnego rozwiązania produkcyjnego. Wiele modeli kończy się na stworzeniu skutecznego modelu, ale nie pokazuje, jak zamienić go w działający produkt.</a:t>
            </a:r>
          </a:p>
        </p:txBody>
      </p:sp>
    </p:spTree>
    <p:extLst>
      <p:ext uri="{BB962C8B-B14F-4D97-AF65-F5344CB8AC3E}">
        <p14:creationId xmlns:p14="http://schemas.microsoft.com/office/powerpoint/2010/main" val="36778764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BDA151C-5770-45E4-AAFF-59E7F4038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ytuł 1">
            <a:extLst>
              <a:ext uri="{FF2B5EF4-FFF2-40B4-BE49-F238E27FC236}">
                <a16:creationId xmlns:a16="http://schemas.microsoft.com/office/drawing/2014/main" id="{43419BF8-B673-018C-6B82-457988696047}"/>
              </a:ext>
            </a:extLst>
          </p:cNvPr>
          <p:cNvSpPr>
            <a:spLocks noGrp="1"/>
          </p:cNvSpPr>
          <p:nvPr>
            <p:ph type="title"/>
          </p:nvPr>
        </p:nvSpPr>
        <p:spPr>
          <a:xfrm>
            <a:off x="640080" y="914399"/>
            <a:ext cx="10847494" cy="1171069"/>
          </a:xfrm>
        </p:spPr>
        <p:txBody>
          <a:bodyPr anchor="t">
            <a:normAutofit/>
          </a:bodyPr>
          <a:lstStyle/>
          <a:p>
            <a:r>
              <a:rPr lang="pl-PL" dirty="0"/>
              <a:t>OSEMN</a:t>
            </a:r>
          </a:p>
        </p:txBody>
      </p:sp>
      <p:pic>
        <p:nvPicPr>
          <p:cNvPr id="5" name="Obraz 4">
            <a:extLst>
              <a:ext uri="{FF2B5EF4-FFF2-40B4-BE49-F238E27FC236}">
                <a16:creationId xmlns:a16="http://schemas.microsoft.com/office/drawing/2014/main" id="{2BE2EB1E-EBD1-3A82-0FE1-DB1F8405BA27}"/>
              </a:ext>
            </a:extLst>
          </p:cNvPr>
          <p:cNvPicPr>
            <a:picLocks noChangeAspect="1"/>
          </p:cNvPicPr>
          <p:nvPr/>
        </p:nvPicPr>
        <p:blipFill>
          <a:blip r:embed="rId3"/>
          <a:stretch>
            <a:fillRect/>
          </a:stretch>
        </p:blipFill>
        <p:spPr>
          <a:xfrm>
            <a:off x="713232" y="3494035"/>
            <a:ext cx="5648193" cy="1284963"/>
          </a:xfrm>
          <a:prstGeom prst="rect">
            <a:avLst/>
          </a:prstGeom>
        </p:spPr>
      </p:pic>
      <p:sp>
        <p:nvSpPr>
          <p:cNvPr id="3" name="Symbol zastępczy zawartości 2">
            <a:extLst>
              <a:ext uri="{FF2B5EF4-FFF2-40B4-BE49-F238E27FC236}">
                <a16:creationId xmlns:a16="http://schemas.microsoft.com/office/drawing/2014/main" id="{88550651-6E3D-340B-9DC9-A92F3F800D49}"/>
              </a:ext>
            </a:extLst>
          </p:cNvPr>
          <p:cNvSpPr>
            <a:spLocks noGrp="1"/>
          </p:cNvSpPr>
          <p:nvPr>
            <p:ph idx="1"/>
          </p:nvPr>
        </p:nvSpPr>
        <p:spPr>
          <a:xfrm>
            <a:off x="6915150" y="2256287"/>
            <a:ext cx="4563618" cy="3760459"/>
          </a:xfrm>
        </p:spPr>
        <p:txBody>
          <a:bodyPr anchor="t">
            <a:normAutofit/>
          </a:bodyPr>
          <a:lstStyle/>
          <a:p>
            <a:pPr marL="0" indent="0">
              <a:buNone/>
            </a:pPr>
            <a:r>
              <a:rPr lang="pl-PL" sz="1900" dirty="0"/>
              <a:t>Pierwszy etap polega na pozyskaniu danych z różnych źródeł. Następnie dane są czyszczone, ponieważ surowe informacje rzadko nadają się od razu do analizy. Potem następuje eksploracja, czyli szukanie zależności i anomalii.</a:t>
            </a:r>
            <a:r>
              <a:rPr lang="en-US" sz="1900" dirty="0"/>
              <a:t> </a:t>
            </a:r>
            <a:r>
              <a:rPr lang="pl-PL" sz="1900" dirty="0"/>
              <a:t>Kolejnym krokiem jest budowa modelu, a ostatnim interpretacja wyników. To właśnie interpretacja decyduje, czy model ma praktyczną wartość.</a:t>
            </a:r>
          </a:p>
          <a:p>
            <a:pPr marL="0" indent="0">
              <a:buNone/>
            </a:pPr>
            <a:endParaRPr lang="pl-PL" sz="1900" dirty="0"/>
          </a:p>
        </p:txBody>
      </p:sp>
      <p:cxnSp>
        <p:nvCxnSpPr>
          <p:cNvPr id="12" name="Straight Connector 11">
            <a:extLst>
              <a:ext uri="{FF2B5EF4-FFF2-40B4-BE49-F238E27FC236}">
                <a16:creationId xmlns:a16="http://schemas.microsoft.com/office/drawing/2014/main" id="{2EA0F4A6-3CC9-C9E2-BA02-58FA29F7DD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2253" y="6272784"/>
            <a:ext cx="10847495"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019731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BDA151C-5770-45E4-AAFF-59E7F4038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55172884-4A34-2BB2-366F-45067733F17D}"/>
              </a:ext>
            </a:extLst>
          </p:cNvPr>
          <p:cNvSpPr>
            <a:spLocks noGrp="1"/>
          </p:cNvSpPr>
          <p:nvPr>
            <p:ph type="title"/>
          </p:nvPr>
        </p:nvSpPr>
        <p:spPr>
          <a:xfrm>
            <a:off x="640079" y="570750"/>
            <a:ext cx="10890929" cy="1387934"/>
          </a:xfrm>
        </p:spPr>
        <p:txBody>
          <a:bodyPr anchor="b">
            <a:normAutofit/>
          </a:bodyPr>
          <a:lstStyle/>
          <a:p>
            <a:r>
              <a:rPr lang="en-US" dirty="0"/>
              <a:t>D</a:t>
            </a:r>
            <a:r>
              <a:rPr lang="pl-PL" dirty="0"/>
              <a:t>opasowa</a:t>
            </a:r>
            <a:r>
              <a:rPr lang="en-US" dirty="0" err="1"/>
              <a:t>nie</a:t>
            </a:r>
            <a:r>
              <a:rPr lang="pl-PL" dirty="0"/>
              <a:t> model</a:t>
            </a:r>
            <a:r>
              <a:rPr lang="en-US" dirty="0"/>
              <a:t>u</a:t>
            </a:r>
            <a:r>
              <a:rPr lang="pl-PL" dirty="0"/>
              <a:t> procesu do typu projektu</a:t>
            </a:r>
          </a:p>
        </p:txBody>
      </p:sp>
      <p:cxnSp>
        <p:nvCxnSpPr>
          <p:cNvPr id="11" name="Straight Connector 10">
            <a:extLst>
              <a:ext uri="{FF2B5EF4-FFF2-40B4-BE49-F238E27FC236}">
                <a16:creationId xmlns:a16="http://schemas.microsoft.com/office/drawing/2014/main" id="{E62D3963-2153-4637-96E6-E31BD2CE5D0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2307479"/>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graphicFrame>
        <p:nvGraphicFramePr>
          <p:cNvPr id="5" name="Symbol zastępczy zawartości 2">
            <a:extLst>
              <a:ext uri="{FF2B5EF4-FFF2-40B4-BE49-F238E27FC236}">
                <a16:creationId xmlns:a16="http://schemas.microsoft.com/office/drawing/2014/main" id="{E0699AD6-E35D-1FFA-A952-7FE1213D523F}"/>
              </a:ext>
            </a:extLst>
          </p:cNvPr>
          <p:cNvGraphicFramePr>
            <a:graphicFrameLocks noGrp="1"/>
          </p:cNvGraphicFramePr>
          <p:nvPr>
            <p:ph idx="1"/>
            <p:extLst>
              <p:ext uri="{D42A27DB-BD31-4B8C-83A1-F6EECF244321}">
                <p14:modId xmlns:p14="http://schemas.microsoft.com/office/powerpoint/2010/main" val="1945729115"/>
              </p:ext>
            </p:extLst>
          </p:nvPr>
        </p:nvGraphicFramePr>
        <p:xfrm>
          <a:off x="640079" y="2559050"/>
          <a:ext cx="10890929" cy="37388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177073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15D58827-9D3D-6471-AEC8-2659C442F757}"/>
              </a:ext>
            </a:extLst>
          </p:cNvPr>
          <p:cNvSpPr>
            <a:spLocks noGrp="1"/>
          </p:cNvSpPr>
          <p:nvPr>
            <p:ph type="title"/>
          </p:nvPr>
        </p:nvSpPr>
        <p:spPr>
          <a:xfrm>
            <a:off x="640080" y="1371600"/>
            <a:ext cx="5852160" cy="1097280"/>
          </a:xfrm>
        </p:spPr>
        <p:txBody>
          <a:bodyPr anchor="t">
            <a:normAutofit/>
          </a:bodyPr>
          <a:lstStyle/>
          <a:p>
            <a:pPr>
              <a:lnSpc>
                <a:spcPct val="90000"/>
              </a:lnSpc>
            </a:pPr>
            <a:r>
              <a:rPr lang="en-US" sz="3400"/>
              <a:t>D</a:t>
            </a:r>
            <a:r>
              <a:rPr lang="pl-PL" sz="3400"/>
              <a:t>opasowa</a:t>
            </a:r>
            <a:r>
              <a:rPr lang="en-US" sz="3400" err="1"/>
              <a:t>nie</a:t>
            </a:r>
            <a:r>
              <a:rPr lang="pl-PL" sz="3400"/>
              <a:t> model</a:t>
            </a:r>
            <a:r>
              <a:rPr lang="en-US" sz="3400"/>
              <a:t>u</a:t>
            </a:r>
            <a:r>
              <a:rPr lang="pl-PL" sz="3400"/>
              <a:t> procesu do typu projektu</a:t>
            </a:r>
          </a:p>
        </p:txBody>
      </p:sp>
      <p:cxnSp>
        <p:nvCxnSpPr>
          <p:cNvPr id="11" name="Straight Connector 10">
            <a:extLst>
              <a:ext uri="{FF2B5EF4-FFF2-40B4-BE49-F238E27FC236}">
                <a16:creationId xmlns:a16="http://schemas.microsoft.com/office/drawing/2014/main" id="{753FE100-D0AB-4AE2-824B-60CFA31EC6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6281"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Symbol zastępczy zawartości 2">
            <a:extLst>
              <a:ext uri="{FF2B5EF4-FFF2-40B4-BE49-F238E27FC236}">
                <a16:creationId xmlns:a16="http://schemas.microsoft.com/office/drawing/2014/main" id="{6A6CAC81-6943-2DAA-8938-C85F750EF210}"/>
              </a:ext>
            </a:extLst>
          </p:cNvPr>
          <p:cNvSpPr>
            <a:spLocks noGrp="1"/>
          </p:cNvSpPr>
          <p:nvPr>
            <p:ph idx="1"/>
          </p:nvPr>
        </p:nvSpPr>
        <p:spPr>
          <a:xfrm>
            <a:off x="640080" y="2633236"/>
            <a:ext cx="5852160" cy="3664685"/>
          </a:xfrm>
        </p:spPr>
        <p:txBody>
          <a:bodyPr>
            <a:normAutofit/>
          </a:bodyPr>
          <a:lstStyle/>
          <a:p>
            <a:pPr marL="0" indent="0">
              <a:buNone/>
            </a:pPr>
            <a:r>
              <a:rPr lang="pl-PL" dirty="0"/>
              <a:t>Każdy model powstał z innej potrzeby:</a:t>
            </a:r>
          </a:p>
          <a:p>
            <a:r>
              <a:rPr lang="pl-PL" dirty="0"/>
              <a:t>CRISP-DM wspiera zarządzanie projektem, </a:t>
            </a:r>
          </a:p>
          <a:p>
            <a:r>
              <a:rPr lang="pl-PL" dirty="0"/>
              <a:t>SEMMA wspiera analizę techniczną, </a:t>
            </a:r>
          </a:p>
          <a:p>
            <a:r>
              <a:rPr lang="pl-PL" dirty="0"/>
              <a:t>TDSP wspiera współpracę zespołu, </a:t>
            </a:r>
          </a:p>
          <a:p>
            <a:r>
              <a:rPr lang="pl-PL" dirty="0"/>
              <a:t>Domino wspiera przejście do produkcji, </a:t>
            </a:r>
          </a:p>
          <a:p>
            <a:r>
              <a:rPr lang="pl-PL" dirty="0"/>
              <a:t>OSEMN wspiera pracę indywidualnego analityka.</a:t>
            </a:r>
          </a:p>
          <a:p>
            <a:pPr marL="0" indent="0">
              <a:buNone/>
            </a:pPr>
            <a:endParaRPr lang="pl-PL" dirty="0"/>
          </a:p>
        </p:txBody>
      </p:sp>
      <p:pic>
        <p:nvPicPr>
          <p:cNvPr id="5" name="Picture 4" descr="Ręce z nadgarstkami i wzajemnie połączone w celu utworzenia okręgu">
            <a:extLst>
              <a:ext uri="{FF2B5EF4-FFF2-40B4-BE49-F238E27FC236}">
                <a16:creationId xmlns:a16="http://schemas.microsoft.com/office/drawing/2014/main" id="{08A37547-B29B-F613-DF5F-F651736343B0}"/>
              </a:ext>
            </a:extLst>
          </p:cNvPr>
          <p:cNvPicPr>
            <a:picLocks noChangeAspect="1"/>
          </p:cNvPicPr>
          <p:nvPr/>
        </p:nvPicPr>
        <p:blipFill>
          <a:blip r:embed="rId3"/>
          <a:srcRect l="28232" r="24597" b="-1"/>
          <a:stretch>
            <a:fillRect/>
          </a:stretch>
        </p:blipFill>
        <p:spPr>
          <a:xfrm>
            <a:off x="7345680" y="10"/>
            <a:ext cx="4846320" cy="6857990"/>
          </a:xfrm>
          <a:prstGeom prst="rect">
            <a:avLst/>
          </a:prstGeom>
        </p:spPr>
      </p:pic>
    </p:spTree>
    <p:extLst>
      <p:ext uri="{BB962C8B-B14F-4D97-AF65-F5344CB8AC3E}">
        <p14:creationId xmlns:p14="http://schemas.microsoft.com/office/powerpoint/2010/main" val="18103326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ADDC71A2-8668-056C-E277-B254C8BDDE46}"/>
              </a:ext>
            </a:extLst>
          </p:cNvPr>
          <p:cNvSpPr>
            <a:spLocks noGrp="1"/>
          </p:cNvSpPr>
          <p:nvPr>
            <p:ph type="title"/>
          </p:nvPr>
        </p:nvSpPr>
        <p:spPr>
          <a:xfrm>
            <a:off x="640080" y="1371600"/>
            <a:ext cx="8698992" cy="1097280"/>
          </a:xfrm>
        </p:spPr>
        <p:txBody>
          <a:bodyPr>
            <a:normAutofit/>
          </a:bodyPr>
          <a:lstStyle/>
          <a:p>
            <a:pPr>
              <a:lnSpc>
                <a:spcPct val="90000"/>
              </a:lnSpc>
            </a:pPr>
            <a:r>
              <a:rPr lang="pl-PL" sz="3400" dirty="0"/>
              <a:t>Ograniczenia klasycznych modeli</a:t>
            </a:r>
          </a:p>
        </p:txBody>
      </p:sp>
      <p:cxnSp>
        <p:nvCxnSpPr>
          <p:cNvPr id="12" name="Straight Connector 11">
            <a:extLst>
              <a:ext uri="{FF2B5EF4-FFF2-40B4-BE49-F238E27FC236}">
                <a16:creationId xmlns:a16="http://schemas.microsoft.com/office/drawing/2014/main" id="{753FE100-D0AB-4AE2-824B-60CFA31EC6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Symbol zastępczy zawartości 2">
            <a:extLst>
              <a:ext uri="{FF2B5EF4-FFF2-40B4-BE49-F238E27FC236}">
                <a16:creationId xmlns:a16="http://schemas.microsoft.com/office/drawing/2014/main" id="{8382ED7C-C8EE-1E62-BEE5-7F11BDFAAFEA}"/>
              </a:ext>
            </a:extLst>
          </p:cNvPr>
          <p:cNvSpPr>
            <a:spLocks noGrp="1"/>
          </p:cNvSpPr>
          <p:nvPr>
            <p:ph idx="1"/>
          </p:nvPr>
        </p:nvSpPr>
        <p:spPr>
          <a:xfrm>
            <a:off x="640080" y="2633236"/>
            <a:ext cx="5737860" cy="3666980"/>
          </a:xfrm>
        </p:spPr>
        <p:txBody>
          <a:bodyPr>
            <a:normAutofit/>
          </a:bodyPr>
          <a:lstStyle/>
          <a:p>
            <a:pPr marL="0" indent="0">
              <a:buNone/>
            </a:pPr>
            <a:r>
              <a:rPr lang="pl-PL" dirty="0"/>
              <a:t>Klasyczne modele prowadzenia projektów analitycznych, takie jak CRISP-DM czy SEMMA, powstały w czasach, gdy większość analiz kończyła się przygotowaniem raportu lub jednorazowego modelu. Współczesne systemy AI działają jednak inaczej, ponieważ model po wdrożeniu staje się aktywnym elementem produktu i musi funkcjonować nieprzerwanie w zmieniającym się środowisku.</a:t>
            </a:r>
          </a:p>
        </p:txBody>
      </p:sp>
      <p:pic>
        <p:nvPicPr>
          <p:cNvPr id="7" name="Graphic 6" descr="Radioactive Sign">
            <a:extLst>
              <a:ext uri="{FF2B5EF4-FFF2-40B4-BE49-F238E27FC236}">
                <a16:creationId xmlns:a16="http://schemas.microsoft.com/office/drawing/2014/main" id="{70807A35-D8D3-F95A-3388-1B533A2DCF4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155179" y="1924386"/>
            <a:ext cx="4375829" cy="4375829"/>
          </a:xfrm>
          <a:prstGeom prst="rect">
            <a:avLst/>
          </a:prstGeom>
        </p:spPr>
      </p:pic>
    </p:spTree>
    <p:extLst>
      <p:ext uri="{BB962C8B-B14F-4D97-AF65-F5344CB8AC3E}">
        <p14:creationId xmlns:p14="http://schemas.microsoft.com/office/powerpoint/2010/main" val="37892593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74D02CB3-C642-301A-FE64-CFB89C6BD915}"/>
              </a:ext>
            </a:extLst>
          </p:cNvPr>
          <p:cNvSpPr>
            <a:spLocks noGrp="1"/>
          </p:cNvSpPr>
          <p:nvPr>
            <p:ph type="title"/>
          </p:nvPr>
        </p:nvSpPr>
        <p:spPr/>
        <p:txBody>
          <a:bodyPr/>
          <a:lstStyle/>
          <a:p>
            <a:r>
              <a:rPr lang="pl-PL" dirty="0"/>
              <a:t>Ograniczenia klasycznych modeli</a:t>
            </a:r>
          </a:p>
        </p:txBody>
      </p:sp>
      <p:graphicFrame>
        <p:nvGraphicFramePr>
          <p:cNvPr id="13" name="Symbol zastępczy zawartości 2">
            <a:extLst>
              <a:ext uri="{FF2B5EF4-FFF2-40B4-BE49-F238E27FC236}">
                <a16:creationId xmlns:a16="http://schemas.microsoft.com/office/drawing/2014/main" id="{0DE5B8AE-D85C-EFD4-D926-C4B95E1D2F80}"/>
              </a:ext>
            </a:extLst>
          </p:cNvPr>
          <p:cNvGraphicFramePr>
            <a:graphicFrameLocks noGrp="1"/>
          </p:cNvGraphicFramePr>
          <p:nvPr>
            <p:ph idx="1"/>
          </p:nvPr>
        </p:nvGraphicFramePr>
        <p:xfrm>
          <a:off x="640080" y="2633472"/>
          <a:ext cx="10890928" cy="35661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83293826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BDA151C-5770-45E4-AAFF-59E7F4038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7B996C6E-E99D-55EC-8E19-2BC467174674}"/>
              </a:ext>
            </a:extLst>
          </p:cNvPr>
          <p:cNvSpPr>
            <a:spLocks noGrp="1"/>
          </p:cNvSpPr>
          <p:nvPr>
            <p:ph type="title"/>
          </p:nvPr>
        </p:nvSpPr>
        <p:spPr>
          <a:xfrm>
            <a:off x="640079" y="570750"/>
            <a:ext cx="10890929" cy="1387934"/>
          </a:xfrm>
        </p:spPr>
        <p:txBody>
          <a:bodyPr anchor="b">
            <a:normAutofit/>
          </a:bodyPr>
          <a:lstStyle/>
          <a:p>
            <a:r>
              <a:rPr lang="pl-PL" dirty="0"/>
              <a:t>Jak łączyć CRISP</a:t>
            </a:r>
            <a:r>
              <a:rPr lang="en-US" dirty="0"/>
              <a:t>-</a:t>
            </a:r>
            <a:r>
              <a:rPr lang="pl-PL" dirty="0"/>
              <a:t>DM z podejściem Agile</a:t>
            </a:r>
          </a:p>
        </p:txBody>
      </p:sp>
      <p:cxnSp>
        <p:nvCxnSpPr>
          <p:cNvPr id="11" name="Straight Connector 10">
            <a:extLst>
              <a:ext uri="{FF2B5EF4-FFF2-40B4-BE49-F238E27FC236}">
                <a16:creationId xmlns:a16="http://schemas.microsoft.com/office/drawing/2014/main" id="{E62D3963-2153-4637-96E6-E31BD2CE5D0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2307479"/>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graphicFrame>
        <p:nvGraphicFramePr>
          <p:cNvPr id="5" name="Symbol zastępczy zawartości 2">
            <a:extLst>
              <a:ext uri="{FF2B5EF4-FFF2-40B4-BE49-F238E27FC236}">
                <a16:creationId xmlns:a16="http://schemas.microsoft.com/office/drawing/2014/main" id="{E271010B-B4A4-A531-971C-C08404A496ED}"/>
              </a:ext>
            </a:extLst>
          </p:cNvPr>
          <p:cNvGraphicFramePr>
            <a:graphicFrameLocks noGrp="1"/>
          </p:cNvGraphicFramePr>
          <p:nvPr>
            <p:ph idx="1"/>
            <p:extLst>
              <p:ext uri="{D42A27DB-BD31-4B8C-83A1-F6EECF244321}">
                <p14:modId xmlns:p14="http://schemas.microsoft.com/office/powerpoint/2010/main" val="4011994147"/>
              </p:ext>
            </p:extLst>
          </p:nvPr>
        </p:nvGraphicFramePr>
        <p:xfrm>
          <a:off x="640079" y="2559050"/>
          <a:ext cx="10890929" cy="37388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8100535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DA151C-5770-45E4-AAFF-59E7F4038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F661CE20-9850-7062-8BD1-F432997BEF64}"/>
              </a:ext>
            </a:extLst>
          </p:cNvPr>
          <p:cNvSpPr>
            <a:spLocks noGrp="1"/>
          </p:cNvSpPr>
          <p:nvPr>
            <p:ph type="title"/>
          </p:nvPr>
        </p:nvSpPr>
        <p:spPr>
          <a:xfrm>
            <a:off x="640080" y="570750"/>
            <a:ext cx="10890929" cy="1387934"/>
          </a:xfrm>
        </p:spPr>
        <p:txBody>
          <a:bodyPr anchor="b">
            <a:normAutofit/>
          </a:bodyPr>
          <a:lstStyle/>
          <a:p>
            <a:r>
              <a:rPr lang="en-US" dirty="0"/>
              <a:t>PODSUMOWANIE</a:t>
            </a:r>
            <a:endParaRPr lang="pl-PL" dirty="0"/>
          </a:p>
        </p:txBody>
      </p:sp>
      <p:sp>
        <p:nvSpPr>
          <p:cNvPr id="3" name="Symbol zastępczy zawartości 2">
            <a:extLst>
              <a:ext uri="{FF2B5EF4-FFF2-40B4-BE49-F238E27FC236}">
                <a16:creationId xmlns:a16="http://schemas.microsoft.com/office/drawing/2014/main" id="{CC1D1F10-8C0C-B223-DD9B-BB6817523EC9}"/>
              </a:ext>
            </a:extLst>
          </p:cNvPr>
          <p:cNvSpPr>
            <a:spLocks noGrp="1"/>
          </p:cNvSpPr>
          <p:nvPr>
            <p:ph idx="1"/>
          </p:nvPr>
        </p:nvSpPr>
        <p:spPr>
          <a:xfrm>
            <a:off x="640080" y="2761673"/>
            <a:ext cx="10890929" cy="3536241"/>
          </a:xfrm>
        </p:spPr>
        <p:txBody>
          <a:bodyPr>
            <a:normAutofit/>
          </a:bodyPr>
          <a:lstStyle/>
          <a:p>
            <a:pPr marL="0" indent="0">
              <a:buNone/>
            </a:pPr>
            <a:r>
              <a:rPr lang="pl-PL" dirty="0"/>
              <a:t>Współczesne projekty Data Science pokazują, że praca zespołowa w IT wchodzi w nowy etap rozwoju. Klasyczne modele, takie jak KDD, CRISP-DM czy SEMMA, nadal stanowią ważny fundament, ale coraz częściej wymagają rozszerzenia o elementy Agile, </a:t>
            </a:r>
            <a:r>
              <a:rPr lang="pl-PL" dirty="0" err="1"/>
              <a:t>MLOps</a:t>
            </a:r>
            <a:r>
              <a:rPr lang="pl-PL" dirty="0"/>
              <a:t> i ciągłego monitorowania. Projekty analityczne nie kończą się dziś na stworzeniu modelu, lecz obejmują cały cykl życia inteligentnego produktu. Sukces zależy nie tylko od jakości algorytmu, ale przede wszystkim od jakości współpracy pomiędzy biznesem, analityką i inżynierią. To właśnie zdolność organizacji do połączenia tych światów staje się najważniejszą przewagą konkurencyjną.</a:t>
            </a:r>
          </a:p>
        </p:txBody>
      </p:sp>
      <p:cxnSp>
        <p:nvCxnSpPr>
          <p:cNvPr id="10" name="Straight Connector 9">
            <a:extLst>
              <a:ext uri="{FF2B5EF4-FFF2-40B4-BE49-F238E27FC236}">
                <a16:creationId xmlns:a16="http://schemas.microsoft.com/office/drawing/2014/main" id="{E62D3963-2153-4637-96E6-E31BD2CE5D0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2307479"/>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675048"/>
      </p:ext>
    </p:extLst>
  </p:cSld>
  <p:clrMapOvr>
    <a:masterClrMapping/>
  </p:clrMapOvr>
</p:sld>
</file>

<file path=ppt/theme/theme1.xml><?xml version="1.0" encoding="utf-8"?>
<a:theme xmlns:a="http://schemas.openxmlformats.org/drawingml/2006/main" name="DashVTI">
  <a:themeElements>
    <a:clrScheme name="Custom 6">
      <a:dk1>
        <a:sysClr val="windowText" lastClr="000000"/>
      </a:dk1>
      <a:lt1>
        <a:sysClr val="window" lastClr="FFFFFF"/>
      </a:lt1>
      <a:dk2>
        <a:srgbClr val="0D1C3B"/>
      </a:dk2>
      <a:lt2>
        <a:srgbClr val="F5F2F9"/>
      </a:lt2>
      <a:accent1>
        <a:srgbClr val="1973EB"/>
      </a:accent1>
      <a:accent2>
        <a:srgbClr val="25C8A2"/>
      </a:accent2>
      <a:accent3>
        <a:srgbClr val="BF8ED1"/>
      </a:accent3>
      <a:accent4>
        <a:srgbClr val="FE733C"/>
      </a:accent4>
      <a:accent5>
        <a:srgbClr val="FE5A5A"/>
      </a:accent5>
      <a:accent6>
        <a:srgbClr val="1AC16E"/>
      </a:accent6>
      <a:hlink>
        <a:srgbClr val="1AC16E"/>
      </a:hlink>
      <a:folHlink>
        <a:srgbClr val="00B0F0"/>
      </a:folHlink>
    </a:clrScheme>
    <a:fontScheme name="grandview display">
      <a:majorFont>
        <a:latin typeface="Grandview Display"/>
        <a:ea typeface=""/>
        <a:cs typeface=""/>
      </a:majorFont>
      <a:minorFont>
        <a:latin typeface="Grandview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shVTI" id="{0A75137F-CDEB-4E94-A788-9D255EBE1B91}" vid="{DE9A6A09-5855-45A3-8E99-4290ED24057C}"/>
    </a:ext>
  </a:extLst>
</a:theme>
</file>

<file path=ppt/theme/theme2.xml><?xml version="1.0" encoding="utf-8"?>
<a:theme xmlns:a="http://schemas.openxmlformats.org/drawingml/2006/main" name="Motyw pakietu Office">
  <a:themeElements>
    <a:clrScheme name="Pakiet 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Pakiet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Pakiet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91</TotalTime>
  <Words>3271</Words>
  <Application>Microsoft Office PowerPoint</Application>
  <PresentationFormat>Panoramiczny</PresentationFormat>
  <Paragraphs>259</Paragraphs>
  <Slides>30</Slides>
  <Notes>27</Notes>
  <HiddenSlides>0</HiddenSlides>
  <MMClips>0</MMClips>
  <ScaleCrop>false</ScaleCrop>
  <HeadingPairs>
    <vt:vector size="6" baseType="variant">
      <vt:variant>
        <vt:lpstr>Używane czcionki</vt:lpstr>
      </vt:variant>
      <vt:variant>
        <vt:i4>3</vt:i4>
      </vt:variant>
      <vt:variant>
        <vt:lpstr>Motyw</vt:lpstr>
      </vt:variant>
      <vt:variant>
        <vt:i4>1</vt:i4>
      </vt:variant>
      <vt:variant>
        <vt:lpstr>Tytuły slajdów</vt:lpstr>
      </vt:variant>
      <vt:variant>
        <vt:i4>30</vt:i4>
      </vt:variant>
    </vt:vector>
  </HeadingPairs>
  <TitlesOfParts>
    <vt:vector size="34" baseType="lpstr">
      <vt:lpstr>Aptos</vt:lpstr>
      <vt:lpstr>Arial</vt:lpstr>
      <vt:lpstr>Grandview Display</vt:lpstr>
      <vt:lpstr>DashVTI</vt:lpstr>
      <vt:lpstr>AKTUALNE TRENDY I PREDYKCJE DOTYCZĄCE PRACY ZESPOŁOWEJ IT (CD, DS PROJECTS)</vt:lpstr>
      <vt:lpstr>FihaAI </vt:lpstr>
      <vt:lpstr>Czym projekt Data Science różni się od klasycznego projektu IT</vt:lpstr>
      <vt:lpstr>Jakie są etapy procesu KDD</vt:lpstr>
      <vt:lpstr>Jakie są etapy procesu KDD</vt:lpstr>
      <vt:lpstr>CRISP-DM</vt:lpstr>
      <vt:lpstr>CRISP-DM</vt:lpstr>
      <vt:lpstr>SEMMA</vt:lpstr>
      <vt:lpstr>Różnice między KDD, CRISP-DM i SEMMA</vt:lpstr>
      <vt:lpstr>Role w projekcie Data Science</vt:lpstr>
      <vt:lpstr>Odpowiedzialność zespołu w kolejnych fazach projektu</vt:lpstr>
      <vt:lpstr>Artefakty w projekcie Data Science</vt:lpstr>
      <vt:lpstr>Jak iteracyjność wpływa na jakość modeli</vt:lpstr>
      <vt:lpstr>Jak iteracyjność wpływa na jakość modeli</vt:lpstr>
      <vt:lpstr>Jak wygląda proces KDD</vt:lpstr>
      <vt:lpstr>Jak wygląda proces KDD</vt:lpstr>
      <vt:lpstr>Sześć faz CRISP-DM</vt:lpstr>
      <vt:lpstr>Sześć faz CRISP-DM</vt:lpstr>
      <vt:lpstr>Czym SEMMA różni się od CRISP-DM</vt:lpstr>
      <vt:lpstr>Czym SEMMA różni się od CRISP-DM</vt:lpstr>
      <vt:lpstr>Jak TDSP wspiera pracę zespołową</vt:lpstr>
      <vt:lpstr>Jak TDSP wspiera pracę zespołową</vt:lpstr>
      <vt:lpstr>Jak Domino Data Science Life Cycle łączy eksperyment z produkcją</vt:lpstr>
      <vt:lpstr>OSEMN</vt:lpstr>
      <vt:lpstr>Dopasowanie modelu procesu do typu projektu</vt:lpstr>
      <vt:lpstr>Dopasowanie modelu procesu do typu projektu</vt:lpstr>
      <vt:lpstr>Ograniczenia klasycznych modeli</vt:lpstr>
      <vt:lpstr>Ograniczenia klasycznych modeli</vt:lpstr>
      <vt:lpstr>Jak łączyć CRISP-DM z podejściem Agile</vt:lpstr>
      <vt:lpstr>PODSUMOWANIE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Filip Hałys</dc:creator>
  <cp:lastModifiedBy>Filip Hałys</cp:lastModifiedBy>
  <cp:revision>18</cp:revision>
  <dcterms:created xsi:type="dcterms:W3CDTF">2026-04-18T16:54:13Z</dcterms:created>
  <dcterms:modified xsi:type="dcterms:W3CDTF">2026-04-18T18:27:37Z</dcterms:modified>
</cp:coreProperties>
</file>