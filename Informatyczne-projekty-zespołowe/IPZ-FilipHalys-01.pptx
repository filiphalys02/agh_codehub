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4" r:id="rId3"/>
    <p:sldId id="269" r:id="rId4"/>
    <p:sldId id="282" r:id="rId5"/>
    <p:sldId id="294" r:id="rId6"/>
    <p:sldId id="293" r:id="rId7"/>
    <p:sldId id="295" r:id="rId8"/>
    <p:sldId id="292" r:id="rId9"/>
    <p:sldId id="296" r:id="rId10"/>
    <p:sldId id="297" r:id="rId11"/>
    <p:sldId id="291" r:id="rId12"/>
    <p:sldId id="298" r:id="rId13"/>
    <p:sldId id="299" r:id="rId14"/>
    <p:sldId id="300" r:id="rId15"/>
    <p:sldId id="301" r:id="rId16"/>
    <p:sldId id="290" r:id="rId17"/>
    <p:sldId id="302" r:id="rId18"/>
    <p:sldId id="289" r:id="rId19"/>
    <p:sldId id="303" r:id="rId20"/>
    <p:sldId id="288" r:id="rId21"/>
    <p:sldId id="311" r:id="rId22"/>
    <p:sldId id="312" r:id="rId23"/>
    <p:sldId id="287" r:id="rId24"/>
    <p:sldId id="313" r:id="rId25"/>
    <p:sldId id="286" r:id="rId26"/>
    <p:sldId id="264" r:id="rId27"/>
    <p:sldId id="315" r:id="rId28"/>
    <p:sldId id="285" r:id="rId29"/>
    <p:sldId id="316" r:id="rId30"/>
    <p:sldId id="284" r:id="rId31"/>
    <p:sldId id="257" r:id="rId32"/>
    <p:sldId id="283" r:id="rId33"/>
    <p:sldId id="318" r:id="rId34"/>
    <p:sldId id="304" r:id="rId35"/>
    <p:sldId id="266" r:id="rId36"/>
    <p:sldId id="308" r:id="rId37"/>
    <p:sldId id="259" r:id="rId38"/>
    <p:sldId id="305" r:id="rId39"/>
    <p:sldId id="321" r:id="rId40"/>
    <p:sldId id="322" r:id="rId41"/>
    <p:sldId id="307" r:id="rId42"/>
    <p:sldId id="323" r:id="rId43"/>
    <p:sldId id="324" r:id="rId44"/>
    <p:sldId id="306" r:id="rId45"/>
    <p:sldId id="325" r:id="rId46"/>
    <p:sldId id="309" r:id="rId47"/>
    <p:sldId id="281" r:id="rId48"/>
    <p:sldId id="327" r:id="rId49"/>
    <p:sldId id="310" r:id="rId50"/>
    <p:sldId id="317" r:id="rId51"/>
  </p:sldIdLst>
  <p:sldSz cx="18288000" cy="10287000"/>
  <p:notesSz cx="6858000" cy="9144000"/>
  <p:embeddedFontLst>
    <p:embeddedFont>
      <p:font typeface="Inter" panose="020B0604020202020204" charset="0"/>
      <p:regular r:id="rId52"/>
    </p:embeddedFont>
    <p:embeddedFont>
      <p:font typeface="Libre Franklin Bold" panose="020B0604020202020204" charset="0"/>
      <p:regular r:id="rId53"/>
    </p:embeddedFont>
    <p:embeddedFont>
      <p:font typeface="Libre Franklin Ultra-Bold" panose="020B0604020202020204" charset="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379875" y="4914900"/>
            <a:ext cx="4879425" cy="4300136"/>
            <a:chOff x="0" y="0"/>
            <a:chExt cx="21563298" cy="361772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63298" cy="36177293"/>
            </a:xfrm>
            <a:custGeom>
              <a:avLst/>
              <a:gdLst/>
              <a:ahLst/>
              <a:cxnLst/>
              <a:rect l="l" t="t" r="r" b="b"/>
              <a:pathLst>
                <a:path w="21563298" h="36177293">
                  <a:moveTo>
                    <a:pt x="0" y="0"/>
                  </a:moveTo>
                  <a:lnTo>
                    <a:pt x="0" y="36177293"/>
                  </a:lnTo>
                  <a:lnTo>
                    <a:pt x="21563298" y="36177293"/>
                  </a:lnTo>
                  <a:lnTo>
                    <a:pt x="21563298" y="0"/>
                  </a:lnTo>
                  <a:lnTo>
                    <a:pt x="0" y="0"/>
                  </a:lnTo>
                  <a:close/>
                  <a:moveTo>
                    <a:pt x="21502339" y="36116332"/>
                  </a:moveTo>
                  <a:lnTo>
                    <a:pt x="59690" y="36116332"/>
                  </a:lnTo>
                  <a:lnTo>
                    <a:pt x="59690" y="59690"/>
                  </a:lnTo>
                  <a:lnTo>
                    <a:pt x="21502339" y="59690"/>
                  </a:lnTo>
                  <a:lnTo>
                    <a:pt x="21502339" y="36116332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pl-PL" noProof="1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1290137"/>
            <a:ext cx="11351174" cy="7847494"/>
            <a:chOff x="0" y="191297"/>
            <a:chExt cx="13193358" cy="841751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91297"/>
              <a:ext cx="13193358" cy="6775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041"/>
                </a:lnSpc>
              </a:pPr>
              <a:r>
                <a:rPr lang="pl-PL" sz="7200" b="1" noProof="1">
                  <a:solidFill>
                    <a:srgbClr val="EDEDED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Wprowadzenie, Fundamenty projektów informatycznych, cykl życia produktu, projektu </a:t>
              </a:r>
              <a:br>
                <a:rPr lang="pl-PL" sz="7200" b="1" noProof="1">
                  <a:solidFill>
                    <a:srgbClr val="EDEDED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</a:br>
              <a:r>
                <a:rPr lang="pl-PL" sz="7200" b="1" noProof="1">
                  <a:solidFill>
                    <a:srgbClr val="EDEDED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i oprogramowania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267193"/>
              <a:ext cx="11722364" cy="34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29"/>
                </a:lnSpc>
                <a:spcBef>
                  <a:spcPct val="0"/>
                </a:spcBef>
              </a:pPr>
              <a:r>
                <a:rPr lang="pl-PL" sz="195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NUMER I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721930" y="5316611"/>
            <a:ext cx="4195314" cy="3434936"/>
            <a:chOff x="0" y="-47625"/>
            <a:chExt cx="5593752" cy="457991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47625"/>
              <a:ext cx="5593752" cy="57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pl-PL" sz="2600" b="1" noProof="1">
                  <a:solidFill>
                    <a:srgbClr val="EDEDED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Filip Hałys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03642"/>
              <a:ext cx="5593752" cy="456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Geoinformatyka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084285"/>
              <a:ext cx="5593752" cy="1448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Rok akademicki: 2025/2026</a:t>
              </a:r>
            </a:p>
            <a:p>
              <a:pPr algn="ctr">
                <a:lnSpc>
                  <a:spcPts val="2940"/>
                </a:lnSpc>
              </a:pPr>
              <a: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Rok: V</a:t>
              </a:r>
              <a:b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Semestr: X</a:t>
              </a: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0" y="2447829"/>
              <a:ext cx="5593752" cy="0"/>
            </a:xfrm>
            <a:prstGeom prst="line">
              <a:avLst/>
            </a:prstGeom>
            <a:ln w="12700" cap="flat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1. Czym jest projekt informatyczny i czym różni się od produktu informatycznego?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/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990600" y="1638300"/>
            <a:ext cx="757398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pl-PL" sz="36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rPr>
              <a:t>PROJEKT INFORMATYCZNY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28213" y="1638300"/>
            <a:ext cx="756259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pl-PL" sz="36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rPr>
              <a:t>PRODUKT INFORMATYCZNY</a:t>
            </a:r>
          </a:p>
        </p:txBody>
      </p:sp>
      <p:sp>
        <p:nvSpPr>
          <p:cNvPr id="15" name="AutoShape 15"/>
          <p:cNvSpPr/>
          <p:nvPr/>
        </p:nvSpPr>
        <p:spPr>
          <a:xfrm rot="-5400000">
            <a:off x="6801286" y="4224001"/>
            <a:ext cx="4984533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BA44C-67BD-89C5-61E5-4884303EFA21}"/>
              </a:ext>
            </a:extLst>
          </p:cNvPr>
          <p:cNvSpPr txBox="1"/>
          <p:nvPr/>
        </p:nvSpPr>
        <p:spPr>
          <a:xfrm>
            <a:off x="1081894" y="3033806"/>
            <a:ext cx="7391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800" b="1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Tymczasowe przedsięwzięcie mające stworzyć określone rozwiązanie IT.</a:t>
            </a:r>
          </a:p>
          <a:p>
            <a:pPr algn="ctr"/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/>
            <a:r>
              <a:rPr lang="pl-PL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Projekt to proces tworzenia czegoś nowego, np. aplikacji mobilnej.</a:t>
            </a:r>
          </a:p>
          <a:p>
            <a:pPr algn="ctr"/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/>
            <a:r>
              <a:rPr lang="pl-PL" sz="2800" b="1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Przykład</a:t>
            </a:r>
            <a:r>
              <a:rPr lang="pl-PL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: tworzenie aplikacja bankowej</a:t>
            </a:r>
          </a:p>
          <a:p>
            <a:pPr algn="ctr"/>
            <a:endParaRPr lang="pl-PL" sz="2800" noProof="1"/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A6B1203F-8591-1F9B-A5B5-DB240ABE440D}"/>
              </a:ext>
            </a:extLst>
          </p:cNvPr>
          <p:cNvSpPr txBox="1"/>
          <p:nvPr/>
        </p:nvSpPr>
        <p:spPr>
          <a:xfrm>
            <a:off x="10113812" y="3040903"/>
            <a:ext cx="7391400" cy="367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800" b="1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Gotowe oprogramowanie lub system używany przez użytkowników.</a:t>
            </a:r>
          </a:p>
          <a:p>
            <a:pPr algn="ctr"/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940"/>
              </a:lnSpc>
            </a:pPr>
            <a:r>
              <a:rPr lang="pl-PL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Produkt to efekt końcowy, np. gotowa aplikacja.</a:t>
            </a:r>
          </a:p>
          <a:p>
            <a:pPr algn="ctr">
              <a:lnSpc>
                <a:spcPts val="2940"/>
              </a:lnSpc>
            </a:pP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940"/>
              </a:lnSpc>
            </a:pPr>
            <a:r>
              <a:rPr lang="pl-PL" sz="2800" b="1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Przykład</a:t>
            </a:r>
            <a:r>
              <a:rPr lang="pl-PL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: działająca aplikacja bankowa dostępna w App Store</a:t>
            </a:r>
          </a:p>
          <a:p>
            <a:pPr algn="ctr"/>
            <a:endParaRPr lang="pl-PL" sz="2800" noProof="1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B6F7A34-3194-B644-CCB8-095CB8B3A1FA}"/>
              </a:ext>
            </a:extLst>
          </p:cNvPr>
          <p:cNvSpPr txBox="1"/>
          <p:nvPr/>
        </p:nvSpPr>
        <p:spPr>
          <a:xfrm>
            <a:off x="3771900" y="9639300"/>
            <a:ext cx="1104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https://www.visual-paradigm.com/guide/project-management/what-is-project-management/</a:t>
            </a:r>
            <a:endParaRPr lang="pl-P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C8390-D49E-843C-78A7-9BEB32F4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42B6D99-8332-B022-877C-1C263FA59374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2. Jakie są podstawowe cechy projektu (czasowość, unikalność, ograniczenia)?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5FBB40E-83F1-3F29-6C06-F1D2FA4B0021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49C56C5-3A5D-B2AB-D3FF-334AC1461C40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D97B60BC-F9FE-5076-A28F-D587ABB83F1F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978416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422B4-2850-E613-1FB3-9580767F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0FC3399-298D-681A-B9A5-22795D78047D}"/>
              </a:ext>
            </a:extLst>
          </p:cNvPr>
          <p:cNvSpPr txBox="1"/>
          <p:nvPr/>
        </p:nvSpPr>
        <p:spPr>
          <a:xfrm>
            <a:off x="2102963" y="1714500"/>
            <a:ext cx="8226717" cy="2966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Na projekt informatyczny składają się 3 cechy stanowiące “trójkąt” jego zarządzaniem</a:t>
            </a:r>
          </a:p>
          <a:p>
            <a:pPr marL="514350" indent="-514350" algn="l">
              <a:lnSpc>
                <a:spcPts val="3900"/>
              </a:lnSpc>
              <a:buAutoNum type="arabicPeriod"/>
            </a:pP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CZASOWOŚĆ – punktualność</a:t>
            </a:r>
          </a:p>
          <a:p>
            <a:pPr marL="514350" indent="-514350" algn="l">
              <a:lnSpc>
                <a:spcPts val="3900"/>
              </a:lnSpc>
              <a:buAutoNum type="arabicPeriod"/>
            </a:pP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UNIKALNOŚĆ – tworzy coś nowego</a:t>
            </a:r>
          </a:p>
          <a:p>
            <a:pPr marL="514350" indent="-514350" algn="l">
              <a:lnSpc>
                <a:spcPts val="3900"/>
              </a:lnSpc>
              <a:buAutoNum type="arabicPeriod"/>
            </a:pP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OGRANICZENIA – czas, budżet, zasoby</a:t>
            </a:r>
            <a:endParaRPr lang="pl-PL" sz="3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D639683-0945-3707-1A9F-854B2CFC83F0}"/>
              </a:ext>
            </a:extLst>
          </p:cNvPr>
          <p:cNvSpPr txBox="1"/>
          <p:nvPr/>
        </p:nvSpPr>
        <p:spPr>
          <a:xfrm>
            <a:off x="1798241" y="6457018"/>
            <a:ext cx="6784764" cy="165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5"/>
              </a:lnSpc>
            </a:pPr>
            <a:r>
              <a:rPr lang="en-US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“Projekt informatyczny polega na stworzeniu produktu [unikalność] w określonym czasie [czasowość] wykorzystując dostępne zasoby [ograniczenia]”</a:t>
            </a:r>
            <a:endParaRPr lang="pl-PL" sz="2375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B3BB279-EB43-D4A1-2A75-D72CCE25857A}"/>
              </a:ext>
            </a:extLst>
          </p:cNvPr>
          <p:cNvSpPr/>
          <p:nvPr/>
        </p:nvSpPr>
        <p:spPr>
          <a:xfrm>
            <a:off x="1563214" y="5669280"/>
            <a:ext cx="7254818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C071F3B2-1A37-5474-BF95-F8BFC1123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943795"/>
            <a:ext cx="6175318" cy="4399410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E11E9976-AD62-C198-E57A-A92C9954711C}"/>
              </a:ext>
            </a:extLst>
          </p:cNvPr>
          <p:cNvSpPr txBox="1"/>
          <p:nvPr/>
        </p:nvSpPr>
        <p:spPr>
          <a:xfrm>
            <a:off x="171450" y="9713327"/>
            <a:ext cx="1794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https://www.linkedin.com/posts/krzysztof-g%C5%82usi%C5%84ski-4056b28b_triada-zarz%C4%85dzania-projektami-czyli-jak-activity-7226939995868020736-TJas/?originalSubdomain=pl</a:t>
            </a:r>
          </a:p>
        </p:txBody>
      </p:sp>
    </p:spTree>
    <p:extLst>
      <p:ext uri="{BB962C8B-B14F-4D97-AF65-F5344CB8AC3E}">
        <p14:creationId xmlns:p14="http://schemas.microsoft.com/office/powerpoint/2010/main" val="297793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840C4-33B5-A04C-D8D6-15995CA1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34701F5-CB1B-163D-D38A-E4AB1D816694}"/>
              </a:ext>
            </a:extLst>
          </p:cNvPr>
          <p:cNvSpPr txBox="1"/>
          <p:nvPr/>
        </p:nvSpPr>
        <p:spPr>
          <a:xfrm>
            <a:off x="1028700" y="1104900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3. Czym różni się cykl życia projektu od cyklu życia produktu?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9CA620A-0865-D69B-005B-3AA0E5381664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8DBB4B8-13C1-82BE-B621-BC661EEDC663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0ED32FBA-8A65-A5B6-9AE9-C65BD91D1359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421984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0B1F-C262-922D-65F4-B343EAE3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2E23E74-FD2E-F3AA-030A-70C816E4C26C}"/>
              </a:ext>
            </a:extLst>
          </p:cNvPr>
          <p:cNvSpPr txBox="1"/>
          <p:nvPr/>
        </p:nvSpPr>
        <p:spPr>
          <a:xfrm>
            <a:off x="-2324099" y="455255"/>
            <a:ext cx="1623060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Cykl życia 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2B8567-3950-4314-E9E8-D5202CE7D170}"/>
              </a:ext>
            </a:extLst>
          </p:cNvPr>
          <p:cNvGrpSpPr/>
          <p:nvPr/>
        </p:nvGrpSpPr>
        <p:grpSpPr>
          <a:xfrm>
            <a:off x="3657600" y="4542840"/>
            <a:ext cx="4417398" cy="2790492"/>
            <a:chOff x="0" y="-47625"/>
            <a:chExt cx="5889864" cy="372065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D17B1F7-2C73-1F12-7CE3-5DE9C4790E7B}"/>
                </a:ext>
              </a:extLst>
            </p:cNvPr>
            <p:cNvSpPr txBox="1"/>
            <p:nvPr/>
          </p:nvSpPr>
          <p:spPr>
            <a:xfrm>
              <a:off x="0" y="2225027"/>
              <a:ext cx="5889864" cy="1448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noProof="1"/>
            </a:p>
            <a:p>
              <a:pPr algn="l">
                <a:lnSpc>
                  <a:spcPts val="2940"/>
                </a:lnSpc>
              </a:pPr>
              <a:r>
                <a:rPr lang="en-US" sz="21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Przykład: stworzenie systemu bankowego w półtorej roku</a:t>
              </a:r>
              <a:endPara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9D930E3-50FA-C70D-CAAE-673CF3153CF9}"/>
                </a:ext>
              </a:extLst>
            </p:cNvPr>
            <p:cNvSpPr txBox="1"/>
            <p:nvPr/>
          </p:nvSpPr>
          <p:spPr>
            <a:xfrm>
              <a:off x="0" y="-47625"/>
              <a:ext cx="5889864" cy="1801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Jest to </a:t>
              </a:r>
              <a:r>
                <a:rPr lang="pl-PL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okres od rozpoczęcia projektu do jego zakończenia.</a:t>
              </a: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9AC3F4A-378C-BA9B-C69B-6BE7BF58B216}"/>
              </a:ext>
            </a:extLst>
          </p:cNvPr>
          <p:cNvGrpSpPr/>
          <p:nvPr/>
        </p:nvGrpSpPr>
        <p:grpSpPr>
          <a:xfrm>
            <a:off x="12247505" y="1737061"/>
            <a:ext cx="4417398" cy="2149138"/>
            <a:chOff x="0" y="-47625"/>
            <a:chExt cx="5889864" cy="2865517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A81A636-2B14-1D37-8BB6-C925E77D1BC4}"/>
                </a:ext>
              </a:extLst>
            </p:cNvPr>
            <p:cNvSpPr txBox="1"/>
            <p:nvPr/>
          </p:nvSpPr>
          <p:spPr>
            <a:xfrm>
              <a:off x="0" y="1369888"/>
              <a:ext cx="5889864" cy="1448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noProof="1"/>
            </a:p>
            <a:p>
              <a:pPr algn="l">
                <a:lnSpc>
                  <a:spcPts val="2940"/>
                </a:lnSpc>
              </a:pPr>
              <a:r>
                <a:rPr lang="en-US" sz="21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Przykład: wieloletnie utrzymanie systemu bankowego</a:t>
              </a:r>
              <a:endPara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614DDEA-9F28-49AB-9901-46D0D7D2E044}"/>
                </a:ext>
              </a:extLst>
            </p:cNvPr>
            <p:cNvSpPr txBox="1"/>
            <p:nvPr/>
          </p:nvSpPr>
          <p:spPr>
            <a:xfrm>
              <a:off x="0" y="-47625"/>
              <a:ext cx="5889864" cy="1185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Jest to </a:t>
              </a:r>
              <a:r>
                <a:rPr lang="pl-PL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czas istnienia produktu na rynku.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83E456A-25A5-19B3-40B1-7AF89D562366}"/>
              </a:ext>
            </a:extLst>
          </p:cNvPr>
          <p:cNvSpPr txBox="1"/>
          <p:nvPr/>
        </p:nvSpPr>
        <p:spPr>
          <a:xfrm>
            <a:off x="3975587" y="3591619"/>
            <a:ext cx="4756789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Projektu </a:t>
            </a:r>
            <a:endParaRPr lang="pl-PL" sz="3999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F9B9FD2-239C-C6ED-A7D0-A5DEF9A5B3A0}"/>
              </a:ext>
            </a:extLst>
          </p:cNvPr>
          <p:cNvSpPr txBox="1"/>
          <p:nvPr/>
        </p:nvSpPr>
        <p:spPr>
          <a:xfrm>
            <a:off x="12496800" y="752837"/>
            <a:ext cx="4253577" cy="533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Produktu</a:t>
            </a:r>
            <a:endParaRPr lang="pl-PL" sz="3999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18D89F7-46C5-300C-77BC-7FE9B6A16431}"/>
              </a:ext>
            </a:extLst>
          </p:cNvPr>
          <p:cNvSpPr/>
          <p:nvPr/>
        </p:nvSpPr>
        <p:spPr>
          <a:xfrm rot="-5400000">
            <a:off x="5911904" y="6239856"/>
            <a:ext cx="6479143" cy="14947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3AFE09AE-B10F-3BBB-6065-64643305B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67" y="3307362"/>
            <a:ext cx="2541629" cy="5302119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F22D1EB2-9328-0D4C-C92B-CE136F109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055" y="4550460"/>
            <a:ext cx="7973538" cy="4124901"/>
          </a:xfrm>
          <a:prstGeom prst="rect">
            <a:avLst/>
          </a:prstGeom>
        </p:spPr>
      </p:pic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FA73A9FC-E7AE-A4B0-7F95-AB4A870BD3BC}"/>
              </a:ext>
            </a:extLst>
          </p:cNvPr>
          <p:cNvCxnSpPr/>
          <p:nvPr/>
        </p:nvCxnSpPr>
        <p:spPr>
          <a:xfrm>
            <a:off x="8534400" y="1019512"/>
            <a:ext cx="35280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332BA165-D625-E6FB-C45E-1736CF1CEB62}"/>
              </a:ext>
            </a:extLst>
          </p:cNvPr>
          <p:cNvCxnSpPr>
            <a:cxnSpLocks/>
          </p:cNvCxnSpPr>
          <p:nvPr/>
        </p:nvCxnSpPr>
        <p:spPr>
          <a:xfrm>
            <a:off x="5257800" y="1733571"/>
            <a:ext cx="0" cy="1274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A1E6FA2F-14AB-6F2A-EBAC-B9359ADB47DE}"/>
              </a:ext>
            </a:extLst>
          </p:cNvPr>
          <p:cNvSpPr txBox="1"/>
          <p:nvPr/>
        </p:nvSpPr>
        <p:spPr>
          <a:xfrm>
            <a:off x="3695699" y="9581160"/>
            <a:ext cx="1089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https://en.wikipedia.org/wiki/Systems_development_life_cycle</a:t>
            </a:r>
            <a:endParaRPr lang="en-US" dirty="0"/>
          </a:p>
          <a:p>
            <a:pPr algn="ctr"/>
            <a:r>
              <a:rPr lang="pl-PL" dirty="0"/>
              <a:t>https://www.productacademy.pl/p/cykl-zycia-produktu</a:t>
            </a:r>
          </a:p>
        </p:txBody>
      </p:sp>
    </p:spTree>
    <p:extLst>
      <p:ext uri="{BB962C8B-B14F-4D97-AF65-F5344CB8AC3E}">
        <p14:creationId xmlns:p14="http://schemas.microsoft.com/office/powerpoint/2010/main" val="134206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DE156-E969-B026-516C-CBBD85328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C4EF42F-9EEF-A05A-F1BB-38273E763470}"/>
              </a:ext>
            </a:extLst>
          </p:cNvPr>
          <p:cNvSpPr txBox="1"/>
          <p:nvPr/>
        </p:nvSpPr>
        <p:spPr>
          <a:xfrm>
            <a:off x="1028700" y="1104900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4. </a:t>
            </a: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Jak wygląda klasyczny cykl życia oprogramowania (SDLC)?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9DB2982-A215-70A7-6600-82BC3947DBB2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CC75A64-575E-40B5-51FE-16A694793E21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9447A4B-D51A-7FE9-B5C5-0ED7CA0DF84E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384836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6D5BB-73E8-C9F5-C673-C844682D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29FA1E3-1C52-3301-E130-E4F1C3062CA3}"/>
              </a:ext>
            </a:extLst>
          </p:cNvPr>
          <p:cNvSpPr txBox="1"/>
          <p:nvPr/>
        </p:nvSpPr>
        <p:spPr>
          <a:xfrm>
            <a:off x="914400" y="1104900"/>
            <a:ext cx="7299138" cy="6626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pl-PL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SDLC opisuje proces tworzenia systemu od pomysłu aż po jego wycofanie z użycia.</a:t>
            </a:r>
            <a:r>
              <a:rPr lang="en-US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</a:t>
            </a:r>
          </a:p>
          <a:p>
            <a:pPr algn="l">
              <a:lnSpc>
                <a:spcPts val="8800"/>
              </a:lnSpc>
            </a:pPr>
            <a:r>
              <a:rPr lang="en-US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Typowe fazy wchodzące </a:t>
            </a:r>
          </a:p>
          <a:p>
            <a:pPr algn="l">
              <a:lnSpc>
                <a:spcPts val="8800"/>
              </a:lnSpc>
            </a:pPr>
            <a:r>
              <a:rPr lang="en-US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 skład SDLC to:</a:t>
            </a:r>
            <a:endParaRPr lang="pl-PL" sz="44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A231F1-1B95-0930-625C-BD44BAA961B8}"/>
              </a:ext>
            </a:extLst>
          </p:cNvPr>
          <p:cNvSpPr/>
          <p:nvPr/>
        </p:nvSpPr>
        <p:spPr>
          <a:xfrm>
            <a:off x="9369130" y="163830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4E3D8B7-D3FD-EE9F-C410-8A5A94130688}"/>
              </a:ext>
            </a:extLst>
          </p:cNvPr>
          <p:cNvSpPr/>
          <p:nvPr/>
        </p:nvSpPr>
        <p:spPr>
          <a:xfrm>
            <a:off x="9369130" y="2948492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FB50A33-D890-A251-EC22-917D894266DE}"/>
              </a:ext>
            </a:extLst>
          </p:cNvPr>
          <p:cNvSpPr/>
          <p:nvPr/>
        </p:nvSpPr>
        <p:spPr>
          <a:xfrm>
            <a:off x="9373285" y="4457700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3191DAB-E1B2-241D-E508-FD5096F2434F}"/>
              </a:ext>
            </a:extLst>
          </p:cNvPr>
          <p:cNvSpPr/>
          <p:nvPr/>
        </p:nvSpPr>
        <p:spPr>
          <a:xfrm>
            <a:off x="9355550" y="5992150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A145695-7DE4-3972-E65B-81E25F5654A7}"/>
              </a:ext>
            </a:extLst>
          </p:cNvPr>
          <p:cNvSpPr txBox="1"/>
          <p:nvPr/>
        </p:nvSpPr>
        <p:spPr>
          <a:xfrm>
            <a:off x="9624646" y="921258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1. ANALIA WYMAGAŃ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1AD6823-4395-B91C-F743-F295C0B60E98}"/>
              </a:ext>
            </a:extLst>
          </p:cNvPr>
          <p:cNvSpPr txBox="1"/>
          <p:nvPr/>
        </p:nvSpPr>
        <p:spPr>
          <a:xfrm>
            <a:off x="9612923" y="2258201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2. PROJEKTOWANIE SYSTEMU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BDECD33-0100-3A2B-C9DE-DC2A7083F4C6}"/>
              </a:ext>
            </a:extLst>
          </p:cNvPr>
          <p:cNvSpPr txBox="1"/>
          <p:nvPr/>
        </p:nvSpPr>
        <p:spPr>
          <a:xfrm>
            <a:off x="9612923" y="3651242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3. IMPLEMENTACJA - TWORZENIE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F66D71C-B26D-3A09-078C-10D8D85C2AC2}"/>
              </a:ext>
            </a:extLst>
          </p:cNvPr>
          <p:cNvSpPr txBox="1"/>
          <p:nvPr/>
        </p:nvSpPr>
        <p:spPr>
          <a:xfrm>
            <a:off x="9618786" y="5281398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4. TESTOWANIE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F088B64-4784-1669-6F9A-324C5D2C8D29}"/>
              </a:ext>
            </a:extLst>
          </p:cNvPr>
          <p:cNvSpPr txBox="1"/>
          <p:nvPr/>
        </p:nvSpPr>
        <p:spPr>
          <a:xfrm>
            <a:off x="9601201" y="6694007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5. WDROŻENIE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A3204E9-BC7B-2AB2-974A-6ED06B2B8A47}"/>
              </a:ext>
            </a:extLst>
          </p:cNvPr>
          <p:cNvSpPr txBox="1"/>
          <p:nvPr/>
        </p:nvSpPr>
        <p:spPr>
          <a:xfrm>
            <a:off x="9577754" y="8435121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* 6. UTRZYMANIE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447BBD57-66F3-9E41-B47B-81C824A6B772}"/>
              </a:ext>
            </a:extLst>
          </p:cNvPr>
          <p:cNvSpPr/>
          <p:nvPr/>
        </p:nvSpPr>
        <p:spPr>
          <a:xfrm>
            <a:off x="9369130" y="7429500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CA410778-BA7B-41D1-E74A-705DC57F31B3}"/>
              </a:ext>
            </a:extLst>
          </p:cNvPr>
          <p:cNvSpPr txBox="1"/>
          <p:nvPr/>
        </p:nvSpPr>
        <p:spPr>
          <a:xfrm>
            <a:off x="6185451" y="9662642"/>
            <a:ext cx="1036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https://en.wikipedia.org/wiki/Systems_development_life_cycle</a:t>
            </a:r>
          </a:p>
        </p:txBody>
      </p:sp>
    </p:spTree>
    <p:extLst>
      <p:ext uri="{BB962C8B-B14F-4D97-AF65-F5344CB8AC3E}">
        <p14:creationId xmlns:p14="http://schemas.microsoft.com/office/powerpoint/2010/main" val="3668315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F7188-9EB1-760A-0CCC-F36AC791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589F201-23E4-C6AC-B5D8-F4466A9653F0}"/>
              </a:ext>
            </a:extLst>
          </p:cNvPr>
          <p:cNvSpPr txBox="1"/>
          <p:nvPr/>
        </p:nvSpPr>
        <p:spPr>
          <a:xfrm>
            <a:off x="914400" y="257957"/>
            <a:ext cx="1645920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36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Istnieją również bardziej szczegółowe opisy życia oprogramowania (SDLC)</a:t>
            </a:r>
            <a:endParaRPr lang="pl-PL" sz="36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2F2B63CC-620A-F077-7F5D-D8D2FE2DA23F}"/>
              </a:ext>
            </a:extLst>
          </p:cNvPr>
          <p:cNvSpPr txBox="1"/>
          <p:nvPr/>
        </p:nvSpPr>
        <p:spPr>
          <a:xfrm>
            <a:off x="4360385" y="9659711"/>
            <a:ext cx="1036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https://upload.wikimedia.org/wikipedia/commons/6/66/Systems_Development_Life_Cycle.gif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D027F135-FA6E-7223-E45C-DDB2BC58B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615" y="2033052"/>
            <a:ext cx="11006770" cy="687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05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FF9E5-3CE5-7075-6CA9-58A2BCD1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42AACA7-9298-0216-8B3F-C628B39C0042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5. </a:t>
            </a: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Jakie są główne fazy projektu IT </a:t>
            </a:r>
            <a:endParaRPr lang="en-US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i jakie decyzje zapadają </a:t>
            </a:r>
            <a:endParaRPr lang="en-US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 każdej z nich?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5D12CD9-CF19-A8E1-79C3-897CC3F8BBDD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4FFB2C5-E36C-D65E-7A7F-B708BD2AA66A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027E4066-BDF4-67DE-284A-352A0931EB83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4164017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F3AF7-3635-39BC-9A47-3EA15269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A55E2D4-E412-1701-79C7-4F4561FC0FB9}"/>
              </a:ext>
            </a:extLst>
          </p:cNvPr>
          <p:cNvSpPr txBox="1"/>
          <p:nvPr/>
        </p:nvSpPr>
        <p:spPr>
          <a:xfrm>
            <a:off x="1028700" y="1104900"/>
            <a:ext cx="7299138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Inicjacja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9DD4A08-C11A-D504-7994-2F669E8BC5EE}"/>
              </a:ext>
            </a:extLst>
          </p:cNvPr>
          <p:cNvSpPr/>
          <p:nvPr/>
        </p:nvSpPr>
        <p:spPr>
          <a:xfrm>
            <a:off x="9890807" y="238925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A6E2200-49FE-AB46-E46A-7C23175D3F53}"/>
              </a:ext>
            </a:extLst>
          </p:cNvPr>
          <p:cNvSpPr/>
          <p:nvPr/>
        </p:nvSpPr>
        <p:spPr>
          <a:xfrm>
            <a:off x="9890807" y="4200394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B3F74C0-955B-3CB2-AC68-3F7FB6949430}"/>
              </a:ext>
            </a:extLst>
          </p:cNvPr>
          <p:cNvSpPr/>
          <p:nvPr/>
        </p:nvSpPr>
        <p:spPr>
          <a:xfrm>
            <a:off x="9889099" y="6011539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38D36DA-A1A2-B8BE-AE75-57B0123F1DE1}"/>
              </a:ext>
            </a:extLst>
          </p:cNvPr>
          <p:cNvSpPr/>
          <p:nvPr/>
        </p:nvSpPr>
        <p:spPr>
          <a:xfrm>
            <a:off x="9888949" y="7822683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40FA65B-4BD1-5348-BB7F-0D2EDEB01F30}"/>
              </a:ext>
            </a:extLst>
          </p:cNvPr>
          <p:cNvSpPr txBox="1"/>
          <p:nvPr/>
        </p:nvSpPr>
        <p:spPr>
          <a:xfrm>
            <a:off x="10134600" y="1254929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Jakie są główne cele projektu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58751F1-E00D-4325-C37E-157705C4D489}"/>
              </a:ext>
            </a:extLst>
          </p:cNvPr>
          <p:cNvSpPr txBox="1"/>
          <p:nvPr/>
        </p:nvSpPr>
        <p:spPr>
          <a:xfrm>
            <a:off x="10185453" y="3107104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Kto jest grupą docelową rozwiązania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82A5FA0-76D9-C6E2-9A4B-F56C2448D687}"/>
              </a:ext>
            </a:extLst>
          </p:cNvPr>
          <p:cNvSpPr txBox="1"/>
          <p:nvPr/>
        </p:nvSpPr>
        <p:spPr>
          <a:xfrm>
            <a:off x="10134600" y="4892764"/>
            <a:ext cx="6900558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dysponujemy odpowiednimi specjalistami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F3C91CC-E896-45EB-B383-6FB4745CC486}"/>
              </a:ext>
            </a:extLst>
          </p:cNvPr>
          <p:cNvSpPr txBox="1"/>
          <p:nvPr/>
        </p:nvSpPr>
        <p:spPr>
          <a:xfrm>
            <a:off x="10185453" y="6703016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jest to legalne przedsięwzięcie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211B8CD-D45D-93D7-9877-9F90AF94B1B3}"/>
              </a:ext>
            </a:extLst>
          </p:cNvPr>
          <p:cNvSpPr txBox="1"/>
          <p:nvPr/>
        </p:nvSpPr>
        <p:spPr>
          <a:xfrm>
            <a:off x="10134600" y="8514160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Jakie problemy możemy spotkać po drodze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91338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0B969-872B-777F-0722-133253BB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5B16DAB-42CC-5EF8-E557-DF61FDE1C63D}"/>
              </a:ext>
            </a:extLst>
          </p:cNvPr>
          <p:cNvSpPr txBox="1"/>
          <p:nvPr/>
        </p:nvSpPr>
        <p:spPr>
          <a:xfrm>
            <a:off x="1028700" y="1104900"/>
            <a:ext cx="7299138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Planowanie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B0E50F4-DB26-1534-3F9B-1017E8F5A603}"/>
              </a:ext>
            </a:extLst>
          </p:cNvPr>
          <p:cNvSpPr/>
          <p:nvPr/>
        </p:nvSpPr>
        <p:spPr>
          <a:xfrm>
            <a:off x="9890807" y="238925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CC00C64-93FB-0413-5F92-C8C4DF13FE7C}"/>
              </a:ext>
            </a:extLst>
          </p:cNvPr>
          <p:cNvSpPr/>
          <p:nvPr/>
        </p:nvSpPr>
        <p:spPr>
          <a:xfrm>
            <a:off x="9890807" y="4200394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4F58CD4-47B1-7C8B-E3D8-173C3D0B3914}"/>
              </a:ext>
            </a:extLst>
          </p:cNvPr>
          <p:cNvSpPr/>
          <p:nvPr/>
        </p:nvSpPr>
        <p:spPr>
          <a:xfrm>
            <a:off x="9889099" y="6011539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DC2C612-D83A-3BFF-E904-1BF7690DE0D7}"/>
              </a:ext>
            </a:extLst>
          </p:cNvPr>
          <p:cNvSpPr/>
          <p:nvPr/>
        </p:nvSpPr>
        <p:spPr>
          <a:xfrm>
            <a:off x="9888949" y="7822683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FA6249-4915-A9FA-38CE-29E70DF05A1F}"/>
              </a:ext>
            </a:extLst>
          </p:cNvPr>
          <p:cNvSpPr txBox="1"/>
          <p:nvPr/>
        </p:nvSpPr>
        <p:spPr>
          <a:xfrm>
            <a:off x="10134600" y="1254929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 jakiej metodyce będziemy pracować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B3BA5B1-C693-B96D-A9B5-1584F8CC0FD7}"/>
              </a:ext>
            </a:extLst>
          </p:cNvPr>
          <p:cNvSpPr txBox="1"/>
          <p:nvPr/>
        </p:nvSpPr>
        <p:spPr>
          <a:xfrm>
            <a:off x="10185452" y="3107105"/>
            <a:ext cx="7144351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Jaki budżet jest niezbędny do realizacji projektu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56ED662-F6AC-FD29-1CEF-BEFD76A356C8}"/>
              </a:ext>
            </a:extLst>
          </p:cNvPr>
          <p:cNvSpPr txBox="1"/>
          <p:nvPr/>
        </p:nvSpPr>
        <p:spPr>
          <a:xfrm>
            <a:off x="10134600" y="4892764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Jakie technologie będziemy wykorzystywać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2AC322C-B5B9-C38A-81BC-C0B87B66FFF3}"/>
              </a:ext>
            </a:extLst>
          </p:cNvPr>
          <p:cNvSpPr txBox="1"/>
          <p:nvPr/>
        </p:nvSpPr>
        <p:spPr>
          <a:xfrm>
            <a:off x="10185453" y="6703016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Jaki jest deadline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2B95F95-248F-FE17-5B20-2AD0C8C6DD85}"/>
              </a:ext>
            </a:extLst>
          </p:cNvPr>
          <p:cNvSpPr txBox="1"/>
          <p:nvPr/>
        </p:nvSpPr>
        <p:spPr>
          <a:xfrm>
            <a:off x="10134600" y="8514160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Ile osób będzie pracowało nad projektem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6610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2D4FB-3C3D-4B01-18CC-7AE320C6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41BE11E-3CA4-EFC7-720E-BAB5EAC1F053}"/>
              </a:ext>
            </a:extLst>
          </p:cNvPr>
          <p:cNvSpPr txBox="1"/>
          <p:nvPr/>
        </p:nvSpPr>
        <p:spPr>
          <a:xfrm>
            <a:off x="1028700" y="1104900"/>
            <a:ext cx="7299138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Realizacja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6D263EC-3B36-5C4E-01DE-E668F8990536}"/>
              </a:ext>
            </a:extLst>
          </p:cNvPr>
          <p:cNvSpPr/>
          <p:nvPr/>
        </p:nvSpPr>
        <p:spPr>
          <a:xfrm>
            <a:off x="9890807" y="238925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D1BA5E2-96DC-FEE0-7E5E-CB27B4F7101F}"/>
              </a:ext>
            </a:extLst>
          </p:cNvPr>
          <p:cNvSpPr/>
          <p:nvPr/>
        </p:nvSpPr>
        <p:spPr>
          <a:xfrm>
            <a:off x="9890807" y="4200394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08FBDAA-0908-C29E-EF07-B9619144CB2F}"/>
              </a:ext>
            </a:extLst>
          </p:cNvPr>
          <p:cNvSpPr/>
          <p:nvPr/>
        </p:nvSpPr>
        <p:spPr>
          <a:xfrm>
            <a:off x="9889099" y="6011539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3D453F2-95D4-D9FD-A6C4-F839A311C192}"/>
              </a:ext>
            </a:extLst>
          </p:cNvPr>
          <p:cNvSpPr/>
          <p:nvPr/>
        </p:nvSpPr>
        <p:spPr>
          <a:xfrm>
            <a:off x="9888949" y="7822683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D51581F-DEDA-C176-245A-FBC38DC70945}"/>
              </a:ext>
            </a:extLst>
          </p:cNvPr>
          <p:cNvSpPr txBox="1"/>
          <p:nvPr/>
        </p:nvSpPr>
        <p:spPr>
          <a:xfrm>
            <a:off x="10134600" y="1254929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potrzebne jest wsparcie finansowe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AC8DDF8-E107-4BE0-7A38-B004E46BB2C2}"/>
              </a:ext>
            </a:extLst>
          </p:cNvPr>
          <p:cNvSpPr txBox="1"/>
          <p:nvPr/>
        </p:nvSpPr>
        <p:spPr>
          <a:xfrm>
            <a:off x="10185452" y="3107105"/>
            <a:ext cx="7144351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aktualna metodyka się sprawdza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005C08-B5D2-5F0E-582B-2A8EE8D1EEBB}"/>
              </a:ext>
            </a:extLst>
          </p:cNvPr>
          <p:cNvSpPr txBox="1"/>
          <p:nvPr/>
        </p:nvSpPr>
        <p:spPr>
          <a:xfrm>
            <a:off x="10134600" y="4892764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zasób osób jest wystarczający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C2B4E02-89D1-2668-9B8E-E9339E3B07D1}"/>
              </a:ext>
            </a:extLst>
          </p:cNvPr>
          <p:cNvSpPr txBox="1"/>
          <p:nvPr/>
        </p:nvSpPr>
        <p:spPr>
          <a:xfrm>
            <a:off x="10185453" y="6703016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zmieniły się wymagania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30BBC9C-46E9-B8D3-AC3A-F35495908B2E}"/>
              </a:ext>
            </a:extLst>
          </p:cNvPr>
          <p:cNvSpPr txBox="1"/>
          <p:nvPr/>
        </p:nvSpPr>
        <p:spPr>
          <a:xfrm>
            <a:off x="10134600" y="8514160"/>
            <a:ext cx="75438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potrzebujemy przesunąć termin deadline’u 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58595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4258A-E322-51FB-B803-62131869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2D5E91D-273E-17D8-14EE-A13556E043A5}"/>
              </a:ext>
            </a:extLst>
          </p:cNvPr>
          <p:cNvSpPr txBox="1"/>
          <p:nvPr/>
        </p:nvSpPr>
        <p:spPr>
          <a:xfrm>
            <a:off x="1028700" y="1104900"/>
            <a:ext cx="7658100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Wdrożenie &amp;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Monitoring 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2127477-2093-E74F-925F-80EC5FD07E4B}"/>
              </a:ext>
            </a:extLst>
          </p:cNvPr>
          <p:cNvSpPr/>
          <p:nvPr/>
        </p:nvSpPr>
        <p:spPr>
          <a:xfrm>
            <a:off x="9890807" y="238925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DD3C03A-B934-158D-9455-3A1582984B5C}"/>
              </a:ext>
            </a:extLst>
          </p:cNvPr>
          <p:cNvSpPr/>
          <p:nvPr/>
        </p:nvSpPr>
        <p:spPr>
          <a:xfrm>
            <a:off x="9890807" y="4200394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A4F7C28-5877-D5AE-3493-E833CB3E74ED}"/>
              </a:ext>
            </a:extLst>
          </p:cNvPr>
          <p:cNvSpPr/>
          <p:nvPr/>
        </p:nvSpPr>
        <p:spPr>
          <a:xfrm>
            <a:off x="9889099" y="6011539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69CBC7D-3B70-012A-C837-4EC8BEDBE390}"/>
              </a:ext>
            </a:extLst>
          </p:cNvPr>
          <p:cNvSpPr/>
          <p:nvPr/>
        </p:nvSpPr>
        <p:spPr>
          <a:xfrm>
            <a:off x="9888949" y="7822683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A86A0B8-7DD8-E398-A4FB-DD1BFE21093B}"/>
              </a:ext>
            </a:extLst>
          </p:cNvPr>
          <p:cNvSpPr txBox="1"/>
          <p:nvPr/>
        </p:nvSpPr>
        <p:spPr>
          <a:xfrm>
            <a:off x="10134600" y="1254929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process tworzenia przebiegł pomyślnie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7FFDFD-6A74-1203-1622-D4567E8D3C1C}"/>
              </a:ext>
            </a:extLst>
          </p:cNvPr>
          <p:cNvSpPr txBox="1"/>
          <p:nvPr/>
        </p:nvSpPr>
        <p:spPr>
          <a:xfrm>
            <a:off x="10185452" y="3107105"/>
            <a:ext cx="7144351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Jakie błędy popełniono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13E21DC-9648-3CF8-D082-D20602C04A4A}"/>
              </a:ext>
            </a:extLst>
          </p:cNvPr>
          <p:cNvSpPr txBox="1"/>
          <p:nvPr/>
        </p:nvSpPr>
        <p:spPr>
          <a:xfrm>
            <a:off x="10134600" y="4892764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produkt jest gotowy do wdrożenia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C660CF7-DDBB-C405-1BF6-3F9887177B54}"/>
              </a:ext>
            </a:extLst>
          </p:cNvPr>
          <p:cNvSpPr txBox="1"/>
          <p:nvPr/>
        </p:nvSpPr>
        <p:spPr>
          <a:xfrm>
            <a:off x="10185452" y="6703016"/>
            <a:ext cx="7492947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Liczba użytkowników systemu wzrasta/maleje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BD8CF8A-5876-E951-18BE-106438A0103B}"/>
              </a:ext>
            </a:extLst>
          </p:cNvPr>
          <p:cNvSpPr txBox="1"/>
          <p:nvPr/>
        </p:nvSpPr>
        <p:spPr>
          <a:xfrm>
            <a:off x="10134600" y="8514160"/>
            <a:ext cx="75438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potrzebna jest aktualizacja systemu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47197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3D415-B405-F2BB-44B4-745F274D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CC9F9BE-D78D-107B-84CC-1BCDB31B43F2}"/>
              </a:ext>
            </a:extLst>
          </p:cNvPr>
          <p:cNvSpPr txBox="1"/>
          <p:nvPr/>
        </p:nvSpPr>
        <p:spPr>
          <a:xfrm>
            <a:off x="1028700" y="1104900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6. Jakie artefakty powstają w kolejnych fazach życia projektu?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8954E7-4936-A355-B6B5-3B5AF7F6B7C5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AD47B8-669F-23F3-8E2A-25F303F69860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674B9AF0-F30F-F4C1-114E-DFD72614CF15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1357274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3371-CF9A-7DAD-35B6-8E27F5F9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80D5E8C-8189-A623-FB1B-F6679A86BEC0}"/>
              </a:ext>
            </a:extLst>
          </p:cNvPr>
          <p:cNvSpPr txBox="1"/>
          <p:nvPr/>
        </p:nvSpPr>
        <p:spPr>
          <a:xfrm>
            <a:off x="1028700" y="1104900"/>
            <a:ext cx="7741099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ARTEFAKTY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7ED84C4-C04B-840C-F3DD-9987510DD874}"/>
              </a:ext>
            </a:extLst>
          </p:cNvPr>
          <p:cNvSpPr txBox="1"/>
          <p:nvPr/>
        </p:nvSpPr>
        <p:spPr>
          <a:xfrm>
            <a:off x="10004482" y="990600"/>
            <a:ext cx="6988118" cy="1965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Są to </a:t>
            </a:r>
            <a:r>
              <a: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elementy projektu, takie jak</a:t>
            </a: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kod źródłowy, dokumentacja, modele, </a:t>
            </a: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pliki </a:t>
            </a:r>
            <a:r>
              <a: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test</a:t>
            </a: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owe</a:t>
            </a:r>
            <a:r>
              <a: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czy pliki konfiguracyjne</a:t>
            </a: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powstałe podczas jego implementacji</a:t>
            </a:r>
            <a:endParaRPr lang="pl-PL" sz="3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5C36154-0CA7-27FC-98CF-231E802271E5}"/>
              </a:ext>
            </a:extLst>
          </p:cNvPr>
          <p:cNvSpPr txBox="1"/>
          <p:nvPr/>
        </p:nvSpPr>
        <p:spPr>
          <a:xfrm>
            <a:off x="1506867" y="2718295"/>
            <a:ext cx="6784764" cy="758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Przykłady artefaktów dla każdej z faz:</a:t>
            </a:r>
          </a:p>
          <a:p>
            <a:pPr marL="342900" indent="-342900" algn="l">
              <a:lnSpc>
                <a:spcPts val="3325"/>
              </a:lnSpc>
              <a:buFont typeface="Arial" panose="020B0604020202020204" pitchFamily="34" charset="0"/>
              <a:buChar char="•"/>
            </a:pPr>
            <a:r>
              <a:rPr lang="en-US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Analiza wymagań – dokument word z wymaganiami otrzymany od interesariusza</a:t>
            </a:r>
          </a:p>
          <a:p>
            <a:pPr marL="342900" indent="-342900" algn="l">
              <a:lnSpc>
                <a:spcPts val="3325"/>
              </a:lnSpc>
              <a:buFont typeface="Arial" panose="020B0604020202020204" pitchFamily="34" charset="0"/>
              <a:buChar char="•"/>
            </a:pPr>
            <a:r>
              <a:rPr lang="en-US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Projektowanie – document excel dotyczący niezbędnych zasobów do realizacji projektu</a:t>
            </a:r>
          </a:p>
          <a:p>
            <a:pPr marL="342900" indent="-342900" algn="l">
              <a:lnSpc>
                <a:spcPts val="3325"/>
              </a:lnSpc>
              <a:buFont typeface="Arial" panose="020B0604020202020204" pitchFamily="34" charset="0"/>
              <a:buChar char="•"/>
            </a:pPr>
            <a:r>
              <a:rPr lang="en-US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Implementacja – pliki z rozszerzeniem .py implementujące jedną z funkcjonalności gotowego rozwiązania</a:t>
            </a:r>
          </a:p>
          <a:p>
            <a:pPr marL="342900" indent="-342900" algn="l">
              <a:lnSpc>
                <a:spcPts val="3325"/>
              </a:lnSpc>
              <a:buFont typeface="Arial" panose="020B0604020202020204" pitchFamily="34" charset="0"/>
              <a:buChar char="•"/>
            </a:pPr>
            <a:r>
              <a:rPr lang="en-US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Testowanie – zapis ze spotkania z zespołem testerów odnośnie wadliwych lub niedziałających części rozwiązania  </a:t>
            </a:r>
          </a:p>
          <a:p>
            <a:pPr marL="342900" indent="-342900" algn="l">
              <a:lnSpc>
                <a:spcPts val="3325"/>
              </a:lnSpc>
              <a:buFont typeface="Arial" panose="020B0604020202020204" pitchFamily="34" charset="0"/>
              <a:buChar char="•"/>
            </a:pPr>
            <a:r>
              <a:rPr lang="en-US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Wdrożenie – mail od CEO ze zgodą na umieszczenie rozwiązania w domenie publicznej </a:t>
            </a:r>
          </a:p>
          <a:p>
            <a:pPr marL="342900" indent="-342900" algn="l">
              <a:lnSpc>
                <a:spcPts val="3325"/>
              </a:lnSpc>
              <a:buFont typeface="Arial" panose="020B0604020202020204" pitchFamily="34" charset="0"/>
              <a:buChar char="•"/>
            </a:pPr>
            <a:r>
              <a:rPr lang="en-US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Utrzymanie – raporty PDF z podsumowaniem wydajności rozwiązania</a:t>
            </a:r>
          </a:p>
          <a:p>
            <a:pPr marL="342900" indent="-342900" algn="l">
              <a:lnSpc>
                <a:spcPts val="3325"/>
              </a:lnSpc>
              <a:buFont typeface="Arial" panose="020B0604020202020204" pitchFamily="34" charset="0"/>
              <a:buChar char="•"/>
            </a:pPr>
            <a:endParaRPr lang="en-US" sz="2375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l">
              <a:lnSpc>
                <a:spcPts val="3325"/>
              </a:lnSpc>
              <a:buFont typeface="Arial" panose="020B0604020202020204" pitchFamily="34" charset="0"/>
              <a:buChar char="•"/>
            </a:pPr>
            <a:endParaRPr lang="pl-PL" sz="2375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6E46AEF-E7D4-56B4-70D0-20314DC4AFA1}"/>
              </a:ext>
            </a:extLst>
          </p:cNvPr>
          <p:cNvSpPr/>
          <p:nvPr/>
        </p:nvSpPr>
        <p:spPr>
          <a:xfrm>
            <a:off x="10004482" y="3079750"/>
            <a:ext cx="7254818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DFCE066-B1C6-BC75-9800-66EDCB35B04F}"/>
              </a:ext>
            </a:extLst>
          </p:cNvPr>
          <p:cNvSpPr txBox="1"/>
          <p:nvPr/>
        </p:nvSpPr>
        <p:spPr>
          <a:xfrm>
            <a:off x="5334000" y="9777468"/>
            <a:ext cx="1264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https://www.geeksforgeeks.org/software-engineering/software-development-life-cycle-sdlc/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70091F3-8219-830B-7CC3-71E8B9A13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538" y="3578404"/>
            <a:ext cx="5298862" cy="536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73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88599-F034-CF7C-87C5-DBEA7074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E332E4E-C650-B371-DE95-F18B5D840E0C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7. </a:t>
            </a: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Jak zmienia się odpowiedzialność zespołu </a:t>
            </a:r>
            <a:endParaRPr lang="en-US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 cyklu życia produktu?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B43FEDC-3AF0-B383-680B-A92C0623C678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152AC15-2E02-EFA5-7AD4-C0C94B9440C8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5AFBAA0F-991D-CE72-56C9-DE73A696721A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44808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56CE9-5CF5-4092-DF78-91136A491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F9631B3-BF6B-218C-1406-D6FFDFF65A5D}"/>
              </a:ext>
            </a:extLst>
          </p:cNvPr>
          <p:cNvGrpSpPr/>
          <p:nvPr/>
        </p:nvGrpSpPr>
        <p:grpSpPr>
          <a:xfrm>
            <a:off x="5105400" y="795209"/>
            <a:ext cx="8810380" cy="1515675"/>
            <a:chOff x="0" y="0"/>
            <a:chExt cx="38935085" cy="669811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9E9EBE-C4E2-2FB0-4DDC-E283FC5DF439}"/>
                </a:ext>
              </a:extLst>
            </p:cNvPr>
            <p:cNvSpPr/>
            <p:nvPr/>
          </p:nvSpPr>
          <p:spPr>
            <a:xfrm>
              <a:off x="0" y="0"/>
              <a:ext cx="38935084" cy="6698114"/>
            </a:xfrm>
            <a:custGeom>
              <a:avLst/>
              <a:gdLst/>
              <a:ahLst/>
              <a:cxnLst/>
              <a:rect l="l" t="t" r="r" b="b"/>
              <a:pathLst>
                <a:path w="38935084" h="6698114">
                  <a:moveTo>
                    <a:pt x="0" y="0"/>
                  </a:moveTo>
                  <a:lnTo>
                    <a:pt x="0" y="6698114"/>
                  </a:lnTo>
                  <a:lnTo>
                    <a:pt x="38935084" y="6698114"/>
                  </a:lnTo>
                  <a:lnTo>
                    <a:pt x="38935084" y="0"/>
                  </a:lnTo>
                  <a:lnTo>
                    <a:pt x="0" y="0"/>
                  </a:lnTo>
                  <a:close/>
                  <a:moveTo>
                    <a:pt x="38874123" y="6637155"/>
                  </a:moveTo>
                  <a:lnTo>
                    <a:pt x="59690" y="6637155"/>
                  </a:lnTo>
                  <a:lnTo>
                    <a:pt x="59690" y="59690"/>
                  </a:lnTo>
                  <a:lnTo>
                    <a:pt x="38874123" y="59690"/>
                  </a:lnTo>
                  <a:lnTo>
                    <a:pt x="38874123" y="6637155"/>
                  </a:lnTo>
                  <a:close/>
                </a:path>
              </a:pathLst>
            </a:custGeom>
            <a:solidFill>
              <a:srgbClr val="2F9671"/>
            </a:solidFill>
          </p:spPr>
          <p:txBody>
            <a:bodyPr/>
            <a:lstStyle/>
            <a:p>
              <a:endParaRPr lang="pl-PL" noProof="1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28C56EC-57FD-8296-1ABD-67C7B7A2E207}"/>
              </a:ext>
            </a:extLst>
          </p:cNvPr>
          <p:cNvSpPr txBox="1"/>
          <p:nvPr/>
        </p:nvSpPr>
        <p:spPr>
          <a:xfrm>
            <a:off x="5823926" y="1209910"/>
            <a:ext cx="7998764" cy="71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Z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espół musi stale dostosowywać swoje działania do aktualnego etapu życia produktu.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0425D28-6DCF-035F-810F-9E969FAF57E1}"/>
              </a:ext>
            </a:extLst>
          </p:cNvPr>
          <p:cNvSpPr/>
          <p:nvPr/>
        </p:nvSpPr>
        <p:spPr>
          <a:xfrm>
            <a:off x="1028700" y="4009360"/>
            <a:ext cx="16230600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79210A4-984A-3F49-4F1B-56884D519317}"/>
              </a:ext>
            </a:extLst>
          </p:cNvPr>
          <p:cNvSpPr/>
          <p:nvPr/>
        </p:nvSpPr>
        <p:spPr>
          <a:xfrm>
            <a:off x="1028700" y="5128331"/>
            <a:ext cx="16230600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74B5976-885F-2178-2034-A4AE3C645496}"/>
              </a:ext>
            </a:extLst>
          </p:cNvPr>
          <p:cNvSpPr/>
          <p:nvPr/>
        </p:nvSpPr>
        <p:spPr>
          <a:xfrm>
            <a:off x="1028700" y="6247302"/>
            <a:ext cx="16230600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BC9E8AB8-C860-BD45-820D-B4A58745B32C}"/>
              </a:ext>
            </a:extLst>
          </p:cNvPr>
          <p:cNvSpPr/>
          <p:nvPr/>
        </p:nvSpPr>
        <p:spPr>
          <a:xfrm>
            <a:off x="1028700" y="7366273"/>
            <a:ext cx="16230600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3BB9ADE-05D0-5341-D2F6-B479BF8F0A00}"/>
              </a:ext>
            </a:extLst>
          </p:cNvPr>
          <p:cNvSpPr/>
          <p:nvPr/>
        </p:nvSpPr>
        <p:spPr>
          <a:xfrm>
            <a:off x="1028700" y="8485244"/>
            <a:ext cx="16230600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2D8D4E0-CAB3-2615-B60F-882BB7E3ED5D}"/>
              </a:ext>
            </a:extLst>
          </p:cNvPr>
          <p:cNvSpPr txBox="1"/>
          <p:nvPr/>
        </p:nvSpPr>
        <p:spPr>
          <a:xfrm>
            <a:off x="2195814" y="3108624"/>
            <a:ext cx="13872927" cy="71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 początkowej fazie najważniejszą rolę odgrywają analitycy i architekci systemów, którzy definiują wymagania i projekt rozwiązania.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AE5C0B3-BEFE-D464-C485-193AF94AFF1C}"/>
              </a:ext>
            </a:extLst>
          </p:cNvPr>
          <p:cNvSpPr txBox="1"/>
          <p:nvPr/>
        </p:nvSpPr>
        <p:spPr>
          <a:xfrm>
            <a:off x="2207537" y="4436685"/>
            <a:ext cx="13872927" cy="3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Podczas implementacji główną rolę pełnią programiści odpowiedzialni za tworzenie kodu aplikacji.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DA18E2E-B816-EF80-879F-37CF02AE88D2}"/>
              </a:ext>
            </a:extLst>
          </p:cNvPr>
          <p:cNvSpPr txBox="1"/>
          <p:nvPr/>
        </p:nvSpPr>
        <p:spPr>
          <a:xfrm>
            <a:off x="2207537" y="5484994"/>
            <a:ext cx="13872927" cy="3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Następnie testerzy sprawdzają, czy system działa poprawnie i czy spełnia wszystkie wymagania.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F17B71B-9650-80ED-75C1-7BABF38BE6D8}"/>
              </a:ext>
            </a:extLst>
          </p:cNvPr>
          <p:cNvSpPr txBox="1"/>
          <p:nvPr/>
        </p:nvSpPr>
        <p:spPr>
          <a:xfrm>
            <a:off x="2207537" y="6489137"/>
            <a:ext cx="13872927" cy="71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Po wdrożeniu produktu pojawia się faza utrzymania. Wtedy zespół skupia się głównie na naprawianiu błędów, aktualizacjach bezpieczeństwa oraz rozwijaniu nowych funkcji.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664727F-62FE-0A33-1BE5-0CE7EDEAB28F}"/>
              </a:ext>
            </a:extLst>
          </p:cNvPr>
          <p:cNvSpPr txBox="1"/>
          <p:nvPr/>
        </p:nvSpPr>
        <p:spPr>
          <a:xfrm>
            <a:off x="2207537" y="7559905"/>
            <a:ext cx="13872927" cy="740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 praktyce oznacza to, że zespół musi stale dostosowywać swoje działania do aktualnego etapu życia produktu.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A75D21C-4D31-08DA-84A1-2597CBAD5F9E}"/>
              </a:ext>
            </a:extLst>
          </p:cNvPr>
          <p:cNvSpPr txBox="1"/>
          <p:nvPr/>
        </p:nvSpPr>
        <p:spPr>
          <a:xfrm>
            <a:off x="1176685" y="3226221"/>
            <a:ext cx="351137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FC2FA27-47B5-2164-C556-0B6FF635D3E2}"/>
              </a:ext>
            </a:extLst>
          </p:cNvPr>
          <p:cNvSpPr txBox="1"/>
          <p:nvPr/>
        </p:nvSpPr>
        <p:spPr>
          <a:xfrm>
            <a:off x="1176685" y="4345192"/>
            <a:ext cx="351137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4A434EE-B4E8-B1CB-2E7F-A15AA26573CB}"/>
              </a:ext>
            </a:extLst>
          </p:cNvPr>
          <p:cNvSpPr txBox="1"/>
          <p:nvPr/>
        </p:nvSpPr>
        <p:spPr>
          <a:xfrm>
            <a:off x="1176685" y="5464163"/>
            <a:ext cx="351137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1EAA6CF-3C4B-0154-663A-66DC7EDEEF58}"/>
              </a:ext>
            </a:extLst>
          </p:cNvPr>
          <p:cNvSpPr txBox="1"/>
          <p:nvPr/>
        </p:nvSpPr>
        <p:spPr>
          <a:xfrm>
            <a:off x="1176685" y="6583134"/>
            <a:ext cx="351137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4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6F1CEFC1-3A9D-2BF5-6253-9935E329DC1F}"/>
              </a:ext>
            </a:extLst>
          </p:cNvPr>
          <p:cNvSpPr txBox="1"/>
          <p:nvPr/>
        </p:nvSpPr>
        <p:spPr>
          <a:xfrm>
            <a:off x="6934200" y="9618869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https://www.atlassian.com/software-development</a:t>
            </a:r>
          </a:p>
        </p:txBody>
      </p:sp>
    </p:spTree>
    <p:extLst>
      <p:ext uri="{BB962C8B-B14F-4D97-AF65-F5344CB8AC3E}">
        <p14:creationId xmlns:p14="http://schemas.microsoft.com/office/powerpoint/2010/main" val="3008186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3BEA6-45CE-C6B2-0FCD-60DA0D32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0218561-D9D6-95F4-348A-A7B7CA7C0EDC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8. Jakie są różnice między podejściem sekwencyjnym a iteracyjnym w cyklu życia?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5FB1E5-68B4-0039-6A69-B24C4593F04A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BD75410-C9BD-C0BF-6387-C6E5066682F9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8E0BAF13-0392-78B5-8C2E-0400F2BD1B51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509795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A2652C58-CAB1-CD7F-997B-C4E8B28D7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80140"/>
            <a:ext cx="18288000" cy="99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32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FA09-3937-376B-AFFF-63C1D2AE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400FDBF-740B-A01E-DBEB-B9C80241DE68}"/>
              </a:ext>
            </a:extLst>
          </p:cNvPr>
          <p:cNvGrpSpPr/>
          <p:nvPr/>
        </p:nvGrpSpPr>
        <p:grpSpPr>
          <a:xfrm>
            <a:off x="0" y="4020488"/>
            <a:ext cx="9185027" cy="4187706"/>
            <a:chOff x="0" y="-47625"/>
            <a:chExt cx="5413857" cy="241655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5D4EB18-4FF6-8980-C200-26812C3F7849}"/>
                </a:ext>
              </a:extLst>
            </p:cNvPr>
            <p:cNvSpPr txBox="1"/>
            <p:nvPr/>
          </p:nvSpPr>
          <p:spPr>
            <a:xfrm>
              <a:off x="0" y="-47625"/>
              <a:ext cx="5389674" cy="2416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pl-PL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W podejściu iteracyjnym projekt rozwijany jest stopniowo w wielu krótkich cyklach pracy. Każdy cykl (np. sprint w Scrumie) dostarcza część funkcjonalności systemu.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3C4CBF3-923E-BA90-C3B8-C76651B67924}"/>
                </a:ext>
              </a:extLst>
            </p:cNvPr>
            <p:cNvSpPr txBox="1"/>
            <p:nvPr/>
          </p:nvSpPr>
          <p:spPr>
            <a:xfrm>
              <a:off x="24183" y="1575567"/>
              <a:ext cx="5389674" cy="7778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praca w krótkich cyklach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szybkie dostarczanie funkcji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łatwiejsze wprowadzanie zmian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CE6B78E6-9AC9-572C-3362-6A80B1B99BEC}"/>
              </a:ext>
            </a:extLst>
          </p:cNvPr>
          <p:cNvSpPr txBox="1"/>
          <p:nvPr/>
        </p:nvSpPr>
        <p:spPr>
          <a:xfrm>
            <a:off x="0" y="1085850"/>
            <a:ext cx="9144000" cy="1162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AGILE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74872E4-255A-D76C-D6FD-BA0393A251BB}"/>
              </a:ext>
            </a:extLst>
          </p:cNvPr>
          <p:cNvGrpSpPr/>
          <p:nvPr/>
        </p:nvGrpSpPr>
        <p:grpSpPr>
          <a:xfrm>
            <a:off x="9144000" y="4027664"/>
            <a:ext cx="9179168" cy="3951446"/>
            <a:chOff x="0" y="-47625"/>
            <a:chExt cx="5410403" cy="5268593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CF4D9CD-E6C8-902B-0A18-B936F93AF12C}"/>
                </a:ext>
              </a:extLst>
            </p:cNvPr>
            <p:cNvSpPr txBox="1"/>
            <p:nvPr/>
          </p:nvSpPr>
          <p:spPr>
            <a:xfrm>
              <a:off x="0" y="-47625"/>
              <a:ext cx="5389674" cy="2416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pl-PL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W podejściu sekwencyjnym projekt przebiega w określonej kolejności. Najpierw analiza, potem projekt, następnie programowanie i testy. Każdy etap musi zostać zakończony przed rozpoczęciem kolejnego.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F58601C-8CA0-F55C-1661-B8B3894A45CE}"/>
                </a:ext>
              </a:extLst>
            </p:cNvPr>
            <p:cNvSpPr txBox="1"/>
            <p:nvPr/>
          </p:nvSpPr>
          <p:spPr>
            <a:xfrm>
              <a:off x="20729" y="3423638"/>
              <a:ext cx="5389674" cy="1797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fazy realizowane po kolei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plan ustalony na początku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trudne zmiany w projekcie</a:t>
              </a:r>
            </a:p>
          </p:txBody>
        </p: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C8313C18-5B09-9B19-7D68-D25FB8811168}"/>
              </a:ext>
            </a:extLst>
          </p:cNvPr>
          <p:cNvSpPr/>
          <p:nvPr/>
        </p:nvSpPr>
        <p:spPr>
          <a:xfrm rot="-5400000">
            <a:off x="6865482" y="6334726"/>
            <a:ext cx="4557037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FF62D614-8941-2B9F-DF20-A42FAE788A56}"/>
              </a:ext>
            </a:extLst>
          </p:cNvPr>
          <p:cNvSpPr txBox="1"/>
          <p:nvPr/>
        </p:nvSpPr>
        <p:spPr>
          <a:xfrm>
            <a:off x="3373678" y="9868961"/>
            <a:ext cx="11540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https://www.easyredmine.com/news/waterfall-vs-agile-what-is-the-best-approach-for-a-software-development-project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A488AC0E-A106-B015-6087-D4E39EB56DFB}"/>
              </a:ext>
            </a:extLst>
          </p:cNvPr>
          <p:cNvSpPr txBox="1"/>
          <p:nvPr/>
        </p:nvSpPr>
        <p:spPr>
          <a:xfrm>
            <a:off x="9144000" y="1106365"/>
            <a:ext cx="9144000" cy="1162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WATERFALL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</p:spTree>
    <p:extLst>
      <p:ext uri="{BB962C8B-B14F-4D97-AF65-F5344CB8AC3E}">
        <p14:creationId xmlns:p14="http://schemas.microsoft.com/office/powerpoint/2010/main" val="778561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6643C-419B-6378-D999-2CB6F4C5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E5B180D-5907-4A00-9930-D237CD434E24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9. Jak zarządzać przejściem projektu w fazę utrzymania produktu?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432D01-97A1-A61A-E613-D36FA8D4358E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50806E9-8933-FFCB-6961-788BF07B4D71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8D7CFAD7-7C99-C0C2-7F40-7F9CC35091A2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1998574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7CE57-F853-B952-A554-1BA25E48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F46C3BE-837F-E414-652D-7FDD11180B7A}"/>
              </a:ext>
            </a:extLst>
          </p:cNvPr>
          <p:cNvSpPr txBox="1"/>
          <p:nvPr/>
        </p:nvSpPr>
        <p:spPr>
          <a:xfrm>
            <a:off x="1028699" y="629443"/>
            <a:ext cx="7299138" cy="902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Do przejścia 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 ostatnią fazę, czyli utrzymanie produktu warto wziąć pod uwagę cztery kwestie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50D4518-29DD-9273-1F8A-3A0BFA3D8F5D}"/>
              </a:ext>
            </a:extLst>
          </p:cNvPr>
          <p:cNvSpPr/>
          <p:nvPr/>
        </p:nvSpPr>
        <p:spPr>
          <a:xfrm>
            <a:off x="9564675" y="329579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33AC5AE-1F7C-2E9C-37FD-8045177D3083}"/>
              </a:ext>
            </a:extLst>
          </p:cNvPr>
          <p:cNvSpPr/>
          <p:nvPr/>
        </p:nvSpPr>
        <p:spPr>
          <a:xfrm>
            <a:off x="9562967" y="5106935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84C2FF0-A883-24C9-EC54-AECC1D9DFCAF}"/>
              </a:ext>
            </a:extLst>
          </p:cNvPr>
          <p:cNvSpPr/>
          <p:nvPr/>
        </p:nvSpPr>
        <p:spPr>
          <a:xfrm>
            <a:off x="9562817" y="6918079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B6BC0D-D2A4-D9B7-4090-A4EA4C0A22E3}"/>
              </a:ext>
            </a:extLst>
          </p:cNvPr>
          <p:cNvSpPr txBox="1"/>
          <p:nvPr/>
        </p:nvSpPr>
        <p:spPr>
          <a:xfrm>
            <a:off x="11396626" y="2247900"/>
            <a:ext cx="5312401" cy="3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Wyznaczenie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zesp</a:t>
            </a: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ołu 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utrzymania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0159EFE-A3FC-8103-95BF-34962BE10B28}"/>
              </a:ext>
            </a:extLst>
          </p:cNvPr>
          <p:cNvSpPr txBox="1"/>
          <p:nvPr/>
        </p:nvSpPr>
        <p:spPr>
          <a:xfrm>
            <a:off x="11396626" y="3998540"/>
            <a:ext cx="5312401" cy="3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przygotowa</a:t>
            </a: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nie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plan</a:t>
            </a: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aktualizacji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B2D4807-A0C9-9793-1F2D-3D65278486D9}"/>
              </a:ext>
            </a:extLst>
          </p:cNvPr>
          <p:cNvSpPr txBox="1"/>
          <p:nvPr/>
        </p:nvSpPr>
        <p:spPr>
          <a:xfrm>
            <a:off x="11396624" y="5851282"/>
            <a:ext cx="5312401" cy="3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wdroż</a:t>
            </a: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enie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system</a:t>
            </a: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monitoringu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43DC01A-8B8E-546D-F92E-51D1F8033060}"/>
              </a:ext>
            </a:extLst>
          </p:cNvPr>
          <p:cNvSpPr txBox="1"/>
          <p:nvPr/>
        </p:nvSpPr>
        <p:spPr>
          <a:xfrm>
            <a:off x="11396625" y="7745395"/>
            <a:ext cx="5312401" cy="3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rzygotow</a:t>
            </a: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anie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dokumentacj</a:t>
            </a: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 techniczn</a:t>
            </a: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ej</a:t>
            </a:r>
            <a:endParaRPr lang="pl-PL" sz="21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4A35E3E-1305-6171-FA32-E6B72D42B1A5}"/>
              </a:ext>
            </a:extLst>
          </p:cNvPr>
          <p:cNvSpPr/>
          <p:nvPr/>
        </p:nvSpPr>
        <p:spPr>
          <a:xfrm>
            <a:off x="9960164" y="3789597"/>
            <a:ext cx="874391" cy="833056"/>
          </a:xfrm>
          <a:custGeom>
            <a:avLst/>
            <a:gdLst/>
            <a:ahLst/>
            <a:cxnLst/>
            <a:rect l="l" t="t" r="r" b="b"/>
            <a:pathLst>
              <a:path w="874391" h="833056">
                <a:moveTo>
                  <a:pt x="0" y="0"/>
                </a:moveTo>
                <a:lnTo>
                  <a:pt x="874391" y="0"/>
                </a:lnTo>
                <a:lnTo>
                  <a:pt x="874391" y="833056"/>
                </a:lnTo>
                <a:lnTo>
                  <a:pt x="0" y="83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noProof="1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123E029-75B5-9397-8839-2014690013B9}"/>
              </a:ext>
            </a:extLst>
          </p:cNvPr>
          <p:cNvSpPr/>
          <p:nvPr/>
        </p:nvSpPr>
        <p:spPr>
          <a:xfrm>
            <a:off x="10068271" y="1957785"/>
            <a:ext cx="658178" cy="874391"/>
          </a:xfrm>
          <a:custGeom>
            <a:avLst/>
            <a:gdLst/>
            <a:ahLst/>
            <a:cxnLst/>
            <a:rect l="l" t="t" r="r" b="b"/>
            <a:pathLst>
              <a:path w="658178" h="874391">
                <a:moveTo>
                  <a:pt x="0" y="0"/>
                </a:moveTo>
                <a:lnTo>
                  <a:pt x="658177" y="0"/>
                </a:lnTo>
                <a:lnTo>
                  <a:pt x="658177" y="874391"/>
                </a:lnTo>
                <a:lnTo>
                  <a:pt x="0" y="874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noProof="1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ADF7A31-964D-7164-760E-B09F089A0576}"/>
              </a:ext>
            </a:extLst>
          </p:cNvPr>
          <p:cNvSpPr/>
          <p:nvPr/>
        </p:nvSpPr>
        <p:spPr>
          <a:xfrm>
            <a:off x="10018987" y="7479305"/>
            <a:ext cx="756745" cy="874391"/>
          </a:xfrm>
          <a:custGeom>
            <a:avLst/>
            <a:gdLst/>
            <a:ahLst/>
            <a:cxnLst/>
            <a:rect l="l" t="t" r="r" b="b"/>
            <a:pathLst>
              <a:path w="756745" h="874391">
                <a:moveTo>
                  <a:pt x="0" y="0"/>
                </a:moveTo>
                <a:lnTo>
                  <a:pt x="756745" y="0"/>
                </a:lnTo>
                <a:lnTo>
                  <a:pt x="756745" y="874391"/>
                </a:lnTo>
                <a:lnTo>
                  <a:pt x="0" y="874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noProof="1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DCC3934-35AD-57AC-D0C3-C79B4C1212A7}"/>
              </a:ext>
            </a:extLst>
          </p:cNvPr>
          <p:cNvSpPr/>
          <p:nvPr/>
        </p:nvSpPr>
        <p:spPr>
          <a:xfrm>
            <a:off x="10077810" y="5580074"/>
            <a:ext cx="639100" cy="874391"/>
          </a:xfrm>
          <a:custGeom>
            <a:avLst/>
            <a:gdLst/>
            <a:ahLst/>
            <a:cxnLst/>
            <a:rect l="l" t="t" r="r" b="b"/>
            <a:pathLst>
              <a:path w="639100" h="874391">
                <a:moveTo>
                  <a:pt x="0" y="0"/>
                </a:moveTo>
                <a:lnTo>
                  <a:pt x="639100" y="0"/>
                </a:lnTo>
                <a:lnTo>
                  <a:pt x="639100" y="874391"/>
                </a:lnTo>
                <a:lnTo>
                  <a:pt x="0" y="8743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noProof="1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D162466A-215B-9455-E4B1-397486AE4FE9}"/>
              </a:ext>
            </a:extLst>
          </p:cNvPr>
          <p:cNvSpPr txBox="1"/>
          <p:nvPr/>
        </p:nvSpPr>
        <p:spPr>
          <a:xfrm>
            <a:off x="5067300" y="978203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https://www.evertop.pl/utrzymanie-systemow-it-czy-jest-potrzebne-i-dlaczego-tak/</a:t>
            </a:r>
          </a:p>
        </p:txBody>
      </p:sp>
    </p:spTree>
    <p:extLst>
      <p:ext uri="{BB962C8B-B14F-4D97-AF65-F5344CB8AC3E}">
        <p14:creationId xmlns:p14="http://schemas.microsoft.com/office/powerpoint/2010/main" val="3625299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FFC54-D875-FA95-C0F4-389D3F799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10DE582-8D54-34CE-F077-F0C8270A5A5C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10. Jak zoptymalizować cykl życia produktu IT w warunkach szybkich zmian rynkowych?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665BE5D-EC8A-BCDF-AA1E-E8F0B8F84BC2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DA9489F-5B59-809A-D793-4EC548830D5A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778EFB21-D6F3-4705-AA23-635B8558533B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3623178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10800" y="1145825"/>
            <a:ext cx="7048500" cy="5477326"/>
            <a:chOff x="0" y="76200"/>
            <a:chExt cx="11990509" cy="7303101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1990509" cy="3009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1" noProof="1">
                  <a:solidFill>
                    <a:srgbClr val="2F9671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Szybkie zmiany rynkowe</a:t>
              </a:r>
              <a:endParaRPr lang="pl-PL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57985"/>
              <a:ext cx="10964714" cy="2621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pl-PL" sz="30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Współczesny rynek technologiczny zmienia się bardzo szybko. Firmy muszą więc dostarczać nowe funkcje oprogramowania w krótkim czasie.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10801" y="7839361"/>
            <a:ext cx="7048500" cy="1426514"/>
            <a:chOff x="0" y="0"/>
            <a:chExt cx="11990509" cy="1060520"/>
          </a:xfrm>
        </p:grpSpPr>
        <p:sp>
          <p:nvSpPr>
            <p:cNvPr id="8" name="TextBox 8"/>
            <p:cNvSpPr txBox="1"/>
            <p:nvPr/>
          </p:nvSpPr>
          <p:spPr>
            <a:xfrm>
              <a:off x="0" y="401589"/>
              <a:ext cx="11990509" cy="658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Świat IT dysponuje kilkoma gotowymi rozwiązaniami…</a:t>
              </a:r>
              <a:endParaRPr lang="pl-PL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0"/>
              <a:ext cx="11990509" cy="0"/>
            </a:xfrm>
            <a:prstGeom prst="line">
              <a:avLst/>
            </a:prstGeom>
            <a:ln w="12700" cap="flat">
              <a:solidFill>
                <a:srgbClr val="2F967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  <p:pic>
        <p:nvPicPr>
          <p:cNvPr id="13" name="Obraz 12">
            <a:extLst>
              <a:ext uri="{FF2B5EF4-FFF2-40B4-BE49-F238E27FC236}">
                <a16:creationId xmlns:a16="http://schemas.microsoft.com/office/drawing/2014/main" id="{42708B8C-4D7C-D35D-8E31-1195BD652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31"/>
            <a:ext cx="9337160" cy="102899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86DB2-8181-81F5-88AC-E03634C16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59597E8-1727-BF3C-E7C0-ECA84B8DE15D}"/>
              </a:ext>
            </a:extLst>
          </p:cNvPr>
          <p:cNvGrpSpPr/>
          <p:nvPr/>
        </p:nvGrpSpPr>
        <p:grpSpPr>
          <a:xfrm>
            <a:off x="1434177" y="3552270"/>
            <a:ext cx="4417398" cy="4723861"/>
            <a:chOff x="0" y="-47625"/>
            <a:chExt cx="5889864" cy="6298479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2A1287A-F4CB-9AAC-24D0-AFB01307823A}"/>
                </a:ext>
              </a:extLst>
            </p:cNvPr>
            <p:cNvSpPr txBox="1"/>
            <p:nvPr/>
          </p:nvSpPr>
          <p:spPr>
            <a:xfrm>
              <a:off x="0" y="2279254"/>
              <a:ext cx="5889864" cy="39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sz="3200" noProof="1"/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Podejście Agile pozwala zespołom pracować w krótkich iteracjach i szybko reagować na zmieniające się wymagania.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4512028-B240-5EF8-619F-3C6BA5119F29}"/>
                </a:ext>
              </a:extLst>
            </p:cNvPr>
            <p:cNvSpPr txBox="1"/>
            <p:nvPr/>
          </p:nvSpPr>
          <p:spPr>
            <a:xfrm>
              <a:off x="0" y="-47625"/>
              <a:ext cx="5889864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pl-PL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Agile</a:t>
              </a: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1EB521A-DAB0-81B5-070E-671AFC6A1E04}"/>
              </a:ext>
            </a:extLst>
          </p:cNvPr>
          <p:cNvGrpSpPr/>
          <p:nvPr/>
        </p:nvGrpSpPr>
        <p:grpSpPr>
          <a:xfrm>
            <a:off x="7315200" y="3552270"/>
            <a:ext cx="4468553" cy="5095756"/>
            <a:chOff x="0" y="-47625"/>
            <a:chExt cx="5958071" cy="6794341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FBE05D8-0533-BD64-4F03-01533E9C3D4F}"/>
                </a:ext>
              </a:extLst>
            </p:cNvPr>
            <p:cNvSpPr txBox="1"/>
            <p:nvPr/>
          </p:nvSpPr>
          <p:spPr>
            <a:xfrm>
              <a:off x="68207" y="2279254"/>
              <a:ext cx="5889864" cy="4467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sz="3200" noProof="1"/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DevOps łączy zespoły programistów i administratorów, dzięki czemu proces wdrażania nowych wersji systemu jest szybszy i bardziej automatyczny.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4B8827F-EABF-FF7D-4EB5-BCDF74034C5E}"/>
                </a:ext>
              </a:extLst>
            </p:cNvPr>
            <p:cNvSpPr txBox="1"/>
            <p:nvPr/>
          </p:nvSpPr>
          <p:spPr>
            <a:xfrm>
              <a:off x="0" y="-47625"/>
              <a:ext cx="5889864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DevOps</a:t>
              </a:r>
              <a:endParaRPr lang="pl-PL" sz="32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65D338C-918E-0BC7-36E8-E5A77E39E052}"/>
              </a:ext>
            </a:extLst>
          </p:cNvPr>
          <p:cNvGrpSpPr/>
          <p:nvPr/>
        </p:nvGrpSpPr>
        <p:grpSpPr>
          <a:xfrm>
            <a:off x="13247379" y="3552270"/>
            <a:ext cx="4417398" cy="4351963"/>
            <a:chOff x="0" y="-47625"/>
            <a:chExt cx="5889864" cy="5802618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E352658-E718-4A04-56B3-B2AC43C10172}"/>
                </a:ext>
              </a:extLst>
            </p:cNvPr>
            <p:cNvSpPr txBox="1"/>
            <p:nvPr/>
          </p:nvSpPr>
          <p:spPr>
            <a:xfrm>
              <a:off x="0" y="2279254"/>
              <a:ext cx="5889864" cy="3475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sz="3200" noProof="1"/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Dodatkowo stosuje się narzędzia CI/CD, które automatyzują proces budowania, testowania i wdrażania oprogramowania.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D3A3377-1527-A70D-B832-35386BAE3D7A}"/>
                </a:ext>
              </a:extLst>
            </p:cNvPr>
            <p:cNvSpPr txBox="1"/>
            <p:nvPr/>
          </p:nvSpPr>
          <p:spPr>
            <a:xfrm>
              <a:off x="0" y="-47625"/>
              <a:ext cx="5889864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CI/CD</a:t>
              </a:r>
              <a:endParaRPr lang="pl-PL" sz="32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326DD4D-8FB2-C79A-77A7-819E851C5A84}"/>
              </a:ext>
            </a:extLst>
          </p:cNvPr>
          <p:cNvSpPr txBox="1"/>
          <p:nvPr/>
        </p:nvSpPr>
        <p:spPr>
          <a:xfrm>
            <a:off x="1434177" y="14859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72155E8-8DB1-EA39-D83D-8F2E59534934}"/>
              </a:ext>
            </a:extLst>
          </p:cNvPr>
          <p:cNvSpPr txBox="1"/>
          <p:nvPr/>
        </p:nvSpPr>
        <p:spPr>
          <a:xfrm>
            <a:off x="7315200" y="14859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6ED571E-D926-60D6-E97E-F0F19FF814A9}"/>
              </a:ext>
            </a:extLst>
          </p:cNvPr>
          <p:cNvSpPr txBox="1"/>
          <p:nvPr/>
        </p:nvSpPr>
        <p:spPr>
          <a:xfrm>
            <a:off x="13247379" y="14859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D15B1BC-D404-299B-605B-B144FEE11947}"/>
              </a:ext>
            </a:extLst>
          </p:cNvPr>
          <p:cNvSpPr/>
          <p:nvPr/>
        </p:nvSpPr>
        <p:spPr>
          <a:xfrm rot="-5400000">
            <a:off x="4091121" y="3897204"/>
            <a:ext cx="4984533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71DBDF5B-BF03-9B3C-6E4F-0E2B2322BF5E}"/>
              </a:ext>
            </a:extLst>
          </p:cNvPr>
          <p:cNvSpPr/>
          <p:nvPr/>
        </p:nvSpPr>
        <p:spPr>
          <a:xfrm rot="-5400000">
            <a:off x="10023300" y="3897204"/>
            <a:ext cx="4984533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E435DF46-A112-F95C-8AB7-A935F7327E0C}"/>
              </a:ext>
            </a:extLst>
          </p:cNvPr>
          <p:cNvSpPr txBox="1"/>
          <p:nvPr/>
        </p:nvSpPr>
        <p:spPr>
          <a:xfrm>
            <a:off x="4267200" y="9719211"/>
            <a:ext cx="975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https://blog.it-leaders.pl/czym-jest-ci-cd-wprowadzenie-do-ci-cd-dla-poczatkujacych/</a:t>
            </a:r>
            <a:br>
              <a:rPr lang="en-US" dirty="0"/>
            </a:br>
            <a:r>
              <a:rPr lang="en-US" dirty="0"/>
              <a:t>https://www.atlassian.com/devops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3647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CEFBB-5C89-97D6-A0FD-18C7B7DF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38CBC6D-307A-EF24-C94D-44D08D181B65}"/>
              </a:ext>
            </a:extLst>
          </p:cNvPr>
          <p:cNvSpPr txBox="1"/>
          <p:nvPr/>
        </p:nvSpPr>
        <p:spPr>
          <a:xfrm>
            <a:off x="1028700" y="1104900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11. Jak PMBOK 7 definiuje różnicę między projektem a produktem?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1EF30EB-67B3-D148-64E2-B0D44B8175AF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2879926-C77B-79CB-534C-9101A8AB6058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DADF749D-BC68-3C32-E3C1-6EF7E933AE06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1229593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5846F-25BC-47DF-5348-9ED5E8C8E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FBFAD09-F479-7A86-EC77-37C8A7A04ACF}"/>
              </a:ext>
            </a:extLst>
          </p:cNvPr>
          <p:cNvGrpSpPr/>
          <p:nvPr/>
        </p:nvGrpSpPr>
        <p:grpSpPr>
          <a:xfrm>
            <a:off x="762000" y="2527399"/>
            <a:ext cx="9167397" cy="6538531"/>
            <a:chOff x="0" y="1284447"/>
            <a:chExt cx="12223196" cy="8718040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2407326-9EE6-88FD-18E7-AA72A9679B0A}"/>
                </a:ext>
              </a:extLst>
            </p:cNvPr>
            <p:cNvSpPr txBox="1"/>
            <p:nvPr/>
          </p:nvSpPr>
          <p:spPr>
            <a:xfrm>
              <a:off x="0" y="1284447"/>
              <a:ext cx="12223196" cy="69762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83"/>
                </a:lnSpc>
              </a:pPr>
              <a:r>
                <a:rPr lang="en-US" sz="9984" b="1" noProof="1">
                  <a:solidFill>
                    <a:srgbClr val="2F9671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Project Management Body of Knowledge</a:t>
              </a:r>
              <a:endParaRPr lang="pl-PL" sz="9984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6A0B18A-1F6F-89D6-9A2B-DE51C491B1F7}"/>
                </a:ext>
              </a:extLst>
            </p:cNvPr>
            <p:cNvSpPr txBox="1"/>
            <p:nvPr/>
          </p:nvSpPr>
          <p:spPr>
            <a:xfrm>
              <a:off x="0" y="8694387"/>
              <a:ext cx="10564772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pl-PL" sz="30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to jeden z najważniejszych standardów zarządzania projektami na świecie.</a:t>
              </a: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FC61172-AD0E-6323-B1EA-E93D3E82F696}"/>
              </a:ext>
            </a:extLst>
          </p:cNvPr>
          <p:cNvGrpSpPr/>
          <p:nvPr/>
        </p:nvGrpSpPr>
        <p:grpSpPr>
          <a:xfrm>
            <a:off x="10972800" y="2095500"/>
            <a:ext cx="5909235" cy="6416299"/>
            <a:chOff x="0" y="0"/>
            <a:chExt cx="7878981" cy="4219411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2E4822D-50BA-B8A6-FF6D-2CF11AC2EC6B}"/>
                </a:ext>
              </a:extLst>
            </p:cNvPr>
            <p:cNvGrpSpPr/>
            <p:nvPr/>
          </p:nvGrpSpPr>
          <p:grpSpPr>
            <a:xfrm>
              <a:off x="0" y="0"/>
              <a:ext cx="7878981" cy="4219411"/>
              <a:chOff x="0" y="0"/>
              <a:chExt cx="26114264" cy="13984908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7BC912F-F81C-9653-7D4F-6A7B98C82B35}"/>
                  </a:ext>
                </a:extLst>
              </p:cNvPr>
              <p:cNvSpPr/>
              <p:nvPr/>
            </p:nvSpPr>
            <p:spPr>
              <a:xfrm>
                <a:off x="0" y="0"/>
                <a:ext cx="26114263" cy="13984908"/>
              </a:xfrm>
              <a:custGeom>
                <a:avLst/>
                <a:gdLst/>
                <a:ahLst/>
                <a:cxnLst/>
                <a:rect l="l" t="t" r="r" b="b"/>
                <a:pathLst>
                  <a:path w="26114263" h="13984908">
                    <a:moveTo>
                      <a:pt x="0" y="0"/>
                    </a:moveTo>
                    <a:lnTo>
                      <a:pt x="0" y="13984908"/>
                    </a:lnTo>
                    <a:lnTo>
                      <a:pt x="26114263" y="13984908"/>
                    </a:lnTo>
                    <a:lnTo>
                      <a:pt x="26114263" y="0"/>
                    </a:lnTo>
                    <a:lnTo>
                      <a:pt x="0" y="0"/>
                    </a:lnTo>
                    <a:close/>
                    <a:moveTo>
                      <a:pt x="26053303" y="13923949"/>
                    </a:moveTo>
                    <a:lnTo>
                      <a:pt x="59690" y="13923949"/>
                    </a:lnTo>
                    <a:lnTo>
                      <a:pt x="59690" y="59690"/>
                    </a:lnTo>
                    <a:lnTo>
                      <a:pt x="26053303" y="59690"/>
                    </a:lnTo>
                    <a:lnTo>
                      <a:pt x="26053303" y="13923949"/>
                    </a:lnTo>
                    <a:close/>
                  </a:path>
                </a:pathLst>
              </a:custGeom>
              <a:solidFill>
                <a:srgbClr val="2F9671"/>
              </a:solidFill>
            </p:spPr>
            <p:txBody>
              <a:bodyPr/>
              <a:lstStyle/>
              <a:p>
                <a:endParaRPr lang="pl-PL" noProof="1"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E85FC9A-8CEC-E3BE-E06E-0DC05B8DBA1B}"/>
                </a:ext>
              </a:extLst>
            </p:cNvPr>
            <p:cNvSpPr txBox="1"/>
            <p:nvPr/>
          </p:nvSpPr>
          <p:spPr>
            <a:xfrm>
              <a:off x="586225" y="413925"/>
              <a:ext cx="6706528" cy="35948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Według</a:t>
              </a: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definicji</a:t>
              </a: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 PMBOK:</a:t>
              </a:r>
            </a:p>
            <a:p>
              <a:pPr algn="ctr">
                <a:lnSpc>
                  <a:spcPts val="252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252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 projekt jest działaniem tymczasowym, które prowadzi do powstania czegoś nowego. 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252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252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Tym </a:t>
              </a: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czymś</a:t>
              </a: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 może być produkt, usługa lub określony wynik.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252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252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Produkt jest więc efektem projektu i może być wykorzystywany przez użytkowników przez długi czas po zakończeniu projektu.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8909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9A75C-E879-87DC-663A-3846F844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7FFFB9D-3D6C-1642-12DB-8FDEED6ED663}"/>
              </a:ext>
            </a:extLst>
          </p:cNvPr>
          <p:cNvSpPr txBox="1"/>
          <p:nvPr/>
        </p:nvSpPr>
        <p:spPr>
          <a:xfrm>
            <a:off x="1028700" y="1104900"/>
            <a:ext cx="16230600" cy="4360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12. Czym jest System Dostarczania Wartości </a:t>
            </a:r>
            <a:endParaRPr lang="en-US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(Value Delivery System) </a:t>
            </a:r>
            <a:endParaRPr lang="en-US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i jakie komponenty go tworzą?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7A541DB-CD85-4188-679D-965666175853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C513A0-5D68-B63A-F6C0-754246EDCBC3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04A6917-5405-5370-3FC7-82BE2CAC139D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2437229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63834" y="5928307"/>
            <a:ext cx="8115300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3" name="AutoShape 3"/>
          <p:cNvSpPr/>
          <p:nvPr/>
        </p:nvSpPr>
        <p:spPr>
          <a:xfrm>
            <a:off x="9063834" y="7997173"/>
            <a:ext cx="8195466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grpSp>
        <p:nvGrpSpPr>
          <p:cNvPr id="4" name="Group 4"/>
          <p:cNvGrpSpPr/>
          <p:nvPr/>
        </p:nvGrpSpPr>
        <p:grpSpPr>
          <a:xfrm>
            <a:off x="9144000" y="1028700"/>
            <a:ext cx="8115300" cy="2055425"/>
            <a:chOff x="0" y="0"/>
            <a:chExt cx="35863368" cy="90833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863368" cy="9083393"/>
            </a:xfrm>
            <a:custGeom>
              <a:avLst/>
              <a:gdLst/>
              <a:ahLst/>
              <a:cxnLst/>
              <a:rect l="l" t="t" r="r" b="b"/>
              <a:pathLst>
                <a:path w="35863368" h="9083393">
                  <a:moveTo>
                    <a:pt x="0" y="0"/>
                  </a:moveTo>
                  <a:lnTo>
                    <a:pt x="0" y="9083393"/>
                  </a:lnTo>
                  <a:lnTo>
                    <a:pt x="35863368" y="9083393"/>
                  </a:lnTo>
                  <a:lnTo>
                    <a:pt x="35863368" y="0"/>
                  </a:lnTo>
                  <a:lnTo>
                    <a:pt x="0" y="0"/>
                  </a:lnTo>
                  <a:close/>
                  <a:moveTo>
                    <a:pt x="35802407" y="9022433"/>
                  </a:moveTo>
                  <a:lnTo>
                    <a:pt x="59690" y="9022433"/>
                  </a:lnTo>
                  <a:lnTo>
                    <a:pt x="59690" y="59690"/>
                  </a:lnTo>
                  <a:lnTo>
                    <a:pt x="35802407" y="59690"/>
                  </a:lnTo>
                  <a:lnTo>
                    <a:pt x="35802407" y="9022433"/>
                  </a:lnTo>
                  <a:close/>
                </a:path>
              </a:pathLst>
            </a:custGeom>
            <a:solidFill>
              <a:srgbClr val="2F9671"/>
            </a:solidFill>
          </p:spPr>
          <p:txBody>
            <a:bodyPr/>
            <a:lstStyle/>
            <a:p>
              <a:endParaRPr lang="pl-PL" noProof="1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104900"/>
            <a:ext cx="6995649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pl-PL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Value Delivery System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84872" y="1387734"/>
            <a:ext cx="6233556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pl-PL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o koncepcja opisująca wszystkie działania organizacji, które prowadzą do tworzenia wartości dla klientów lub użytkowników.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2453" y="4957741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Strategia firmy</a:t>
            </a:r>
            <a:endParaRPr lang="pl-PL" sz="26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12454" y="6733833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Projekty, programy, produkty, usługi</a:t>
            </a:r>
            <a:endParaRPr lang="pl-PL" sz="26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12452" y="8607108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Operacje biznesowe</a:t>
            </a:r>
            <a:endParaRPr lang="pl-PL" sz="26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02632" y="49034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02632" y="6752555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02632" y="8607108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5A4FD9D1-25BF-BFCA-BE9E-69FC34522C8E}"/>
              </a:ext>
            </a:extLst>
          </p:cNvPr>
          <p:cNvSpPr txBox="1"/>
          <p:nvPr/>
        </p:nvSpPr>
        <p:spPr>
          <a:xfrm>
            <a:off x="7543800" y="3932025"/>
            <a:ext cx="6233556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Elementy systemu: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AC8E1AEC-B7F8-1DB0-1D6E-4A828EF06521}"/>
              </a:ext>
            </a:extLst>
          </p:cNvPr>
          <p:cNvSpPr txBox="1"/>
          <p:nvPr/>
        </p:nvSpPr>
        <p:spPr>
          <a:xfrm>
            <a:off x="3162300" y="9774378"/>
            <a:ext cx="11963400" cy="3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https://www.pmi.org/-/media/pmi/documents/public/pdf/pmbok-standards/value-delivery-system-explainer.pdf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3691A-F2AB-696B-5D24-11DD8DB2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093B3D2-7F59-2656-0715-AFAA62F8AC56}"/>
              </a:ext>
            </a:extLst>
          </p:cNvPr>
          <p:cNvSpPr txBox="1"/>
          <p:nvPr/>
        </p:nvSpPr>
        <p:spPr>
          <a:xfrm>
            <a:off x="1028700" y="1104900"/>
            <a:ext cx="16230600" cy="4360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13. Na czym polega różnica między „produktem” (output) </a:t>
            </a:r>
            <a:endParaRPr lang="en-US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 „wynikiem/korzyścią” (outcome)?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AC2AA65-4D0E-D949-2574-2ABD732922E0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BCBC2DF-E67C-A5F3-A675-73563147F065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B6B1A188-FBF4-6E11-8E34-2117FE589BED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3309048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96343-438E-3E11-02BD-7591C39E8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8949C023-7A27-0F82-E316-A027B66F4EE1}"/>
              </a:ext>
            </a:extLst>
          </p:cNvPr>
          <p:cNvGrpSpPr/>
          <p:nvPr/>
        </p:nvGrpSpPr>
        <p:grpSpPr>
          <a:xfrm>
            <a:off x="4662976" y="647700"/>
            <a:ext cx="12675252" cy="4736681"/>
            <a:chOff x="-5332292" y="66939"/>
            <a:chExt cx="16900336" cy="631557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D10396-8AC4-6A9B-B0F3-A799A3ADC405}"/>
                </a:ext>
              </a:extLst>
            </p:cNvPr>
            <p:cNvSpPr txBox="1"/>
            <p:nvPr/>
          </p:nvSpPr>
          <p:spPr>
            <a:xfrm>
              <a:off x="-5332292" y="66939"/>
              <a:ext cx="13057309" cy="15046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1" noProof="1">
                  <a:solidFill>
                    <a:srgbClr val="2F9671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Output vs Outcome</a:t>
              </a:r>
              <a:endParaRPr lang="pl-PL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2C45581-AA59-11A9-79E8-5168CD8C2032}"/>
                </a:ext>
              </a:extLst>
            </p:cNvPr>
            <p:cNvSpPr txBox="1"/>
            <p:nvPr/>
          </p:nvSpPr>
          <p:spPr>
            <a:xfrm>
              <a:off x="603330" y="3761197"/>
              <a:ext cx="10964714" cy="2621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pl-PL" sz="28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Output to konkretny produkt powstały w wyniku projektu. Może to być np. aplikacja mobilna, system informatyczny lub nowa funkcja </a:t>
              </a:r>
              <a:endPara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3900"/>
                </a:lnSpc>
              </a:pPr>
              <a:r>
                <a:rPr lang="pl-PL" sz="28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w programie.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95F1EDB-1FFB-D3AD-6FD8-B382322F3195}"/>
              </a:ext>
            </a:extLst>
          </p:cNvPr>
          <p:cNvGrpSpPr/>
          <p:nvPr/>
        </p:nvGrpSpPr>
        <p:grpSpPr>
          <a:xfrm>
            <a:off x="9149862" y="5893413"/>
            <a:ext cx="8992881" cy="2110855"/>
            <a:chOff x="0" y="0"/>
            <a:chExt cx="11990509" cy="2814474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0F023BE-F614-7935-DD49-91021FC8A125}"/>
                </a:ext>
              </a:extLst>
            </p:cNvPr>
            <p:cNvSpPr txBox="1"/>
            <p:nvPr/>
          </p:nvSpPr>
          <p:spPr>
            <a:xfrm>
              <a:off x="0" y="401589"/>
              <a:ext cx="11990509" cy="2412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pl-PL" sz="28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Outcome to natomiast efekt biznesowy lub społeczny wynikający z używania tego produktu. Może to być zwiększenie sprzedaży, oszczędność czasu pracy lub poprawa jakości usług.</a:t>
              </a:r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6FBBBDEE-D795-45F0-094B-1F2D5AE0CEDC}"/>
                </a:ext>
              </a:extLst>
            </p:cNvPr>
            <p:cNvSpPr/>
            <p:nvPr/>
          </p:nvSpPr>
          <p:spPr>
            <a:xfrm>
              <a:off x="0" y="0"/>
              <a:ext cx="11990509" cy="0"/>
            </a:xfrm>
            <a:prstGeom prst="line">
              <a:avLst/>
            </a:prstGeom>
            <a:ln w="12700" cap="flat">
              <a:solidFill>
                <a:srgbClr val="2F967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4733656-0085-85F1-60F7-137C0DBB3BB0}"/>
              </a:ext>
            </a:extLst>
          </p:cNvPr>
          <p:cNvSpPr txBox="1"/>
          <p:nvPr/>
        </p:nvSpPr>
        <p:spPr>
          <a:xfrm>
            <a:off x="6601762" y="9904655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https://www.prodpad.com/blog/output-vs-outcome/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B8A0D651-BADF-4BF3-38E8-C5F0F4BE3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25" y="2716218"/>
            <a:ext cx="7575438" cy="614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31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EE9C6-88C9-ACC3-2BE9-09D5DC8E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2358A61-D620-28BC-69BE-D21F39827079}"/>
              </a:ext>
            </a:extLst>
          </p:cNvPr>
          <p:cNvSpPr txBox="1"/>
          <p:nvPr/>
        </p:nvSpPr>
        <p:spPr>
          <a:xfrm>
            <a:off x="1028700" y="1104900"/>
            <a:ext cx="16230600" cy="4360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14. Jakie są fazy typowego cyklu życia projektu informatycznego (np. od wykonalności do zamknięcia)?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FE2AD3B-A4B1-DF62-ED23-68B426B4342F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BD739BA-812D-E674-4425-1BD4445827A5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3AB57BCF-2D4F-455C-BC30-D120035E9D00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755962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66999" y="800100"/>
            <a:ext cx="12954000" cy="692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6"/>
              </a:lnSpc>
            </a:pPr>
            <a:r>
              <a:rPr lang="pl-PL" sz="885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Studium wykonalności polega na sprawdzeniu czy projekt jest możliwy do zrealizowania oraz czy jest opłacalny.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16803" y="8854509"/>
            <a:ext cx="18721605" cy="885243"/>
            <a:chOff x="0" y="0"/>
            <a:chExt cx="24962140" cy="1180323"/>
          </a:xfrm>
        </p:grpSpPr>
        <p:sp>
          <p:nvSpPr>
            <p:cNvPr id="4" name="TextBox 4"/>
            <p:cNvSpPr txBox="1"/>
            <p:nvPr/>
          </p:nvSpPr>
          <p:spPr>
            <a:xfrm>
              <a:off x="289072" y="559554"/>
              <a:ext cx="24384000" cy="6207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Jest to process często poprzedzający jakiekolwiek działania I prace nad projektem </a:t>
              </a:r>
              <a:endPara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0"/>
              <a:ext cx="24962140" cy="0"/>
            </a:xfrm>
            <a:prstGeom prst="line">
              <a:avLst/>
            </a:prstGeom>
            <a:ln w="12700" cap="flat">
              <a:solidFill>
                <a:srgbClr val="2F967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FE23D97-157E-2F48-E917-F6A8AD5EA514}"/>
              </a:ext>
            </a:extLst>
          </p:cNvPr>
          <p:cNvSpPr txBox="1"/>
          <p:nvPr/>
        </p:nvSpPr>
        <p:spPr>
          <a:xfrm>
            <a:off x="5753101" y="9924418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https://en.wikipedia.org/wiki/Systems_development_life_cycle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DF7C6-1CC8-D554-7EB6-A9AE7844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6E26684-D933-464E-248F-1DE83B61094C}"/>
              </a:ext>
            </a:extLst>
          </p:cNvPr>
          <p:cNvSpPr txBox="1"/>
          <p:nvPr/>
        </p:nvSpPr>
        <p:spPr>
          <a:xfrm>
            <a:off x="1028700" y="1104900"/>
            <a:ext cx="16230600" cy="4360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15. Czym charakteryzuje się podejście predykcyjne (waterfall) w kontekście zakresu </a:t>
            </a:r>
            <a:endParaRPr lang="en-US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i harmonogramu?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6AB602A-F62F-A757-555D-88EB671E8BCF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9BB7801-2108-CF84-3F5D-3D249C4731B8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DCBAB38C-7CBF-EEB5-C482-04948505D0B3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2627768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" y="1022086"/>
            <a:ext cx="9715500" cy="1427358"/>
            <a:chOff x="0" y="0"/>
            <a:chExt cx="4095574" cy="190314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4095574" cy="804316"/>
              <a:chOff x="0" y="0"/>
              <a:chExt cx="13574460" cy="266584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3574460" cy="2665844"/>
              </a:xfrm>
              <a:custGeom>
                <a:avLst/>
                <a:gdLst/>
                <a:ahLst/>
                <a:cxnLst/>
                <a:rect l="l" t="t" r="r" b="b"/>
                <a:pathLst>
                  <a:path w="13574460" h="2665844">
                    <a:moveTo>
                      <a:pt x="0" y="0"/>
                    </a:moveTo>
                    <a:lnTo>
                      <a:pt x="0" y="2665844"/>
                    </a:lnTo>
                    <a:lnTo>
                      <a:pt x="13574460" y="2665844"/>
                    </a:lnTo>
                    <a:lnTo>
                      <a:pt x="13574460" y="0"/>
                    </a:lnTo>
                    <a:lnTo>
                      <a:pt x="0" y="0"/>
                    </a:lnTo>
                    <a:close/>
                    <a:moveTo>
                      <a:pt x="13513499" y="2604884"/>
                    </a:moveTo>
                    <a:lnTo>
                      <a:pt x="59690" y="2604884"/>
                    </a:lnTo>
                    <a:lnTo>
                      <a:pt x="59690" y="59690"/>
                    </a:lnTo>
                    <a:lnTo>
                      <a:pt x="13513499" y="59690"/>
                    </a:lnTo>
                    <a:lnTo>
                      <a:pt x="13513499" y="2604884"/>
                    </a:lnTo>
                    <a:close/>
                  </a:path>
                </a:pathLst>
              </a:custGeom>
              <a:solidFill>
                <a:srgbClr val="2F9671"/>
              </a:solidFill>
            </p:spPr>
            <p:txBody>
              <a:bodyPr/>
              <a:lstStyle/>
              <a:p>
                <a:endParaRPr lang="pl-PL" noProof="1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673589" y="93760"/>
              <a:ext cx="2748396" cy="1809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pl-PL" sz="28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Podejście predykcyjne</a:t>
              </a:r>
              <a:endParaRPr lang="pl-PL" sz="26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73118" y="1899200"/>
            <a:ext cx="7826661" cy="7031601"/>
            <a:chOff x="1259224" y="-3008786"/>
            <a:chExt cx="10435548" cy="9375467"/>
          </a:xfrm>
        </p:grpSpPr>
        <p:sp>
          <p:nvSpPr>
            <p:cNvPr id="9" name="TextBox 9"/>
            <p:cNvSpPr txBox="1"/>
            <p:nvPr/>
          </p:nvSpPr>
          <p:spPr>
            <a:xfrm>
              <a:off x="1259224" y="-3008786"/>
              <a:ext cx="10435548" cy="6965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20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Z</a:t>
              </a:r>
              <a:r>
                <a:rPr lang="pl-PL" sz="20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akłada, że większość wymagań projektu można określić już na początku. Na tej podstawie tworzony jest szczegółowy plan realizacji projektu.</a:t>
              </a:r>
              <a:r>
                <a:rPr lang="en-US" sz="20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 </a:t>
              </a:r>
              <a:r>
                <a:rPr lang="pl-PL" sz="20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Każdy etap projektu musi zostać zakończony przed rozpoczęciem kolejnego. Taki model dobrze sprawdza się w projektach o stabilnych wymaganiach, np. w projektach infrastrukturalnych.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53959" y="4918677"/>
              <a:ext cx="8736137" cy="1448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pl-PL" sz="21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Jednak w projektach informatycznych, gdzie wymagania często się zmieniają, model ten bywa mniej elastyczny.</a:t>
              </a:r>
            </a:p>
          </p:txBody>
        </p:sp>
      </p:grpSp>
      <p:pic>
        <p:nvPicPr>
          <p:cNvPr id="14" name="Obraz 13">
            <a:extLst>
              <a:ext uri="{FF2B5EF4-FFF2-40B4-BE49-F238E27FC236}">
                <a16:creationId xmlns:a16="http://schemas.microsoft.com/office/drawing/2014/main" id="{CD3C0672-C439-1BB1-D5DB-6B88FECBE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7663" y="-1"/>
            <a:ext cx="6890337" cy="10387705"/>
          </a:xfrm>
          <a:prstGeom prst="rect">
            <a:avLst/>
          </a:prstGeom>
        </p:spPr>
      </p:pic>
      <p:sp>
        <p:nvSpPr>
          <p:cNvPr id="15" name="pole tekstowe 14">
            <a:extLst>
              <a:ext uri="{FF2B5EF4-FFF2-40B4-BE49-F238E27FC236}">
                <a16:creationId xmlns:a16="http://schemas.microsoft.com/office/drawing/2014/main" id="{8D87ED7F-2431-95B9-2442-5DCC2CDAE616}"/>
              </a:ext>
            </a:extLst>
          </p:cNvPr>
          <p:cNvSpPr txBox="1"/>
          <p:nvPr/>
        </p:nvSpPr>
        <p:spPr>
          <a:xfrm>
            <a:off x="29308" y="9878311"/>
            <a:ext cx="1196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https://www.easyredmine.com/news/waterfall-vs-agile-what-is-the-best-approach-for-a-software-development-project</a:t>
            </a:r>
          </a:p>
          <a:p>
            <a:endParaRPr lang="pl-PL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B5873-422B-EE17-7921-3D8B2911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F0F2484-058E-166E-53A6-7AF23FC53E0B}"/>
              </a:ext>
            </a:extLst>
          </p:cNvPr>
          <p:cNvSpPr txBox="1"/>
          <p:nvPr/>
        </p:nvSpPr>
        <p:spPr>
          <a:xfrm>
            <a:off x="1028700" y="1104900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16. Jakie są poziomy planowania </a:t>
            </a:r>
            <a:endParaRPr lang="en-US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 tzw. „agile onion”?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2E7D4A-A720-98C3-A7D9-D3939C723311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DEB4E5A-957A-9A03-61F3-D4FDEA184371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4FB3DDB0-F32D-C8DA-FAEB-F6754C241B07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29203996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DBDB3-7D21-7971-8FD2-C326328F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D80CEFE-F6F3-2771-ACA7-94B285D4AE06}"/>
              </a:ext>
            </a:extLst>
          </p:cNvPr>
          <p:cNvSpPr txBox="1"/>
          <p:nvPr/>
        </p:nvSpPr>
        <p:spPr>
          <a:xfrm>
            <a:off x="1028700" y="1104900"/>
            <a:ext cx="7299138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Warstwy planowania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“agile onion”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DDE725E-65D1-8894-A7B4-59A4B337528F}"/>
              </a:ext>
            </a:extLst>
          </p:cNvPr>
          <p:cNvSpPr/>
          <p:nvPr/>
        </p:nvSpPr>
        <p:spPr>
          <a:xfrm>
            <a:off x="9890807" y="238925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C7882F1-93DD-5910-CE49-56207DCEADDA}"/>
              </a:ext>
            </a:extLst>
          </p:cNvPr>
          <p:cNvSpPr/>
          <p:nvPr/>
        </p:nvSpPr>
        <p:spPr>
          <a:xfrm>
            <a:off x="9890807" y="4200394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1ACA738-39C6-F808-20E0-E1E4F2EE9829}"/>
              </a:ext>
            </a:extLst>
          </p:cNvPr>
          <p:cNvSpPr/>
          <p:nvPr/>
        </p:nvSpPr>
        <p:spPr>
          <a:xfrm>
            <a:off x="9889099" y="6011539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195BB53-3AEC-1B6D-221D-D945FB688A6D}"/>
              </a:ext>
            </a:extLst>
          </p:cNvPr>
          <p:cNvSpPr/>
          <p:nvPr/>
        </p:nvSpPr>
        <p:spPr>
          <a:xfrm>
            <a:off x="9888949" y="7822683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5DA82E2-64DC-8D94-DE18-1A1BA78D758E}"/>
              </a:ext>
            </a:extLst>
          </p:cNvPr>
          <p:cNvSpPr txBox="1"/>
          <p:nvPr/>
        </p:nvSpPr>
        <p:spPr>
          <a:xfrm>
            <a:off x="10287000" y="1333500"/>
            <a:ext cx="5312401" cy="399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4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Wizja i strategia</a:t>
            </a:r>
            <a:endParaRPr lang="pl-PL" sz="4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30E4EA-B9B1-AC48-3A65-78440CF05E2B}"/>
              </a:ext>
            </a:extLst>
          </p:cNvPr>
          <p:cNvSpPr txBox="1"/>
          <p:nvPr/>
        </p:nvSpPr>
        <p:spPr>
          <a:xfrm>
            <a:off x="10287000" y="3226459"/>
            <a:ext cx="5312401" cy="399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4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Strategia</a:t>
            </a:r>
            <a:endParaRPr lang="pl-PL" sz="4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AC3CB59-0172-92EB-EA62-E088E1529C8A}"/>
              </a:ext>
            </a:extLst>
          </p:cNvPr>
          <p:cNvSpPr txBox="1"/>
          <p:nvPr/>
        </p:nvSpPr>
        <p:spPr>
          <a:xfrm>
            <a:off x="10287000" y="5005364"/>
            <a:ext cx="5312401" cy="399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4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Plan wydań</a:t>
            </a:r>
            <a:endParaRPr lang="pl-PL" sz="4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41DA354-0A9E-487A-BE36-7CED84B5EAF8}"/>
              </a:ext>
            </a:extLst>
          </p:cNvPr>
          <p:cNvSpPr txBox="1"/>
          <p:nvPr/>
        </p:nvSpPr>
        <p:spPr>
          <a:xfrm>
            <a:off x="10287000" y="6766932"/>
            <a:ext cx="5312401" cy="399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4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Plan sprintów</a:t>
            </a:r>
            <a:endParaRPr lang="pl-PL" sz="4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DB77C20-E9A0-DCFA-CCF0-255D7ACC137B}"/>
              </a:ext>
            </a:extLst>
          </p:cNvPr>
          <p:cNvSpPr txBox="1"/>
          <p:nvPr/>
        </p:nvSpPr>
        <p:spPr>
          <a:xfrm>
            <a:off x="10287000" y="8478902"/>
            <a:ext cx="7146209" cy="399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4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Codzienne zadania zespołu</a:t>
            </a:r>
            <a:endParaRPr lang="pl-PL" sz="4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AA6CBC92-9203-C920-8A43-11C52E5A8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70" y="4961962"/>
            <a:ext cx="6324601" cy="4791364"/>
          </a:xfrm>
          <a:prstGeom prst="rect">
            <a:avLst/>
          </a:prstGeom>
        </p:spPr>
      </p:pic>
      <p:sp>
        <p:nvSpPr>
          <p:cNvPr id="19" name="pole tekstowe 18">
            <a:extLst>
              <a:ext uri="{FF2B5EF4-FFF2-40B4-BE49-F238E27FC236}">
                <a16:creationId xmlns:a16="http://schemas.microsoft.com/office/drawing/2014/main" id="{AAB0360C-F7F1-3247-0A72-89C0576F4F01}"/>
              </a:ext>
            </a:extLst>
          </p:cNvPr>
          <p:cNvSpPr txBox="1"/>
          <p:nvPr/>
        </p:nvSpPr>
        <p:spPr>
          <a:xfrm>
            <a:off x="6134100" y="9874912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https://www.prodpad.com/blog/agile-planning-onion/</a:t>
            </a:r>
          </a:p>
        </p:txBody>
      </p:sp>
    </p:spTree>
    <p:extLst>
      <p:ext uri="{BB962C8B-B14F-4D97-AF65-F5344CB8AC3E}">
        <p14:creationId xmlns:p14="http://schemas.microsoft.com/office/powerpoint/2010/main" val="982076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4298D-3219-7E1A-AED8-9BD6202D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3D0FD08-BCFC-42B0-65D9-A60C4F82B296}"/>
              </a:ext>
            </a:extLst>
          </p:cNvPr>
          <p:cNvSpPr txBox="1"/>
          <p:nvPr/>
        </p:nvSpPr>
        <p:spPr>
          <a:xfrm>
            <a:off x="1028700" y="981075"/>
            <a:ext cx="6151004" cy="1812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pl-PL" sz="26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rPr>
              <a:t>Model Agile Onion pokazuje, że planowanie w projektach zwinnych odbywa się na różnych poziomach szczegółowości.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06438F-25C6-26A5-54DC-60AF2C138F0F}"/>
              </a:ext>
            </a:extLst>
          </p:cNvPr>
          <p:cNvGrpSpPr/>
          <p:nvPr/>
        </p:nvGrpSpPr>
        <p:grpSpPr>
          <a:xfrm>
            <a:off x="1028700" y="5243910"/>
            <a:ext cx="9167397" cy="4214850"/>
            <a:chOff x="0" y="1284446"/>
            <a:chExt cx="12223196" cy="5619800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2FDE59E-1949-2D4B-C634-9E74F7701DEB}"/>
                </a:ext>
              </a:extLst>
            </p:cNvPr>
            <p:cNvSpPr txBox="1"/>
            <p:nvPr/>
          </p:nvSpPr>
          <p:spPr>
            <a:xfrm>
              <a:off x="0" y="1284446"/>
              <a:ext cx="12223196" cy="1744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83"/>
                </a:lnSpc>
              </a:pPr>
              <a:r>
                <a:rPr lang="en-US" sz="9984" b="1" noProof="1">
                  <a:solidFill>
                    <a:srgbClr val="2F9671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Agile onion</a:t>
              </a:r>
              <a:endParaRPr lang="pl-PL" sz="9984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57FFEFB-A07F-F6B1-ACD2-5A156DE74FBF}"/>
                </a:ext>
              </a:extLst>
            </p:cNvPr>
            <p:cNvSpPr txBox="1"/>
            <p:nvPr/>
          </p:nvSpPr>
          <p:spPr>
            <a:xfrm>
              <a:off x="7816" y="3616081"/>
              <a:ext cx="10564772" cy="328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pl-PL" sz="30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Na zewnętrznych warstwach znajdują się długoterminowe cele biznesowe oraz wizja produktu. W miarę zbliżania się do centrum modelu planowanie staje się coraz bardziej szczegółowe.</a:t>
              </a: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0702861-516C-6E08-4FFA-1ABDEDD867A0}"/>
              </a:ext>
            </a:extLst>
          </p:cNvPr>
          <p:cNvGrpSpPr/>
          <p:nvPr/>
        </p:nvGrpSpPr>
        <p:grpSpPr>
          <a:xfrm>
            <a:off x="11350065" y="6093742"/>
            <a:ext cx="5909235" cy="3164558"/>
            <a:chOff x="0" y="0"/>
            <a:chExt cx="7878981" cy="4219411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1B2389A-90C8-E02A-4B73-8A087C5D08F5}"/>
                </a:ext>
              </a:extLst>
            </p:cNvPr>
            <p:cNvGrpSpPr/>
            <p:nvPr/>
          </p:nvGrpSpPr>
          <p:grpSpPr>
            <a:xfrm>
              <a:off x="0" y="0"/>
              <a:ext cx="7878981" cy="4219411"/>
              <a:chOff x="0" y="0"/>
              <a:chExt cx="26114264" cy="13984908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F3CBA47-A8D6-DEE0-003C-2A4D5E9517AC}"/>
                  </a:ext>
                </a:extLst>
              </p:cNvPr>
              <p:cNvSpPr/>
              <p:nvPr/>
            </p:nvSpPr>
            <p:spPr>
              <a:xfrm>
                <a:off x="0" y="0"/>
                <a:ext cx="26114263" cy="13984908"/>
              </a:xfrm>
              <a:custGeom>
                <a:avLst/>
                <a:gdLst/>
                <a:ahLst/>
                <a:cxnLst/>
                <a:rect l="l" t="t" r="r" b="b"/>
                <a:pathLst>
                  <a:path w="26114263" h="13984908">
                    <a:moveTo>
                      <a:pt x="0" y="0"/>
                    </a:moveTo>
                    <a:lnTo>
                      <a:pt x="0" y="13984908"/>
                    </a:lnTo>
                    <a:lnTo>
                      <a:pt x="26114263" y="13984908"/>
                    </a:lnTo>
                    <a:lnTo>
                      <a:pt x="26114263" y="0"/>
                    </a:lnTo>
                    <a:lnTo>
                      <a:pt x="0" y="0"/>
                    </a:lnTo>
                    <a:close/>
                    <a:moveTo>
                      <a:pt x="26053303" y="13923949"/>
                    </a:moveTo>
                    <a:lnTo>
                      <a:pt x="59690" y="13923949"/>
                    </a:lnTo>
                    <a:lnTo>
                      <a:pt x="59690" y="59690"/>
                    </a:lnTo>
                    <a:lnTo>
                      <a:pt x="26053303" y="59690"/>
                    </a:lnTo>
                    <a:lnTo>
                      <a:pt x="26053303" y="13923949"/>
                    </a:lnTo>
                    <a:close/>
                  </a:path>
                </a:pathLst>
              </a:custGeom>
              <a:solidFill>
                <a:srgbClr val="2F9671"/>
              </a:solidFill>
            </p:spPr>
            <p:txBody>
              <a:bodyPr/>
              <a:lstStyle/>
              <a:p>
                <a:endParaRPr lang="pl-PL" noProof="1"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3D1883F-01A2-288F-E99C-904925C0D271}"/>
                </a:ext>
              </a:extLst>
            </p:cNvPr>
            <p:cNvSpPr txBox="1"/>
            <p:nvPr/>
          </p:nvSpPr>
          <p:spPr>
            <a:xfrm>
              <a:off x="1134428" y="1198525"/>
              <a:ext cx="6052033" cy="1715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pl-PL" sz="28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Najbardziej szczegółowe planowanie dotyczy codziennej pracy zespołu programistycznego.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69900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19851-81DE-59AB-1AD0-045EA848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E036E35-9A0C-F3C9-77B6-8875E7D322A5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17. W jaki sposób cykl życia produktu wykracza poza ramy czasowe pojedynczego projektu?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4DE0E8D-4BC3-A3FC-E53A-C911E645C910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A9B35BA-413D-9C65-BD38-369867B1A820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D0C6D0DC-F1AD-879D-3DD6-EDF82D827425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22710347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F1E01-4DC6-34A9-5721-43678BD8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398F8BDB-0EC1-7C2C-D60F-E5E9EE4A219B}"/>
              </a:ext>
            </a:extLst>
          </p:cNvPr>
          <p:cNvGrpSpPr/>
          <p:nvPr/>
        </p:nvGrpSpPr>
        <p:grpSpPr>
          <a:xfrm>
            <a:off x="-198942" y="882716"/>
            <a:ext cx="9112147" cy="4228546"/>
            <a:chOff x="0" y="-95250"/>
            <a:chExt cx="12149529" cy="5638059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D818E10-45BF-685F-C058-ECE2C9729735}"/>
                </a:ext>
              </a:extLst>
            </p:cNvPr>
            <p:cNvSpPr txBox="1"/>
            <p:nvPr/>
          </p:nvSpPr>
          <p:spPr>
            <a:xfrm>
              <a:off x="0" y="-95250"/>
              <a:ext cx="12149529" cy="2296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pl-PL" sz="50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Produkt przechodzi </a:t>
              </a:r>
              <a:endParaRPr lang="en-US" sz="50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  <a:p>
              <a:pPr algn="ctr">
                <a:lnSpc>
                  <a:spcPts val="7000"/>
                </a:lnSpc>
              </a:pPr>
              <a:r>
                <a:rPr lang="pl-PL" sz="50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przez etapy: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FB666ED-D20A-946F-9F9E-07FFE565F817}"/>
                </a:ext>
              </a:extLst>
            </p:cNvPr>
            <p:cNvSpPr txBox="1"/>
            <p:nvPr/>
          </p:nvSpPr>
          <p:spPr>
            <a:xfrm>
              <a:off x="1970068" y="1898821"/>
              <a:ext cx="8209390" cy="3643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endParaRPr lang="pl-PL" noProof="1"/>
            </a:p>
            <a:p>
              <a:pPr algn="ctr">
                <a:lnSpc>
                  <a:spcPts val="3640"/>
                </a:lnSpc>
              </a:pPr>
              <a:endParaRPr lang="pl-PL" noProof="1"/>
            </a:p>
            <a:p>
              <a:pPr algn="ctr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1 wprowadzanie &amp; </a:t>
              </a: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rozwój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2 </a:t>
              </a: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wzrost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3 </a:t>
              </a: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dojrzałość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4 </a:t>
              </a: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spadek</a:t>
              </a: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0A70DA4-28A8-C100-BD8F-F662218CC75C}"/>
              </a:ext>
            </a:extLst>
          </p:cNvPr>
          <p:cNvGrpSpPr/>
          <p:nvPr/>
        </p:nvGrpSpPr>
        <p:grpSpPr>
          <a:xfrm>
            <a:off x="8458200" y="2982612"/>
            <a:ext cx="9525000" cy="9296400"/>
            <a:chOff x="0" y="0"/>
            <a:chExt cx="8141741" cy="7141313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44B87F5-80FB-BCBE-46E5-48ABE8B3536D}"/>
                </a:ext>
              </a:extLst>
            </p:cNvPr>
            <p:cNvGrpSpPr/>
            <p:nvPr/>
          </p:nvGrpSpPr>
          <p:grpSpPr>
            <a:xfrm>
              <a:off x="0" y="0"/>
              <a:ext cx="8141741" cy="5479345"/>
              <a:chOff x="0" y="0"/>
              <a:chExt cx="26985162" cy="18160859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A357A5F-7F55-B0AF-B175-2613ADCA424A}"/>
                  </a:ext>
                </a:extLst>
              </p:cNvPr>
              <p:cNvSpPr/>
              <p:nvPr/>
            </p:nvSpPr>
            <p:spPr>
              <a:xfrm>
                <a:off x="0" y="0"/>
                <a:ext cx="26985162" cy="18160859"/>
              </a:xfrm>
              <a:custGeom>
                <a:avLst/>
                <a:gdLst/>
                <a:ahLst/>
                <a:cxnLst/>
                <a:rect l="l" t="t" r="r" b="b"/>
                <a:pathLst>
                  <a:path w="26985162" h="18160859">
                    <a:moveTo>
                      <a:pt x="0" y="0"/>
                    </a:moveTo>
                    <a:lnTo>
                      <a:pt x="0" y="18160859"/>
                    </a:lnTo>
                    <a:lnTo>
                      <a:pt x="26985162" y="18160859"/>
                    </a:lnTo>
                    <a:lnTo>
                      <a:pt x="26985162" y="0"/>
                    </a:lnTo>
                    <a:lnTo>
                      <a:pt x="0" y="0"/>
                    </a:lnTo>
                    <a:close/>
                    <a:moveTo>
                      <a:pt x="26924202" y="18099898"/>
                    </a:moveTo>
                    <a:lnTo>
                      <a:pt x="59690" y="18099898"/>
                    </a:lnTo>
                    <a:lnTo>
                      <a:pt x="59690" y="59690"/>
                    </a:lnTo>
                    <a:lnTo>
                      <a:pt x="26924202" y="59690"/>
                    </a:lnTo>
                    <a:lnTo>
                      <a:pt x="26924202" y="18099898"/>
                    </a:lnTo>
                    <a:close/>
                  </a:path>
                </a:pathLst>
              </a:custGeom>
              <a:solidFill>
                <a:srgbClr val="2F9671"/>
              </a:solidFill>
            </p:spPr>
            <p:txBody>
              <a:bodyPr/>
              <a:lstStyle/>
              <a:p>
                <a:endParaRPr lang="pl-PL" noProof="1"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E6658D3-3ABD-6183-405F-796A3C4508AC}"/>
                </a:ext>
              </a:extLst>
            </p:cNvPr>
            <p:cNvSpPr txBox="1"/>
            <p:nvPr/>
          </p:nvSpPr>
          <p:spPr>
            <a:xfrm>
              <a:off x="777855" y="763497"/>
              <a:ext cx="6586033" cy="30321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pl-PL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Projekt jest tylko jednym z etapów powstawania produktu. Po jego zakończeniu produkt może funkcjonować na rynku przez wiele lat.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9ADC749-EF62-8BF1-DDA3-874026A54FE1}"/>
                </a:ext>
              </a:extLst>
            </p:cNvPr>
            <p:cNvSpPr txBox="1"/>
            <p:nvPr/>
          </p:nvSpPr>
          <p:spPr>
            <a:xfrm>
              <a:off x="777855" y="2222272"/>
              <a:ext cx="6586033" cy="4919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noProof="1"/>
            </a:p>
            <a:p>
              <a:pPr algn="l">
                <a:lnSpc>
                  <a:spcPts val="2940"/>
                </a:lnSpc>
              </a:pPr>
              <a:r>
                <a:rPr lang="pl-PL" sz="21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W tym czasie przechodzi różne etapy rozwoju – od wprowadzenia na rynek, przez okres wzrostu popularności, aż do momentu spadku zainteresowania.Dlatego organizacje często realizują wiele projektów związanych z jednym produktem, aby go rozwijać i dostosowywać do potrzeb użytkowników.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98385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2102E-4515-51F6-E9EA-1131A275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9F3E552-B718-94B3-D686-5062F29B1FA9}"/>
              </a:ext>
            </a:extLst>
          </p:cNvPr>
          <p:cNvGrpSpPr/>
          <p:nvPr/>
        </p:nvGrpSpPr>
        <p:grpSpPr>
          <a:xfrm>
            <a:off x="-198942" y="882716"/>
            <a:ext cx="9112147" cy="4228546"/>
            <a:chOff x="0" y="-95250"/>
            <a:chExt cx="12149529" cy="5638059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367C955-F7EA-9B59-19F2-76E2C982413A}"/>
                </a:ext>
              </a:extLst>
            </p:cNvPr>
            <p:cNvSpPr txBox="1"/>
            <p:nvPr/>
          </p:nvSpPr>
          <p:spPr>
            <a:xfrm>
              <a:off x="0" y="-95250"/>
              <a:ext cx="12149529" cy="2296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pl-PL" sz="50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Produkt przechodzi </a:t>
              </a:r>
              <a:endParaRPr lang="en-US" sz="50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  <a:p>
              <a:pPr algn="ctr">
                <a:lnSpc>
                  <a:spcPts val="7000"/>
                </a:lnSpc>
              </a:pPr>
              <a:r>
                <a:rPr lang="pl-PL" sz="50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przez etapy: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87A635E-0C37-1676-49EA-24E1999EBA59}"/>
                </a:ext>
              </a:extLst>
            </p:cNvPr>
            <p:cNvSpPr txBox="1"/>
            <p:nvPr/>
          </p:nvSpPr>
          <p:spPr>
            <a:xfrm>
              <a:off x="1970068" y="1898821"/>
              <a:ext cx="8209390" cy="3643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endParaRPr lang="pl-PL" noProof="1"/>
            </a:p>
            <a:p>
              <a:pPr algn="ctr">
                <a:lnSpc>
                  <a:spcPts val="3640"/>
                </a:lnSpc>
              </a:pPr>
              <a:endParaRPr lang="pl-PL" noProof="1"/>
            </a:p>
            <a:p>
              <a:pPr algn="ctr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1 wprowadzanie &amp; </a:t>
              </a: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rozwój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2 </a:t>
              </a: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wzrost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3 </a:t>
              </a: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dojrzałość</a:t>
              </a:r>
              <a:endPara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4 </a:t>
              </a: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spadek</a:t>
              </a:r>
            </a:p>
          </p:txBody>
        </p:sp>
      </p:grpSp>
      <p:pic>
        <p:nvPicPr>
          <p:cNvPr id="11" name="Obraz 10">
            <a:extLst>
              <a:ext uri="{FF2B5EF4-FFF2-40B4-BE49-F238E27FC236}">
                <a16:creationId xmlns:a16="http://schemas.microsoft.com/office/drawing/2014/main" id="{206F393F-D79A-18DA-9DD6-7AB593B93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652" y="3757419"/>
            <a:ext cx="9857756" cy="5646865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0BBA949A-9756-820E-B12E-7A54B1A0A600}"/>
              </a:ext>
            </a:extLst>
          </p:cNvPr>
          <p:cNvSpPr txBox="1"/>
          <p:nvPr/>
        </p:nvSpPr>
        <p:spPr>
          <a:xfrm>
            <a:off x="4343400" y="9903014"/>
            <a:ext cx="960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https://openstax.org/books/marketing-podstawy/pages/9-3-przebieg-cyklu-zycia-produktu</a:t>
            </a:r>
          </a:p>
        </p:txBody>
      </p:sp>
    </p:spTree>
    <p:extLst>
      <p:ext uri="{BB962C8B-B14F-4D97-AF65-F5344CB8AC3E}">
        <p14:creationId xmlns:p14="http://schemas.microsoft.com/office/powerpoint/2010/main" val="15637601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78FA1-8C2E-9C5E-B7A0-814ECDD17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7EAAA57-8403-DF0B-6C3C-8442BEAA6BE4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18. Czym jest „kadencja” (cadence) w procesie wytwórczym?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C3BB81-0A2A-3CE4-1306-79F37E9CD8DF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AD022C-B8DE-3DEE-BB88-B0E8B8EC00D0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66FBE76-F7E2-41D9-8C9B-547CEDCA6EA4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33445838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6F334-8D8B-7A58-0DFF-CCE213BB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F391B6AB-A988-A196-E488-AA60ACE13B6B}"/>
              </a:ext>
            </a:extLst>
          </p:cNvPr>
          <p:cNvSpPr txBox="1"/>
          <p:nvPr/>
        </p:nvSpPr>
        <p:spPr>
          <a:xfrm>
            <a:off x="1028700" y="1104900"/>
            <a:ext cx="7741099" cy="440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Kadencja</a:t>
            </a:r>
          </a:p>
          <a:p>
            <a:pPr algn="l">
              <a:lnSpc>
                <a:spcPts val="8800"/>
              </a:lnSpc>
            </a:pPr>
            <a:r>
              <a:rPr lang="pl-PL" sz="5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to regularny rytm pracy zespołu projektowego.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98383AD-319C-4623-9C34-9E0F472C39FE}"/>
              </a:ext>
            </a:extLst>
          </p:cNvPr>
          <p:cNvSpPr txBox="1"/>
          <p:nvPr/>
        </p:nvSpPr>
        <p:spPr>
          <a:xfrm>
            <a:off x="10004482" y="990600"/>
            <a:ext cx="7254818" cy="1965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Przykłady:</a:t>
            </a:r>
            <a:endParaRPr lang="en-US" sz="3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indent="-457200" algn="l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sprint co 2 tygodnie</a:t>
            </a:r>
            <a:endParaRPr lang="en-US" sz="3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indent="-457200" algn="l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spotkania zespołu codziennie</a:t>
            </a:r>
            <a:endParaRPr lang="en-US" sz="3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indent="-457200" algn="l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nowe wydanie systemu co miesiąc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C7EF4A3-9A1F-6AD1-EA2D-688036B1B6AB}"/>
              </a:ext>
            </a:extLst>
          </p:cNvPr>
          <p:cNvSpPr txBox="1"/>
          <p:nvPr/>
        </p:nvSpPr>
        <p:spPr>
          <a:xfrm>
            <a:off x="1028700" y="6210300"/>
            <a:ext cx="6784764" cy="3351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5"/>
              </a:lnSpc>
            </a:pPr>
            <a:r>
              <a:rPr lang="pl-PL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Kadencja pozwala zespołom pracować w przewidywalny sposób. Regularne cykle pracy ułatwiają planowanie oraz kontrolowanie postępu projektu.</a:t>
            </a:r>
            <a:endParaRPr lang="en-US" sz="2375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325"/>
              </a:lnSpc>
            </a:pPr>
            <a:r>
              <a:rPr lang="pl-PL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 metodach zwinnych kadencja jest bardzo ważna, ponieważ pozwala regularnie dostarczać nowe funkcje produktu i zbierać opinie użytkowników.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B42BF5D-C1A2-88E4-588C-36C767C1F7A4}"/>
              </a:ext>
            </a:extLst>
          </p:cNvPr>
          <p:cNvSpPr/>
          <p:nvPr/>
        </p:nvSpPr>
        <p:spPr>
          <a:xfrm>
            <a:off x="10004482" y="3079750"/>
            <a:ext cx="7254818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6B07059-C891-653D-31BA-53362E115C04}"/>
              </a:ext>
            </a:extLst>
          </p:cNvPr>
          <p:cNvSpPr txBox="1"/>
          <p:nvPr/>
        </p:nvSpPr>
        <p:spPr>
          <a:xfrm>
            <a:off x="6019800" y="9834201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https://winntbg.bg.agh.edu.pl/rozprawy2/11577/full11577.pdf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6EFE430-F262-94E8-781C-A00CDD966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073" y="3628814"/>
            <a:ext cx="7506893" cy="540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27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B5998F-5297-76EE-2C5F-E45006B52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73ACB29-9AC9-EC47-7AF2-00D68FC6BF52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19. Jakie są trzy główne podejścia rozwojowe wymieniane </a:t>
            </a:r>
            <a:endParaRPr lang="en-US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 nowoczesnych standardach?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45C7327-CBC6-ADEE-F8E5-123C92098DA0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A2BE7C8-3D74-ED90-1262-0B2C60E77717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5E4BE60F-2513-EBDE-0260-436B5615E641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41357110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EB3A-3A12-0218-8401-7BD99408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68A71D0-AA45-6A6C-A273-F3380E6F3F00}"/>
              </a:ext>
            </a:extLst>
          </p:cNvPr>
          <p:cNvSpPr txBox="1"/>
          <p:nvPr/>
        </p:nvSpPr>
        <p:spPr>
          <a:xfrm>
            <a:off x="1028700" y="1104900"/>
            <a:ext cx="1623060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pl-PL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 RODZAJE </a:t>
            </a: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PODEJŚĆ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65F05B8-EFE0-D457-7373-1C97FC115695}"/>
              </a:ext>
            </a:extLst>
          </p:cNvPr>
          <p:cNvGrpSpPr/>
          <p:nvPr/>
        </p:nvGrpSpPr>
        <p:grpSpPr>
          <a:xfrm>
            <a:off x="1028700" y="5143500"/>
            <a:ext cx="4417398" cy="3980066"/>
            <a:chOff x="0" y="-47625"/>
            <a:chExt cx="5889864" cy="5306755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EFE7FFB-C7BA-4090-C4B4-771A4B1BC34D}"/>
                </a:ext>
              </a:extLst>
            </p:cNvPr>
            <p:cNvSpPr txBox="1"/>
            <p:nvPr/>
          </p:nvSpPr>
          <p:spPr>
            <a:xfrm>
              <a:off x="0" y="2279254"/>
              <a:ext cx="5889864" cy="29798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sz="3200" noProof="1"/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Podejście predykcyjne polega na szczegółowym planowaniu projektu od początku do końca.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22DACB2-9D1B-582D-4C37-6B81582B1ED1}"/>
                </a:ext>
              </a:extLst>
            </p:cNvPr>
            <p:cNvSpPr txBox="1"/>
            <p:nvPr/>
          </p:nvSpPr>
          <p:spPr>
            <a:xfrm>
              <a:off x="0" y="-47625"/>
              <a:ext cx="5889864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Predykcyjne</a:t>
              </a:r>
              <a:endParaRPr lang="pl-PL" sz="32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1C018ED-46CA-7044-5B9D-7A2234E6EBEC}"/>
              </a:ext>
            </a:extLst>
          </p:cNvPr>
          <p:cNvGrpSpPr/>
          <p:nvPr/>
        </p:nvGrpSpPr>
        <p:grpSpPr>
          <a:xfrm>
            <a:off x="6909723" y="5143500"/>
            <a:ext cx="4468553" cy="3608171"/>
            <a:chOff x="0" y="-47625"/>
            <a:chExt cx="5958071" cy="481089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1F2230C-8D05-822A-5FA5-E1061B05527F}"/>
                </a:ext>
              </a:extLst>
            </p:cNvPr>
            <p:cNvSpPr txBox="1"/>
            <p:nvPr/>
          </p:nvSpPr>
          <p:spPr>
            <a:xfrm>
              <a:off x="68207" y="2279255"/>
              <a:ext cx="5889864" cy="2484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sz="3200" noProof="1"/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Podejście iteracyjne polega na stopniowym rozwijaniu systemu w kolejnych wersjach.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F54F847-A729-3D4A-4AAC-9161FB5314AF}"/>
                </a:ext>
              </a:extLst>
            </p:cNvPr>
            <p:cNvSpPr txBox="1"/>
            <p:nvPr/>
          </p:nvSpPr>
          <p:spPr>
            <a:xfrm>
              <a:off x="0" y="-47625"/>
              <a:ext cx="5889864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Iteracyjne, inkrementalne </a:t>
              </a:r>
              <a:endParaRPr lang="pl-PL" sz="32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BE448F2-03C7-F786-7C27-11D09813F6C3}"/>
              </a:ext>
            </a:extLst>
          </p:cNvPr>
          <p:cNvGrpSpPr/>
          <p:nvPr/>
        </p:nvGrpSpPr>
        <p:grpSpPr>
          <a:xfrm>
            <a:off x="12841902" y="5143500"/>
            <a:ext cx="4417398" cy="4723860"/>
            <a:chOff x="0" y="-47625"/>
            <a:chExt cx="5889864" cy="6298479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3EDF6F4-CCFE-C50E-4081-AE68028BCF15}"/>
                </a:ext>
              </a:extLst>
            </p:cNvPr>
            <p:cNvSpPr txBox="1"/>
            <p:nvPr/>
          </p:nvSpPr>
          <p:spPr>
            <a:xfrm>
              <a:off x="0" y="2279253"/>
              <a:ext cx="5889864" cy="3971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sz="3200" noProof="1"/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Podejście adaptacyjne (Agile) zakłada, że wymagania mogą się zmieniać, dlatego projekt jest rozwijany w krótkich iteracjach z dużą elastycznością.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AC04E79-0FDB-6306-D987-AD39E9EC4DF5}"/>
                </a:ext>
              </a:extLst>
            </p:cNvPr>
            <p:cNvSpPr txBox="1"/>
            <p:nvPr/>
          </p:nvSpPr>
          <p:spPr>
            <a:xfrm>
              <a:off x="0" y="-47625"/>
              <a:ext cx="5889864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Adaptacyjne, </a:t>
              </a:r>
            </a:p>
            <a:p>
              <a:pPr algn="l">
                <a:lnSpc>
                  <a:spcPts val="3640"/>
                </a:lnSpc>
              </a:pPr>
              <a:r>
                <a:rPr lang="en-US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agile</a:t>
              </a:r>
              <a:endParaRPr lang="pl-PL" sz="32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6AE62AD-9526-ED44-0049-B35CDC858F19}"/>
              </a:ext>
            </a:extLst>
          </p:cNvPr>
          <p:cNvSpPr txBox="1"/>
          <p:nvPr/>
        </p:nvSpPr>
        <p:spPr>
          <a:xfrm>
            <a:off x="1028700" y="4349967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723D4CF-FC54-FDEB-A93E-CA2A7EBEEDBA}"/>
              </a:ext>
            </a:extLst>
          </p:cNvPr>
          <p:cNvSpPr txBox="1"/>
          <p:nvPr/>
        </p:nvSpPr>
        <p:spPr>
          <a:xfrm>
            <a:off x="6909723" y="4349967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7025FBC-9BB3-B006-56E5-8E7D94E48E6E}"/>
              </a:ext>
            </a:extLst>
          </p:cNvPr>
          <p:cNvSpPr txBox="1"/>
          <p:nvPr/>
        </p:nvSpPr>
        <p:spPr>
          <a:xfrm>
            <a:off x="12841902" y="4349967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1B725A4A-10BC-F265-589D-61805D7CA470}"/>
              </a:ext>
            </a:extLst>
          </p:cNvPr>
          <p:cNvSpPr/>
          <p:nvPr/>
        </p:nvSpPr>
        <p:spPr>
          <a:xfrm rot="-5400000">
            <a:off x="3685644" y="6761271"/>
            <a:ext cx="4984533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2971F44-9A17-1963-6C31-11F50B0A9915}"/>
              </a:ext>
            </a:extLst>
          </p:cNvPr>
          <p:cNvSpPr/>
          <p:nvPr/>
        </p:nvSpPr>
        <p:spPr>
          <a:xfrm rot="-5400000">
            <a:off x="9617823" y="6761271"/>
            <a:ext cx="4984533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FB5D717A-EB9F-972B-E955-7452C272CB89}"/>
              </a:ext>
            </a:extLst>
          </p:cNvPr>
          <p:cNvSpPr txBox="1"/>
          <p:nvPr/>
        </p:nvSpPr>
        <p:spPr>
          <a:xfrm>
            <a:off x="5257798" y="9835122"/>
            <a:ext cx="7584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https://procognita.pl/trzy-podejscia-do-tworzenia-produktow-414/</a:t>
            </a:r>
          </a:p>
        </p:txBody>
      </p:sp>
    </p:spTree>
    <p:extLst>
      <p:ext uri="{BB962C8B-B14F-4D97-AF65-F5344CB8AC3E}">
        <p14:creationId xmlns:p14="http://schemas.microsoft.com/office/powerpoint/2010/main" val="21625562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F4256-F1D3-414C-B41C-BCD16A86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F1629E3-0A7A-2646-FFB6-981A5924F71A}"/>
              </a:ext>
            </a:extLst>
          </p:cNvPr>
          <p:cNvSpPr txBox="1"/>
          <p:nvPr/>
        </p:nvSpPr>
        <p:spPr>
          <a:xfrm>
            <a:off x="1028700" y="1104900"/>
            <a:ext cx="1623060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CIEKAWOSTKA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E207B31-57CA-8C0E-C33F-F4D4B44BD37E}"/>
              </a:ext>
            </a:extLst>
          </p:cNvPr>
          <p:cNvSpPr txBox="1"/>
          <p:nvPr/>
        </p:nvSpPr>
        <p:spPr>
          <a:xfrm>
            <a:off x="4114800" y="3162300"/>
            <a:ext cx="10058400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32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rPr>
              <a:t>Oczywiście, zdarza się, że podczas realizacji projektu podejścia te się miesza. Wykorzystuje się odpowiednie elementy z każdego z tych podejść, które akurat pasują do potrzeb i wymagań. Podejście łączące różne inne podejścia określa się adaptacyjnym.</a:t>
            </a:r>
          </a:p>
          <a:p>
            <a:pPr algn="ctr">
              <a:lnSpc>
                <a:spcPts val="3640"/>
              </a:lnSpc>
            </a:pPr>
            <a:endParaRPr lang="en-US" sz="3200" b="1" noProof="1">
              <a:solidFill>
                <a:srgbClr val="2F9671"/>
              </a:solidFill>
              <a:latin typeface="Libre Franklin Ultra-Bold"/>
              <a:ea typeface="Libre Franklin Ultra-Bold"/>
              <a:cs typeface="Libre Franklin Ultra-Bold"/>
              <a:sym typeface="Libre Franklin Ultra-Bold"/>
            </a:endParaRPr>
          </a:p>
          <a:p>
            <a:pPr algn="ctr">
              <a:lnSpc>
                <a:spcPts val="3640"/>
              </a:lnSpc>
            </a:pPr>
            <a:r>
              <a:rPr lang="en-US" sz="32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rPr>
              <a:t>Brak jasno określonego systemu zarządzania projektem również określa się podejściem adaptacyjnym.</a:t>
            </a:r>
            <a:endParaRPr lang="pl-PL" sz="3200" b="1" noProof="1">
              <a:solidFill>
                <a:srgbClr val="2F9671"/>
              </a:solidFill>
              <a:latin typeface="Libre Franklin Ultra-Bold"/>
              <a:ea typeface="Libre Franklin Ultra-Bold"/>
              <a:cs typeface="Libre Franklin Ultra-Bold"/>
              <a:sym typeface="Libre Franklin Ultra-Bold"/>
            </a:endParaRPr>
          </a:p>
        </p:txBody>
      </p:sp>
    </p:spTree>
    <p:extLst>
      <p:ext uri="{BB962C8B-B14F-4D97-AF65-F5344CB8AC3E}">
        <p14:creationId xmlns:p14="http://schemas.microsoft.com/office/powerpoint/2010/main" val="10431811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B1137-2DA3-5F3B-A522-C44CB237C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A7BF7ED-5858-9A3D-0E1D-A26F81C885CA}"/>
              </a:ext>
            </a:extLst>
          </p:cNvPr>
          <p:cNvSpPr txBox="1"/>
          <p:nvPr/>
        </p:nvSpPr>
        <p:spPr>
          <a:xfrm>
            <a:off x="1028700" y="1104900"/>
            <a:ext cx="16230600" cy="4360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20. Dlaczego zwinne myślenie (agile thinking) jest kluczowe nawet w projektach o charakterze predykcyjnym?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5B58EA1-3360-F0AB-E4BA-ADAE787048A2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5D31A22-3B36-7820-3C4C-631266AD3148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471A7B51-099E-2BCD-74ED-144936435386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32960277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F9F6B-4A41-3004-2E10-E752024F6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11A3F66-02CE-C499-A67B-3AF6646BC919}"/>
              </a:ext>
            </a:extLst>
          </p:cNvPr>
          <p:cNvSpPr/>
          <p:nvPr/>
        </p:nvSpPr>
        <p:spPr>
          <a:xfrm>
            <a:off x="9063834" y="5928307"/>
            <a:ext cx="8115300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F8E9670-92F4-0711-1039-EDC925D6F2DA}"/>
              </a:ext>
            </a:extLst>
          </p:cNvPr>
          <p:cNvSpPr/>
          <p:nvPr/>
        </p:nvSpPr>
        <p:spPr>
          <a:xfrm>
            <a:off x="9063834" y="7997173"/>
            <a:ext cx="8195466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830217B-69AD-B987-DD90-95DBCCE89EB0}"/>
              </a:ext>
            </a:extLst>
          </p:cNvPr>
          <p:cNvGrpSpPr/>
          <p:nvPr/>
        </p:nvGrpSpPr>
        <p:grpSpPr>
          <a:xfrm>
            <a:off x="9037640" y="2337688"/>
            <a:ext cx="8115300" cy="2055425"/>
            <a:chOff x="0" y="0"/>
            <a:chExt cx="35863368" cy="90833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54C6D6D-CB43-30A6-60D0-7BBAF349B6F9}"/>
                </a:ext>
              </a:extLst>
            </p:cNvPr>
            <p:cNvSpPr/>
            <p:nvPr/>
          </p:nvSpPr>
          <p:spPr>
            <a:xfrm>
              <a:off x="0" y="0"/>
              <a:ext cx="35863368" cy="9083393"/>
            </a:xfrm>
            <a:custGeom>
              <a:avLst/>
              <a:gdLst/>
              <a:ahLst/>
              <a:cxnLst/>
              <a:rect l="l" t="t" r="r" b="b"/>
              <a:pathLst>
                <a:path w="35863368" h="9083393">
                  <a:moveTo>
                    <a:pt x="0" y="0"/>
                  </a:moveTo>
                  <a:lnTo>
                    <a:pt x="0" y="9083393"/>
                  </a:lnTo>
                  <a:lnTo>
                    <a:pt x="35863368" y="9083393"/>
                  </a:lnTo>
                  <a:lnTo>
                    <a:pt x="35863368" y="0"/>
                  </a:lnTo>
                  <a:lnTo>
                    <a:pt x="0" y="0"/>
                  </a:lnTo>
                  <a:close/>
                  <a:moveTo>
                    <a:pt x="35802407" y="9022433"/>
                  </a:moveTo>
                  <a:lnTo>
                    <a:pt x="59690" y="9022433"/>
                  </a:lnTo>
                  <a:lnTo>
                    <a:pt x="59690" y="59690"/>
                  </a:lnTo>
                  <a:lnTo>
                    <a:pt x="35802407" y="59690"/>
                  </a:lnTo>
                  <a:lnTo>
                    <a:pt x="35802407" y="9022433"/>
                  </a:lnTo>
                  <a:close/>
                </a:path>
              </a:pathLst>
            </a:custGeom>
            <a:solidFill>
              <a:srgbClr val="2F9671"/>
            </a:solidFill>
          </p:spPr>
          <p:txBody>
            <a:bodyPr/>
            <a:lstStyle/>
            <a:p>
              <a:endParaRPr lang="pl-PL" noProof="1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88CCE55-DF8A-9526-6DD4-20AF2BD4BD36}"/>
              </a:ext>
            </a:extLst>
          </p:cNvPr>
          <p:cNvSpPr txBox="1"/>
          <p:nvPr/>
        </p:nvSpPr>
        <p:spPr>
          <a:xfrm>
            <a:off x="1028700" y="1104900"/>
            <a:ext cx="6995649" cy="775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</a:t>
            </a:r>
            <a:r>
              <a:rPr lang="pl-PL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oraz częściej stosuje się elementy podejścia Agile także w tradycyjnych projektach. Pozwala to zespołom być bardziej elastycznymi i szybciej reagować na zmiany.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25CE8A4-22FD-FD13-D972-9345C9065BE1}"/>
              </a:ext>
            </a:extLst>
          </p:cNvPr>
          <p:cNvSpPr txBox="1"/>
          <p:nvPr/>
        </p:nvSpPr>
        <p:spPr>
          <a:xfrm>
            <a:off x="9634594" y="3159574"/>
            <a:ext cx="7518346" cy="411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4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Zwinne myślenie pozwala: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DD328A2-9BCF-26EF-B478-AA9C4D45B44B}"/>
              </a:ext>
            </a:extLst>
          </p:cNvPr>
          <p:cNvSpPr txBox="1"/>
          <p:nvPr/>
        </p:nvSpPr>
        <p:spPr>
          <a:xfrm>
            <a:off x="10306592" y="4910448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pl-PL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szybciej reagować na zmiany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0D9CA8-2134-8F79-09AB-9C4363BBB780}"/>
              </a:ext>
            </a:extLst>
          </p:cNvPr>
          <p:cNvSpPr txBox="1"/>
          <p:nvPr/>
        </p:nvSpPr>
        <p:spPr>
          <a:xfrm>
            <a:off x="10312454" y="6733833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pl-PL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lepiej współpracować z klientem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E08518D-4C1F-5A9A-781D-88FB6015BC4B}"/>
              </a:ext>
            </a:extLst>
          </p:cNvPr>
          <p:cNvSpPr txBox="1"/>
          <p:nvPr/>
        </p:nvSpPr>
        <p:spPr>
          <a:xfrm>
            <a:off x="10306592" y="8586593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pl-PL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szybciej dostarczać wartość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9D8D505-BA0F-1132-118F-E7273F41469E}"/>
              </a:ext>
            </a:extLst>
          </p:cNvPr>
          <p:cNvSpPr txBox="1"/>
          <p:nvPr/>
        </p:nvSpPr>
        <p:spPr>
          <a:xfrm>
            <a:off x="9302632" y="49034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3C778B8-79F5-78A8-9299-D3D5AC56F6A7}"/>
              </a:ext>
            </a:extLst>
          </p:cNvPr>
          <p:cNvSpPr txBox="1"/>
          <p:nvPr/>
        </p:nvSpPr>
        <p:spPr>
          <a:xfrm>
            <a:off x="9302632" y="6752555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BE1F5C1-4B32-D3E7-35C6-4CF369AA7D0F}"/>
              </a:ext>
            </a:extLst>
          </p:cNvPr>
          <p:cNvSpPr txBox="1"/>
          <p:nvPr/>
        </p:nvSpPr>
        <p:spPr>
          <a:xfrm>
            <a:off x="9302632" y="8607108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FD1A2895-8A47-EBFD-4833-F187EC7EC589}"/>
              </a:ext>
            </a:extLst>
          </p:cNvPr>
          <p:cNvSpPr txBox="1"/>
          <p:nvPr/>
        </p:nvSpPr>
        <p:spPr>
          <a:xfrm>
            <a:off x="6134100" y="9917668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https://en.wikipedia.org/wiki/Agile_software_development</a:t>
            </a:r>
          </a:p>
        </p:txBody>
      </p:sp>
    </p:spTree>
    <p:extLst>
      <p:ext uri="{BB962C8B-B14F-4D97-AF65-F5344CB8AC3E}">
        <p14:creationId xmlns:p14="http://schemas.microsoft.com/office/powerpoint/2010/main" val="3474736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2004</Words>
  <Application>Microsoft Office PowerPoint</Application>
  <PresentationFormat>Niestandardowy</PresentationFormat>
  <Paragraphs>277</Paragraphs>
  <Slides>50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50</vt:i4>
      </vt:variant>
    </vt:vector>
  </HeadingPairs>
  <TitlesOfParts>
    <vt:vector size="56" baseType="lpstr">
      <vt:lpstr>Inter</vt:lpstr>
      <vt:lpstr>Arial</vt:lpstr>
      <vt:lpstr>Calibri</vt:lpstr>
      <vt:lpstr>Libre Franklin Ultra-Bold</vt:lpstr>
      <vt:lpstr>Libre Franklin 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Zielona i Szara Prosta i Profesjonalna Pisanie Życiorysu/CV Warsztaty Seminarium Internetowe Myśl Przewodnia Prezentacja</dc:title>
  <dc:creator>Filip Hałys</dc:creator>
  <cp:lastModifiedBy>Filip Hałys</cp:lastModifiedBy>
  <cp:revision>14</cp:revision>
  <dcterms:created xsi:type="dcterms:W3CDTF">2006-08-16T00:00:00Z</dcterms:created>
  <dcterms:modified xsi:type="dcterms:W3CDTF">2026-03-16T22:45:20Z</dcterms:modified>
  <dc:identifier>DAHEIsp3x3A</dc:identifier>
</cp:coreProperties>
</file>